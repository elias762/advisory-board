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Einstieg" id="{4c69d998-225d-72b7-93ea-d0a1c1f49bba}">
          <p14:sldIdLst>
            <p14:sldId id="256"/>
            <p14:sldId id="257"/>
            <p14:sldId id="258"/>
            <p14:sldId id="259"/>
            <p14:sldId id="260"/>
          </p14:sldIdLst>
        </p14:section>
        <p14:section name="Staunen" id="{a5d55f82-5950-4d3d-a455-b89a08004507}">
          <p14:sldIdLst>
            <p14:sldId id="261"/>
            <p14:sldId id="262"/>
            <p14:sldId id="263"/>
            <p14:sldId id="264"/>
          </p14:sldIdLst>
        </p14:section>
        <p14:section name="Verstehen" id="{67a2d7cb-72e6-5e73-f255-c615919cc5ee}">
          <p14:sldIdLst>
            <p14:sldId id="265"/>
            <p14:sldId id="266"/>
            <p14:sldId id="267"/>
          </p14:sldIdLst>
        </p14:section>
        <p14:section name="Chancen" id="{f1eb8b7a-2399-81d0-48e1-d8932e17c4c7}">
          <p14:sldIdLst>
            <p14:sldId id="268"/>
            <p14:sldId id="269"/>
          </p14:sldIdLst>
        </p14:section>
        <p14:section name="Risiken &amp; Verantwortung" id="{11190d36-734a-a712-4a25-83e31955b321}">
          <p14:sldIdLst>
            <p14:sldId id="270"/>
            <p14:sldId id="271"/>
            <p14:sldId id="272"/>
          </p14:sldIdLst>
        </p14:section>
        <p14:section name="Mission" id="{4aecf7b9-b67e-42e9-f245-6db76e80ceae}">
          <p14:sldIdLst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Wahrscheinlichkeit</c:v>
                </c:pt>
              </c:strCache>
            </c:strRef>
          </c:tx>
          <c:spPr>
            <a:solidFill>
              <a:schemeClr val="accent1"/>
            </a:solidFill>
            <a:effectLst/>
          </c:spPr>
          <c:invertIfNegative val="0"/>
          <c:dLbls>
            <c:numFmt formatCode="0&quot; %&quot;" sourceLinked="0"/>
            <c:txPr>
              <a:bodyPr/>
              <a:lstStyle/>
              <a:p>
                <a:pPr>
                  <a:defRPr b="0" i="0" strike="noStrike" sz="1400" u="none">
                    <a:solidFill>
                      <a:schemeClr val="tx1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blau</c:v>
                  </c:pt>
                  <c:pt idx="1">
                    <c:v>bewölkt</c:v>
                  </c:pt>
                  <c:pt idx="2">
                    <c:v>grau</c:v>
                  </c:pt>
                  <c:pt idx="3">
                    <c:v>klar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62</c:v>
                </c:pt>
                <c:pt idx="1">
                  <c:v>18</c:v>
                </c:pt>
                <c:pt idx="2">
                  <c:v>11</c:v>
                </c:pt>
                <c:pt idx="3">
                  <c:v>6</c:v>
                </c:pt>
              </c:numCache>
            </c:numRef>
          </c:val>
        </c:ser>
        <c:dLbls>
          <c:numFmt formatCode="0&quot; %&quot;" sourceLinked="0"/>
          <c:txPr>
            <a:bodyPr/>
            <a:lstStyle/>
            <a:p>
              <a:pPr>
                <a:defRPr b="0" i="0" strike="noStrike" sz="1400" u="none">
                  <a:solidFill>
                    <a:schemeClr val="tx1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chemeClr val="tx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Ca. 30 Sek. Nur kurz begrüßen – noch nicht vorstellen. Direkt mit der ersten Challenge einsteigen.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Ca. 1,5 Min. Beide Texte vorlesen (gerne mit verstellter Stimme). Per Handzeichen abstimmen lassen: Wer glaubt A ist von der KI? Wer B? Dann weiterklicken – noch nicht auflösen.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Ca. 1 Min. Auflösen: Beide Texte wurden für diese Präsentation mit KI erstellt. Frage in den Raum: Woran hättet ihr es merken können? (Meist gar nicht.) Überleitung: Heute schauen wir, was KI kann, wie sie funktioniert – und wo ihr aufpassen müsst.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Ca. 3 Min. Kurz vorstellen (30 Sek.). Dann zu Mentimeter wechseln: Menti 1 (Wortwolke: Woran denkst du bei KI?) und Menti 2 (Wofür hast du KI schon genutzt?). Ergebnisse kurz spiegeln: Die meisten nutzen KI schon – heute geht es darum, sie gut und kritisch zu nutzen.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Ca. 1 Min. Ablauf erklären: Impuls mit Challenges, dann Workshop-Parcours in 5 Gruppen à ca. 11 Personen. Durchlauf 1: Workshop 09:15–12:00. Durchlauf 2: Workshop 13:05–15:50.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Ca. 1 Min. Per Handzeichen abstimmen lassen (A, B, C, D). Dann weiterklicken zur Auflösung.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Ca. 1,5 Min. Auflösung: A – 5 Tage. Wer lag richtig? Botschaft: KI ist nicht ‚irgendwann‘, sie ist schon im Alltag angekommen.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Ca. 7 Min. Drei Zurufe sammeln (Fach, Lehrer-Spruch, Musikstil) und live eintippen. Beispiel-Prompt: ‚Schreib einen kurzen Song (2 Strophen, 1 Refrain) über das Fach [X] im Stil von [Musikstil]. Der Refrain soll den Spruch „[Spruch]“ enthalten. Lustig, aber nicht gemein – für eine 9. Klasse.‘ Ergebnis vorlesen oder vorsingen lassen. Danach Bild-Demo: ‚Unsere Schule im Jahr 2050‘. Vorher testen: WLAN, Logins, Tools. Backup: Screenshots, falls das Netz ausfällt.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Ca. 2 Min. Die Glockenkurve zeigt, wie Menschen in IQ-Tests verteilt sind (Durchschnitt 100). Die Logos sind KI-Modelle. 2024 lagen die besten Modelle noch unter dem Durchschnitt, ein Jahr später weit darüber. Aber: Ein IQ-Test misst nur einen kleinen Teil von Intelligenz. Überleitung: Wie macht die KI das eigentlich?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Ca. 3 Min. Satz laut anfangen und die Klasse ergänzen lassen (‚blau!‘). Genau das macht die KI – nur mit Milliarden Texten. Die Prozentwerte sind vereinfacht. Konsequenz: Sie produziert, was wahrscheinlich KLINGT, nicht, was geprüft WAHR ist. Das testen wir gleich.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Ca. 1,5 Min. 30 Sekunden geben, dann Zurufe sammeln. Erst danach weiterklicken.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Ca. 2,5 Min. Auflösen: Paris statt Lyon, eröffnet 1889 statt 1899. Dann Menti 3: Glaubst du, was eine KI dir sagt? Ergebnis kurz kommentieren. Merksatz: Sprachliche Sicherheit ist kein Beweis für Wahrheit.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Ca. 3 Min. Fragen: Welcher Prompt macht euch schlauer? Gleiches Werkzeug, völlig anderer Lerneffekt. Dann Menti 4: Sollte KI in der Schule erlaubt sein? Ergebnis als Diskussionsimpuls nutzen (kurz!). Verweis auf Station 1 (Prompt Battle) und Station 2 (KI als Lerncoach).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Ca. 2 Min. Grafik kurz lesen helfen: rechts oben = heute wichtig UND wird noch wichtiger. KI und Big Data ganz oben – aber direkt daneben kreatives Denken, Resilienz, Neugier. Botschaft: Wer KI beherrscht UND menschliche Stärken trainiert, ist für die Zukunft gut aufgestellt.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Ca. 2,5 Min. Zuerst Menti 5: Wie sicher erkennst du, ob ein Bild echt ist? Dann per Handzeichen: A echt oder KI? B echt oder KI? Auflösung: A ist echt – das bin ich. B ist KI-generiert. Frage: Wer war sich sicher – und lag trotzdem falsch? Überleitung zu den Risiken und zu Station 4 (Deepfake Detective). WICHTIG: Bild B vor dem Vortrag durch ein bekanntes KI-Bild ersetzen.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Ca. 3 Min. Halluzinationen und Deepfakes habt ihr gerade selbst erlebt. Datenschutz: Nutzungsbedingungen, Altersgrenzen der Tools und die Regeln der Schule ansprechen. Bias: Beispiel fragen – ‚Wie stellt sich eine KI eine Chirurgin vor?‘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Ca. 2 Min. Kernbotschaft: Die stärkste Kombination ist Mensch + KI. Die KI liefert Tempo und Menge, der Mensch Urteil und Verantwortung. Wer prüft, wer entscheidet? Immer ihr.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Ca. 1,5 Min. Stationen kurz vorstellen, Gruppeneinteilung und Rotation erklären (wer startet wo, Signal zum Wechseln, Pause). Alles, was ihr gerade in den Challenges erlebt habt, vertieft ihr jetzt selbst.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Ca. 2 Min. Leitidee laut vorlesen und als Auftrag für den Parcours mitgeben. Menti 6: Was würdest du heute gerne mitnehmen? Kurze Fragerunde, dann Wechsel zu den Stationen. Gesamtzeit Impuls: ca. 40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wa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8200" y="0"/>
            <a:ext cx="3733495" cy="2095805"/>
          </a:xfrm>
          <a:prstGeom prst="rect">
            <a:avLst/>
          </a:prstGeom>
        </p:spPr>
      </p:pic>
      <p:pic>
        <p:nvPicPr>
          <p:cNvPr id="3" name="Image 1" descr="logo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327648"/>
            <a:ext cx="1412688" cy="274320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type="title" hasCustomPrompt="1"/>
          </p:nvPr>
        </p:nvSpPr>
        <p:spPr>
          <a:xfrm>
            <a:off x="548640" y="384048"/>
            <a:ext cx="859536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1188720"/>
            <a:ext cx="969264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276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27648"/>
            <a:ext cx="1412688" cy="2743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276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276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reis Mensch"/>
          <p:cNvSpPr/>
          <p:nvPr/>
        </p:nvSpPr>
        <p:spPr>
          <a:xfrm>
            <a:off x="6766560" y="1051560"/>
            <a:ext cx="3566160" cy="3566160"/>
          </a:xfrm>
          <a:prstGeom prst="ellipse">
            <a:avLst/>
          </a:prstGeom>
          <a:solidFill>
            <a:schemeClr val="accent2">
              <a:alpha val="18000"/>
            </a:schemeClr>
          </a:solidFill>
          <a:ln w="31750">
            <a:solidFill>
              <a:schemeClr val="accent2"/>
            </a:solidFill>
            <a:prstDash val="solid"/>
          </a:ln>
        </p:spPr>
      </p:sp>
      <p:sp>
        <p:nvSpPr>
          <p:cNvPr id="3" name="Kreis KI"/>
          <p:cNvSpPr/>
          <p:nvPr/>
        </p:nvSpPr>
        <p:spPr>
          <a:xfrm>
            <a:off x="8412480" y="1051560"/>
            <a:ext cx="3566160" cy="3566160"/>
          </a:xfrm>
          <a:prstGeom prst="ellipse">
            <a:avLst/>
          </a:prstGeom>
          <a:solidFill>
            <a:schemeClr val="accent3">
              <a:alpha val="30000"/>
            </a:schemeClr>
          </a:solidFill>
          <a:ln w="31750">
            <a:solidFill>
              <a:schemeClr val="accent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949440" y="26060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Mensch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0149840" y="26060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KI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458200" y="246888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besser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denken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1887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chemeClr val="accent2"/>
                </a:solidFill>
              </a:rPr>
              <a:t>KI-PROJEKTTAG · 9. JAHRGANGSSTUFE</a:t>
            </a:r>
            <a:endParaRPr lang="en-US" sz="1300" dirty="0"/>
          </a:p>
        </p:txBody>
      </p:sp>
      <p:sp>
        <p:nvSpPr>
          <p:cNvPr id="8" name="Titel"/>
          <p:cNvSpPr txBox="1"/>
          <p:nvPr/>
        </p:nvSpPr>
        <p:spPr>
          <a:xfrm>
            <a:off x="548640" y="1645920"/>
            <a:ext cx="6309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KI verstehen, ausprobieren, einordnen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794760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KI-Tag am Gymnasium Süd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Mittwoch, 28. Oktober 2026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84632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Elias Hauck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accent5"/>
                </a:solidFill>
              </a:rPr>
              <a:t>Geschäftsführer und Gründer · asuno und SH&amp;Partner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276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 CHALLENGE"/>
          <p:cNvSpPr/>
          <p:nvPr/>
        </p:nvSpPr>
        <p:spPr>
          <a:xfrm>
            <a:off x="548640" y="502920"/>
            <a:ext cx="2226564" cy="40233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pic>
        <p:nvPicPr>
          <p:cNvPr id="3" name="Badge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66928"/>
            <a:ext cx="274320" cy="2743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51560" y="502920"/>
            <a:ext cx="16779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chemeClr val="bg1"/>
                </a:solidFill>
              </a:rPr>
              <a:t>CHALLENGE</a:t>
            </a:r>
            <a:endParaRPr lang="en-US" sz="1300" dirty="0"/>
          </a:p>
        </p:txBody>
      </p:sp>
      <p:sp>
        <p:nvSpPr>
          <p:cNvPr id="5" name="Titel"/>
          <p:cNvSpPr txBox="1"/>
          <p:nvPr/>
        </p:nvSpPr>
        <p:spPr>
          <a:xfrm>
            <a:off x="548640" y="10972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Eine dieser Ausreden hat eine KI geschrieben. Welche?</a:t>
            </a:r>
            <a:endParaRPr lang="en-US" sz="3400" dirty="0"/>
          </a:p>
        </p:txBody>
      </p:sp>
      <p:sp>
        <p:nvSpPr>
          <p:cNvPr id="6" name="Ausrede A"/>
          <p:cNvSpPr/>
          <p:nvPr/>
        </p:nvSpPr>
        <p:spPr>
          <a:xfrm>
            <a:off x="548640" y="2331720"/>
            <a:ext cx="5440680" cy="3246120"/>
          </a:xfrm>
          <a:prstGeom prst="roundRect">
            <a:avLst>
              <a:gd name="adj" fmla="val 2254"/>
            </a:avLst>
          </a:prstGeom>
          <a:solidFill>
            <a:schemeClr val="accent4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14400" y="251460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2"/>
                </a:solidFill>
              </a:rPr>
              <a:t>A</a:t>
            </a:r>
            <a:endParaRPr lang="en-US" sz="54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337560"/>
            <a:ext cx="47091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bg1"/>
                </a:solidFill>
              </a:rPr>
              <a:t>„Sorry, ich hab die Hausi echt gemacht!! Aber mein Hund hat sich aufs Heft gelegt und dann ist Kakao drübergelaufen … ich bring’s morgen mit, versprochen!“</a:t>
            </a:r>
            <a:endParaRPr lang="en-US" sz="1900" dirty="0"/>
          </a:p>
        </p:txBody>
      </p:sp>
      <p:sp>
        <p:nvSpPr>
          <p:cNvPr id="9" name="Ausrede B"/>
          <p:cNvSpPr/>
          <p:nvPr/>
        </p:nvSpPr>
        <p:spPr>
          <a:xfrm>
            <a:off x="6199632" y="2331720"/>
            <a:ext cx="5440680" cy="3246120"/>
          </a:xfrm>
          <a:prstGeom prst="roundRect">
            <a:avLst>
              <a:gd name="adj" fmla="val 2254"/>
            </a:avLst>
          </a:prstGeom>
          <a:solidFill>
            <a:schemeClr val="accent4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565392" y="251460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2"/>
                </a:solidFill>
              </a:rPr>
              <a:t>B</a:t>
            </a:r>
            <a:endParaRPr lang="en-US" sz="5400" dirty="0"/>
          </a:p>
        </p:txBody>
      </p:sp>
      <p:sp>
        <p:nvSpPr>
          <p:cNvPr id="11" name="Text 8"/>
          <p:cNvSpPr txBox="1"/>
          <p:nvPr/>
        </p:nvSpPr>
        <p:spPr>
          <a:xfrm>
            <a:off x="6565392" y="3337560"/>
            <a:ext cx="47091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bg1"/>
                </a:solidFill>
              </a:rPr>
              <a:t>„Sehr geehrte Frau Müller, leider konnte ich die Hausaufgabe aufgrund unvorhergesehener familiärer Umstände nicht fristgerecht fertigstellen. Ich reiche sie morgen nach.“</a:t>
            </a:r>
            <a:endParaRPr lang="en-US" sz="19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57150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Hand hoch: Wer tippt auf A – wer auf B?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276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flösung"/>
          <p:cNvSpPr txBox="1"/>
          <p:nvPr/>
        </p:nvSpPr>
        <p:spPr>
          <a:xfrm>
            <a:off x="548640" y="914400"/>
            <a:ext cx="10972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0" b="1" dirty="0">
                <a:solidFill>
                  <a:schemeClr val="bg1"/>
                </a:solidFill>
              </a:rPr>
              <a:t>Beide.</a:t>
            </a:r>
            <a:endParaRPr lang="en-US" sz="15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461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</a:rPr>
              <a:t>Beide stammen von einer KI – geschrieben in Sekunden.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97764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5"/>
                </a:solidFill>
              </a:rPr>
              <a:t>Sie kann jeden Stil nachahmen: lässig, förmlich – oder genau wie du.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chemeClr val="accent5"/>
                </a:solidFill>
              </a:rPr>
              <a:t>Genau deshalb lohnt es sich, KI zu verstehen.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276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548640" y="384048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Bevor wir starten</a:t>
            </a:r>
            <a:endParaRPr lang="en-US" sz="3200" dirty="0"/>
          </a:p>
        </p:txBody>
      </p:sp>
      <p:sp>
        <p:nvSpPr>
          <p:cNvPr id="3" name="Text 0"/>
          <p:cNvSpPr/>
          <p:nvPr>
            <p:ph idx="103" type="body" hasCustomPrompt="1"/>
          </p:nvPr>
        </p:nvSpPr>
        <p:spPr>
          <a:xfrm>
            <a:off x="548640" y="118872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Wer heute vor euch steht – und eure Meinung per Mentimeter</a:t>
            </a:r>
            <a:endParaRPr lang="en-US" sz="1600" dirty="0"/>
          </a:p>
        </p:txBody>
      </p:sp>
      <p:sp>
        <p:nvSpPr>
          <p:cNvPr id="4" name="Karte Referent"/>
          <p:cNvSpPr/>
          <p:nvPr/>
        </p:nvSpPr>
        <p:spPr>
          <a:xfrm>
            <a:off x="548640" y="1828800"/>
            <a:ext cx="4754880" cy="3749040"/>
          </a:xfrm>
          <a:prstGeom prst="roundRect">
            <a:avLst>
              <a:gd name="adj" fmla="val 1951"/>
            </a:avLst>
          </a:prstGeom>
          <a:solidFill>
            <a:schemeClr val="bg2"/>
          </a:solidFill>
          <a:ln/>
        </p:spPr>
      </p:sp>
      <p:pic>
        <p:nvPicPr>
          <p:cNvPr id="5" name="Foto Elias Hauck" descr="Foto von Elias Hau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148840"/>
            <a:ext cx="1600200" cy="1600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14400" y="39319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Elias Hauck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443484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Geschäftsführer und Gründer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asuno und SH&amp;Partner</a:t>
            </a:r>
            <a:endParaRPr lang="en-US" sz="1500" dirty="0"/>
          </a:p>
        </p:txBody>
      </p:sp>
      <p:sp>
        <p:nvSpPr>
          <p:cNvPr id="8" name="Karte Umfrage"/>
          <p:cNvSpPr/>
          <p:nvPr/>
        </p:nvSpPr>
        <p:spPr>
          <a:xfrm>
            <a:off x="5760720" y="1828800"/>
            <a:ext cx="5879592" cy="3749040"/>
          </a:xfrm>
          <a:prstGeom prst="roundRect">
            <a:avLst>
              <a:gd name="adj" fmla="val 1951"/>
            </a:avLst>
          </a:prstGeom>
          <a:solidFill>
            <a:schemeClr val="tx1"/>
          </a:solidFill>
          <a:ln/>
        </p:spPr>
      </p:sp>
      <p:sp>
        <p:nvSpPr>
          <p:cNvPr id="9" name="Icon-Kreis LuSmartphone"/>
          <p:cNvSpPr/>
          <p:nvPr/>
        </p:nvSpPr>
        <p:spPr>
          <a:xfrm>
            <a:off x="6172200" y="21945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con LuSmartph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3650" y="2366010"/>
            <a:ext cx="342900" cy="3429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040880" y="224028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Macht mit – per Handy!</a:t>
            </a:r>
            <a:endParaRPr lang="en-US" sz="2200" dirty="0"/>
          </a:p>
        </p:txBody>
      </p:sp>
      <p:sp>
        <p:nvSpPr>
          <p:cNvPr id="12" name="Nummer 1"/>
          <p:cNvSpPr/>
          <p:nvPr/>
        </p:nvSpPr>
        <p:spPr>
          <a:xfrm>
            <a:off x="6172200" y="3246120"/>
            <a:ext cx="411480" cy="41148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6172200" y="3246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6812280" y="32004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menti.com im Browser öffnen</a:t>
            </a:r>
            <a:endParaRPr lang="en-US" sz="1600" dirty="0"/>
          </a:p>
        </p:txBody>
      </p:sp>
      <p:sp>
        <p:nvSpPr>
          <p:cNvPr id="15" name="Nummer 2"/>
          <p:cNvSpPr/>
          <p:nvPr/>
        </p:nvSpPr>
        <p:spPr>
          <a:xfrm>
            <a:off x="6172200" y="3977640"/>
            <a:ext cx="411480" cy="41148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6172200" y="3977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6812280" y="39319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Code eingeben – er steht gleich oben auf dem Bildschirm</a:t>
            </a:r>
            <a:endParaRPr lang="en-US" sz="1600" dirty="0"/>
          </a:p>
        </p:txBody>
      </p:sp>
      <p:sp>
        <p:nvSpPr>
          <p:cNvPr id="18" name="Nummer 3"/>
          <p:cNvSpPr/>
          <p:nvPr/>
        </p:nvSpPr>
        <p:spPr>
          <a:xfrm>
            <a:off x="6172200" y="4709160"/>
            <a:ext cx="411480" cy="41148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6172200" y="4709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20" name="Text 16"/>
          <p:cNvSpPr txBox="1"/>
          <p:nvPr/>
        </p:nvSpPr>
        <p:spPr>
          <a:xfrm>
            <a:off x="6812280" y="466344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Erste Frage: Woran denkst du bei „KI“?</a:t>
            </a:r>
            <a:endParaRPr lang="en-US" sz="1600" dirty="0"/>
          </a:p>
        </p:txBody>
      </p:sp>
      <p:sp>
        <p:nvSpPr>
          <p:cNvPr id="21" name="Hinweis Menti-Frage 1 + 2"/>
          <p:cNvSpPr/>
          <p:nvPr/>
        </p:nvSpPr>
        <p:spPr>
          <a:xfrm>
            <a:off x="9144000" y="6336792"/>
            <a:ext cx="1783080" cy="27432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/>
        </p:spPr>
      </p:sp>
      <p:sp>
        <p:nvSpPr>
          <p:cNvPr id="22" name="Text 18"/>
          <p:cNvSpPr txBox="1"/>
          <p:nvPr/>
        </p:nvSpPr>
        <p:spPr>
          <a:xfrm>
            <a:off x="9144000" y="633679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chemeClr val="bg1"/>
                </a:solidFill>
              </a:rPr>
              <a:t>MENTI 1 + 2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276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548640" y="384048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So läuft euer KI-Tag</a:t>
            </a:r>
            <a:endParaRPr lang="en-US" sz="3200" dirty="0"/>
          </a:p>
        </p:txBody>
      </p:sp>
      <p:sp>
        <p:nvSpPr>
          <p:cNvPr id="3" name="Text 0"/>
          <p:cNvSpPr/>
          <p:nvPr>
            <p:ph idx="103" type="body" hasCustomPrompt="1"/>
          </p:nvPr>
        </p:nvSpPr>
        <p:spPr>
          <a:xfrm>
            <a:off x="548640" y="118872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Erst der gemeinsame Impuls hier in der Bibliothek – dann probiert ihr selbst aus</a:t>
            </a:r>
            <a:endParaRPr lang="en-US" sz="1600" dirty="0"/>
          </a:p>
        </p:txBody>
      </p:sp>
      <p:sp>
        <p:nvSpPr>
          <p:cNvPr id="4" name="Panel Impuls"/>
          <p:cNvSpPr/>
          <p:nvPr/>
        </p:nvSpPr>
        <p:spPr>
          <a:xfrm>
            <a:off x="548640" y="1828800"/>
            <a:ext cx="11091672" cy="178308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20574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IMPULS · CA. 40 MIN. · MIT CHALLENGES &amp; LIVE-DEMOS</a:t>
            </a:r>
            <a:endParaRPr lang="en-US" sz="1200" dirty="0"/>
          </a:p>
        </p:txBody>
      </p:sp>
      <p:sp>
        <p:nvSpPr>
          <p:cNvPr id="6" name="Nummer 1"/>
          <p:cNvSpPr/>
          <p:nvPr/>
        </p:nvSpPr>
        <p:spPr>
          <a:xfrm>
            <a:off x="868680" y="26060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2606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51460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Staunen</a:t>
            </a:r>
            <a:endParaRPr lang="en-US" sz="1500" dirty="0"/>
          </a:p>
        </p:txBody>
      </p:sp>
      <p:sp>
        <p:nvSpPr>
          <p:cNvPr id="9" name="Nummer 2"/>
          <p:cNvSpPr/>
          <p:nvPr/>
        </p:nvSpPr>
        <p:spPr>
          <a:xfrm>
            <a:off x="3538728" y="26060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538728" y="2606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224528" y="251460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Verstehen</a:t>
            </a:r>
            <a:endParaRPr lang="en-US" sz="1500" dirty="0"/>
          </a:p>
        </p:txBody>
      </p:sp>
      <p:sp>
        <p:nvSpPr>
          <p:cNvPr id="12" name="Nummer 3"/>
          <p:cNvSpPr/>
          <p:nvPr/>
        </p:nvSpPr>
        <p:spPr>
          <a:xfrm>
            <a:off x="6208776" y="26060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208776" y="2606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894576" y="251460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Chancen</a:t>
            </a:r>
            <a:endParaRPr lang="en-US" sz="1500" dirty="0"/>
          </a:p>
        </p:txBody>
      </p:sp>
      <p:sp>
        <p:nvSpPr>
          <p:cNvPr id="15" name="Nummer 4"/>
          <p:cNvSpPr/>
          <p:nvPr/>
        </p:nvSpPr>
        <p:spPr>
          <a:xfrm>
            <a:off x="8878824" y="26060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878824" y="2606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9564624" y="251460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Risiken &amp; Verantwortung</a:t>
            </a:r>
            <a:endParaRPr lang="en-US" sz="1500" dirty="0"/>
          </a:p>
        </p:txBody>
      </p:sp>
      <p:sp>
        <p:nvSpPr>
          <p:cNvPr id="18" name="Panel Parcours"/>
          <p:cNvSpPr/>
          <p:nvPr/>
        </p:nvSpPr>
        <p:spPr>
          <a:xfrm>
            <a:off x="548640" y="3840480"/>
            <a:ext cx="11091672" cy="1828800"/>
          </a:xfrm>
          <a:prstGeom prst="roundRect">
            <a:avLst>
              <a:gd name="adj" fmla="val 4000"/>
            </a:avLst>
          </a:prstGeom>
          <a:solidFill>
            <a:schemeClr val="tx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68680" y="40690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WORKSHOP-PARCOURS · 5 STATIONEN À CA. 25 MIN. + 20 MIN. PAUSE</a:t>
            </a:r>
            <a:endParaRPr lang="en-US" sz="1200" dirty="0"/>
          </a:p>
        </p:txBody>
      </p:sp>
      <p:sp>
        <p:nvSpPr>
          <p:cNvPr id="20" name="Nummer 1"/>
          <p:cNvSpPr/>
          <p:nvPr/>
        </p:nvSpPr>
        <p:spPr>
          <a:xfrm>
            <a:off x="868680" y="466344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68680" y="4663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435608" y="4553712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Prompt Battle</a:t>
            </a:r>
            <a:endParaRPr lang="en-US" sz="1400" dirty="0"/>
          </a:p>
        </p:txBody>
      </p:sp>
      <p:sp>
        <p:nvSpPr>
          <p:cNvPr id="23" name="Nummer 2"/>
          <p:cNvSpPr/>
          <p:nvPr/>
        </p:nvSpPr>
        <p:spPr>
          <a:xfrm>
            <a:off x="3017520" y="466344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3017520" y="4663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3584448" y="4553712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KI als Lerncoach</a:t>
            </a:r>
            <a:endParaRPr lang="en-US" sz="1400" dirty="0"/>
          </a:p>
        </p:txBody>
      </p:sp>
      <p:sp>
        <p:nvSpPr>
          <p:cNvPr id="26" name="Nummer 3"/>
          <p:cNvSpPr/>
          <p:nvPr/>
        </p:nvSpPr>
        <p:spPr>
          <a:xfrm>
            <a:off x="5166360" y="466344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5166360" y="4663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5733288" y="4553712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KI-Faktencheck</a:t>
            </a:r>
            <a:endParaRPr lang="en-US" sz="1400" dirty="0"/>
          </a:p>
        </p:txBody>
      </p:sp>
      <p:sp>
        <p:nvSpPr>
          <p:cNvPr id="29" name="Nummer 4"/>
          <p:cNvSpPr/>
          <p:nvPr/>
        </p:nvSpPr>
        <p:spPr>
          <a:xfrm>
            <a:off x="7315200" y="466344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315200" y="4663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7882128" y="4553712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Deepfake Detective</a:t>
            </a:r>
            <a:endParaRPr lang="en-US" sz="1400" dirty="0"/>
          </a:p>
        </p:txBody>
      </p:sp>
      <p:sp>
        <p:nvSpPr>
          <p:cNvPr id="32" name="Nummer 5"/>
          <p:cNvSpPr/>
          <p:nvPr/>
        </p:nvSpPr>
        <p:spPr>
          <a:xfrm>
            <a:off x="9464040" y="466344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9464040" y="4663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10030968" y="4553712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Build your AI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276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 RATE MAL"/>
          <p:cNvSpPr/>
          <p:nvPr/>
        </p:nvSpPr>
        <p:spPr>
          <a:xfrm>
            <a:off x="548640" y="502920"/>
            <a:ext cx="2075688" cy="40233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pic>
        <p:nvPicPr>
          <p:cNvPr id="3" name="Badge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66928"/>
            <a:ext cx="274320" cy="2743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51560" y="502920"/>
            <a:ext cx="1527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chemeClr val="bg1"/>
                </a:solidFill>
              </a:rPr>
              <a:t>RATE MAL</a:t>
            </a:r>
            <a:endParaRPr lang="en-US" sz="1300" dirty="0"/>
          </a:p>
        </p:txBody>
      </p:sp>
      <p:sp>
        <p:nvSpPr>
          <p:cNvPr id="5" name="Titel"/>
          <p:cNvSpPr txBox="1"/>
          <p:nvPr/>
        </p:nvSpPr>
        <p:spPr>
          <a:xfrm>
            <a:off x="548640" y="10972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Wie lange brauchte ChatGPT für 1 Million Nutzer?</a:t>
            </a:r>
            <a:endParaRPr lang="en-US" sz="3600" dirty="0"/>
          </a:p>
        </p:txBody>
      </p:sp>
      <p:sp>
        <p:nvSpPr>
          <p:cNvPr id="6" name="Antwort A"/>
          <p:cNvSpPr/>
          <p:nvPr/>
        </p:nvSpPr>
        <p:spPr>
          <a:xfrm>
            <a:off x="548640" y="2514600"/>
            <a:ext cx="2624328" cy="2514600"/>
          </a:xfrm>
          <a:prstGeom prst="roundRect">
            <a:avLst>
              <a:gd name="adj" fmla="val 2909"/>
            </a:avLst>
          </a:prstGeom>
          <a:solidFill>
            <a:schemeClr val="accent4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68680" y="26974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2"/>
                </a:solidFill>
              </a:rPr>
              <a:t>A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37947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5 Tage</a:t>
            </a:r>
            <a:endParaRPr lang="en-US" sz="2800" dirty="0"/>
          </a:p>
        </p:txBody>
      </p:sp>
      <p:sp>
        <p:nvSpPr>
          <p:cNvPr id="9" name="Antwort B"/>
          <p:cNvSpPr/>
          <p:nvPr/>
        </p:nvSpPr>
        <p:spPr>
          <a:xfrm>
            <a:off x="3364992" y="2514600"/>
            <a:ext cx="2624328" cy="2514600"/>
          </a:xfrm>
          <a:prstGeom prst="roundRect">
            <a:avLst>
              <a:gd name="adj" fmla="val 2909"/>
            </a:avLst>
          </a:prstGeom>
          <a:solidFill>
            <a:schemeClr val="accent4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3685032" y="26974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2"/>
                </a:solidFill>
              </a:rPr>
              <a:t>B</a:t>
            </a:r>
            <a:endParaRPr lang="en-US" sz="3200" dirty="0"/>
          </a:p>
        </p:txBody>
      </p:sp>
      <p:sp>
        <p:nvSpPr>
          <p:cNvPr id="11" name="Text 8"/>
          <p:cNvSpPr txBox="1"/>
          <p:nvPr/>
        </p:nvSpPr>
        <p:spPr>
          <a:xfrm>
            <a:off x="3685032" y="37947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5 Wochen</a:t>
            </a:r>
            <a:endParaRPr lang="en-US" sz="2800" dirty="0"/>
          </a:p>
        </p:txBody>
      </p:sp>
      <p:sp>
        <p:nvSpPr>
          <p:cNvPr id="12" name="Antwort C"/>
          <p:cNvSpPr/>
          <p:nvPr/>
        </p:nvSpPr>
        <p:spPr>
          <a:xfrm>
            <a:off x="6181344" y="2514600"/>
            <a:ext cx="2624328" cy="2514600"/>
          </a:xfrm>
          <a:prstGeom prst="roundRect">
            <a:avLst>
              <a:gd name="adj" fmla="val 2909"/>
            </a:avLst>
          </a:prstGeom>
          <a:solidFill>
            <a:schemeClr val="accent4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501384" y="26974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2"/>
                </a:solidFill>
              </a:rPr>
              <a:t>C</a:t>
            </a:r>
            <a:endParaRPr lang="en-US" sz="3200" dirty="0"/>
          </a:p>
        </p:txBody>
      </p:sp>
      <p:sp>
        <p:nvSpPr>
          <p:cNvPr id="14" name="Text 11"/>
          <p:cNvSpPr txBox="1"/>
          <p:nvPr/>
        </p:nvSpPr>
        <p:spPr>
          <a:xfrm>
            <a:off x="6501384" y="37947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5 Monate</a:t>
            </a:r>
            <a:endParaRPr lang="en-US" sz="2800" dirty="0"/>
          </a:p>
        </p:txBody>
      </p:sp>
      <p:sp>
        <p:nvSpPr>
          <p:cNvPr id="15" name="Antwort D"/>
          <p:cNvSpPr/>
          <p:nvPr/>
        </p:nvSpPr>
        <p:spPr>
          <a:xfrm>
            <a:off x="8997696" y="2514600"/>
            <a:ext cx="2624328" cy="2514600"/>
          </a:xfrm>
          <a:prstGeom prst="roundRect">
            <a:avLst>
              <a:gd name="adj" fmla="val 2909"/>
            </a:avLst>
          </a:prstGeom>
          <a:solidFill>
            <a:schemeClr val="accent4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9317736" y="26974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2"/>
                </a:solidFill>
              </a:rPr>
              <a:t>D</a:t>
            </a:r>
            <a:endParaRPr lang="en-US" sz="3200" dirty="0"/>
          </a:p>
        </p:txBody>
      </p:sp>
      <p:sp>
        <p:nvSpPr>
          <p:cNvPr id="17" name="Text 14"/>
          <p:cNvSpPr txBox="1"/>
          <p:nvPr/>
        </p:nvSpPr>
        <p:spPr>
          <a:xfrm>
            <a:off x="9317736" y="37947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2 Jahre</a:t>
            </a:r>
            <a:endParaRPr lang="en-US" sz="280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54864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Hand hoch bei eurer Antwort!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276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548640" y="384048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ChatGPT: 1 Million Nutzer in nur 5 Tagen</a:t>
            </a:r>
            <a:endParaRPr lang="en-US" sz="3200" dirty="0"/>
          </a:p>
        </p:txBody>
      </p:sp>
      <p:sp>
        <p:nvSpPr>
          <p:cNvPr id="3" name="Text 0"/>
          <p:cNvSpPr/>
          <p:nvPr>
            <p:ph idx="103" type="body" hasCustomPrompt="1"/>
          </p:nvPr>
        </p:nvSpPr>
        <p:spPr>
          <a:xfrm>
            <a:off x="548640" y="118872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Zeit bis zur ersten Million Nutzerinnen und Nutzer</a:t>
            </a:r>
            <a:endParaRPr lang="en-US" sz="1600" dirty="0"/>
          </a:p>
        </p:txBody>
      </p:sp>
      <p:sp>
        <p:nvSpPr>
          <p:cNvPr id="4" name="Achse"/>
          <p:cNvSpPr/>
          <p:nvPr/>
        </p:nvSpPr>
        <p:spPr>
          <a:xfrm>
            <a:off x="2103120" y="1828800"/>
            <a:ext cx="0" cy="3749040"/>
          </a:xfrm>
          <a:prstGeom prst="line">
            <a:avLst/>
          </a:prstGeom>
          <a:noFill/>
          <a:ln w="12700">
            <a:solidFill>
              <a:schemeClr val="accent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01168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Netflix</a:t>
            </a:r>
            <a:endParaRPr lang="en-US" sz="1800" dirty="0"/>
          </a:p>
        </p:txBody>
      </p:sp>
      <p:sp>
        <p:nvSpPr>
          <p:cNvPr id="6" name="Balken Netflix"/>
          <p:cNvSpPr/>
          <p:nvPr/>
        </p:nvSpPr>
        <p:spPr>
          <a:xfrm>
            <a:off x="2103120" y="2011680"/>
            <a:ext cx="5120640" cy="566928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103120" y="2011680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3,5 Jahre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944368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Airbnb</a:t>
            </a:r>
            <a:endParaRPr lang="en-US" sz="1800" dirty="0"/>
          </a:p>
        </p:txBody>
      </p:sp>
      <p:sp>
        <p:nvSpPr>
          <p:cNvPr id="9" name="Balken Airbnb"/>
          <p:cNvSpPr/>
          <p:nvPr/>
        </p:nvSpPr>
        <p:spPr>
          <a:xfrm>
            <a:off x="2103120" y="2944368"/>
            <a:ext cx="3657600" cy="566928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103120" y="2944368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2,5 Jahre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877056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Twitter</a:t>
            </a:r>
            <a:endParaRPr lang="en-US" sz="1800" dirty="0"/>
          </a:p>
        </p:txBody>
      </p:sp>
      <p:sp>
        <p:nvSpPr>
          <p:cNvPr id="12" name="Balken Twitter"/>
          <p:cNvSpPr/>
          <p:nvPr/>
        </p:nvSpPr>
        <p:spPr>
          <a:xfrm>
            <a:off x="2103120" y="3877056"/>
            <a:ext cx="2926080" cy="566928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2103120" y="3877056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2 Jahre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809744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ChatGPT</a:t>
            </a:r>
            <a:endParaRPr lang="en-US" sz="1800" dirty="0"/>
          </a:p>
        </p:txBody>
      </p:sp>
      <p:sp>
        <p:nvSpPr>
          <p:cNvPr id="15" name="Balken ChatGPT"/>
          <p:cNvSpPr/>
          <p:nvPr/>
        </p:nvSpPr>
        <p:spPr>
          <a:xfrm>
            <a:off x="2103120" y="4809744"/>
            <a:ext cx="82296" cy="56692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2331720" y="4809744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5 Tage</a:t>
            </a:r>
            <a:endParaRPr lang="en-US" sz="1800" dirty="0"/>
          </a:p>
        </p:txBody>
      </p:sp>
      <p:sp>
        <p:nvSpPr>
          <p:cNvPr id="17" name="Karte 5 Tage"/>
          <p:cNvSpPr/>
          <p:nvPr/>
        </p:nvSpPr>
        <p:spPr>
          <a:xfrm>
            <a:off x="7955280" y="1828800"/>
            <a:ext cx="3685032" cy="3749040"/>
          </a:xfrm>
          <a:prstGeom prst="roundRect">
            <a:avLst>
              <a:gd name="adj" fmla="val 1985"/>
            </a:avLst>
          </a:prstGeom>
          <a:solidFill>
            <a:schemeClr val="tx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29600" y="201168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chemeClr val="bg1"/>
                </a:solidFill>
              </a:rPr>
              <a:t>5 </a:t>
            </a:r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Tage</a:t>
            </a:r>
            <a:endParaRPr lang="en-US" sz="88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0" y="329184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vom Start bis zur ersten Million Nutzer – schneller als jedes Produkt davor.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0" y="443484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Für euch: Ihr seid die erste Generation, die von Anfang an mit KI-Assistenten lernt.</a:t>
            </a:r>
            <a:endParaRPr lang="en-US" sz="1400" dirty="0"/>
          </a:p>
        </p:txBody>
      </p:sp>
      <p:sp>
        <p:nvSpPr>
          <p:cNvPr id="21" name="Quelle"/>
          <p:cNvSpPr txBox="1"/>
          <p:nvPr/>
        </p:nvSpPr>
        <p:spPr>
          <a:xfrm>
            <a:off x="548640" y="58704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3"/>
                </a:solidFill>
              </a:rPr>
              <a:t>Quelle: Statista, nach Unternehmensangaben. ChatGPT wurde am 30. November 2022 veröffentlicht.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276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 LIVE-DEMO"/>
          <p:cNvSpPr/>
          <p:nvPr/>
        </p:nvSpPr>
        <p:spPr>
          <a:xfrm>
            <a:off x="548640" y="502920"/>
            <a:ext cx="2226564" cy="40233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pic>
        <p:nvPicPr>
          <p:cNvPr id="3" name="Badge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66928"/>
            <a:ext cx="274320" cy="2743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51560" y="502920"/>
            <a:ext cx="16779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chemeClr val="bg1"/>
                </a:solidFill>
              </a:rPr>
              <a:t>LIVE-DEMO</a:t>
            </a:r>
            <a:endParaRPr lang="en-US" sz="1300" dirty="0"/>
          </a:p>
        </p:txBody>
      </p:sp>
      <p:sp>
        <p:nvSpPr>
          <p:cNvPr id="5" name="Titel"/>
          <p:cNvSpPr txBox="1"/>
          <p:nvPr/>
        </p:nvSpPr>
        <p:spPr>
          <a:xfrm>
            <a:off x="548640" y="109728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KI schreibt euren Schulsong.</a:t>
            </a:r>
            <a:endParaRPr lang="en-US" sz="4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0116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accent5"/>
                </a:solidFill>
              </a:rPr>
              <a:t>Ihr ruft rein – die KI schreibt. In Echtzeit.</a:t>
            </a:r>
            <a:endParaRPr lang="en-US" sz="2200" dirty="0"/>
          </a:p>
        </p:txBody>
      </p:sp>
      <p:sp>
        <p:nvSpPr>
          <p:cNvPr id="7" name="Eingabe 1"/>
          <p:cNvSpPr/>
          <p:nvPr/>
        </p:nvSpPr>
        <p:spPr>
          <a:xfrm>
            <a:off x="548640" y="2834640"/>
            <a:ext cx="3538728" cy="2103120"/>
          </a:xfrm>
          <a:prstGeom prst="roundRect">
            <a:avLst>
              <a:gd name="adj" fmla="val 3478"/>
            </a:avLst>
          </a:prstGeom>
          <a:solidFill>
            <a:schemeClr val="accent4"/>
          </a:solidFill>
          <a:ln w="25400">
            <a:solidFill>
              <a:schemeClr val="accent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68680" y="30175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1</a:t>
            </a:r>
            <a:endParaRPr lang="en-US" sz="36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37033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Ein Schulfach</a:t>
            </a:r>
            <a:endParaRPr lang="en-US" sz="2000" dirty="0"/>
          </a:p>
        </p:txBody>
      </p:sp>
      <p:sp>
        <p:nvSpPr>
          <p:cNvPr id="10" name="Schreiblinie 1"/>
          <p:cNvSpPr/>
          <p:nvPr/>
        </p:nvSpPr>
        <p:spPr>
          <a:xfrm>
            <a:off x="868680" y="4572000"/>
            <a:ext cx="2880360" cy="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dash"/>
          </a:ln>
        </p:spPr>
      </p:sp>
      <p:sp>
        <p:nvSpPr>
          <p:cNvPr id="11" name="Eingabe 2"/>
          <p:cNvSpPr/>
          <p:nvPr/>
        </p:nvSpPr>
        <p:spPr>
          <a:xfrm>
            <a:off x="4325112" y="2834640"/>
            <a:ext cx="3538728" cy="2103120"/>
          </a:xfrm>
          <a:prstGeom prst="roundRect">
            <a:avLst>
              <a:gd name="adj" fmla="val 3478"/>
            </a:avLst>
          </a:prstGeom>
          <a:solidFill>
            <a:schemeClr val="accent4"/>
          </a:solidFill>
          <a:ln w="25400">
            <a:solidFill>
              <a:schemeClr val="accent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645152" y="30175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2</a:t>
            </a:r>
            <a:endParaRPr lang="en-US" sz="3600" dirty="0"/>
          </a:p>
        </p:txBody>
      </p:sp>
      <p:sp>
        <p:nvSpPr>
          <p:cNvPr id="13" name="Text 10"/>
          <p:cNvSpPr txBox="1"/>
          <p:nvPr/>
        </p:nvSpPr>
        <p:spPr>
          <a:xfrm>
            <a:off x="4645152" y="37033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Ein typischer Lehrer-Spruch</a:t>
            </a:r>
            <a:endParaRPr lang="en-US" sz="2000" dirty="0"/>
          </a:p>
        </p:txBody>
      </p:sp>
      <p:sp>
        <p:nvSpPr>
          <p:cNvPr id="14" name="Schreiblinie 2"/>
          <p:cNvSpPr/>
          <p:nvPr/>
        </p:nvSpPr>
        <p:spPr>
          <a:xfrm>
            <a:off x="4645152" y="4572000"/>
            <a:ext cx="2880360" cy="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dash"/>
          </a:ln>
        </p:spPr>
      </p:sp>
      <p:sp>
        <p:nvSpPr>
          <p:cNvPr id="15" name="Eingabe 3"/>
          <p:cNvSpPr/>
          <p:nvPr/>
        </p:nvSpPr>
        <p:spPr>
          <a:xfrm>
            <a:off x="8101584" y="2834640"/>
            <a:ext cx="3538728" cy="2103120"/>
          </a:xfrm>
          <a:prstGeom prst="roundRect">
            <a:avLst>
              <a:gd name="adj" fmla="val 3478"/>
            </a:avLst>
          </a:prstGeom>
          <a:solidFill>
            <a:schemeClr val="accent4"/>
          </a:solidFill>
          <a:ln w="25400">
            <a:solidFill>
              <a:schemeClr val="accent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21624" y="30175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3</a:t>
            </a:r>
            <a:endParaRPr lang="en-US" sz="3600" dirty="0"/>
          </a:p>
        </p:txBody>
      </p:sp>
      <p:sp>
        <p:nvSpPr>
          <p:cNvPr id="17" name="Text 14"/>
          <p:cNvSpPr txBox="1"/>
          <p:nvPr/>
        </p:nvSpPr>
        <p:spPr>
          <a:xfrm>
            <a:off x="8421624" y="37033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Ein Musikstil</a:t>
            </a:r>
            <a:endParaRPr lang="en-US" sz="2000" dirty="0"/>
          </a:p>
        </p:txBody>
      </p:sp>
      <p:sp>
        <p:nvSpPr>
          <p:cNvPr id="18" name="Schreiblinie 3"/>
          <p:cNvSpPr/>
          <p:nvPr/>
        </p:nvSpPr>
        <p:spPr>
          <a:xfrm>
            <a:off x="8421624" y="4572000"/>
            <a:ext cx="2880360" cy="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dash"/>
          </a:ln>
        </p:spPr>
      </p:sp>
      <p:sp>
        <p:nvSpPr>
          <p:cNvPr id="19" name="Text 16"/>
          <p:cNvSpPr txBox="1"/>
          <p:nvPr/>
        </p:nvSpPr>
        <p:spPr>
          <a:xfrm>
            <a:off x="548640" y="53035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Danach: </a:t>
            </a:r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Unsere Schule im Jahr 2050 – als Bild.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276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548640" y="384048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KI-IQ: von 96 auf 136 in einem Jahr</a:t>
            </a:r>
            <a:endParaRPr lang="en-US" sz="3200" dirty="0"/>
          </a:p>
        </p:txBody>
      </p:sp>
      <p:sp>
        <p:nvSpPr>
          <p:cNvPr id="3" name="Text 0"/>
          <p:cNvSpPr/>
          <p:nvPr>
            <p:ph idx="103" type="body" hasCustomPrompt="1"/>
          </p:nvPr>
        </p:nvSpPr>
        <p:spPr>
          <a:xfrm>
            <a:off x="548640" y="118872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Das beste KI-Modell in standardisierten IQ-Tests – im Abstand von einem Jahr</a:t>
            </a:r>
            <a:endParaRPr lang="en-US" sz="1600" dirty="0"/>
          </a:p>
        </p:txBody>
      </p:sp>
      <p:sp>
        <p:nvSpPr>
          <p:cNvPr id="4" name="Karte 2024"/>
          <p:cNvSpPr/>
          <p:nvPr/>
        </p:nvSpPr>
        <p:spPr>
          <a:xfrm>
            <a:off x="548640" y="1828800"/>
            <a:ext cx="3291840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965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2024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28600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3"/>
                </a:solidFill>
              </a:rPr>
              <a:t>IQ 96</a:t>
            </a:r>
            <a:endParaRPr lang="en-US" sz="4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1546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Bestes Modell, Offline-Test</a:t>
            </a:r>
            <a:endParaRPr lang="en-US" sz="1500" dirty="0"/>
          </a:p>
        </p:txBody>
      </p:sp>
      <p:sp>
        <p:nvSpPr>
          <p:cNvPr id="8" name="Karte 2025"/>
          <p:cNvSpPr/>
          <p:nvPr/>
        </p:nvSpPr>
        <p:spPr>
          <a:xfrm>
            <a:off x="548640" y="3840480"/>
            <a:ext cx="3291840" cy="1828800"/>
          </a:xfrm>
          <a:prstGeom prst="roundRect">
            <a:avLst>
              <a:gd name="adj" fmla="val 4000"/>
            </a:avLst>
          </a:prstGeom>
          <a:solidFill>
            <a:schemeClr val="tx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3977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2025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429768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IQ 136</a:t>
            </a:r>
            <a:endParaRPr lang="en-US" sz="48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51663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Bestes Modell, Mensa Norwegen</a:t>
            </a:r>
            <a:endParaRPr lang="en-US" sz="1400" dirty="0"/>
          </a:p>
        </p:txBody>
      </p:sp>
      <p:sp>
        <p:nvSpPr>
          <p:cNvPr id="12" name="Rahmen 2024"/>
          <p:cNvSpPr/>
          <p:nvPr/>
        </p:nvSpPr>
        <p:spPr>
          <a:xfrm>
            <a:off x="4114800" y="1828800"/>
            <a:ext cx="7525512" cy="1828800"/>
          </a:xfrm>
          <a:prstGeom prst="roundRect">
            <a:avLst>
              <a:gd name="adj" fmla="val 4000"/>
            </a:avLst>
          </a:prstGeom>
          <a:solidFill>
            <a:schemeClr val="bg1"/>
          </a:solidFill>
          <a:ln w="15875">
            <a:solidFill>
              <a:schemeClr val="accent5"/>
            </a:solidFill>
            <a:prstDash val="solid"/>
          </a:ln>
        </p:spPr>
      </p:sp>
      <p:pic>
        <p:nvPicPr>
          <p:cNvPr id="13" name="Diagramm 2024" descr="iq202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1901952"/>
            <a:ext cx="6379166" cy="1682496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10744200" y="196596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2024</a:t>
            </a:r>
            <a:endParaRPr lang="en-US" sz="1800" dirty="0"/>
          </a:p>
        </p:txBody>
      </p:sp>
      <p:sp>
        <p:nvSpPr>
          <p:cNvPr id="15" name="Rahmen 2025"/>
          <p:cNvSpPr/>
          <p:nvPr/>
        </p:nvSpPr>
        <p:spPr>
          <a:xfrm>
            <a:off x="4114800" y="3840480"/>
            <a:ext cx="7525512" cy="1828800"/>
          </a:xfrm>
          <a:prstGeom prst="roundRect">
            <a:avLst>
              <a:gd name="adj" fmla="val 4000"/>
            </a:avLst>
          </a:prstGeom>
          <a:solidFill>
            <a:schemeClr val="bg1"/>
          </a:solidFill>
          <a:ln w="15875">
            <a:solidFill>
              <a:schemeClr val="accent5"/>
            </a:solidFill>
            <a:prstDash val="solid"/>
          </a:ln>
        </p:spPr>
      </p:sp>
      <p:pic>
        <p:nvPicPr>
          <p:cNvPr id="16" name="Diagramm 2025" descr="iq202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3913632"/>
            <a:ext cx="6379166" cy="1682496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10744200" y="397764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2025</a:t>
            </a:r>
            <a:endParaRPr lang="en-US" sz="1800" dirty="0"/>
          </a:p>
        </p:txBody>
      </p:sp>
      <p:sp>
        <p:nvSpPr>
          <p:cNvPr id="18" name="Quelle"/>
          <p:cNvSpPr txBox="1"/>
          <p:nvPr/>
        </p:nvSpPr>
        <p:spPr>
          <a:xfrm>
            <a:off x="548640" y="58704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3"/>
                </a:solidFill>
              </a:rPr>
              <a:t>Quelle: TrackingAI.org (MaximumTruth.org) – IQ-Werte, Durchschnitt der letzten 7 Tests. Menschlicher Durchschnitt = 100.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276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548640" y="384048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Wie macht die KI das?</a:t>
            </a:r>
            <a:endParaRPr lang="en-US" sz="3200" dirty="0"/>
          </a:p>
        </p:txBody>
      </p:sp>
      <p:sp>
        <p:nvSpPr>
          <p:cNvPr id="3" name="Text 0"/>
          <p:cNvSpPr/>
          <p:nvPr>
            <p:ph idx="103" type="body" hasCustomPrompt="1"/>
          </p:nvPr>
        </p:nvSpPr>
        <p:spPr>
          <a:xfrm>
            <a:off x="548640" y="118872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Ergänzt den Satz – genau das macht die KI, nur mit Milliarden Texten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74520"/>
            <a:ext cx="5303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chemeClr val="tx1"/>
                </a:solidFill>
              </a:rPr>
              <a:t>„Der Himmel ist heute …“</a:t>
            </a:r>
            <a:endParaRPr lang="en-US" sz="3800" dirty="0"/>
          </a:p>
        </p:txBody>
      </p:sp>
      <p:sp>
        <p:nvSpPr>
          <p:cNvPr id="5" name="Nummer 1"/>
          <p:cNvSpPr/>
          <p:nvPr/>
        </p:nvSpPr>
        <p:spPr>
          <a:xfrm>
            <a:off x="548640" y="338328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3383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338328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Gelernt </a:t>
            </a:r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aus Milliarden Texten</a:t>
            </a:r>
            <a:endParaRPr lang="en-US" sz="1500" dirty="0"/>
          </a:p>
        </p:txBody>
      </p:sp>
      <p:sp>
        <p:nvSpPr>
          <p:cNvPr id="8" name="Nummer 2"/>
          <p:cNvSpPr/>
          <p:nvPr/>
        </p:nvSpPr>
        <p:spPr>
          <a:xfrm>
            <a:off x="548640" y="393192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3931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393192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Gerechnet </a:t>
            </a:r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welches Wort am wahrscheinlichsten passt</a:t>
            </a:r>
            <a:endParaRPr lang="en-US" sz="1500" dirty="0"/>
          </a:p>
        </p:txBody>
      </p:sp>
      <p:sp>
        <p:nvSpPr>
          <p:cNvPr id="11" name="Nummer 3"/>
          <p:cNvSpPr/>
          <p:nvPr/>
        </p:nvSpPr>
        <p:spPr>
          <a:xfrm>
            <a:off x="548640" y="448056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4480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448056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Geschrieben </a:t>
            </a:r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Wort für Wort – immer das nächste</a:t>
            </a:r>
            <a:endParaRPr lang="en-US" sz="1500" dirty="0"/>
          </a:p>
        </p:txBody>
      </p:sp>
      <p:sp>
        <p:nvSpPr>
          <p:cNvPr id="14" name="Panel Wahrscheinlichkeiten"/>
          <p:cNvSpPr/>
          <p:nvPr/>
        </p:nvSpPr>
        <p:spPr>
          <a:xfrm>
            <a:off x="6217920" y="1828800"/>
            <a:ext cx="5422392" cy="3063240"/>
          </a:xfrm>
          <a:prstGeom prst="roundRect">
            <a:avLst>
              <a:gd name="adj" fmla="val 2388"/>
            </a:avLst>
          </a:prstGeom>
          <a:solidFill>
            <a:schemeClr val="bg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92240" y="2011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WAS DIE KI „DENKT“</a:t>
            </a:r>
            <a:endParaRPr lang="en-US" sz="1200" dirty="0"/>
          </a:p>
        </p:txBody>
      </p:sp>
      <p:graphicFrame>
        <p:nvGraphicFramePr>
          <p:cNvPr id="16" name="Diagramm Wortwahrscheinlichkeiten" descr=""/>
          <p:cNvGraphicFramePr/>
          <p:nvPr/>
        </p:nvGraphicFramePr>
        <p:xfrm>
          <a:off x="6400800" y="2331720"/>
          <a:ext cx="5029200" cy="2423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7" name="Kernaussage"/>
          <p:cNvSpPr/>
          <p:nvPr/>
        </p:nvSpPr>
        <p:spPr>
          <a:xfrm>
            <a:off x="548640" y="5120640"/>
            <a:ext cx="11091672" cy="777240"/>
          </a:xfrm>
          <a:prstGeom prst="roundRect">
            <a:avLst>
              <a:gd name="adj" fmla="val 9412"/>
            </a:avLst>
          </a:prstGeom>
          <a:solidFill>
            <a:schemeClr val="tx1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868680" y="51206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KI weiß nicht, was wahr ist – </a:t>
            </a:r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sie weiß, was wahrscheinlich klingt.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276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 CHALLENGE"/>
          <p:cNvSpPr/>
          <p:nvPr/>
        </p:nvSpPr>
        <p:spPr>
          <a:xfrm>
            <a:off x="548640" y="502920"/>
            <a:ext cx="2226564" cy="40233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pic>
        <p:nvPicPr>
          <p:cNvPr id="3" name="Badge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66928"/>
            <a:ext cx="274320" cy="2743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51560" y="502920"/>
            <a:ext cx="16779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chemeClr val="bg1"/>
                </a:solidFill>
              </a:rPr>
              <a:t>CHALLENGE</a:t>
            </a:r>
            <a:endParaRPr lang="en-US" sz="1300" dirty="0"/>
          </a:p>
        </p:txBody>
      </p:sp>
      <p:sp>
        <p:nvSpPr>
          <p:cNvPr id="5" name="Titel"/>
          <p:cNvSpPr txBox="1"/>
          <p:nvPr/>
        </p:nvSpPr>
        <p:spPr>
          <a:xfrm>
            <a:off x="548640" y="10972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Findet die 2 Fehler!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7830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accent5"/>
                </a:solidFill>
              </a:rPr>
              <a:t>Ihr habt 30 Sekunden.</a:t>
            </a:r>
            <a:endParaRPr lang="en-US" sz="2000" dirty="0"/>
          </a:p>
        </p:txBody>
      </p:sp>
      <p:sp>
        <p:nvSpPr>
          <p:cNvPr id="7" name="Frage an die KI"/>
          <p:cNvSpPr/>
          <p:nvPr/>
        </p:nvSpPr>
        <p:spPr>
          <a:xfrm>
            <a:off x="6309360" y="1828800"/>
            <a:ext cx="5330952" cy="685800"/>
          </a:xfrm>
          <a:prstGeom prst="roundRect">
            <a:avLst>
              <a:gd name="adj" fmla="val 10667"/>
            </a:avLst>
          </a:prstGeom>
          <a:solidFill>
            <a:schemeClr val="accent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537960" y="182880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Erzähl mir kurz etwas über den Eiffelturm.</a:t>
            </a:r>
            <a:endParaRPr lang="en-US" sz="1600" dirty="0"/>
          </a:p>
        </p:txBody>
      </p:sp>
      <p:sp>
        <p:nvSpPr>
          <p:cNvPr id="9" name="KI-Antwort"/>
          <p:cNvSpPr/>
          <p:nvPr/>
        </p:nvSpPr>
        <p:spPr>
          <a:xfrm>
            <a:off x="548640" y="2788920"/>
            <a:ext cx="11091672" cy="2651760"/>
          </a:xfrm>
          <a:prstGeom prst="roundRect">
            <a:avLst>
              <a:gd name="adj" fmla="val 2759"/>
            </a:avLst>
          </a:prstGeom>
          <a:solidFill>
            <a:schemeClr val="bg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914400" y="3017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ANTWORT DER KI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3383280"/>
            <a:ext cx="10332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tx1"/>
                </a:solidFill>
              </a:rPr>
              <a:t>Der Eiffelturm steht in Lyon und wurde 1899 zur Weltausstellung eröffnet. Mit rund 330 Metern Höhe ist er bis heute das bekannteste Wahrzeichen Frankreichs.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276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548640" y="384048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Klingt überzeugend – ist aber falsch</a:t>
            </a:r>
            <a:endParaRPr lang="en-US" sz="3200" dirty="0"/>
          </a:p>
        </p:txBody>
      </p:sp>
      <p:sp>
        <p:nvSpPr>
          <p:cNvPr id="3" name="Text 0"/>
          <p:cNvSpPr/>
          <p:nvPr>
            <p:ph idx="103" type="body" hasCustomPrompt="1"/>
          </p:nvPr>
        </p:nvSpPr>
        <p:spPr>
          <a:xfrm>
            <a:off x="548640" y="118872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Auflösung: Paris statt Lyon, 1889 statt 1899</a:t>
            </a:r>
            <a:endParaRPr lang="en-US" sz="1600" dirty="0"/>
          </a:p>
        </p:txBody>
      </p:sp>
      <p:sp>
        <p:nvSpPr>
          <p:cNvPr id="4" name="Auflösung"/>
          <p:cNvSpPr/>
          <p:nvPr/>
        </p:nvSpPr>
        <p:spPr>
          <a:xfrm>
            <a:off x="548640" y="1828800"/>
            <a:ext cx="5394960" cy="3794760"/>
          </a:xfrm>
          <a:prstGeom prst="roundRect">
            <a:avLst>
              <a:gd name="adj" fmla="val 1928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011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AUFLÖSUNG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77440"/>
            <a:ext cx="4846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Der Eiffelturm steht in </a:t>
            </a:r>
            <a:pPr indent="0" marL="0">
              <a:buNone/>
            </a:pPr>
            <a:r>
              <a:rPr lang="en-US" sz="1800" strike="sngStrike" dirty="0">
                <a:solidFill>
                  <a:schemeClr val="accent6"/>
                </a:solidFill>
              </a:rPr>
              <a:t>Lyon</a:t>
            </a:r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 Paris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 und wurde </a:t>
            </a:r>
            <a:pPr indent="0" marL="0">
              <a:buNone/>
            </a:pPr>
            <a:r>
              <a:rPr lang="en-US" sz="1800" strike="sngStrike" dirty="0">
                <a:solidFill>
                  <a:schemeClr val="accent6"/>
                </a:solidFill>
              </a:rPr>
              <a:t>1899</a:t>
            </a:r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 1889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 zur Weltausstellung eröffnet. Mit rund 330 Metern Höhe ist er bis heute das bekannteste Wahrzeichen Frankreichs.</a:t>
            </a:r>
            <a:endParaRPr lang="en-US" sz="1800" dirty="0"/>
          </a:p>
        </p:txBody>
      </p:sp>
      <p:sp>
        <p:nvSpPr>
          <p:cNvPr id="7" name="Warnhinweis"/>
          <p:cNvSpPr/>
          <p:nvPr/>
        </p:nvSpPr>
        <p:spPr>
          <a:xfrm>
            <a:off x="822960" y="4846320"/>
            <a:ext cx="4846320" cy="502920"/>
          </a:xfrm>
          <a:prstGeom prst="roundRect">
            <a:avLst>
              <a:gd name="adj" fmla="val 14545"/>
            </a:avLst>
          </a:prstGeom>
          <a:solidFill>
            <a:schemeClr val="accent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484632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 Fehler – und die KI klang dabei total sicher.</a:t>
            </a:r>
            <a:endParaRPr lang="en-US" sz="1400" dirty="0"/>
          </a:p>
        </p:txBody>
      </p:sp>
      <p:sp>
        <p:nvSpPr>
          <p:cNvPr id="9" name="Icon-Kreis LuSparkles"/>
          <p:cNvSpPr/>
          <p:nvPr/>
        </p:nvSpPr>
        <p:spPr>
          <a:xfrm>
            <a:off x="6355080" y="1828800"/>
            <a:ext cx="640080" cy="64008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0" name="Icon LuSparkles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15100" y="1988820"/>
            <a:ext cx="320040" cy="32004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7178040" y="1810512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Plausibel statt wahr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7178040" y="2176272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KI wählt, was gut klingt – nicht, was geprüft ist.</a:t>
            </a:r>
            <a:endParaRPr lang="en-US" sz="1400" dirty="0"/>
          </a:p>
        </p:txBody>
      </p:sp>
      <p:sp>
        <p:nvSpPr>
          <p:cNvPr id="13" name="Icon-Kreis LuFileSearch"/>
          <p:cNvSpPr/>
          <p:nvPr/>
        </p:nvSpPr>
        <p:spPr>
          <a:xfrm>
            <a:off x="6355080" y="2907792"/>
            <a:ext cx="640080" cy="64008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4" name="Icon LuFileSearch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5100" y="3067812"/>
            <a:ext cx="320040" cy="32004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7178040" y="2889504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Erfundene Quellen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7178040" y="3255264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Zitate, Zahlen und Links können frei erfunden sein („Halluzination“).</a:t>
            </a:r>
            <a:endParaRPr lang="en-US" sz="1400" dirty="0"/>
          </a:p>
        </p:txBody>
      </p:sp>
      <p:sp>
        <p:nvSpPr>
          <p:cNvPr id="17" name="Icon-Kreis LuSearch"/>
          <p:cNvSpPr/>
          <p:nvPr/>
        </p:nvSpPr>
        <p:spPr>
          <a:xfrm>
            <a:off x="6355080" y="3986784"/>
            <a:ext cx="640080" cy="64008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8" name="Icon LuSearch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5100" y="4146804"/>
            <a:ext cx="320040" cy="32004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7178040" y="3968496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Deshalb: prüfen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7178040" y="4334256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Wichtiges immer mit einer zweiten, verlässlichen Quelle abgleichen.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6355080" y="51663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Mehr davon an Station 3: </a:t>
            </a:r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KI-Faktencheck</a:t>
            </a:r>
            <a:endParaRPr lang="en-US" sz="1500" dirty="0"/>
          </a:p>
        </p:txBody>
      </p:sp>
      <p:sp>
        <p:nvSpPr>
          <p:cNvPr id="22" name="Hinweis Menti-Frage 3"/>
          <p:cNvSpPr/>
          <p:nvPr/>
        </p:nvSpPr>
        <p:spPr>
          <a:xfrm>
            <a:off x="9144000" y="6336792"/>
            <a:ext cx="1783080" cy="27432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9144000" y="633679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chemeClr val="bg1"/>
                </a:solidFill>
              </a:rPr>
              <a:t>MENTI 3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276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548640" y="384048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Spickzettel oder Lerncoach?</a:t>
            </a:r>
            <a:endParaRPr lang="en-US" sz="3200" dirty="0"/>
          </a:p>
        </p:txBody>
      </p:sp>
      <p:sp>
        <p:nvSpPr>
          <p:cNvPr id="3" name="Text 0"/>
          <p:cNvSpPr/>
          <p:nvPr>
            <p:ph idx="103" type="body" hasCustomPrompt="1"/>
          </p:nvPr>
        </p:nvSpPr>
        <p:spPr>
          <a:xfrm>
            <a:off x="548640" y="118872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Gleiches Werkzeug – völlig anderer Effekt</a:t>
            </a:r>
            <a:endParaRPr lang="en-US" sz="1600" dirty="0"/>
          </a:p>
        </p:txBody>
      </p:sp>
      <p:sp>
        <p:nvSpPr>
          <p:cNvPr id="4" name="Denken ersetzen"/>
          <p:cNvSpPr/>
          <p:nvPr/>
        </p:nvSpPr>
        <p:spPr>
          <a:xfrm>
            <a:off x="548640" y="1828800"/>
            <a:ext cx="5449824" cy="3429000"/>
          </a:xfrm>
          <a:prstGeom prst="roundRect">
            <a:avLst>
              <a:gd name="adj" fmla="val 2133"/>
            </a:avLst>
          </a:prstGeom>
          <a:solidFill>
            <a:schemeClr val="bg2"/>
          </a:solidFill>
          <a:ln/>
        </p:spPr>
      </p:sp>
      <p:sp>
        <p:nvSpPr>
          <p:cNvPr id="5" name="Icon-Kreis LuX"/>
          <p:cNvSpPr/>
          <p:nvPr/>
        </p:nvSpPr>
        <p:spPr>
          <a:xfrm>
            <a:off x="868680" y="2148840"/>
            <a:ext cx="594360" cy="59436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6" name="Icon LuX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7270" y="2297430"/>
            <a:ext cx="297180" cy="2971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45920" y="214884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6"/>
                </a:solidFill>
              </a:rPr>
              <a:t>Denken ersetzen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97180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i="1" dirty="0">
                <a:solidFill>
                  <a:schemeClr val="tx1"/>
                </a:solidFill>
              </a:rPr>
              <a:t>„Schreib mir die Erörterung zum Handyverbot.“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443484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Ergebnis: </a:t>
            </a:r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fertiger Text. </a:t>
            </a:r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Gelernt: </a:t>
            </a:r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nichts.</a:t>
            </a:r>
            <a:endParaRPr lang="en-US" sz="1500" dirty="0"/>
          </a:p>
        </p:txBody>
      </p:sp>
      <p:sp>
        <p:nvSpPr>
          <p:cNvPr id="10" name="Denken unterstützen"/>
          <p:cNvSpPr/>
          <p:nvPr/>
        </p:nvSpPr>
        <p:spPr>
          <a:xfrm>
            <a:off x="6190488" y="1828800"/>
            <a:ext cx="5449824" cy="3429000"/>
          </a:xfrm>
          <a:prstGeom prst="roundRect">
            <a:avLst>
              <a:gd name="adj" fmla="val 2133"/>
            </a:avLst>
          </a:prstGeom>
          <a:solidFill>
            <a:schemeClr val="tx1"/>
          </a:solidFill>
          <a:ln/>
        </p:spPr>
      </p:sp>
      <p:sp>
        <p:nvSpPr>
          <p:cNvPr id="11" name="Icon-Kreis LuCheck"/>
          <p:cNvSpPr/>
          <p:nvPr/>
        </p:nvSpPr>
        <p:spPr>
          <a:xfrm>
            <a:off x="6510528" y="214884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con LuChec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9118" y="2297430"/>
            <a:ext cx="297180" cy="29718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287768" y="214884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Denken unterstützen</a:t>
            </a:r>
            <a:endParaRPr lang="en-US" sz="2200" dirty="0"/>
          </a:p>
        </p:txBody>
      </p:sp>
      <p:sp>
        <p:nvSpPr>
          <p:cNvPr id="14" name="Text 10"/>
          <p:cNvSpPr txBox="1"/>
          <p:nvPr/>
        </p:nvSpPr>
        <p:spPr>
          <a:xfrm>
            <a:off x="6510528" y="297180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i="1" dirty="0">
                <a:solidFill>
                  <a:schemeClr val="bg1"/>
                </a:solidFill>
              </a:rPr>
              <a:t>„Stell mir Fragen, bis ich meine Gliederung selbst gefunden habe.“</a:t>
            </a:r>
            <a:endParaRPr lang="en-US" sz="2200" dirty="0"/>
          </a:p>
        </p:txBody>
      </p:sp>
      <p:sp>
        <p:nvSpPr>
          <p:cNvPr id="15" name="Text 11"/>
          <p:cNvSpPr txBox="1"/>
          <p:nvPr/>
        </p:nvSpPr>
        <p:spPr>
          <a:xfrm>
            <a:off x="6510528" y="443484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5"/>
                </a:solidFill>
              </a:rPr>
              <a:t>Ergebnis: </a:t>
            </a:r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deine Gliederung. </a:t>
            </a:r>
            <a:pPr indent="0" marL="0">
              <a:buNone/>
            </a:pPr>
            <a:r>
              <a:rPr lang="en-US" sz="1500" b="1" dirty="0">
                <a:solidFill>
                  <a:schemeClr val="accent5"/>
                </a:solidFill>
              </a:rPr>
              <a:t>Gelernt: </a:t>
            </a:r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argumentieren.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548640" y="54864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Richtig genutzt ist KI euer</a:t>
            </a:r>
            <a:endParaRPr lang="en-US" sz="1500" dirty="0"/>
          </a:p>
        </p:txBody>
      </p:sp>
      <p:sp>
        <p:nvSpPr>
          <p:cNvPr id="17" name="Rolle Lerncoach"/>
          <p:cNvSpPr/>
          <p:nvPr/>
        </p:nvSpPr>
        <p:spPr>
          <a:xfrm>
            <a:off x="3520440" y="5486400"/>
            <a:ext cx="1874520" cy="411480"/>
          </a:xfrm>
          <a:prstGeom prst="roundRect">
            <a:avLst>
              <a:gd name="adj" fmla="val 48889"/>
            </a:avLst>
          </a:prstGeom>
          <a:solidFill>
            <a:schemeClr val="accent5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3520440" y="548640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Lerncoach</a:t>
            </a:r>
            <a:endParaRPr lang="en-US" sz="1400" dirty="0"/>
          </a:p>
        </p:txBody>
      </p:sp>
      <p:sp>
        <p:nvSpPr>
          <p:cNvPr id="19" name="Rolle Kreativpartner"/>
          <p:cNvSpPr/>
          <p:nvPr/>
        </p:nvSpPr>
        <p:spPr>
          <a:xfrm>
            <a:off x="5532120" y="5486400"/>
            <a:ext cx="1874520" cy="411480"/>
          </a:xfrm>
          <a:prstGeom prst="roundRect">
            <a:avLst>
              <a:gd name="adj" fmla="val 48889"/>
            </a:avLst>
          </a:prstGeom>
          <a:solidFill>
            <a:schemeClr val="accent5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5532120" y="548640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Kreativpartner</a:t>
            </a:r>
            <a:endParaRPr lang="en-US" sz="1400" dirty="0"/>
          </a:p>
        </p:txBody>
      </p:sp>
      <p:sp>
        <p:nvSpPr>
          <p:cNvPr id="21" name="Rolle Problemlöser"/>
          <p:cNvSpPr/>
          <p:nvPr/>
        </p:nvSpPr>
        <p:spPr>
          <a:xfrm>
            <a:off x="7543800" y="5486400"/>
            <a:ext cx="1874520" cy="411480"/>
          </a:xfrm>
          <a:prstGeom prst="roundRect">
            <a:avLst>
              <a:gd name="adj" fmla="val 48889"/>
            </a:avLst>
          </a:prstGeom>
          <a:solidFill>
            <a:schemeClr val="accent5"/>
          </a:solidFill>
          <a:ln/>
        </p:spPr>
      </p:sp>
      <p:sp>
        <p:nvSpPr>
          <p:cNvPr id="22" name="Text 18"/>
          <p:cNvSpPr txBox="1"/>
          <p:nvPr/>
        </p:nvSpPr>
        <p:spPr>
          <a:xfrm>
            <a:off x="7543800" y="548640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Problemlöser</a:t>
            </a:r>
            <a:endParaRPr lang="en-US" sz="1400" dirty="0"/>
          </a:p>
        </p:txBody>
      </p:sp>
      <p:sp>
        <p:nvSpPr>
          <p:cNvPr id="23" name="Hinweis Menti-Frage 4"/>
          <p:cNvSpPr/>
          <p:nvPr/>
        </p:nvSpPr>
        <p:spPr>
          <a:xfrm>
            <a:off x="9144000" y="6336792"/>
            <a:ext cx="1783080" cy="27432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9144000" y="633679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chemeClr val="bg1"/>
                </a:solidFill>
              </a:rPr>
              <a:t>MENTI 4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276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548640" y="384048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Was im Beruf 2030 zählt</a:t>
            </a:r>
            <a:endParaRPr lang="en-US" sz="3200" dirty="0"/>
          </a:p>
        </p:txBody>
      </p:sp>
      <p:sp>
        <p:nvSpPr>
          <p:cNvPr id="3" name="Text 0"/>
          <p:cNvSpPr/>
          <p:nvPr>
            <p:ph idx="103" type="body" hasCustomPrompt="1"/>
          </p:nvPr>
        </p:nvSpPr>
        <p:spPr>
          <a:xfrm>
            <a:off x="548640" y="118872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Anteil der Arbeitgeber, die eine Fähigkeit heute als zentral sehen (x) – und die bis 2030 mit wachsender Bedeutung rechnen (y)</a:t>
            </a:r>
            <a:endParaRPr lang="en-US" sz="1600" dirty="0"/>
          </a:p>
        </p:txBody>
      </p:sp>
      <p:sp>
        <p:nvSpPr>
          <p:cNvPr id="4" name="Rahmen WEF"/>
          <p:cNvSpPr/>
          <p:nvPr/>
        </p:nvSpPr>
        <p:spPr>
          <a:xfrm>
            <a:off x="548640" y="1828800"/>
            <a:ext cx="5897880" cy="4023360"/>
          </a:xfrm>
          <a:prstGeom prst="roundRect">
            <a:avLst>
              <a:gd name="adj" fmla="val 1818"/>
            </a:avLst>
          </a:prstGeom>
          <a:solidFill>
            <a:schemeClr val="bg1"/>
          </a:solidFill>
          <a:ln w="15875">
            <a:solidFill>
              <a:schemeClr val="accent5"/>
            </a:solidFill>
            <a:prstDash val="solid"/>
          </a:ln>
        </p:spPr>
      </p:sp>
      <p:pic>
        <p:nvPicPr>
          <p:cNvPr id="5" name="Diagramm WEF Kompetenzen" descr="we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1466" y="1897380"/>
            <a:ext cx="5332228" cy="3886200"/>
          </a:xfrm>
          <a:prstGeom prst="rect">
            <a:avLst/>
          </a:prstGeom>
        </p:spPr>
      </p:pic>
      <p:sp>
        <p:nvSpPr>
          <p:cNvPr id="6" name="Nummer 1"/>
          <p:cNvSpPr/>
          <p:nvPr/>
        </p:nvSpPr>
        <p:spPr>
          <a:xfrm>
            <a:off x="6766560" y="18288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76656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1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7452360" y="180136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KI und Big Data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7452360" y="2157984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die am schnellsten wachsende Kompetenz – fast 9 von 10 Arbeitgebern rechnen damit</a:t>
            </a:r>
            <a:endParaRPr lang="en-US" sz="1400" dirty="0"/>
          </a:p>
        </p:txBody>
      </p:sp>
      <p:sp>
        <p:nvSpPr>
          <p:cNvPr id="10" name="Nummer 2"/>
          <p:cNvSpPr/>
          <p:nvPr/>
        </p:nvSpPr>
        <p:spPr>
          <a:xfrm>
            <a:off x="6766560" y="2852928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766560" y="28529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2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7452360" y="282549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Denken bleibt zentral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7452360" y="3182112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analytisches, kreatives und systemisches Denken</a:t>
            </a:r>
            <a:endParaRPr lang="en-US" sz="1400" dirty="0"/>
          </a:p>
        </p:txBody>
      </p:sp>
      <p:sp>
        <p:nvSpPr>
          <p:cNvPr id="14" name="Nummer 3"/>
          <p:cNvSpPr/>
          <p:nvPr/>
        </p:nvSpPr>
        <p:spPr>
          <a:xfrm>
            <a:off x="6766560" y="3877056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6766560" y="38770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3</a:t>
            </a:r>
            <a:endParaRPr lang="en-US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7452360" y="384962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Menschliche Stärken wachsen mit</a:t>
            </a:r>
            <a:endParaRPr lang="en-US" sz="1700" dirty="0"/>
          </a:p>
        </p:txBody>
      </p:sp>
      <p:sp>
        <p:nvSpPr>
          <p:cNvPr id="17" name="Text 14"/>
          <p:cNvSpPr txBox="1"/>
          <p:nvPr/>
        </p:nvSpPr>
        <p:spPr>
          <a:xfrm>
            <a:off x="7452360" y="420624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Resilienz, Neugier, lebenslanges Lernen, Führung</a:t>
            </a:r>
            <a:endParaRPr lang="en-US" sz="1400" dirty="0"/>
          </a:p>
        </p:txBody>
      </p:sp>
      <p:sp>
        <p:nvSpPr>
          <p:cNvPr id="18" name="Fazit Kompetenzen"/>
          <p:cNvSpPr/>
          <p:nvPr/>
        </p:nvSpPr>
        <p:spPr>
          <a:xfrm>
            <a:off x="6766560" y="4937760"/>
            <a:ext cx="4873752" cy="914400"/>
          </a:xfrm>
          <a:prstGeom prst="roundRect">
            <a:avLst>
              <a:gd name="adj" fmla="val 8000"/>
            </a:avLst>
          </a:prstGeom>
          <a:solidFill>
            <a:schemeClr val="tx1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6995160" y="493776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Für euch: KI sicher nutzen – und trainieren, was Maschinen nicht ersetzen.</a:t>
            </a:r>
            <a:endParaRPr lang="en-US" sz="1500" dirty="0"/>
          </a:p>
        </p:txBody>
      </p:sp>
      <p:sp>
        <p:nvSpPr>
          <p:cNvPr id="20" name="Quelle"/>
          <p:cNvSpPr txBox="1"/>
          <p:nvPr/>
        </p:nvSpPr>
        <p:spPr>
          <a:xfrm>
            <a:off x="548640" y="59436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3"/>
                </a:solidFill>
              </a:rPr>
              <a:t>Quelle: World Economic Forum, Future of Jobs Report 2025, Abb. 3.6.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276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 CHALLENGE"/>
          <p:cNvSpPr/>
          <p:nvPr/>
        </p:nvSpPr>
        <p:spPr>
          <a:xfrm>
            <a:off x="548640" y="502920"/>
            <a:ext cx="2226564" cy="40233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pic>
        <p:nvPicPr>
          <p:cNvPr id="3" name="Badge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66928"/>
            <a:ext cx="274320" cy="2743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51560" y="502920"/>
            <a:ext cx="16779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chemeClr val="bg1"/>
                </a:solidFill>
              </a:rPr>
              <a:t>CHALLENGE</a:t>
            </a:r>
            <a:endParaRPr lang="en-US" sz="1300" dirty="0"/>
          </a:p>
        </p:txBody>
      </p:sp>
      <p:sp>
        <p:nvSpPr>
          <p:cNvPr id="5" name="Titel"/>
          <p:cNvSpPr txBox="1"/>
          <p:nvPr/>
        </p:nvSpPr>
        <p:spPr>
          <a:xfrm>
            <a:off x="548640" y="10972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Echt oder KI?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78308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Vorher: Menti 5 – wie sicher erkennst du das?</a:t>
            </a:r>
            <a:endParaRPr lang="en-US" sz="1800" dirty="0"/>
          </a:p>
        </p:txBody>
      </p:sp>
      <p:pic>
        <p:nvPicPr>
          <p:cNvPr id="7" name="Bild A (echt)" descr="Porträtfoto von Elias Hau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0" y="2651760"/>
            <a:ext cx="3154680" cy="3154680"/>
          </a:xfrm>
          <a:prstGeom prst="rect">
            <a:avLst/>
          </a:prstGeom>
        </p:spPr>
      </p:pic>
      <p:sp>
        <p:nvSpPr>
          <p:cNvPr id="8" name="Bild B – Platzhalter (durch KI-Bild ersetzen)"/>
          <p:cNvSpPr/>
          <p:nvPr/>
        </p:nvSpPr>
        <p:spPr>
          <a:xfrm>
            <a:off x="6858000" y="2651760"/>
            <a:ext cx="3154680" cy="3154680"/>
          </a:xfrm>
          <a:prstGeom prst="rect">
            <a:avLst/>
          </a:prstGeom>
          <a:solidFill>
            <a:schemeClr val="accent4"/>
          </a:solidFill>
          <a:ln w="19050">
            <a:solidFill>
              <a:schemeClr val="accent3"/>
            </a:solidFill>
            <a:prstDash val="dash"/>
          </a:ln>
        </p:spPr>
      </p:sp>
      <p:sp>
        <p:nvSpPr>
          <p:cNvPr id="9" name="Text 5"/>
          <p:cNvSpPr txBox="1"/>
          <p:nvPr/>
        </p:nvSpPr>
        <p:spPr>
          <a:xfrm>
            <a:off x="7040880" y="2651760"/>
            <a:ext cx="278892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Hier ein KI-Bild einfügen</a:t>
            </a:r>
            <a:endParaRPr lang="en-US" sz="1500" dirty="0"/>
          </a:p>
          <a:p>
            <a:pPr algn="ctr" indent="0" marL="0">
              <a:buNone/>
            </a:pP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z. B. „Papst in Daunenjacke“ (2023)</a:t>
            </a:r>
            <a:endParaRPr lang="en-US" sz="1500" dirty="0"/>
          </a:p>
        </p:txBody>
      </p:sp>
      <p:sp>
        <p:nvSpPr>
          <p:cNvPr id="10" name="Label A"/>
          <p:cNvSpPr/>
          <p:nvPr/>
        </p:nvSpPr>
        <p:spPr>
          <a:xfrm>
            <a:off x="1600200" y="2331720"/>
            <a:ext cx="731520" cy="73152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1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1600200" y="23317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A</a:t>
            </a:r>
            <a:endParaRPr lang="en-US" sz="2400" dirty="0"/>
          </a:p>
        </p:txBody>
      </p:sp>
      <p:sp>
        <p:nvSpPr>
          <p:cNvPr id="12" name="Label B"/>
          <p:cNvSpPr/>
          <p:nvPr/>
        </p:nvSpPr>
        <p:spPr>
          <a:xfrm>
            <a:off x="6537960" y="2331720"/>
            <a:ext cx="731520" cy="73152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1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537960" y="23317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B</a:t>
            </a:r>
            <a:endParaRPr lang="en-US" sz="2400" dirty="0"/>
          </a:p>
        </p:txBody>
      </p:sp>
      <p:sp>
        <p:nvSpPr>
          <p:cNvPr id="14" name="Hinweis Menti-Frage 5"/>
          <p:cNvSpPr/>
          <p:nvPr/>
        </p:nvSpPr>
        <p:spPr>
          <a:xfrm>
            <a:off x="9144000" y="6336792"/>
            <a:ext cx="1783080" cy="27432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9144000" y="633679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chemeClr val="bg1"/>
                </a:solidFill>
              </a:rPr>
              <a:t>MENTI 5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276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548640" y="384048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Vier Risiken, die ihr kennen solltet</a:t>
            </a:r>
            <a:endParaRPr lang="en-US" sz="3200" dirty="0"/>
          </a:p>
        </p:txBody>
      </p:sp>
      <p:sp>
        <p:nvSpPr>
          <p:cNvPr id="3" name="Text 0"/>
          <p:cNvSpPr/>
          <p:nvPr>
            <p:ph idx="103" type="body" hasCustomPrompt="1"/>
          </p:nvPr>
        </p:nvSpPr>
        <p:spPr>
          <a:xfrm>
            <a:off x="548640" y="118872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Und je eine Faustregel, wie ihr damit umgeht</a:t>
            </a:r>
            <a:endParaRPr lang="en-US" sz="1600" dirty="0"/>
          </a:p>
        </p:txBody>
      </p:sp>
      <p:sp>
        <p:nvSpPr>
          <p:cNvPr id="4" name="Risiko Halluzinationen"/>
          <p:cNvSpPr/>
          <p:nvPr/>
        </p:nvSpPr>
        <p:spPr>
          <a:xfrm>
            <a:off x="548640" y="1828800"/>
            <a:ext cx="5449824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5" name="Icon-Kreis LuTriangleAlert"/>
          <p:cNvSpPr/>
          <p:nvPr/>
        </p:nvSpPr>
        <p:spPr>
          <a:xfrm>
            <a:off x="822960" y="2103120"/>
            <a:ext cx="640080" cy="64008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6" name="Icon LuTriangleAler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2263140"/>
            <a:ext cx="320040" cy="3200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45920" y="2075688"/>
            <a:ext cx="4078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Halluzinationen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1645920" y="2468880"/>
            <a:ext cx="4078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KI erfindet Fakten, Zitate oder Quellen – und klingt dabei völlig sicher.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645920" y="3154680"/>
            <a:ext cx="4078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Faustregel: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Wichtiges immer gegenprüfen.</a:t>
            </a:r>
            <a:endParaRPr lang="en-US" sz="1400" dirty="0"/>
          </a:p>
        </p:txBody>
      </p:sp>
      <p:sp>
        <p:nvSpPr>
          <p:cNvPr id="10" name="Risiko Deepfakes"/>
          <p:cNvSpPr/>
          <p:nvPr/>
        </p:nvSpPr>
        <p:spPr>
          <a:xfrm>
            <a:off x="6190488" y="1828800"/>
            <a:ext cx="5449824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11" name="Icon-Kreis LuScanEye"/>
          <p:cNvSpPr/>
          <p:nvPr/>
        </p:nvSpPr>
        <p:spPr>
          <a:xfrm>
            <a:off x="6464808" y="2103120"/>
            <a:ext cx="640080" cy="64008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2" name="Icon LuScanEy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4828" y="226314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287768" y="2075688"/>
            <a:ext cx="4078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Deepfakes</a:t>
            </a:r>
            <a:endParaRPr lang="en-US" sz="1900" dirty="0"/>
          </a:p>
        </p:txBody>
      </p:sp>
      <p:sp>
        <p:nvSpPr>
          <p:cNvPr id="14" name="Text 10"/>
          <p:cNvSpPr txBox="1"/>
          <p:nvPr/>
        </p:nvSpPr>
        <p:spPr>
          <a:xfrm>
            <a:off x="7287768" y="2468880"/>
            <a:ext cx="4078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Täuschend echte Bilder, Videos und Stimmen entstehen in Minuten.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7287768" y="3154680"/>
            <a:ext cx="4078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Faustregel: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Erst die Quelle prüfen, dann teilen.</a:t>
            </a:r>
            <a:endParaRPr lang="en-US" sz="1400" dirty="0"/>
          </a:p>
        </p:txBody>
      </p:sp>
      <p:sp>
        <p:nvSpPr>
          <p:cNvPr id="16" name="Risiko Datenschutz"/>
          <p:cNvSpPr/>
          <p:nvPr/>
        </p:nvSpPr>
        <p:spPr>
          <a:xfrm>
            <a:off x="548640" y="3840480"/>
            <a:ext cx="5449824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17" name="Icon-Kreis LuLock"/>
          <p:cNvSpPr/>
          <p:nvPr/>
        </p:nvSpPr>
        <p:spPr>
          <a:xfrm>
            <a:off x="822960" y="4114800"/>
            <a:ext cx="640080" cy="64008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8" name="Icon LuLock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" y="4274820"/>
            <a:ext cx="320040" cy="32004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645920" y="4087368"/>
            <a:ext cx="4078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Datenschutz</a:t>
            </a:r>
            <a:endParaRPr lang="en-US" sz="1900" dirty="0"/>
          </a:p>
        </p:txBody>
      </p:sp>
      <p:sp>
        <p:nvSpPr>
          <p:cNvPr id="20" name="Text 15"/>
          <p:cNvSpPr txBox="1"/>
          <p:nvPr/>
        </p:nvSpPr>
        <p:spPr>
          <a:xfrm>
            <a:off x="1645920" y="4480560"/>
            <a:ext cx="4078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Was ihr eingebt, kann gespeichert und weiterverwendet werden.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1645920" y="5166360"/>
            <a:ext cx="4078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Faustregel: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Keine persönlichen Daten, Fotos oder Passwörter.</a:t>
            </a:r>
            <a:endParaRPr lang="en-US" sz="1400" dirty="0"/>
          </a:p>
        </p:txBody>
      </p:sp>
      <p:sp>
        <p:nvSpPr>
          <p:cNvPr id="22" name="Risiko Bias"/>
          <p:cNvSpPr/>
          <p:nvPr/>
        </p:nvSpPr>
        <p:spPr>
          <a:xfrm>
            <a:off x="6190488" y="3840480"/>
            <a:ext cx="5449824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23" name="Icon-Kreis LuScale"/>
          <p:cNvSpPr/>
          <p:nvPr/>
        </p:nvSpPr>
        <p:spPr>
          <a:xfrm>
            <a:off x="6464808" y="4114800"/>
            <a:ext cx="640080" cy="64008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24" name="Icon LuScal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4828" y="4274820"/>
            <a:ext cx="320040" cy="32004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7287768" y="4087368"/>
            <a:ext cx="4078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Bias</a:t>
            </a:r>
            <a:endParaRPr lang="en-US" sz="1900" dirty="0"/>
          </a:p>
        </p:txBody>
      </p:sp>
      <p:sp>
        <p:nvSpPr>
          <p:cNvPr id="26" name="Text 20"/>
          <p:cNvSpPr txBox="1"/>
          <p:nvPr/>
        </p:nvSpPr>
        <p:spPr>
          <a:xfrm>
            <a:off x="7287768" y="4480560"/>
            <a:ext cx="4078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KI übernimmt Vorurteile aus Trainingsdaten, z. B. zu Berufen oder Herkunft.</a:t>
            </a:r>
            <a:endParaRPr lang="en-US" sz="1400" dirty="0"/>
          </a:p>
        </p:txBody>
      </p:sp>
      <p:sp>
        <p:nvSpPr>
          <p:cNvPr id="27" name="Text 21"/>
          <p:cNvSpPr txBox="1"/>
          <p:nvPr/>
        </p:nvSpPr>
        <p:spPr>
          <a:xfrm>
            <a:off x="7287768" y="5166360"/>
            <a:ext cx="4078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Faustregel: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Ergebnisse kritisch hinterfragen.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276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548640" y="384048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Mensch + KI: das stärkste Team</a:t>
            </a:r>
            <a:endParaRPr lang="en-US" sz="3200" dirty="0"/>
          </a:p>
        </p:txBody>
      </p:sp>
      <p:sp>
        <p:nvSpPr>
          <p:cNvPr id="3" name="Text 0"/>
          <p:cNvSpPr/>
          <p:nvPr>
            <p:ph idx="103" type="body" hasCustomPrompt="1"/>
          </p:nvPr>
        </p:nvSpPr>
        <p:spPr>
          <a:xfrm>
            <a:off x="548640" y="118872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Nicht Mensch oder Maschine – der Wert liegt in der Überschneidung</a:t>
            </a:r>
            <a:endParaRPr lang="en-US" sz="1600" dirty="0"/>
          </a:p>
        </p:txBody>
      </p:sp>
      <p:sp>
        <p:nvSpPr>
          <p:cNvPr id="4" name="Kreis Mensch"/>
          <p:cNvSpPr/>
          <p:nvPr/>
        </p:nvSpPr>
        <p:spPr>
          <a:xfrm>
            <a:off x="822960" y="1783080"/>
            <a:ext cx="4434840" cy="4434840"/>
          </a:xfrm>
          <a:prstGeom prst="ellipse">
            <a:avLst/>
          </a:prstGeom>
          <a:solidFill>
            <a:schemeClr val="accent5"/>
          </a:solidFill>
          <a:ln w="31750">
            <a:solidFill>
              <a:schemeClr val="accent2"/>
            </a:solidFill>
            <a:prstDash val="solid"/>
          </a:ln>
        </p:spPr>
      </p:sp>
      <p:sp>
        <p:nvSpPr>
          <p:cNvPr id="5" name="Kreis KI"/>
          <p:cNvSpPr/>
          <p:nvPr/>
        </p:nvSpPr>
        <p:spPr>
          <a:xfrm>
            <a:off x="3611880" y="1783080"/>
            <a:ext cx="4434840" cy="4434840"/>
          </a:xfrm>
          <a:prstGeom prst="ellipse">
            <a:avLst/>
          </a:prstGeom>
          <a:solidFill>
            <a:schemeClr val="accent3">
              <a:alpha val="50000"/>
            </a:schemeClr>
          </a:solidFill>
          <a:ln w="31750">
            <a:solidFill>
              <a:schemeClr val="tx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51560" y="352044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accent1"/>
                </a:solidFill>
              </a:rPr>
              <a:t>Menschliche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b="1" dirty="0">
                <a:solidFill>
                  <a:schemeClr val="accent1"/>
                </a:solidFill>
              </a:rPr>
              <a:t>Intelligenz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3611880" y="352044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Erweiterte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Intelligenz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303520" y="352044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Künstliche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Intelligenz</a:t>
            </a:r>
            <a:endParaRPr lang="en-US" sz="2100" dirty="0"/>
          </a:p>
        </p:txBody>
      </p:sp>
      <p:sp>
        <p:nvSpPr>
          <p:cNvPr id="9" name="Label MENSCH"/>
          <p:cNvSpPr/>
          <p:nvPr/>
        </p:nvSpPr>
        <p:spPr>
          <a:xfrm>
            <a:off x="8503920" y="1874520"/>
            <a:ext cx="1371600" cy="292608"/>
          </a:xfrm>
          <a:prstGeom prst="roundRect">
            <a:avLst>
              <a:gd name="adj" fmla="val 18750"/>
            </a:avLst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503920" y="187452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chemeClr val="bg1"/>
                </a:solidFill>
              </a:rPr>
              <a:t>MENSCH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8503920" y="2258568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Urteilsvermögen, Kontext, Vertrauen, Verantwortung</a:t>
            </a:r>
            <a:endParaRPr lang="en-US" sz="1500" dirty="0"/>
          </a:p>
        </p:txBody>
      </p:sp>
      <p:sp>
        <p:nvSpPr>
          <p:cNvPr id="12" name="Label KI"/>
          <p:cNvSpPr/>
          <p:nvPr/>
        </p:nvSpPr>
        <p:spPr>
          <a:xfrm>
            <a:off x="8503920" y="3246120"/>
            <a:ext cx="1371600" cy="292608"/>
          </a:xfrm>
          <a:prstGeom prst="roundRect">
            <a:avLst>
              <a:gd name="adj" fmla="val 18750"/>
            </a:avLst>
          </a:prstGeom>
          <a:solidFill>
            <a:schemeClr val="tx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503920" y="324612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chemeClr val="bg1"/>
                </a:solidFill>
              </a:rPr>
              <a:t>KI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503920" y="3630168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Tempo, Menge, Mustererkennung, unermüdliches Üben</a:t>
            </a:r>
            <a:endParaRPr lang="en-US" sz="1500" dirty="0"/>
          </a:p>
        </p:txBody>
      </p:sp>
      <p:sp>
        <p:nvSpPr>
          <p:cNvPr id="15" name="Label ERWEITERT – IN DER SCHULE"/>
          <p:cNvSpPr/>
          <p:nvPr/>
        </p:nvSpPr>
        <p:spPr>
          <a:xfrm>
            <a:off x="8503920" y="4617720"/>
            <a:ext cx="3108960" cy="292608"/>
          </a:xfrm>
          <a:prstGeom prst="roundRect">
            <a:avLst>
              <a:gd name="adj" fmla="val 18750"/>
            </a:avLst>
          </a:prstGeom>
          <a:solidFill>
            <a:schemeClr val="accent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503920" y="461772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chemeClr val="bg1"/>
                </a:solidFill>
              </a:rPr>
              <a:t>ERWEITERT – IN DER SCHULE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8503920" y="5001768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KI erklärt, übt und gibt Feedback – ihr denkt mit, prüft und entscheidet.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276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548640" y="384048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Eure Mission heute</a:t>
            </a:r>
            <a:endParaRPr lang="en-US" sz="3200" dirty="0"/>
          </a:p>
        </p:txBody>
      </p:sp>
      <p:sp>
        <p:nvSpPr>
          <p:cNvPr id="3" name="Text 0"/>
          <p:cNvSpPr/>
          <p:nvPr>
            <p:ph idx="103" type="body" hasCustomPrompt="1"/>
          </p:nvPr>
        </p:nvSpPr>
        <p:spPr>
          <a:xfrm>
            <a:off x="548640" y="118872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5 Stationen · 5 Gruppen à ca. 11 Personen · ca. 25 Minuten pro Station</a:t>
            </a:r>
            <a:endParaRPr lang="en-US" sz="1600" dirty="0"/>
          </a:p>
        </p:txBody>
      </p:sp>
      <p:sp>
        <p:nvSpPr>
          <p:cNvPr id="4" name="Station 1"/>
          <p:cNvSpPr/>
          <p:nvPr/>
        </p:nvSpPr>
        <p:spPr>
          <a:xfrm>
            <a:off x="548640" y="1828800"/>
            <a:ext cx="2093976" cy="4023360"/>
          </a:xfrm>
          <a:prstGeom prst="roundRect">
            <a:avLst>
              <a:gd name="adj" fmla="val 3493"/>
            </a:avLst>
          </a:prstGeom>
          <a:solidFill>
            <a:schemeClr val="bg2"/>
          </a:solidFill>
          <a:ln/>
        </p:spPr>
      </p:sp>
      <p:sp>
        <p:nvSpPr>
          <p:cNvPr id="5" name="Nummer 01"/>
          <p:cNvSpPr/>
          <p:nvPr/>
        </p:nvSpPr>
        <p:spPr>
          <a:xfrm>
            <a:off x="749808" y="2029968"/>
            <a:ext cx="548640" cy="54864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9808" y="20299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01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697480"/>
            <a:ext cx="17282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Prompt Battle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3383280"/>
            <a:ext cx="172821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Gleiche Aufgabe, verschiedene Prompts: Wer holt das beste Ergebnis heraus?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4800600"/>
            <a:ext cx="17282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1"/>
                </a:solidFill>
              </a:rPr>
              <a:t>„Gute KI-Nutzung beginnt mit klarem Denken und guten Fragen.“</a:t>
            </a:r>
            <a:endParaRPr lang="en-US" sz="1200" dirty="0"/>
          </a:p>
        </p:txBody>
      </p:sp>
      <p:sp>
        <p:nvSpPr>
          <p:cNvPr id="10" name="Station 2"/>
          <p:cNvSpPr/>
          <p:nvPr/>
        </p:nvSpPr>
        <p:spPr>
          <a:xfrm>
            <a:off x="2798064" y="1828800"/>
            <a:ext cx="2093976" cy="4023360"/>
          </a:xfrm>
          <a:prstGeom prst="roundRect">
            <a:avLst>
              <a:gd name="adj" fmla="val 3493"/>
            </a:avLst>
          </a:prstGeom>
          <a:solidFill>
            <a:schemeClr val="bg2"/>
          </a:solidFill>
          <a:ln/>
        </p:spPr>
      </p:sp>
      <p:sp>
        <p:nvSpPr>
          <p:cNvPr id="11" name="Nummer 02"/>
          <p:cNvSpPr/>
          <p:nvPr/>
        </p:nvSpPr>
        <p:spPr>
          <a:xfrm>
            <a:off x="2999232" y="2029968"/>
            <a:ext cx="548640" cy="54864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999232" y="20299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02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2999232" y="2697480"/>
            <a:ext cx="17282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KI als Lerncoach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2999232" y="3383280"/>
            <a:ext cx="172821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Ein Schulthema mit KI Schritt für Schritt verstehen – ohne abzuschreiben.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2999232" y="4800600"/>
            <a:ext cx="17282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1"/>
                </a:solidFill>
              </a:rPr>
              <a:t>„KI soll Denken unterstützen, nicht ersetzen.“</a:t>
            </a:r>
            <a:endParaRPr lang="en-US" sz="1200" dirty="0"/>
          </a:p>
        </p:txBody>
      </p:sp>
      <p:sp>
        <p:nvSpPr>
          <p:cNvPr id="16" name="Station 3"/>
          <p:cNvSpPr/>
          <p:nvPr/>
        </p:nvSpPr>
        <p:spPr>
          <a:xfrm>
            <a:off x="5047488" y="1828800"/>
            <a:ext cx="2093976" cy="4023360"/>
          </a:xfrm>
          <a:prstGeom prst="roundRect">
            <a:avLst>
              <a:gd name="adj" fmla="val 3493"/>
            </a:avLst>
          </a:prstGeom>
          <a:solidFill>
            <a:schemeClr val="bg2"/>
          </a:solidFill>
          <a:ln/>
        </p:spPr>
      </p:sp>
      <p:sp>
        <p:nvSpPr>
          <p:cNvPr id="17" name="Nummer 03"/>
          <p:cNvSpPr/>
          <p:nvPr/>
        </p:nvSpPr>
        <p:spPr>
          <a:xfrm>
            <a:off x="5248656" y="2029968"/>
            <a:ext cx="548640" cy="54864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248656" y="20299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03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248656" y="2697480"/>
            <a:ext cx="17282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KI-Faktencheck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248656" y="3383280"/>
            <a:ext cx="172821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Findet den Fehler und die erfundene Quelle in einer KI-Antwort.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248656" y="4800600"/>
            <a:ext cx="17282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1"/>
                </a:solidFill>
              </a:rPr>
              <a:t>„Sprachliche Sicherheit ist kein Beweis für Wahrheit.“</a:t>
            </a:r>
            <a:endParaRPr lang="en-US" sz="1200" dirty="0"/>
          </a:p>
        </p:txBody>
      </p:sp>
      <p:sp>
        <p:nvSpPr>
          <p:cNvPr id="22" name="Station 4"/>
          <p:cNvSpPr/>
          <p:nvPr/>
        </p:nvSpPr>
        <p:spPr>
          <a:xfrm>
            <a:off x="7296912" y="1828800"/>
            <a:ext cx="2093976" cy="4023360"/>
          </a:xfrm>
          <a:prstGeom prst="roundRect">
            <a:avLst>
              <a:gd name="adj" fmla="val 3493"/>
            </a:avLst>
          </a:prstGeom>
          <a:solidFill>
            <a:schemeClr val="bg2"/>
          </a:solidFill>
          <a:ln/>
        </p:spPr>
      </p:sp>
      <p:sp>
        <p:nvSpPr>
          <p:cNvPr id="23" name="Nummer 04"/>
          <p:cNvSpPr/>
          <p:nvPr/>
        </p:nvSpPr>
        <p:spPr>
          <a:xfrm>
            <a:off x="7498080" y="2029968"/>
            <a:ext cx="548640" cy="54864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498080" y="20299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04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7498080" y="2697480"/>
            <a:ext cx="17282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Deepfake Detective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7498080" y="3383280"/>
            <a:ext cx="172821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Echt oder KI? Bilder und Aussagen prüfen und die eigene Sicherheit bewerten.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7498080" y="4800600"/>
            <a:ext cx="17282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1"/>
                </a:solidFill>
              </a:rPr>
              <a:t>„Sehen heißt künftig nicht automatisch glauben.“</a:t>
            </a:r>
            <a:endParaRPr lang="en-US" sz="1200" dirty="0"/>
          </a:p>
        </p:txBody>
      </p:sp>
      <p:sp>
        <p:nvSpPr>
          <p:cNvPr id="28" name="Station 5"/>
          <p:cNvSpPr/>
          <p:nvPr/>
        </p:nvSpPr>
        <p:spPr>
          <a:xfrm>
            <a:off x="9546336" y="1828800"/>
            <a:ext cx="2093976" cy="4023360"/>
          </a:xfrm>
          <a:prstGeom prst="roundRect">
            <a:avLst>
              <a:gd name="adj" fmla="val 3493"/>
            </a:avLst>
          </a:prstGeom>
          <a:solidFill>
            <a:schemeClr val="bg2"/>
          </a:solidFill>
          <a:ln/>
        </p:spPr>
      </p:sp>
      <p:sp>
        <p:nvSpPr>
          <p:cNvPr id="29" name="Nummer 05"/>
          <p:cNvSpPr/>
          <p:nvPr/>
        </p:nvSpPr>
        <p:spPr>
          <a:xfrm>
            <a:off x="9747504" y="2029968"/>
            <a:ext cx="548640" cy="54864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747504" y="20299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05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9747504" y="2697480"/>
            <a:ext cx="17282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Build your AI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9747504" y="3383280"/>
            <a:ext cx="172821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Eigene KI-Idee für ein echtes Problem: Nutzen, Daten, Grenzen, Kontrolle.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9747504" y="4800600"/>
            <a:ext cx="17282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1"/>
                </a:solidFill>
              </a:rPr>
              <a:t>„KI ist gestaltbar – Menschen entscheiden, wie sie eingesetzt wird.“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276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reis Mensch"/>
          <p:cNvSpPr/>
          <p:nvPr/>
        </p:nvSpPr>
        <p:spPr>
          <a:xfrm>
            <a:off x="8503920" y="3291840"/>
            <a:ext cx="2377440" cy="2377440"/>
          </a:xfrm>
          <a:prstGeom prst="ellipse">
            <a:avLst/>
          </a:prstGeom>
          <a:solidFill>
            <a:schemeClr val="accent2">
              <a:alpha val="18000"/>
            </a:schemeClr>
          </a:solidFill>
          <a:ln w="25400">
            <a:solidFill>
              <a:schemeClr val="accent2"/>
            </a:solidFill>
            <a:prstDash val="solid"/>
          </a:ln>
        </p:spPr>
      </p:sp>
      <p:sp>
        <p:nvSpPr>
          <p:cNvPr id="3" name="Kreis KI"/>
          <p:cNvSpPr/>
          <p:nvPr/>
        </p:nvSpPr>
        <p:spPr>
          <a:xfrm>
            <a:off x="9601200" y="3291840"/>
            <a:ext cx="2377440" cy="2377440"/>
          </a:xfrm>
          <a:prstGeom prst="ellipse">
            <a:avLst/>
          </a:prstGeom>
          <a:solidFill>
            <a:schemeClr val="accent3">
              <a:alpha val="30000"/>
            </a:schemeClr>
          </a:solidFill>
          <a:ln w="25400">
            <a:solidFill>
              <a:schemeClr val="accent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0972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chemeClr val="accent2"/>
                </a:solidFill>
              </a:rPr>
              <a:t>LEITIDEE</a:t>
            </a:r>
            <a:endParaRPr lang="en-US" sz="1300" dirty="0"/>
          </a:p>
        </p:txBody>
      </p:sp>
      <p:sp>
        <p:nvSpPr>
          <p:cNvPr id="5" name="Leitidee"/>
          <p:cNvSpPr txBox="1"/>
          <p:nvPr/>
        </p:nvSpPr>
        <p:spPr>
          <a:xfrm>
            <a:off x="548640" y="1554480"/>
            <a:ext cx="10241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KI nicht nutzen, um weniger zu denken –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sondern um besser denken zu können.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749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Jetzt seid ihr dran: Viel Spaß an den Stationen!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297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Fragen? Elias Hauck · SH&amp;Partner</a:t>
            </a:r>
            <a:endParaRPr lang="en-US" sz="1600" dirty="0"/>
          </a:p>
        </p:txBody>
      </p:sp>
      <p:sp>
        <p:nvSpPr>
          <p:cNvPr id="8" name="Hinweis Menti-Frage 6"/>
          <p:cNvSpPr/>
          <p:nvPr/>
        </p:nvSpPr>
        <p:spPr>
          <a:xfrm>
            <a:off x="9144000" y="6336792"/>
            <a:ext cx="1783080" cy="27432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144000" y="633679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chemeClr val="bg1"/>
                </a:solidFill>
              </a:rPr>
              <a:t>MENTI 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276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H&amp;Partner KI-Tag">
  <a:themeElements>
    <a:clrScheme name="SH&amp;Partner KI-Tag">
      <a:dk1>
        <a:srgbClr val="0F1341"/>
      </a:dk1>
      <a:lt1>
        <a:srgbClr val="FFFFFF"/>
      </a:lt1>
      <a:dk2>
        <a:srgbClr val="636684"/>
      </a:dk2>
      <a:lt2>
        <a:srgbClr val="F3F7FC"/>
      </a:lt2>
      <a:accent1>
        <a:srgbClr val="2E6FBF"/>
      </a:accent1>
      <a:accent2>
        <a:srgbClr val="4A90E2"/>
      </a:accent2>
      <a:accent3>
        <a:srgbClr val="6A7FA8"/>
      </a:accent3>
      <a:accent4>
        <a:srgbClr val="283070"/>
      </a:accent4>
      <a:accent5>
        <a:srgbClr val="DFEBF9"/>
      </a:accent5>
      <a:accent6>
        <a:srgbClr val="E0563F"/>
      </a:accent6>
      <a:hlink>
        <a:srgbClr val="2E6FBF"/>
      </a:hlink>
      <a:folHlink>
        <a:srgbClr val="6A7FA8"/>
      </a:folHlink>
    </a:clrScheme>
    <a:fontScheme name="SH&amp;Partner KI-Tag">
      <a:majorFont>
        <a:latin typeface="Montserra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ontserra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SH&amp;Partner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KI-Tag am Gymnasium Süd – Impulsvortrag</dc:title>
  <dc:subject>PptxGenJS Presentation</dc:subject>
  <dc:creator>Elias Hauck</dc:creator>
  <cp:lastModifiedBy>Elias Hauck</cp:lastModifiedBy>
  <cp:revision>1</cp:revision>
  <dcterms:created xsi:type="dcterms:W3CDTF">2026-10-21T21:52:53Z</dcterms:created>
  <dcterms:modified xsi:type="dcterms:W3CDTF">2026-10-21T21:52:53Z</dcterms:modified>
</cp:coreProperties>
</file>