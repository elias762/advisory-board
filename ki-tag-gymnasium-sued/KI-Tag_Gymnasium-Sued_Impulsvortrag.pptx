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2183e841-72bb-e5fb-76ff-a40a7451e8bd}">
          <p14:sldIdLst>
            <p14:sldId id="256"/>
            <p14:sldId id="257"/>
            <p14:sldId id="258"/>
            <p14:sldId id="259"/>
            <p14:sldId id="260"/>
          </p14:sldIdLst>
        </p14:section>
        <p14:section name="Staunen" id="{aa02cff7-cd8d-fff1-c912-60e7e7fb775c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Verstehen" id="{d52209b7-06e1-4bc6-939c-91b935971525}">
          <p14:sldIdLst>
            <p14:sldId id="268"/>
            <p14:sldId id="269"/>
            <p14:sldId id="270"/>
            <p14:sldId id="271"/>
          </p14:sldIdLst>
        </p14:section>
        <p14:section name="Chancen" id="{c0e6b35a-efc8-1ae2-0759-45d1fc0d2b0c}">
          <p14:sldIdLst>
            <p14:sldId id="272"/>
            <p14:sldId id="273"/>
            <p14:sldId id="274"/>
          </p14:sldIdLst>
        </p14:section>
        <p14:section name="Risiken &amp; Verantwortung" id="{2cacab90-f89c-dddd-2198-289e459a6cb6}">
          <p14:sldIdLst>
            <p14:sldId id="275"/>
            <p14:sldId id="276"/>
            <p14:sldId id="277"/>
            <p14:sldId id="278"/>
            <p14:sldId id="279"/>
          </p14:sldIdLst>
        </p14:section>
        <p14:section name="Mission" id="{dd76fb59-517d-de0c-8a1b-cc43849cbd3f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Wahrscheinlichkeit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blau</c:v>
                  </c:pt>
                  <c:pt idx="1">
                    <c:v>bewölkt</c:v>
                  </c:pt>
                  <c:pt idx="2">
                    <c:v>grau</c:v>
                  </c:pt>
                  <c:pt idx="3">
                    <c:v>klar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Sek. Nur kurz begrüßen – noch nicht vorstellen. Direkt mit der ersten Challenge einsteigen.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Beide Texte vorlesen (gerne mit verstellter Stimme). Per Handzeichen abstimmen lassen: Wer glaubt A ist von der KI? Wer B? Dann weiterklicken – noch nicht auflösen.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Auflösen: Beide Texte wurden für diese Präsentation mit KI erstellt. Frage in den Raum: Woran hättet ihr es merken können? (Meist gar nicht.) Überleitung: Heute schauen wir, was KI kann, wie sie funktioniert – und wo ihr aufpassen müsst.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Kurz vorstellen (30 Sek.). Dann zu Mentimeter wechseln: Menti 1 (Wortwolke: Woran denkst du bei KI?) und Menti 2 (Wofür hast du KI schon genutzt?). Ergebnisse kurz spiegeln: Die meisten nutzen KI schon – heute geht es darum, sie gut und kritisch zu nutzen.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Ablauf erklären: Impuls mit Challenges in vier Teilen, dann Workshop-Parcours in 5 Gruppen à ca. 11 Personen.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fragen: Wer hat heute schon KI benutzt? Meist melden sich wenige. Dann die Kacheln zeigen – fast alle haben heute schon mehrfach KI genutzt, oft ohne es zu merken.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Per Handzeichen abstimmen lassen (A, B, C, D). Dann weiterklicken zur Auflösung.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Auflösung: A – 5 Tage. Wer lag richtig? Botschaft: KI ist nicht ‚irgendwann‘, sie ist schon im Alltag angekommen.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 Min. Drei Zurufe sammeln (Fach, Lehrer-Spruch, Musikstil) und live eintippen. Beispiel-Prompt: ‚Schreib einen kurzen Song (2 Strophen, 1 Refrain) über das Fach [X] im Stil von [Musikstil]. Der Refrain soll den Spruch „[Spruch]“ enthalten. Lustig, aber nicht gemein – für eine 9. Klasse.‘ Ergebnis vorlesen oder vorsingen lassen. Danach Bild-Demo: ‚Unsere Schule im Jahr 2050‘. Vorher testen: WLAN, Logins, Tools. Backup: Screenshots, falls das Netz ausfällt.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Die Glockenkurve zeigt, wie Menschen in IQ-Tests verteilt sind (Durchschnitt 100). Die Logos sind KI-Modelle. 2024 lagen die besten Modelle noch unter dem Durchschnitt, ein Jahr später weit darüber. Und es ging weiter – siehe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die Schlagzeilen wirken lassen: Die Werte steigen rasant – im September 2026 die volle Punktzahl. Dann fragen: Was fällt euch an den Quellen auf? Auflösung rechts: kaum etablierte Medien, Testfragen sind online (Gefahr, dass die KI sie ‚kennt‘), IQ-Tests sind für Menschen gemacht. Kritische Gegenstimme z. B. robertfreund.de (Sep. 2024): „OpenAI-Modell o1 hat einen IQ von 120 – ein Kategorienfehler“. Brücke zu Station 3 (Faktencheck). Tipp: Vorher auf trackingai.org die aktuellen Werte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Satz laut anfangen und die Klasse ergänzen lassen (‚blau!‘). Genau das macht die KI – nur mit Milliarden Texten. Die Prozentwerte sind vereinfacht. Konsequenz: Sie produziert, was wahrscheinlich KLINGT, nicht, was geprüft WAHR ist. Das testen wir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30 Sekunden geben, dann Zurufe sammeln. Erst danach weiterklicken.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Auflösen: Paris statt Lyon, eröffnet 1889 statt 1899. Dann Menti 3: Glaubst du, was eine KI dir sagt? Ergebnis kurz kommentieren. Merksatz: Sprachliche Sicherheit ist kein Beweis für Wahrheit.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Fragen: Welcher Prompt macht euch schlauer? Gleiches Werkzeug, völlig anderer Lerneffekt. Dann Menti 4: Sollte KI in der Schule erlaubt sein? Ergebnis als kurzen Diskussionsimpuls nutzen. Verweis auf Station 1 (Prompt Battle) und Station 2 (KI als Lerncoach).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Grafik kurz lesen helfen: rechts oben = heute wichtig UND wird noch wichtiger. KI und Big Data ganz oben – aber direkt daneben kreatives Denken, Resilienz, Neugier. Botschaft: Wer KI beherrscht UND menschliche Stärken trainiert, ist für die Zukunft gut aufgestellt.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Zuerst Menti 5: Wie sicher erkennst du, ob ein Bild echt ist? Dann per Handzeichen: A echt oder KI? B echt oder KI? Auflösung: A ist echt – das bin ich. B ist KI-generiert. Frage: Wer war sich sicher – und lag trotzdem falsch? Überleitung zu den Risiken und zu Station 4 (Deepfake Detective). WICHTIG: Bild B vor dem Vortrag durch ein bekanntes KI-Bild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Halluzinationen und Deepfakes habt ihr gerade selbst erlebt. Datenschutz: Nutzungsbedingungen, Altersgrenzen der Tools und die Regeln der Schule ansprechen. Bias: Beispiel fragen – ‚Wie stellt sich eine KI eine Chirurgin vor?‘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Nicht moralisieren, sondern einordnen: Jede Anfrage kostet Energie, Bilder und Videos besonders viel. Die 10×-Zahl ist eine frühe Schätzung von 2023, neuere Messungen kommen auf deutlich weniger – gutes Beispiel, dass Zahlen sich ändern und man Quellen prüfen muss. Frage: Wofür lohnt sich KI wirklich?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Kernbotschaft: Die stärkste Kombination ist Mensch + KI. Die KI liefert Tempo und Menge, der Mensch Urteil und Verantwortung. Wer prüft, wer entscheidet? Immer ihr.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Stationen kurz vorstellen, Gruppeneinteilung und Rotation erklären (wer startet wo, Signal zum Wechseln, Pause). Alles, was ihr gerade in den Challenges erlebt habt, vertieft ihr jetzt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Leitidee laut vorlesen und als Auftrag für den Parcours mitgeben. Menti 6: Was würdest du heute gerne mitnehmen? Kurze Fragerunde, dann Wechsel zu den Stationen. Gesamtzeit Impuls: ca. 40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2695" y="0"/>
            <a:ext cx="3429000" cy="6858000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3968496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2916936"/>
            <a:ext cx="263347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en-US" sz="100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305" y="0"/>
            <a:ext cx="6096305" cy="17903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1261872"/>
            <a:ext cx="9326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KI verstehen, ausprobieren, einordnen</a:t>
            </a:r>
            <a:endParaRPr lang="en-US" sz="3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KI-Tag am Gymnasium Süd · 9. Jahrgangsstufe</a:t>
            </a:r>
            <a:endParaRPr lang="en-US" sz="24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Mittwoch, 28.10.2026 · Elias Hauck, SH&amp;Partner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Welche Ausrede stammt von einer KI?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hoch: Wer tippt auf A – wer auf B?</a:t>
            </a:r>
            <a:endParaRPr lang="en-US" sz="1500" dirty="0"/>
          </a:p>
        </p:txBody>
      </p:sp>
      <p:sp>
        <p:nvSpPr>
          <p:cNvPr id="7" name="Ausrede A"/>
          <p:cNvSpPr/>
          <p:nvPr/>
        </p:nvSpPr>
        <p:spPr>
          <a:xfrm>
            <a:off x="484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50392" y="24688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„Sorry, ich hab die Hausi echt gemacht!! Aber mein Hund hat sich aufs Heft gelegt und dann ist Kakao drübergelaufen … ich bring’s morgen mit, versprochen!“</a:t>
            </a:r>
            <a:endParaRPr lang="en-US" sz="1900" dirty="0"/>
          </a:p>
        </p:txBody>
      </p:sp>
      <p:sp>
        <p:nvSpPr>
          <p:cNvPr id="11" name="Ausrede B"/>
          <p:cNvSpPr/>
          <p:nvPr/>
        </p:nvSpPr>
        <p:spPr>
          <a:xfrm>
            <a:off x="6199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6565392" y="2468880"/>
            <a:ext cx="777240" cy="7772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565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„Sehr geehrte Frau Müller, leider konnte ich die Hausaufgabe aufgrund unvorhergesehener familiärer Umstände nicht fristgerecht fertigstellen. Ich reiche sie morgen nach.“</a:t>
            </a:r>
            <a:endParaRPr lang="en-US" sz="1900" dirty="0"/>
          </a:p>
        </p:txBody>
      </p:sp>
      <p:sp>
        <p:nvSpPr>
          <p:cNvPr id="1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flösung"/>
          <p:cNvSpPr txBox="1"/>
          <p:nvPr/>
        </p:nvSpPr>
        <p:spPr>
          <a:xfrm>
            <a:off x="822960" y="82296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chemeClr val="tx1"/>
                </a:solidFill>
              </a:rPr>
              <a:t>Beide.</a:t>
            </a:r>
            <a:endParaRPr lang="en-US" sz="15000" dirty="0"/>
          </a:p>
        </p:txBody>
      </p:sp>
      <p:sp>
        <p:nvSpPr>
          <p:cNvPr id="3" name="Linie"/>
          <p:cNvSpPr/>
          <p:nvPr/>
        </p:nvSpPr>
        <p:spPr>
          <a:xfrm>
            <a:off x="484632" y="3246120"/>
            <a:ext cx="186537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Beide stammen von einer KI – geschrieben in Sekunden.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4160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Sie kann jeden Stil nachahmen: lässig, förmlich – oder genau wie du.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Genau deshalb lohnt es sich, KI zu verstehen.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Bevor wir starten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Wer heute vor euch steht – und eure Meinung per Mentimeter</a:t>
            </a:r>
            <a:endParaRPr lang="en-US" sz="1500" dirty="0"/>
          </a:p>
        </p:txBody>
      </p:sp>
      <p:sp>
        <p:nvSpPr>
          <p:cNvPr id="4" name="Karte Referent"/>
          <p:cNvSpPr/>
          <p:nvPr/>
        </p:nvSpPr>
        <p:spPr>
          <a:xfrm>
            <a:off x="484632" y="2148840"/>
            <a:ext cx="4846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Foto Elias Hauck" descr="Foto von Elias Ha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51460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Elias Hauck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Geschäftsführer und Gründer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asuno und SH&amp;Partner</a:t>
            </a:r>
            <a:endParaRPr lang="en-US" sz="1500" dirty="0"/>
          </a:p>
        </p:txBody>
      </p:sp>
      <p:sp>
        <p:nvSpPr>
          <p:cNvPr id="8" name="Karte Umfrage"/>
          <p:cNvSpPr/>
          <p:nvPr/>
        </p:nvSpPr>
        <p:spPr>
          <a:xfrm>
            <a:off x="5605272" y="2148840"/>
            <a:ext cx="6099048" cy="3703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9" name="Icon-Kreis LuSmartphone"/>
          <p:cNvSpPr/>
          <p:nvPr/>
        </p:nvSpPr>
        <p:spPr>
          <a:xfrm>
            <a:off x="598932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515" y="270479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03720" y="2560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Macht mit – per Handy!</a:t>
            </a:r>
            <a:endParaRPr lang="en-US" sz="2200" dirty="0"/>
          </a:p>
        </p:txBody>
      </p:sp>
      <p:sp>
        <p:nvSpPr>
          <p:cNvPr id="12" name="Nummer 1"/>
          <p:cNvSpPr/>
          <p:nvPr/>
        </p:nvSpPr>
        <p:spPr>
          <a:xfrm>
            <a:off x="6035040" y="36118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03504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566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menti.com im Browser öffnen</a:t>
            </a:r>
            <a:endParaRPr lang="en-US" sz="1600" dirty="0"/>
          </a:p>
        </p:txBody>
      </p:sp>
      <p:sp>
        <p:nvSpPr>
          <p:cNvPr id="15" name="Nummer 2"/>
          <p:cNvSpPr/>
          <p:nvPr/>
        </p:nvSpPr>
        <p:spPr>
          <a:xfrm>
            <a:off x="6035040" y="42976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03504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251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eingeben – er steht gleich oben auf dem Bildschirm</a:t>
            </a:r>
            <a:endParaRPr lang="en-US" sz="1600" dirty="0"/>
          </a:p>
        </p:txBody>
      </p:sp>
      <p:sp>
        <p:nvSpPr>
          <p:cNvPr id="18" name="Nummer 3"/>
          <p:cNvSpPr/>
          <p:nvPr/>
        </p:nvSpPr>
        <p:spPr>
          <a:xfrm>
            <a:off x="6035040" y="49834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03504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675120" y="49377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Erste Frage: Woran denkst du bei „KI“?</a:t>
            </a:r>
            <a:endParaRPr lang="en-US" sz="1600" dirty="0"/>
          </a:p>
        </p:txBody>
      </p:sp>
      <p:sp>
        <p:nvSpPr>
          <p:cNvPr id="21" name="Hinweis Menti 1 + 2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1 + 2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 läuft euer KI-Tag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Erst der gemeinsame Impuls hier in der Bibliothek – dann probiert ihr selbst aus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84632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IMPULS · CA. 40 MIN.</a:t>
            </a:r>
            <a:endParaRPr lang="en-US" sz="1200" dirty="0"/>
          </a:p>
        </p:txBody>
      </p:sp>
      <p:sp>
        <p:nvSpPr>
          <p:cNvPr id="5" name="Teil 1"/>
          <p:cNvSpPr/>
          <p:nvPr/>
        </p:nvSpPr>
        <p:spPr>
          <a:xfrm>
            <a:off x="48463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Staunen</a:t>
            </a:r>
            <a:endParaRPr lang="en-US" sz="1300" dirty="0"/>
          </a:p>
        </p:txBody>
      </p:sp>
      <p:sp>
        <p:nvSpPr>
          <p:cNvPr id="8" name="Teil 2"/>
          <p:cNvSpPr/>
          <p:nvPr/>
        </p:nvSpPr>
        <p:spPr>
          <a:xfrm>
            <a:off x="331927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9359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Verstehen</a:t>
            </a:r>
            <a:endParaRPr lang="en-US" sz="1300" dirty="0"/>
          </a:p>
        </p:txBody>
      </p:sp>
      <p:sp>
        <p:nvSpPr>
          <p:cNvPr id="11" name="Teil 3"/>
          <p:cNvSpPr/>
          <p:nvPr/>
        </p:nvSpPr>
        <p:spPr>
          <a:xfrm>
            <a:off x="615391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15975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Chancen</a:t>
            </a:r>
            <a:endParaRPr lang="en-US" sz="1300" dirty="0"/>
          </a:p>
        </p:txBody>
      </p:sp>
      <p:sp>
        <p:nvSpPr>
          <p:cNvPr id="14" name="Teil 4"/>
          <p:cNvSpPr/>
          <p:nvPr/>
        </p:nvSpPr>
        <p:spPr>
          <a:xfrm>
            <a:off x="898855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287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99439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Risiken &amp; Verantwortung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" y="4069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WORKSHOP-PARCOURS · 5 STATIONEN À CA. 25 MIN. + 20 MIN. PAUSE</a:t>
            </a:r>
            <a:endParaRPr lang="en-US" sz="1200" dirty="0"/>
          </a:p>
        </p:txBody>
      </p:sp>
      <p:sp>
        <p:nvSpPr>
          <p:cNvPr id="18" name="Station 1"/>
          <p:cNvSpPr/>
          <p:nvPr/>
        </p:nvSpPr>
        <p:spPr>
          <a:xfrm>
            <a:off x="484632" y="4480560"/>
            <a:ext cx="21031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Nummer 1"/>
          <p:cNvSpPr/>
          <p:nvPr/>
        </p:nvSpPr>
        <p:spPr>
          <a:xfrm>
            <a:off x="685800" y="4864608"/>
            <a:ext cx="420624" cy="42062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16152" y="448056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Prompt Battle</a:t>
            </a:r>
            <a:endParaRPr lang="en-US" sz="1400" dirty="0"/>
          </a:p>
        </p:txBody>
      </p:sp>
      <p:sp>
        <p:nvSpPr>
          <p:cNvPr id="22" name="Station 2"/>
          <p:cNvSpPr/>
          <p:nvPr/>
        </p:nvSpPr>
        <p:spPr>
          <a:xfrm>
            <a:off x="2752344" y="4480560"/>
            <a:ext cx="21031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3" name="Nummer 2"/>
          <p:cNvSpPr/>
          <p:nvPr/>
        </p:nvSpPr>
        <p:spPr>
          <a:xfrm>
            <a:off x="2953512" y="4864608"/>
            <a:ext cx="420624" cy="42062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53512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483864" y="448056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KI als Lerncoach</a:t>
            </a:r>
            <a:endParaRPr lang="en-US" sz="1400" dirty="0"/>
          </a:p>
        </p:txBody>
      </p:sp>
      <p:sp>
        <p:nvSpPr>
          <p:cNvPr id="26" name="Station 3"/>
          <p:cNvSpPr/>
          <p:nvPr/>
        </p:nvSpPr>
        <p:spPr>
          <a:xfrm>
            <a:off x="5020056" y="4480560"/>
            <a:ext cx="21031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7" name="Nummer 3"/>
          <p:cNvSpPr/>
          <p:nvPr/>
        </p:nvSpPr>
        <p:spPr>
          <a:xfrm>
            <a:off x="5221224" y="4864608"/>
            <a:ext cx="420624" cy="42062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2122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751576" y="448056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KI-Faktencheck</a:t>
            </a:r>
            <a:endParaRPr lang="en-US" sz="1400" dirty="0"/>
          </a:p>
        </p:txBody>
      </p:sp>
      <p:sp>
        <p:nvSpPr>
          <p:cNvPr id="30" name="Station 4"/>
          <p:cNvSpPr/>
          <p:nvPr/>
        </p:nvSpPr>
        <p:spPr>
          <a:xfrm>
            <a:off x="7287768" y="4480560"/>
            <a:ext cx="21031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31" name="Nummer 4"/>
          <p:cNvSpPr/>
          <p:nvPr/>
        </p:nvSpPr>
        <p:spPr>
          <a:xfrm>
            <a:off x="7488936" y="4864608"/>
            <a:ext cx="420624" cy="42062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488936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019288" y="448056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Deepfake Detective</a:t>
            </a:r>
            <a:endParaRPr lang="en-US" sz="1400" dirty="0"/>
          </a:p>
        </p:txBody>
      </p:sp>
      <p:sp>
        <p:nvSpPr>
          <p:cNvPr id="34" name="Station 5"/>
          <p:cNvSpPr/>
          <p:nvPr/>
        </p:nvSpPr>
        <p:spPr>
          <a:xfrm>
            <a:off x="9555480" y="4480560"/>
            <a:ext cx="21031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35" name="Nummer 5"/>
          <p:cNvSpPr/>
          <p:nvPr/>
        </p:nvSpPr>
        <p:spPr>
          <a:xfrm>
            <a:off x="9756648" y="4864608"/>
            <a:ext cx="420624" cy="42062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756648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87000" y="4480560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your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01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Staunen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Was KI heute schon kann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 ist längst in deinem Alltag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Wie oft hast du heute schon KI benutzt – ohne es zu merken?</a:t>
            </a:r>
            <a:endParaRPr lang="en-US" sz="1500" dirty="0"/>
          </a:p>
        </p:txBody>
      </p:sp>
      <p:sp>
        <p:nvSpPr>
          <p:cNvPr id="7" name="Alltag Dein Feed"/>
          <p:cNvSpPr/>
          <p:nvPr/>
        </p:nvSpPr>
        <p:spPr>
          <a:xfrm>
            <a:off x="48463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Icon-Kreis LuSmartphone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8191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Dein Feed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TikTok und Instagram entscheiden per KI, was du als Nächstes siehst.</a:t>
            </a:r>
            <a:endParaRPr lang="en-US" sz="1300" dirty="0"/>
          </a:p>
        </p:txBody>
      </p:sp>
      <p:sp>
        <p:nvSpPr>
          <p:cNvPr id="12" name="Alltag Musik &amp; Serien"/>
          <p:cNvSpPr/>
          <p:nvPr/>
        </p:nvSpPr>
        <p:spPr>
          <a:xfrm>
            <a:off x="427939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3" name="Icon-Kreis LuMusic"/>
          <p:cNvSpPr/>
          <p:nvPr/>
        </p:nvSpPr>
        <p:spPr>
          <a:xfrm>
            <a:off x="455371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Mus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133" y="258958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7667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Musik &amp; Serien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Spotify und Netflix schlagen vor, was dir gefallen könnte.</a:t>
            </a:r>
            <a:endParaRPr lang="en-US" sz="1300" dirty="0"/>
          </a:p>
        </p:txBody>
      </p:sp>
      <p:sp>
        <p:nvSpPr>
          <p:cNvPr id="17" name="Alltag Handy entsperren"/>
          <p:cNvSpPr/>
          <p:nvPr/>
        </p:nvSpPr>
        <p:spPr>
          <a:xfrm>
            <a:off x="807415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Icon-Kreis LuScanFace"/>
          <p:cNvSpPr/>
          <p:nvPr/>
        </p:nvSpPr>
        <p:spPr>
          <a:xfrm>
            <a:off x="834847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LuScanFac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893" y="258958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7143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Handy entsperren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Face ID erkennt dein Gesicht in Sekundenbruchteilen.</a:t>
            </a:r>
            <a:endParaRPr lang="en-US" sz="1300" dirty="0"/>
          </a:p>
        </p:txBody>
      </p:sp>
      <p:sp>
        <p:nvSpPr>
          <p:cNvPr id="22" name="Alltag Navigation"/>
          <p:cNvSpPr/>
          <p:nvPr/>
        </p:nvSpPr>
        <p:spPr>
          <a:xfrm>
            <a:off x="48463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Map"/>
          <p:cNvSpPr/>
          <p:nvPr/>
        </p:nvSpPr>
        <p:spPr>
          <a:xfrm>
            <a:off x="75895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373" y="4509821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8191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Navigation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75895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Google Maps sagt Staus voraus und plant die schnellste Route.</a:t>
            </a:r>
            <a:endParaRPr lang="en-US" sz="1300" dirty="0"/>
          </a:p>
        </p:txBody>
      </p:sp>
      <p:sp>
        <p:nvSpPr>
          <p:cNvPr id="27" name="Alltag Übersetzen"/>
          <p:cNvSpPr/>
          <p:nvPr/>
        </p:nvSpPr>
        <p:spPr>
          <a:xfrm>
            <a:off x="427939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8" name="Icon-Kreis LuLanguages"/>
          <p:cNvSpPr/>
          <p:nvPr/>
        </p:nvSpPr>
        <p:spPr>
          <a:xfrm>
            <a:off x="4553712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 LuLanguage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133" y="4509821"/>
            <a:ext cx="307238" cy="30723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7667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Übersetzen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455371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DeepL und Google Übersetzer übersetzen ganze Texte sofort.</a:t>
            </a:r>
            <a:endParaRPr lang="en-US" sz="1300" dirty="0"/>
          </a:p>
        </p:txBody>
      </p:sp>
      <p:sp>
        <p:nvSpPr>
          <p:cNvPr id="32" name="Alltag Chatbots"/>
          <p:cNvSpPr/>
          <p:nvPr/>
        </p:nvSpPr>
        <p:spPr>
          <a:xfrm>
            <a:off x="807415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3" name="Icon-Kreis LuMessageCircle"/>
          <p:cNvSpPr/>
          <p:nvPr/>
        </p:nvSpPr>
        <p:spPr>
          <a:xfrm>
            <a:off x="834847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4" name="Icon LuMessageCircl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4893" y="4509821"/>
            <a:ext cx="307238" cy="30723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7143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Chatbots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834847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ChatGPT, Gemini oder Snapchat My AI antworten auf fast alles.</a:t>
            </a:r>
            <a:endParaRPr lang="en-US" sz="1300" dirty="0"/>
          </a:p>
        </p:txBody>
      </p:sp>
      <p:sp>
        <p:nvSpPr>
          <p:cNvPr id="38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Wie schnell zu 1 Million Nutzern?</a:t>
            </a:r>
            <a:endParaRPr lang="en-US" sz="3000" dirty="0"/>
          </a:p>
        </p:txBody>
      </p:sp>
      <p:sp>
        <p:nvSpPr>
          <p:cNvPr id="3" name="Mitmachen RATE MAL"/>
          <p:cNvSpPr/>
          <p:nvPr/>
        </p:nvSpPr>
        <p:spPr>
          <a:xfrm>
            <a:off x="484632" y="1417320"/>
            <a:ext cx="1728216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RATE MAL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395728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 bei eurer Antwort!</a:t>
            </a:r>
            <a:endParaRPr lang="en-US" sz="1500" dirty="0"/>
          </a:p>
        </p:txBody>
      </p:sp>
      <p:sp>
        <p:nvSpPr>
          <p:cNvPr id="7" name="Antwort A"/>
          <p:cNvSpPr/>
          <p:nvPr/>
        </p:nvSpPr>
        <p:spPr>
          <a:xfrm>
            <a:off x="48463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0467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467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Tage</a:t>
            </a:r>
            <a:endParaRPr lang="en-US" sz="3000" dirty="0"/>
          </a:p>
        </p:txBody>
      </p:sp>
      <p:sp>
        <p:nvSpPr>
          <p:cNvPr id="11" name="Antwort B"/>
          <p:cNvSpPr/>
          <p:nvPr/>
        </p:nvSpPr>
        <p:spPr>
          <a:xfrm>
            <a:off x="331927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363931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3931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63931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Wochen</a:t>
            </a:r>
            <a:endParaRPr lang="en-US" sz="3000" dirty="0"/>
          </a:p>
        </p:txBody>
      </p:sp>
      <p:sp>
        <p:nvSpPr>
          <p:cNvPr id="15" name="Antwort C"/>
          <p:cNvSpPr/>
          <p:nvPr/>
        </p:nvSpPr>
        <p:spPr>
          <a:xfrm>
            <a:off x="615391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Nummer C"/>
          <p:cNvSpPr/>
          <p:nvPr/>
        </p:nvSpPr>
        <p:spPr>
          <a:xfrm>
            <a:off x="647395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47395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Monate</a:t>
            </a:r>
            <a:endParaRPr lang="en-US" sz="3000" dirty="0"/>
          </a:p>
        </p:txBody>
      </p:sp>
      <p:sp>
        <p:nvSpPr>
          <p:cNvPr id="19" name="Antwort D"/>
          <p:cNvSpPr/>
          <p:nvPr/>
        </p:nvSpPr>
        <p:spPr>
          <a:xfrm>
            <a:off x="898855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Nummer D"/>
          <p:cNvSpPr/>
          <p:nvPr/>
        </p:nvSpPr>
        <p:spPr>
          <a:xfrm>
            <a:off x="930859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3085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D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30859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 Jahre</a:t>
            </a:r>
            <a:endParaRPr lang="en-US" sz="3000" dirty="0"/>
          </a:p>
        </p:txBody>
      </p:sp>
      <p:sp>
        <p:nvSpPr>
          <p:cNvPr id="24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1 Million Nutzer in nur 5 Tagen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Zeit bis zur ersten Million Nutzerinnen und Nutzer</a:t>
            </a:r>
            <a:endParaRPr lang="en-US" sz="1500" dirty="0"/>
          </a:p>
        </p:txBody>
      </p:sp>
      <p:sp>
        <p:nvSpPr>
          <p:cNvPr id="4" name="Achse"/>
          <p:cNvSpPr/>
          <p:nvPr/>
        </p:nvSpPr>
        <p:spPr>
          <a:xfrm>
            <a:off x="2057400" y="2148840"/>
            <a:ext cx="0" cy="36576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Netflix</a:t>
            </a:r>
            <a:endParaRPr lang="en-US" sz="1800" dirty="0"/>
          </a:p>
        </p:txBody>
      </p:sp>
      <p:sp>
        <p:nvSpPr>
          <p:cNvPr id="6" name="Balken Netflix"/>
          <p:cNvSpPr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3,5 Jahre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31821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Airbnb</a:t>
            </a:r>
            <a:endParaRPr lang="en-US" sz="1800" dirty="0"/>
          </a:p>
        </p:txBody>
      </p:sp>
      <p:sp>
        <p:nvSpPr>
          <p:cNvPr id="9" name="Balken Airbnb"/>
          <p:cNvSpPr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2,5 Jahre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" y="40782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Twitter</a:t>
            </a:r>
            <a:endParaRPr lang="en-US" sz="1800" dirty="0"/>
          </a:p>
        </p:txBody>
      </p:sp>
      <p:sp>
        <p:nvSpPr>
          <p:cNvPr id="12" name="Balken Twitter"/>
          <p:cNvSpPr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Jahre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" y="497433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</p:txBody>
      </p:sp>
      <p:sp>
        <p:nvSpPr>
          <p:cNvPr id="15" name="Balken ChatGPT"/>
          <p:cNvSpPr/>
          <p:nvPr/>
        </p:nvSpPr>
        <p:spPr>
          <a:xfrm>
            <a:off x="2057400" y="4974336"/>
            <a:ext cx="82296" cy="548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86000" y="49743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Tage</a:t>
            </a:r>
            <a:endParaRPr lang="en-US" sz="1800" dirty="0"/>
          </a:p>
        </p:txBody>
      </p:sp>
      <p:sp>
        <p:nvSpPr>
          <p:cNvPr id="17" name="Karte 5 Tage"/>
          <p:cNvSpPr/>
          <p:nvPr/>
        </p:nvSpPr>
        <p:spPr>
          <a:xfrm>
            <a:off x="7863840" y="2148840"/>
            <a:ext cx="38404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tx1"/>
                </a:solidFill>
              </a:rPr>
              <a:t>5 </a:t>
            </a: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Tage</a:t>
            </a:r>
            <a:endParaRPr lang="en-US" sz="88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611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vom Start bis zur ersten Million Nutzer – schneller als jedes Produkt davor.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6634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Für euch: Ihr seid die erste Generation, die von Anfang an mit KI-Assistenten lernt.</a:t>
            </a:r>
            <a:endParaRPr lang="en-US" sz="1400" dirty="0"/>
          </a:p>
        </p:txBody>
      </p:sp>
      <p:sp>
        <p:nvSpPr>
          <p:cNvPr id="2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Statista, nach Unternehmensangaben. ChatGPT wurde am 30. November 2022 veröffentlicht.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Live: KI schreibt euren Schulsong</a:t>
            </a:r>
            <a:endParaRPr lang="en-US" sz="3000" dirty="0"/>
          </a:p>
        </p:txBody>
      </p:sp>
      <p:sp>
        <p:nvSpPr>
          <p:cNvPr id="3" name="Mitmachen LIVE-DEMO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LIVE-DEMO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ruft rein – die KI schreibt. In Echtzeit.</a:t>
            </a:r>
            <a:endParaRPr lang="en-US" sz="1500" dirty="0"/>
          </a:p>
        </p:txBody>
      </p:sp>
      <p:sp>
        <p:nvSpPr>
          <p:cNvPr id="7" name="Eingabe 1"/>
          <p:cNvSpPr/>
          <p:nvPr/>
        </p:nvSpPr>
        <p:spPr>
          <a:xfrm>
            <a:off x="48463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80467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Schulfach</a:t>
            </a:r>
            <a:endParaRPr lang="en-US" sz="2000" dirty="0"/>
          </a:p>
        </p:txBody>
      </p:sp>
      <p:sp>
        <p:nvSpPr>
          <p:cNvPr id="10" name="Schreiblinie 1"/>
          <p:cNvSpPr/>
          <p:nvPr/>
        </p:nvSpPr>
        <p:spPr>
          <a:xfrm>
            <a:off x="80467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Eingabe 2"/>
          <p:cNvSpPr/>
          <p:nvPr/>
        </p:nvSpPr>
        <p:spPr>
          <a:xfrm>
            <a:off x="427939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459943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59943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typischer Lehrer-Spruch</a:t>
            </a:r>
            <a:endParaRPr lang="en-US" sz="2000" dirty="0"/>
          </a:p>
        </p:txBody>
      </p:sp>
      <p:sp>
        <p:nvSpPr>
          <p:cNvPr id="14" name="Schreiblinie 2"/>
          <p:cNvSpPr/>
          <p:nvPr/>
        </p:nvSpPr>
        <p:spPr>
          <a:xfrm>
            <a:off x="459943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Eingabe 3"/>
          <p:cNvSpPr/>
          <p:nvPr/>
        </p:nvSpPr>
        <p:spPr>
          <a:xfrm>
            <a:off x="807415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39419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Musikstil</a:t>
            </a:r>
            <a:endParaRPr lang="en-US" sz="2000" dirty="0"/>
          </a:p>
        </p:txBody>
      </p:sp>
      <p:sp>
        <p:nvSpPr>
          <p:cNvPr id="18" name="Schreiblinie 3"/>
          <p:cNvSpPr/>
          <p:nvPr/>
        </p:nvSpPr>
        <p:spPr>
          <a:xfrm>
            <a:off x="839419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9" name="Danach"/>
          <p:cNvSpPr/>
          <p:nvPr/>
        </p:nvSpPr>
        <p:spPr>
          <a:xfrm>
            <a:off x="484632" y="5029200"/>
            <a:ext cx="11219688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029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Danach: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Unsere Schule im Jahr 2050 – als KI-Bild.</a:t>
            </a:r>
            <a:endParaRPr lang="en-US" sz="1800" dirty="0"/>
          </a:p>
        </p:txBody>
      </p:sp>
      <p:sp>
        <p:nvSpPr>
          <p:cNvPr id="22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KI-IQ: von 96 auf 136 in einem Jahr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 beste KI-Modell in standardisierten IQ-Tests – im Abstand von einem Jahr</a:t>
            </a:r>
            <a:endParaRPr lang="en-US" sz="1500" dirty="0"/>
          </a:p>
        </p:txBody>
      </p:sp>
      <p:sp>
        <p:nvSpPr>
          <p:cNvPr id="4" name="Karte 2024"/>
          <p:cNvSpPr/>
          <p:nvPr/>
        </p:nvSpPr>
        <p:spPr>
          <a:xfrm>
            <a:off x="484632" y="214884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3"/>
                </a:solidFill>
              </a:rPr>
              <a:t>IQ 96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Offline-Test</a:t>
            </a:r>
            <a:endParaRPr lang="en-US" sz="1400" dirty="0"/>
          </a:p>
        </p:txBody>
      </p:sp>
      <p:sp>
        <p:nvSpPr>
          <p:cNvPr id="8" name="Karte 2025"/>
          <p:cNvSpPr/>
          <p:nvPr/>
        </p:nvSpPr>
        <p:spPr>
          <a:xfrm>
            <a:off x="484632" y="406908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IQ 136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Mensa Norwegen</a:t>
            </a:r>
            <a:endParaRPr lang="en-US" sz="1400" dirty="0"/>
          </a:p>
        </p:txBody>
      </p:sp>
      <p:sp>
        <p:nvSpPr>
          <p:cNvPr id="12" name="Rahmen 2024"/>
          <p:cNvSpPr/>
          <p:nvPr/>
        </p:nvSpPr>
        <p:spPr>
          <a:xfrm>
            <a:off x="4023360" y="214884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3" name="Diagramm 2024" descr="iq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2212848"/>
            <a:ext cx="6240488" cy="16459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744200" y="22860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2024</a:t>
            </a:r>
            <a:endParaRPr lang="en-US" sz="1800" dirty="0"/>
          </a:p>
        </p:txBody>
      </p:sp>
      <p:sp>
        <p:nvSpPr>
          <p:cNvPr id="15" name="Rahmen 2025"/>
          <p:cNvSpPr/>
          <p:nvPr/>
        </p:nvSpPr>
        <p:spPr>
          <a:xfrm>
            <a:off x="4023360" y="406908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6" name="Diagramm 2025" descr="iq2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133088"/>
            <a:ext cx="6240488" cy="1645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744200" y="42062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TrackingAI.org (MaximumTruth.org) – IQ-Werte, Durchschnitt der letzten 7 Tests. Menschlicher Durchschnitt = 100.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 in den Schlagzeilen</a:t>
            </a:r>
            <a:endParaRPr lang="en-US" sz="3000" dirty="0"/>
          </a:p>
        </p:txBody>
      </p:sp>
      <p:sp>
        <p:nvSpPr>
          <p:cNvPr id="3" name="Mitmachen FAKTENCHECK"/>
          <p:cNvSpPr/>
          <p:nvPr/>
        </p:nvSpPr>
        <p:spPr>
          <a:xfrm>
            <a:off x="484632" y="1417320"/>
            <a:ext cx="2084832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FAKTENCHECK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52344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Was fällt euch an den Quellen auf?</a:t>
            </a:r>
            <a:endParaRPr lang="en-US" sz="1500" dirty="0"/>
          </a:p>
        </p:txBody>
      </p:sp>
      <p:sp>
        <p:nvSpPr>
          <p:cNvPr id="7" name="Zeitstrahl"/>
          <p:cNvSpPr/>
          <p:nvPr/>
        </p:nvSpPr>
        <p:spPr>
          <a:xfrm>
            <a:off x="932688" y="2331720"/>
            <a:ext cx="0" cy="342900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8" name="Punkt SEP 2024"/>
          <p:cNvSpPr/>
          <p:nvPr/>
        </p:nvSpPr>
        <p:spPr>
          <a:xfrm>
            <a:off x="822960" y="233172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3444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2024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377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514600" y="2121408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„Massiver Durchbruch: OpenAI knackt IQ 120“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14600" y="2679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Maximum Truth – Blog von Maxim Lott, dem Betreiber von TrackingAI</a:t>
            </a:r>
            <a:endParaRPr lang="en-US" sz="1100" dirty="0"/>
          </a:p>
        </p:txBody>
      </p:sp>
      <p:sp>
        <p:nvSpPr>
          <p:cNvPr id="13" name="Punkt APR 2025"/>
          <p:cNvSpPr/>
          <p:nvPr/>
        </p:nvSpPr>
        <p:spPr>
          <a:xfrm>
            <a:off x="822960" y="327355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34440" y="30906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2025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31927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136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514600" y="30632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„OpenAIs o3 erreicht 136 im Mensa-Norwegen-Test – besser als 98 % der Menschen“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14600" y="36210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</a:t>
            </a:r>
            <a:endParaRPr lang="en-US" sz="1100" dirty="0"/>
          </a:p>
        </p:txBody>
      </p:sp>
      <p:sp>
        <p:nvSpPr>
          <p:cNvPr id="18" name="Punkt APR 2026"/>
          <p:cNvSpPr/>
          <p:nvPr/>
        </p:nvSpPr>
        <p:spPr>
          <a:xfrm>
            <a:off x="822960" y="4215384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4440" y="40325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26110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4005072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„GPT-5.4 Pro springt auf IQ 150 – OpenAI bricht den eigenen Rekord“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4562856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CryptoSlate, Moneycheck</a:t>
            </a:r>
            <a:endParaRPr lang="en-US" sz="1100" dirty="0"/>
          </a:p>
        </p:txBody>
      </p:sp>
      <p:sp>
        <p:nvSpPr>
          <p:cNvPr id="23" name="Punkt SEP 2026"/>
          <p:cNvSpPr/>
          <p:nvPr/>
        </p:nvSpPr>
        <p:spPr>
          <a:xfrm>
            <a:off x="822960" y="5157216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34440" y="49743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0293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151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2514600" y="494690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„KI übertrifft 99,97 % der Menschen: volle Punktzahl im Mensa-IQ-Test“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514600" y="550468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36Kr</a:t>
            </a:r>
            <a:endParaRPr lang="en-US" sz="1100" dirty="0"/>
          </a:p>
        </p:txBody>
      </p:sp>
      <p:sp>
        <p:nvSpPr>
          <p:cNvPr id="28" name="Einordnung"/>
          <p:cNvSpPr/>
          <p:nvPr/>
        </p:nvSpPr>
        <p:spPr>
          <a:xfrm>
            <a:off x="8001000" y="2103120"/>
            <a:ext cx="3703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753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GENAU HINSCHAUEN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265176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Wer berichtet?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Krypto-Portale, ein Tech-Portal, der Blog des Test-Machers – keine großen Zeitungen.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Gelernte Antworten?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Die Mensa-Fragen stehen seit Jahren online. Im Offline-Test mit geheimen Fragen schneidet KI deutlich schlechter ab.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Was wird gemessen?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IQ-Tests sind für Menschen gemacht – nicht für Maschinen.</a:t>
            </a:r>
            <a:endParaRPr lang="en-US" sz="1250" dirty="0"/>
          </a:p>
        </p:txBody>
      </p:sp>
      <p:sp>
        <p:nvSpPr>
          <p:cNvPr id="3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Schlagzeilen sinngemäß aus dem Englischen übersetzt. Werte: TrackingAI.org, öffentlicher Mensa-Norwegen-Test (Höchstwert 151).</a:t>
            </a:r>
            <a:endParaRPr lang="en-US" sz="1000" dirty="0"/>
          </a:p>
        </p:txBody>
      </p:sp>
      <p:sp>
        <p:nvSpPr>
          <p:cNvPr id="3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02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Verstehen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Wie KI arbeitet – und warum sie sich irren kann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Wie macht die KI das?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Ergänzt den Satz – laut!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84632" y="2148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„Der Himmel ist heute …“</a:t>
            </a:r>
            <a:endParaRPr lang="en-US" sz="3800" dirty="0"/>
          </a:p>
        </p:txBody>
      </p:sp>
      <p:sp>
        <p:nvSpPr>
          <p:cNvPr id="8" name="Nummer 1"/>
          <p:cNvSpPr/>
          <p:nvPr/>
        </p:nvSpPr>
        <p:spPr>
          <a:xfrm>
            <a:off x="484632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463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611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aus Milliarden Texten</a:t>
            </a:r>
            <a:endParaRPr lang="en-US" sz="1500" dirty="0"/>
          </a:p>
        </p:txBody>
      </p:sp>
      <p:sp>
        <p:nvSpPr>
          <p:cNvPr id="11" name="Nummer 2"/>
          <p:cNvSpPr/>
          <p:nvPr/>
        </p:nvSpPr>
        <p:spPr>
          <a:xfrm>
            <a:off x="484632" y="4160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Gerechnet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welches Wort am wahrscheinlichsten passt</a:t>
            </a:r>
            <a:endParaRPr lang="en-US" sz="1500" dirty="0"/>
          </a:p>
        </p:txBody>
      </p:sp>
      <p:sp>
        <p:nvSpPr>
          <p:cNvPr id="14" name="Nummer 3"/>
          <p:cNvSpPr/>
          <p:nvPr/>
        </p:nvSpPr>
        <p:spPr>
          <a:xfrm>
            <a:off x="484632" y="4709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7091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Geschrieben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Wort für Wort – immer das nächste</a:t>
            </a:r>
            <a:endParaRPr lang="en-US" sz="1500" dirty="0"/>
          </a:p>
        </p:txBody>
      </p:sp>
      <p:sp>
        <p:nvSpPr>
          <p:cNvPr id="17" name="Panel Wahrscheinlichkeiten"/>
          <p:cNvSpPr/>
          <p:nvPr/>
        </p:nvSpPr>
        <p:spPr>
          <a:xfrm>
            <a:off x="6263640" y="2148840"/>
            <a:ext cx="544068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37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WAS DIE KI „DENKT“</a:t>
            </a:r>
            <a:endParaRPr lang="en-US" sz="1100" dirty="0"/>
          </a:p>
        </p:txBody>
      </p:sp>
      <p:graphicFrame>
        <p:nvGraphicFramePr>
          <p:cNvPr id="19" name="Diagramm Wortwahrscheinlichkeiten" descr=""/>
          <p:cNvGraphicFramePr/>
          <p:nvPr/>
        </p:nvGraphicFramePr>
        <p:xfrm>
          <a:off x="6400800" y="2651760"/>
          <a:ext cx="51206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Kernaussage"/>
          <p:cNvSpPr/>
          <p:nvPr/>
        </p:nvSpPr>
        <p:spPr>
          <a:xfrm>
            <a:off x="484632" y="5440680"/>
            <a:ext cx="11219688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KI weiß nicht, was wahr ist –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sie weiß, was wahrscheinlich klingt.</a:t>
            </a:r>
            <a:endParaRPr lang="en-US" sz="2000" dirty="0"/>
          </a:p>
        </p:txBody>
      </p:sp>
      <p:sp>
        <p:nvSpPr>
          <p:cNvPr id="2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Findet die 2 Fehler!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habt 30 Sekunden.</a:t>
            </a:r>
            <a:endParaRPr lang="en-US" sz="1500" dirty="0"/>
          </a:p>
        </p:txBody>
      </p:sp>
      <p:sp>
        <p:nvSpPr>
          <p:cNvPr id="7" name="Frage an die KI"/>
          <p:cNvSpPr/>
          <p:nvPr/>
        </p:nvSpPr>
        <p:spPr>
          <a:xfrm>
            <a:off x="6035040" y="2148840"/>
            <a:ext cx="5669280" cy="6858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9360" y="21488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Erzähl mir kurz etwas über den Eiffelturm.</a:t>
            </a:r>
            <a:endParaRPr lang="en-US" sz="1600" dirty="0"/>
          </a:p>
        </p:txBody>
      </p:sp>
      <p:sp>
        <p:nvSpPr>
          <p:cNvPr id="9" name="KI-Antwort"/>
          <p:cNvSpPr/>
          <p:nvPr/>
        </p:nvSpPr>
        <p:spPr>
          <a:xfrm>
            <a:off x="484632" y="3063240"/>
            <a:ext cx="11219688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Bot"/>
          <p:cNvSpPr/>
          <p:nvPr/>
        </p:nvSpPr>
        <p:spPr>
          <a:xfrm>
            <a:off x="777240" y="3337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Bo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4802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ANTWORT DER KI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0233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1"/>
                </a:solidFill>
              </a:rPr>
              <a:t>Der Eiffelturm steht in Lyon und wurde 1899 zur Weltausstellung eröffnet. Mit rund 330 Metern Höhe ist er bis heute das bekannteste Wahrzeichen Frankreichs.</a:t>
            </a:r>
            <a:endParaRPr lang="en-US" sz="2500" dirty="0"/>
          </a:p>
        </p:txBody>
      </p:sp>
      <p:sp>
        <p:nvSpPr>
          <p:cNvPr id="15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Klingt überzeugend – ist aber falsch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Auflösung: Paris statt Lyon, 1889 statt 1899</a:t>
            </a:r>
            <a:endParaRPr lang="en-US" sz="1500" dirty="0"/>
          </a:p>
        </p:txBody>
      </p:sp>
      <p:sp>
        <p:nvSpPr>
          <p:cNvPr id="4" name="Auflösung"/>
          <p:cNvSpPr/>
          <p:nvPr/>
        </p:nvSpPr>
        <p:spPr>
          <a:xfrm>
            <a:off x="484632" y="21488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AUFLÖSUNG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Der Eiffelturm steht in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Lyon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Paris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und wurde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1899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1889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zur Weltausstellung eröffnet. Mit rund 330 Metern Höhe ist er bis heute das bekannteste Wahrzeichen Frankreichs.</a:t>
            </a:r>
            <a:endParaRPr lang="en-US" sz="1800" dirty="0"/>
          </a:p>
        </p:txBody>
      </p:sp>
      <p:sp>
        <p:nvSpPr>
          <p:cNvPr id="7" name="Warnhinweis"/>
          <p:cNvSpPr/>
          <p:nvPr/>
        </p:nvSpPr>
        <p:spPr>
          <a:xfrm>
            <a:off x="777240" y="5074920"/>
            <a:ext cx="4937760" cy="502920"/>
          </a:xfrm>
          <a:prstGeom prst="roundRect">
            <a:avLst>
              <a:gd name="adj" fmla="val 21818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Fehler – und die KI klang dabei total sicher.</a:t>
            </a:r>
            <a:endParaRPr lang="en-US" sz="1400" dirty="0"/>
          </a:p>
        </p:txBody>
      </p:sp>
      <p:sp>
        <p:nvSpPr>
          <p:cNvPr id="9" name="Icon-Kreis LuSparkles"/>
          <p:cNvSpPr/>
          <p:nvPr/>
        </p:nvSpPr>
        <p:spPr>
          <a:xfrm>
            <a:off x="6355080" y="21945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 LuSparkl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1501" y="2360981"/>
            <a:ext cx="307238" cy="30723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78040" y="21762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Plausibel statt wahr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25420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wählt, was gut klingt – nicht, was geprüft ist.</a:t>
            </a:r>
            <a:endParaRPr lang="en-US" sz="1400" dirty="0"/>
          </a:p>
        </p:txBody>
      </p:sp>
      <p:sp>
        <p:nvSpPr>
          <p:cNvPr id="13" name="Icon-Kreis LuFileSearch"/>
          <p:cNvSpPr/>
          <p:nvPr/>
        </p:nvSpPr>
        <p:spPr>
          <a:xfrm>
            <a:off x="6355080" y="3246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FileSear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341254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78040" y="3227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Erfundene Quellen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359359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Zitate, Zahlen und Links können frei erfunden sein („Halluzination“).</a:t>
            </a:r>
            <a:endParaRPr lang="en-US" sz="1400" dirty="0"/>
          </a:p>
        </p:txBody>
      </p:sp>
      <p:sp>
        <p:nvSpPr>
          <p:cNvPr id="17" name="Icon-Kreis LuSearch"/>
          <p:cNvSpPr/>
          <p:nvPr/>
        </p:nvSpPr>
        <p:spPr>
          <a:xfrm>
            <a:off x="6355080" y="42976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44641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78040" y="42793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Deshalb: prüfen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178040" y="46451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Wichtiges immer mit einer zweiten, verlässlichen Quelle abgleichen.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Mehr davon an Station 3: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KI-Faktencheck</a:t>
            </a:r>
            <a:endParaRPr lang="en-US" sz="1500" dirty="0"/>
          </a:p>
        </p:txBody>
      </p:sp>
      <p:sp>
        <p:nvSpPr>
          <p:cNvPr id="22" name="Hinweis Menti 3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03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Chancen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KI als Lerncoach, Kreativpartner und Werkzeug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Spickzettel oder Lerncoach?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Gleiches Werkzeug – völlig anderer Effekt</a:t>
            </a:r>
            <a:endParaRPr lang="en-US" sz="1500" dirty="0"/>
          </a:p>
        </p:txBody>
      </p:sp>
      <p:sp>
        <p:nvSpPr>
          <p:cNvPr id="4" name="Denken ersetzen"/>
          <p:cNvSpPr/>
          <p:nvPr/>
        </p:nvSpPr>
        <p:spPr>
          <a:xfrm>
            <a:off x="484632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X"/>
          <p:cNvSpPr/>
          <p:nvPr/>
        </p:nvSpPr>
        <p:spPr>
          <a:xfrm>
            <a:off x="804672" y="24688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n Lu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26234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Denken ersetzen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„Schreib mir die Erörterung zum Handyverbot.“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fertiger Text.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nichts.</a:t>
            </a:r>
            <a:endParaRPr lang="en-US" sz="1500" dirty="0"/>
          </a:p>
        </p:txBody>
      </p:sp>
      <p:sp>
        <p:nvSpPr>
          <p:cNvPr id="10" name="Denken unterstützen"/>
          <p:cNvSpPr/>
          <p:nvPr/>
        </p:nvSpPr>
        <p:spPr>
          <a:xfrm>
            <a:off x="6217920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accent5"/>
          </a:solidFill>
          <a:ln/>
        </p:spPr>
      </p:sp>
      <p:sp>
        <p:nvSpPr>
          <p:cNvPr id="11" name="Icon-Kreis LuCheck"/>
          <p:cNvSpPr/>
          <p:nvPr/>
        </p:nvSpPr>
        <p:spPr>
          <a:xfrm>
            <a:off x="6537960" y="2468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Lu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494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Denken unterstützen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„Stell mir Fragen, bis ich meine Gliederung selbst gefunden habe.“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deine Gliederung.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argumentieren.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" y="5623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Richtig genutzt ist KI euer</a:t>
            </a:r>
            <a:endParaRPr lang="en-US" sz="1500" dirty="0"/>
          </a:p>
        </p:txBody>
      </p:sp>
      <p:sp>
        <p:nvSpPr>
          <p:cNvPr id="17" name="Rolle Lerncoach"/>
          <p:cNvSpPr/>
          <p:nvPr/>
        </p:nvSpPr>
        <p:spPr>
          <a:xfrm>
            <a:off x="347472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472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Lerncoach</a:t>
            </a:r>
            <a:endParaRPr lang="en-US" sz="1300" dirty="0"/>
          </a:p>
        </p:txBody>
      </p:sp>
      <p:sp>
        <p:nvSpPr>
          <p:cNvPr id="19" name="Rolle Kreativpartner"/>
          <p:cNvSpPr/>
          <p:nvPr/>
        </p:nvSpPr>
        <p:spPr>
          <a:xfrm>
            <a:off x="548640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Kreativpartner</a:t>
            </a:r>
            <a:endParaRPr lang="en-US" sz="1300" dirty="0"/>
          </a:p>
        </p:txBody>
      </p:sp>
      <p:sp>
        <p:nvSpPr>
          <p:cNvPr id="21" name="Rolle Problemlöser"/>
          <p:cNvSpPr/>
          <p:nvPr/>
        </p:nvSpPr>
        <p:spPr>
          <a:xfrm>
            <a:off x="749808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Problemlöser</a:t>
            </a:r>
            <a:endParaRPr lang="en-US" sz="1300" dirty="0"/>
          </a:p>
        </p:txBody>
      </p:sp>
      <p:sp>
        <p:nvSpPr>
          <p:cNvPr id="23" name="Hinweis Menti 4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im Beruf 2030 zählt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 Fähigkeiten Arbeitgeber heute wichtig finden (x) – und welche bis 2030 wichtiger werden (y)</a:t>
            </a:r>
            <a:endParaRPr lang="en-US" sz="1500" dirty="0"/>
          </a:p>
        </p:txBody>
      </p:sp>
      <p:sp>
        <p:nvSpPr>
          <p:cNvPr id="4" name="Rahmen WEF"/>
          <p:cNvSpPr/>
          <p:nvPr/>
        </p:nvSpPr>
        <p:spPr>
          <a:xfrm>
            <a:off x="484632" y="2057400"/>
            <a:ext cx="594360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Diagramm WEF Kompetenzen" descr="w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050" y="2125980"/>
            <a:ext cx="5206764" cy="3794760"/>
          </a:xfrm>
          <a:prstGeom prst="rect">
            <a:avLst/>
          </a:prstGeom>
        </p:spPr>
      </p:pic>
      <p:sp>
        <p:nvSpPr>
          <p:cNvPr id="6" name="Nummer 1"/>
          <p:cNvSpPr/>
          <p:nvPr/>
        </p:nvSpPr>
        <p:spPr>
          <a:xfrm>
            <a:off x="6766560" y="2103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0756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und Big Data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432304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die am schnellsten wachsende Kompetenz – fast 9 von 10 Arbeitgebern rechnen damit</a:t>
            </a:r>
            <a:endParaRPr lang="en-US" sz="1400" dirty="0"/>
          </a:p>
        </p:txBody>
      </p:sp>
      <p:sp>
        <p:nvSpPr>
          <p:cNvPr id="10" name="Nummer 2"/>
          <p:cNvSpPr/>
          <p:nvPr/>
        </p:nvSpPr>
        <p:spPr>
          <a:xfrm>
            <a:off x="6766560" y="30906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6656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30632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Denken bleibt zentral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419856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analytisches, kreatives und systemisches Denken</a:t>
            </a:r>
            <a:endParaRPr lang="en-US" sz="1400" dirty="0"/>
          </a:p>
        </p:txBody>
      </p:sp>
      <p:sp>
        <p:nvSpPr>
          <p:cNvPr id="14" name="Nummer 3"/>
          <p:cNvSpPr/>
          <p:nvPr/>
        </p:nvSpPr>
        <p:spPr>
          <a:xfrm>
            <a:off x="6766560" y="407822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4050792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Menschliche Stärken wachsen mit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40740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Resilienz, Neugier, lebenslanges Lernen, Führung</a:t>
            </a:r>
            <a:endParaRPr lang="en-US" sz="1400" dirty="0"/>
          </a:p>
        </p:txBody>
      </p:sp>
      <p:sp>
        <p:nvSpPr>
          <p:cNvPr id="18" name="Fazit Kompetenzen"/>
          <p:cNvSpPr/>
          <p:nvPr/>
        </p:nvSpPr>
        <p:spPr>
          <a:xfrm>
            <a:off x="6766560" y="5074920"/>
            <a:ext cx="493776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95160" y="5074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Für euch: KI sicher nutzen – und trainieren, was Maschinen nicht ersetzen.</a:t>
            </a:r>
            <a:endParaRPr lang="en-US" sz="1500" dirty="0"/>
          </a:p>
        </p:txBody>
      </p:sp>
      <p:sp>
        <p:nvSpPr>
          <p:cNvPr id="20" name="Quelle"/>
          <p:cNvSpPr txBox="1"/>
          <p:nvPr/>
        </p:nvSpPr>
        <p:spPr>
          <a:xfrm>
            <a:off x="484632" y="610819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World Economic Forum, Future of Jobs Report 2025, Abb. 3.6.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04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Risiken &amp; Verantwortung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Wo der Mensch prüfen und entscheiden muss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Echt oder KI?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Vorher Menti 5: Wie sicher erkennst du das?</a:t>
            </a:r>
            <a:endParaRPr lang="en-US" sz="1500" dirty="0"/>
          </a:p>
        </p:txBody>
      </p:sp>
      <p:pic>
        <p:nvPicPr>
          <p:cNvPr id="7" name="Bild A (echt)" descr="Porträtfoto von Elias Ha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240280"/>
            <a:ext cx="3520440" cy="35204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8" name="Bild B – Platzhalter (durch KI-Bild ersetzen)"/>
          <p:cNvSpPr/>
          <p:nvPr/>
        </p:nvSpPr>
        <p:spPr>
          <a:xfrm>
            <a:off x="6949440" y="2240280"/>
            <a:ext cx="3520440" cy="352044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9" name="Text 5"/>
          <p:cNvSpPr txBox="1"/>
          <p:nvPr/>
        </p:nvSpPr>
        <p:spPr>
          <a:xfrm>
            <a:off x="7132320" y="224028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Hier ein KI-Bild einfügen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z. B. „Papst in Daunenjacke“ (2023)</a:t>
            </a:r>
            <a:endParaRPr lang="en-US" sz="1500" dirty="0"/>
          </a:p>
        </p:txBody>
      </p:sp>
      <p:sp>
        <p:nvSpPr>
          <p:cNvPr id="10" name="Nummer A"/>
          <p:cNvSpPr/>
          <p:nvPr/>
        </p:nvSpPr>
        <p:spPr>
          <a:xfrm>
            <a:off x="11430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11430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2" name="Nummer B"/>
          <p:cNvSpPr/>
          <p:nvPr/>
        </p:nvSpPr>
        <p:spPr>
          <a:xfrm>
            <a:off x="66294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6294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Hinweis Menti 5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5</a:t>
            </a:r>
            <a:endParaRPr lang="en-US" sz="900" dirty="0"/>
          </a:p>
        </p:txBody>
      </p:sp>
      <p:sp>
        <p:nvSpPr>
          <p:cNvPr id="17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Risiken, die ihr kennen solltet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Und je eine Faustregel, wie ihr damit umgeht</a:t>
            </a:r>
            <a:endParaRPr lang="en-US" sz="1500" dirty="0"/>
          </a:p>
        </p:txBody>
      </p:sp>
      <p:sp>
        <p:nvSpPr>
          <p:cNvPr id="4" name="Risiko Halluzinationen"/>
          <p:cNvSpPr/>
          <p:nvPr/>
        </p:nvSpPr>
        <p:spPr>
          <a:xfrm>
            <a:off x="484632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TriangleAlert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TriangleAle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Halluzinationen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581912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erfindet Fakten, Zitate oder Quellen – und klingt dabei völlig sicher.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81912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Wichtiges immer gegenprüfen.</a:t>
            </a:r>
            <a:endParaRPr lang="en-US" sz="1400" dirty="0"/>
          </a:p>
        </p:txBody>
      </p:sp>
      <p:sp>
        <p:nvSpPr>
          <p:cNvPr id="10" name="Risiko Deepfakes"/>
          <p:cNvSpPr/>
          <p:nvPr/>
        </p:nvSpPr>
        <p:spPr>
          <a:xfrm>
            <a:off x="6217920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Icon-Kreis LuScanEye"/>
          <p:cNvSpPr/>
          <p:nvPr/>
        </p:nvSpPr>
        <p:spPr>
          <a:xfrm>
            <a:off x="6492240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 LuScan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58958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Deepfakes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Täuschend echte Bilder, Videos und Stimmen entstehen in Minuten.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 die Quelle prüfen, dann teilen.</a:t>
            </a:r>
            <a:endParaRPr lang="en-US" sz="1400" dirty="0"/>
          </a:p>
        </p:txBody>
      </p:sp>
      <p:sp>
        <p:nvSpPr>
          <p:cNvPr id="16" name="Risiko Datenschutz"/>
          <p:cNvSpPr/>
          <p:nvPr/>
        </p:nvSpPr>
        <p:spPr>
          <a:xfrm>
            <a:off x="484632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7" name="Icon-Kreis LuLock"/>
          <p:cNvSpPr/>
          <p:nvPr/>
        </p:nvSpPr>
        <p:spPr>
          <a:xfrm>
            <a:off x="758952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4573829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81912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Datenschutz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581912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ihr eingebt, kann gespeichert und weiterverwendet werden.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581912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Keine persönlichen Daten, Fotos oder Passwörter.</a:t>
            </a:r>
            <a:endParaRPr lang="en-US" sz="1400" dirty="0"/>
          </a:p>
        </p:txBody>
      </p:sp>
      <p:sp>
        <p:nvSpPr>
          <p:cNvPr id="22" name="Risiko Bias"/>
          <p:cNvSpPr/>
          <p:nvPr/>
        </p:nvSpPr>
        <p:spPr>
          <a:xfrm>
            <a:off x="6217920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Scale"/>
          <p:cNvSpPr/>
          <p:nvPr/>
        </p:nvSpPr>
        <p:spPr>
          <a:xfrm>
            <a:off x="6492240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573829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0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Bias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315200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übernimmt Vorurteile aus Trainingsdaten, z. B. zu Berufen oder Herkunft.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315200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Ergebnisse kritisch hinterfragen.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Der ökologische Fußabdruck von KI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KI läuft nicht „in der Cloud“, sondern in riesigen Rechenzentren – und die brauchen Strom</a:t>
            </a:r>
            <a:endParaRPr lang="en-US" sz="1500" dirty="0"/>
          </a:p>
        </p:txBody>
      </p:sp>
      <p:pic>
        <p:nvPicPr>
          <p:cNvPr id="4" name="Illustration Rechenzentren" descr="Illustration: Rechenzentren zwischen Industrie und Na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103120"/>
            <a:ext cx="40233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51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Handyladung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Energie kann das Erzeugen eines einzigen KI-Bildes kosten.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61488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Hugging Face &amp; Carnegie Mellon, 2023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1821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~ 10×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Google-Suche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2004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mehr Energie braucht eine ChatGPT-Anfrage laut früher Schätzung – neuere Studien sehen weniger.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84048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Schätzung 2023, u. a. EPRI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4261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bis 9 %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48097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 US-Stroms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279392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könnten Rechenzentren bis 2030 verbrauchen.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491947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EPRI, 2024</a:t>
            </a:r>
            <a:endParaRPr lang="en-US" sz="1000" dirty="0"/>
          </a:p>
        </p:txBody>
      </p:sp>
      <p:sp>
        <p:nvSpPr>
          <p:cNvPr id="17" name="Tipp"/>
          <p:cNvSpPr/>
          <p:nvPr/>
        </p:nvSpPr>
        <p:spPr>
          <a:xfrm>
            <a:off x="493776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6636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Tipp: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 bewusst nutzen – für einfache Fakten reicht die Suchmaschine.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Mensch + KI: das stärkste Team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 Mensch oder Maschine – der Wert liegt in der Überschneidung</a:t>
            </a:r>
            <a:endParaRPr lang="en-US" sz="1500" dirty="0"/>
          </a:p>
        </p:txBody>
      </p:sp>
      <p:sp>
        <p:nvSpPr>
          <p:cNvPr id="4" name="Kreis Mensch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5" name="Kreis KI"/>
          <p:cNvSpPr/>
          <p:nvPr/>
        </p:nvSpPr>
        <p:spPr>
          <a:xfrm>
            <a:off x="3520440" y="2011680"/>
            <a:ext cx="4206240" cy="4206240"/>
          </a:xfrm>
          <a:prstGeom prst="ellipse">
            <a:avLst/>
          </a:prstGeom>
          <a:solidFill>
            <a:schemeClr val="accent3">
              <a:alpha val="40000"/>
            </a:schemeClr>
          </a:solidFill>
          <a:ln w="317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Menschliche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36576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Erweiterte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Intelligenz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Künstliche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9" name="Label MENSCH"/>
          <p:cNvSpPr/>
          <p:nvPr/>
        </p:nvSpPr>
        <p:spPr>
          <a:xfrm>
            <a:off x="8412480" y="214884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0" y="2148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MENSCH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53288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Urteilsvermögen, Kontext, Vertrauen, Verantwortung</a:t>
            </a:r>
            <a:endParaRPr lang="en-US" sz="1500" dirty="0"/>
          </a:p>
        </p:txBody>
      </p:sp>
      <p:sp>
        <p:nvSpPr>
          <p:cNvPr id="12" name="Label KI"/>
          <p:cNvSpPr/>
          <p:nvPr/>
        </p:nvSpPr>
        <p:spPr>
          <a:xfrm>
            <a:off x="8412480" y="347472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KI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8587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Tempo, Menge, Mustererkennung, unermüdliches Üben</a:t>
            </a:r>
            <a:endParaRPr lang="en-US" sz="1500" dirty="0"/>
          </a:p>
        </p:txBody>
      </p:sp>
      <p:sp>
        <p:nvSpPr>
          <p:cNvPr id="15" name="Label ZUSAMMEN – IN DER SCHULE"/>
          <p:cNvSpPr/>
          <p:nvPr/>
        </p:nvSpPr>
        <p:spPr>
          <a:xfrm>
            <a:off x="8412480" y="4800600"/>
            <a:ext cx="301752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4800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ZUSAMMEN – IN DER SCHULE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51846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 erklärt, übt und gibt Feedback – ihr denkt mit, prüft und entscheidet.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Eure Mission heute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5 Stationen · 5 Gruppen à ca. 11 Personen · ca. 25 Minuten pro Station</a:t>
            </a:r>
            <a:endParaRPr lang="en-US" sz="1500" dirty="0"/>
          </a:p>
        </p:txBody>
      </p:sp>
      <p:sp>
        <p:nvSpPr>
          <p:cNvPr id="4" name="Station 1"/>
          <p:cNvSpPr/>
          <p:nvPr/>
        </p:nvSpPr>
        <p:spPr>
          <a:xfrm>
            <a:off x="484632" y="21031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Prompt Battle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Gleiche Aufgabe, verschiedene Prompts: Wer holt das beste Ergebnis heraus?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892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„Gute KI-Nutzung beginnt mit klarem Denken und guten Fragen.“</a:t>
            </a:r>
            <a:endParaRPr lang="en-US" sz="1200" dirty="0"/>
          </a:p>
        </p:txBody>
      </p:sp>
      <p:sp>
        <p:nvSpPr>
          <p:cNvPr id="9" name="Station 2"/>
          <p:cNvSpPr/>
          <p:nvPr/>
        </p:nvSpPr>
        <p:spPr>
          <a:xfrm>
            <a:off x="2761488" y="21031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62656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962656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 als Lerncoach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62656" y="35204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Schulthema mit KI Schritt für Schritt verstehen – ohne abzuschreiben.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62656" y="4892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soll Denken unterstützen, nicht ersetzen.“</a:t>
            </a:r>
            <a:endParaRPr lang="en-US" sz="1200" dirty="0"/>
          </a:p>
        </p:txBody>
      </p:sp>
      <p:sp>
        <p:nvSpPr>
          <p:cNvPr id="14" name="Station 3"/>
          <p:cNvSpPr/>
          <p:nvPr/>
        </p:nvSpPr>
        <p:spPr>
          <a:xfrm>
            <a:off x="5038344" y="21031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39512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239512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KI-Faktencheck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39512" y="35204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Findet den Fehler und die erfundene Quelle in einer KI-Antwort.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239512" y="4892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„Sprachliche Sicherheit ist kein Beweis für Wahrheit.“</a:t>
            </a:r>
            <a:endParaRPr lang="en-US" sz="1200" dirty="0"/>
          </a:p>
        </p:txBody>
      </p:sp>
      <p:sp>
        <p:nvSpPr>
          <p:cNvPr id="19" name="Station 4"/>
          <p:cNvSpPr/>
          <p:nvPr/>
        </p:nvSpPr>
        <p:spPr>
          <a:xfrm>
            <a:off x="7315200" y="21031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16368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516368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Deepfake Detective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16368" y="35204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Echt oder KI? Bilder und Aussagen prüfen und die eigene Sicherheit bewerten.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516368" y="4892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„Sehen heißt künftig nicht automatisch glauben.“</a:t>
            </a:r>
            <a:endParaRPr lang="en-US" sz="1200" dirty="0"/>
          </a:p>
        </p:txBody>
      </p:sp>
      <p:sp>
        <p:nvSpPr>
          <p:cNvPr id="24" name="Station 5"/>
          <p:cNvSpPr/>
          <p:nvPr/>
        </p:nvSpPr>
        <p:spPr>
          <a:xfrm>
            <a:off x="9592056" y="21031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793224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793224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 your AI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93224" y="35204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Eigene KI-Idee für ein echtes Problem: Nutzen, Daten, Grenzen, Kontrolle.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793224" y="4892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ist gestaltbar – Menschen entscheiden, wie sie eingesetzt wird.“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LEITIDEE</a:t>
            </a:r>
            <a:endParaRPr lang="en-US" sz="1300" dirty="0"/>
          </a:p>
        </p:txBody>
      </p:sp>
      <p:sp>
        <p:nvSpPr>
          <p:cNvPr id="3" name="Leitidee"/>
          <p:cNvSpPr txBox="1"/>
          <p:nvPr/>
        </p:nvSpPr>
        <p:spPr>
          <a:xfrm>
            <a:off x="841248" y="178308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KI nicht nutzen, um weniger zu denken –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sondern um besser denken zu können.</a:t>
            </a:r>
            <a:endParaRPr lang="en-US" sz="3600" dirty="0"/>
          </a:p>
        </p:txBody>
      </p:sp>
      <p:sp>
        <p:nvSpPr>
          <p:cNvPr id="4" name="Linie"/>
          <p:cNvSpPr/>
          <p:nvPr/>
        </p:nvSpPr>
        <p:spPr>
          <a:xfrm>
            <a:off x="484632" y="3840480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Jetzt seid ihr dran: Viel Spaß an den Stationen!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Fragen? Elias Hauck · SH&amp;Partner</a:t>
            </a:r>
            <a:endParaRPr lang="en-US" sz="1600" dirty="0"/>
          </a:p>
        </p:txBody>
      </p:sp>
      <p:sp>
        <p:nvSpPr>
          <p:cNvPr id="7" name="Hinweis Menti 6"/>
          <p:cNvSpPr/>
          <p:nvPr/>
        </p:nvSpPr>
        <p:spPr>
          <a:xfrm>
            <a:off x="841248" y="5212080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5212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&amp;Partner">
  <a:themeElements>
    <a:clrScheme name="SH&amp;Partner">
      <a:dk1>
        <a:srgbClr val="050A30"/>
      </a:dk1>
      <a:lt1>
        <a:srgbClr val="FFFFFF"/>
      </a:lt1>
      <a:dk2>
        <a:srgbClr val="5E6178"/>
      </a:dk2>
      <a:lt2>
        <a:srgbClr val="F4F6FB"/>
      </a:lt2>
      <a:accent1>
        <a:srgbClr val="D24C84"/>
      </a:accent1>
      <a:accent2>
        <a:srgbClr val="3E6DB5"/>
      </a:accent2>
      <a:accent3>
        <a:srgbClr val="6A7FA8"/>
      </a:accent3>
      <a:accent4>
        <a:srgbClr val="283070"/>
      </a:accent4>
      <a:accent5>
        <a:srgbClr val="FCE8F0"/>
      </a:accent5>
      <a:accent6>
        <a:srgbClr val="E05A2B"/>
      </a:accent6>
      <a:hlink>
        <a:srgbClr val="3E6DB5"/>
      </a:hlink>
      <a:folHlink>
        <a:srgbClr val="6A7FA8"/>
      </a:folHlink>
    </a:clrScheme>
    <a:fontScheme name="SH&amp;Partner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KI-Tag am Gymnasium Süd – Impulsvortrag</dc:title>
  <dc:subject>PptxGenJS Presentation</dc:subject>
  <dc:creator>Elias Hauck</dc:creator>
  <cp:lastModifiedBy>Elias Hauck</cp:lastModifiedBy>
  <cp:revision>1</cp:revision>
  <dcterms:created xsi:type="dcterms:W3CDTF">2026-10-21T22:07:40Z</dcterms:created>
  <dcterms:modified xsi:type="dcterms:W3CDTF">2026-10-21T22:07:40Z</dcterms:modified>
</cp:coreProperties>
</file>