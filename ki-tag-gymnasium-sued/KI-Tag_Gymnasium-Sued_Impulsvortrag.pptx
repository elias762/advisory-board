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09d5822b-ffae-f4ed-28bf-61eb1a0668b1}">
          <p14:sldIdLst>
            <p14:sldId id="256"/>
            <p14:sldId id="257"/>
            <p14:sldId id="258"/>
          </p14:sldIdLst>
        </p14:section>
        <p14:section name="Staunen" id="{ee41868e-a216-0975-f3f2-d390d7f9087d}">
          <p14:sldIdLst>
            <p14:sldId id="259"/>
            <p14:sldId id="260"/>
            <p14:sldId id="261"/>
            <p14:sldId id="262"/>
          </p14:sldIdLst>
        </p14:section>
        <p14:section name="Verstehen" id="{54995c5c-f9a3-78d8-230a-7214a073b547}">
          <p14:sldIdLst>
            <p14:sldId id="263"/>
            <p14:sldId id="264"/>
            <p14:sldId id="265"/>
          </p14:sldIdLst>
        </p14:section>
        <p14:section name="Chancen" id="{b9e0f019-2c7e-b66d-37c5-46b66b26a3c6}">
          <p14:sldIdLst>
            <p14:sldId id="266"/>
            <p14:sldId id="267"/>
            <p14:sldId id="268"/>
          </p14:sldIdLst>
        </p14:section>
        <p14:section name="Risiken &amp; Verantwortung" id="{ddd1200e-0409-3c0f-b771-40b8fd76fcb4}">
          <p14:sldIdLst>
            <p14:sldId id="269"/>
            <p14:sldId id="270"/>
            <p14:sldId id="271"/>
          </p14:sldIdLst>
        </p14:section>
        <p14:section name="Workshop &amp; Abschluss" id="{62ee86b1-8d63-d0e8-6fa0-5315ed9aa182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Wahrscheinlichkeit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0&quot; 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blau</c:v>
                  </c:pt>
                  <c:pt idx="1">
                    <c:v>bewölkt</c:v>
                  </c:pt>
                  <c:pt idx="2">
                    <c:v>grau</c:v>
                  </c:pt>
                  <c:pt idx="3">
                    <c:v>klar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18</c:v>
                </c:pt>
                <c:pt idx="2">
                  <c:v>11</c:v>
                </c:pt>
                <c:pt idx="3">
                  <c:v>6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b="0" i="0" strike="noStrike" sz="13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 (ca. 30 Sek.). Thema des Tages: KI verstehen, ausprobieren, einordnen. Das Bild rechts ist die Idee des Tages: Mensch und KI zusammen – nicht gegeneinander.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 Min. Kurz vorstellen (1 Min.). Dann zu Mentimeter wechseln: Menti-Frage 1 (Wortwolke: Woran denkst du bei KI?) und Menti-Frage 2 (Wofür hast du KI schon genutzt?). Ergebnisse kurz spiegeln: Die meisten nutzen KI schon – heute geht es darum, sie gut und kritisch zu nutzen.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Ablauf erklären (ca. 1 Min.): Impuls in vier Teilen, danach Workshop-Parcours in 5 Gruppen à ca. 11 Personen. Durchlauf 1: Impuls 08:15–09:15, Workshop 09:15–12:00. Durchlauf 2: Impuls 12:05–13:05, Workshop 13:05–15:50.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zu Teil 1 (ca. 15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Folie erst ausblenden (schwarz, Taste B) und Menti-Frage 3 stellen: Wie lange hat ChatGPT für 1 Million Nutzer gebraucht? Abstimmen lassen, dann diese Folie zeigen und auflösen. Botschaft: KI ist nicht ‚irgendwann‘, sie ist schon im Alltag angekommen.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Kernstück von Teil 1 (ca. 7 Min., max. 2 Demos ausführlich, den Rest kurz). Live am Beamer zeigen, Aufgaben möglichst aus dem Publikum nehmen. Vorher testen: WLAN, Logins, Tools. Backup: Screenshots/Videos der Demos, falls das Netz ausfällt.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Die Glockenkurve zeigt, wie Menschen in IQ-Tests verteilt sind (Durchschnitt 100). Die Logos sind KI-Modelle. 2024 lagen die besten Modelle noch unter dem Durchschnitt, ein Jahr später weit darüber. Wichtig: Ein IQ-Test misst nur einen kleinen Teil von Intelligenz – Urteilsvermögen, Verantwortung oder Empathie misst er nicht. Das führt zu Teil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zu Teil 2 (ca. 15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3,5 Min. Mitmachen lassen: ‚Der Himmel ist heute …‘ – Klasse ergänzt. Genau das macht die KI, nur mit Milliarden Texten. Konsequenz: Sie produziert, was wahrscheinlich KLINGT, nicht, was geprüft WAHR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 Min. Am besten durch ein echtes Beispiel aus der Live-Demo ersetzen oder ergänzen (KI live nach einer Quelle fragen und gemeinsam prüfen). Merksatz: Sprachliche Sicherheit ist kein Beweis für Wahrheit.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zu Teil 3 (ca. 15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3 Min. Den Unterschied der beiden Prompts unten betonen: Gleiches Werkzeug, völlig anderer Lerneffekt. Verweis auf Station 2 (KI als Lerncoach) und Station 1 (Prompt Battle).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Grafik kurz lesen helfen: rechts oben = heute wichtig UND wird noch wichtiger. KI und Big Data ganz oben – aber direkt daneben kreatives Denken, Resilienz, Neugier. Botschaft: Wer KI beherrscht UND menschliche Stärken trainiert, ist für die Zukunft gut aufgestellt.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zu Teil 4 (ca. 15 Sek.).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4 Min. Vorher Menti-Frage 4 stellen: Wie sicher erkennst du, ob ein Bild echt ist? Ergebnis merken – an Station 4 wird das überprüft. Deepfakes am besten mit einem echten Beispiel zeigen (Bild oder Video, ‚echt oder KI?‘) – Überleitung zu Station 4 (Deepfake Detective). Datenschutz: Nutzungsbedingungen/Altersgrenzen der Tools und die Regeln der Schule ansprechen.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Kernbotschaft des Vortrags: Die stärkste Kombination ist Mensch + KI. Die KI liefert Tempo und Menge, der Mensch Urteil und Verantwortung. Wer prüft, wer entscheidet? Immer ihr.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 Min. Stationen kurz vorstellen, Gruppeneinteilung und Rotation erklären (wer startet wo, Signal zum Wechseln, Pause nach Station … ). Die Stationen sind vorbereitet und können selbstständig oder mit Begleitung durch Lehrkräfte bearbeitet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2,5 Min. Leitidee laut vorlesen und als Auftrag für den Parcours mitgeben. Menti-Frage 5 (Was nimmst du mit?) – gerne auch am Ende des Tages nochmal öffnen. Kurze Fragerunde, dann Wechsel zu den Stationen. Gesamtzeit Impuls: ca. 40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0"/>
            <a:ext cx="3733495" cy="2095805"/>
          </a:xfrm>
          <a:prstGeom prst="rect">
            <a:avLst/>
          </a:prstGeom>
        </p:spPr>
      </p:pic>
      <p:pic>
        <p:nvPicPr>
          <p:cNvPr id="3" name="Image 1" descr="logo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27648"/>
            <a:ext cx="1412688" cy="2743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36208"/>
            <a:ext cx="1883583" cy="36576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1412688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234440"/>
            <a:ext cx="3657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886200"/>
            <a:ext cx="10058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reis Mensch"/>
          <p:cNvSpPr/>
          <p:nvPr/>
        </p:nvSpPr>
        <p:spPr>
          <a:xfrm>
            <a:off x="6766560" y="1051560"/>
            <a:ext cx="3566160" cy="3566160"/>
          </a:xfrm>
          <a:prstGeom prst="ellipse">
            <a:avLst/>
          </a:prstGeom>
          <a:solidFill>
            <a:schemeClr val="accent2">
              <a:alpha val="1800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3" name="Kreis KI"/>
          <p:cNvSpPr/>
          <p:nvPr/>
        </p:nvSpPr>
        <p:spPr>
          <a:xfrm>
            <a:off x="8412480" y="1051560"/>
            <a:ext cx="3566160" cy="3566160"/>
          </a:xfrm>
          <a:prstGeom prst="ellipse">
            <a:avLst/>
          </a:prstGeom>
          <a:solidFill>
            <a:schemeClr val="accent3">
              <a:alpha val="30000"/>
            </a:schemeClr>
          </a:solidFill>
          <a:ln w="3175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9494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Mensch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149840" y="2606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KI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45820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besser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denken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188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KI-PROJEKTTAG · 9. JAHRGANGSSTUFE</a:t>
            </a:r>
            <a:endParaRPr lang="en-US" sz="1300" dirty="0"/>
          </a:p>
        </p:txBody>
      </p:sp>
      <p:sp>
        <p:nvSpPr>
          <p:cNvPr id="8" name="Titel"/>
          <p:cNvSpPr txBox="1"/>
          <p:nvPr/>
        </p:nvSpPr>
        <p:spPr>
          <a:xfrm>
            <a:off x="548640" y="164592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KI verstehen, ausprobieren, einordnen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9476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KI-Tag am Gymnasium Süd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Mittwoch, 28. Oktober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463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Elias Hauck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Geschäftsführer und Gründer · asuno und SH&amp;Partner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Bevor wir starten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Wer heute vor euch steht – und eure Meinung per Mentimeter</a:t>
            </a:r>
            <a:endParaRPr lang="en-US" sz="1600" dirty="0"/>
          </a:p>
        </p:txBody>
      </p:sp>
      <p:sp>
        <p:nvSpPr>
          <p:cNvPr id="4" name="Karte Referent"/>
          <p:cNvSpPr/>
          <p:nvPr/>
        </p:nvSpPr>
        <p:spPr>
          <a:xfrm>
            <a:off x="548640" y="1828800"/>
            <a:ext cx="4754880" cy="3749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/>
        </p:spPr>
      </p:sp>
      <p:pic>
        <p:nvPicPr>
          <p:cNvPr id="5" name="Foto Elias Hauck" descr="Foto von Elias Ha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48840"/>
            <a:ext cx="160020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Elias Hauck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443484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Geschäftsführer und Gründer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asuno und SH&amp;Partner</a:t>
            </a:r>
            <a:endParaRPr lang="en-US" sz="1500" dirty="0"/>
          </a:p>
        </p:txBody>
      </p:sp>
      <p:sp>
        <p:nvSpPr>
          <p:cNvPr id="8" name="Karte Umfrage"/>
          <p:cNvSpPr/>
          <p:nvPr/>
        </p:nvSpPr>
        <p:spPr>
          <a:xfrm>
            <a:off x="5760720" y="1828800"/>
            <a:ext cx="5879592" cy="3749040"/>
          </a:xfrm>
          <a:prstGeom prst="roundRect">
            <a:avLst>
              <a:gd name="adj" fmla="val 1951"/>
            </a:avLst>
          </a:prstGeom>
          <a:solidFill>
            <a:schemeClr val="tx1"/>
          </a:solidFill>
          <a:ln/>
        </p:spPr>
      </p:sp>
      <p:sp>
        <p:nvSpPr>
          <p:cNvPr id="9" name="Icon-Kreis LuSmartphone"/>
          <p:cNvSpPr/>
          <p:nvPr/>
        </p:nvSpPr>
        <p:spPr>
          <a:xfrm>
            <a:off x="6172200" y="21945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LuSmart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650" y="23660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40880" y="224028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Macht mit – per Handy!</a:t>
            </a:r>
            <a:endParaRPr lang="en-US" sz="2200" dirty="0"/>
          </a:p>
        </p:txBody>
      </p:sp>
      <p:sp>
        <p:nvSpPr>
          <p:cNvPr id="12" name="Nummer 1"/>
          <p:cNvSpPr/>
          <p:nvPr/>
        </p:nvSpPr>
        <p:spPr>
          <a:xfrm>
            <a:off x="6172200" y="324612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17220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32004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menti.com im Browser öffnen</a:t>
            </a:r>
            <a:endParaRPr lang="en-US" sz="1600" dirty="0"/>
          </a:p>
        </p:txBody>
      </p:sp>
      <p:sp>
        <p:nvSpPr>
          <p:cNvPr id="15" name="Nummer 2"/>
          <p:cNvSpPr/>
          <p:nvPr/>
        </p:nvSpPr>
        <p:spPr>
          <a:xfrm>
            <a:off x="6172200" y="397764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17220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1228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Code eingeben – er steht gleich oben auf dem Bildschirm</a:t>
            </a:r>
            <a:endParaRPr lang="en-US" sz="1600" dirty="0"/>
          </a:p>
        </p:txBody>
      </p:sp>
      <p:sp>
        <p:nvSpPr>
          <p:cNvPr id="18" name="Nummer 3"/>
          <p:cNvSpPr/>
          <p:nvPr/>
        </p:nvSpPr>
        <p:spPr>
          <a:xfrm>
            <a:off x="6172200" y="470916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172200" y="4709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812280" y="4663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Erste Frage: Woran denkst du bei „KI“?</a:t>
            </a:r>
            <a:endParaRPr lang="en-US" sz="1600" dirty="0"/>
          </a:p>
        </p:txBody>
      </p:sp>
      <p:sp>
        <p:nvSpPr>
          <p:cNvPr id="21" name="Hinweis Menti-Frage 1 + 2"/>
          <p:cNvSpPr/>
          <p:nvPr/>
        </p:nvSpPr>
        <p:spPr>
          <a:xfrm>
            <a:off x="9144000" y="6336792"/>
            <a:ext cx="1783080" cy="27432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9144000" y="6336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MENTI-FRAGE 1 + 2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 läuft euer KI-Tag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Erst der gemeinsame Impuls hier in der Bibliothek – dann probiert ihr selbst aus</a:t>
            </a:r>
            <a:endParaRPr lang="en-US" sz="1600" dirty="0"/>
          </a:p>
        </p:txBody>
      </p:sp>
      <p:sp>
        <p:nvSpPr>
          <p:cNvPr id="4" name="Panel Impuls"/>
          <p:cNvSpPr/>
          <p:nvPr/>
        </p:nvSpPr>
        <p:spPr>
          <a:xfrm>
            <a:off x="548640" y="1828800"/>
            <a:ext cx="11091672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IMPULS · CA. 40 MIN.</a:t>
            </a:r>
            <a:endParaRPr lang="en-US" sz="1200" dirty="0"/>
          </a:p>
        </p:txBody>
      </p:sp>
      <p:sp>
        <p:nvSpPr>
          <p:cNvPr id="6" name="Nummer 1"/>
          <p:cNvSpPr/>
          <p:nvPr/>
        </p:nvSpPr>
        <p:spPr>
          <a:xfrm>
            <a:off x="868680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5146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Staunen</a:t>
            </a:r>
            <a:endParaRPr lang="en-US" sz="1500" dirty="0"/>
          </a:p>
        </p:txBody>
      </p:sp>
      <p:sp>
        <p:nvSpPr>
          <p:cNvPr id="9" name="Nummer 2"/>
          <p:cNvSpPr/>
          <p:nvPr/>
        </p:nvSpPr>
        <p:spPr>
          <a:xfrm>
            <a:off x="3538728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38728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224528" y="25146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Verstehen</a:t>
            </a:r>
            <a:endParaRPr lang="en-US" sz="1500" dirty="0"/>
          </a:p>
        </p:txBody>
      </p:sp>
      <p:sp>
        <p:nvSpPr>
          <p:cNvPr id="12" name="Nummer 3"/>
          <p:cNvSpPr/>
          <p:nvPr/>
        </p:nvSpPr>
        <p:spPr>
          <a:xfrm>
            <a:off x="6208776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08776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894576" y="25146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Chancen</a:t>
            </a:r>
            <a:endParaRPr lang="en-US" sz="1500" dirty="0"/>
          </a:p>
        </p:txBody>
      </p:sp>
      <p:sp>
        <p:nvSpPr>
          <p:cNvPr id="15" name="Nummer 4"/>
          <p:cNvSpPr/>
          <p:nvPr/>
        </p:nvSpPr>
        <p:spPr>
          <a:xfrm>
            <a:off x="8878824" y="2606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878824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564624" y="251460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Risiken &amp; Verantwortung</a:t>
            </a:r>
            <a:endParaRPr lang="en-US" sz="1500" dirty="0"/>
          </a:p>
        </p:txBody>
      </p:sp>
      <p:sp>
        <p:nvSpPr>
          <p:cNvPr id="18" name="Panel Parcours"/>
          <p:cNvSpPr/>
          <p:nvPr/>
        </p:nvSpPr>
        <p:spPr>
          <a:xfrm>
            <a:off x="548640" y="384048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4069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WORKSHOP-PARCOURS · 5 STATIONEN À CA. 25 MIN. + 20 MIN. PAUSE</a:t>
            </a:r>
            <a:endParaRPr lang="en-US" sz="1200" dirty="0"/>
          </a:p>
        </p:txBody>
      </p:sp>
      <p:sp>
        <p:nvSpPr>
          <p:cNvPr id="20" name="Nummer 1"/>
          <p:cNvSpPr/>
          <p:nvPr/>
        </p:nvSpPr>
        <p:spPr>
          <a:xfrm>
            <a:off x="868680" y="46634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35608" y="45537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Prompt Battle</a:t>
            </a:r>
            <a:endParaRPr lang="en-US" sz="1400" dirty="0"/>
          </a:p>
        </p:txBody>
      </p:sp>
      <p:sp>
        <p:nvSpPr>
          <p:cNvPr id="23" name="Nummer 2"/>
          <p:cNvSpPr/>
          <p:nvPr/>
        </p:nvSpPr>
        <p:spPr>
          <a:xfrm>
            <a:off x="3017520" y="46634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1752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584448" y="45537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KI als Lerncoach</a:t>
            </a:r>
            <a:endParaRPr lang="en-US" sz="1400" dirty="0"/>
          </a:p>
        </p:txBody>
      </p:sp>
      <p:sp>
        <p:nvSpPr>
          <p:cNvPr id="26" name="Nummer 3"/>
          <p:cNvSpPr/>
          <p:nvPr/>
        </p:nvSpPr>
        <p:spPr>
          <a:xfrm>
            <a:off x="5166360" y="46634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16636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733288" y="45537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KI-Faktencheck</a:t>
            </a:r>
            <a:endParaRPr lang="en-US" sz="1400" dirty="0"/>
          </a:p>
        </p:txBody>
      </p:sp>
      <p:sp>
        <p:nvSpPr>
          <p:cNvPr id="29" name="Nummer 4"/>
          <p:cNvSpPr/>
          <p:nvPr/>
        </p:nvSpPr>
        <p:spPr>
          <a:xfrm>
            <a:off x="7315200" y="46634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882128" y="45537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Deepfake Detective</a:t>
            </a:r>
            <a:endParaRPr lang="en-US" sz="1400" dirty="0"/>
          </a:p>
        </p:txBody>
      </p:sp>
      <p:sp>
        <p:nvSpPr>
          <p:cNvPr id="32" name="Nummer 5"/>
          <p:cNvSpPr/>
          <p:nvPr/>
        </p:nvSpPr>
        <p:spPr>
          <a:xfrm>
            <a:off x="9464040" y="46634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640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030968" y="45537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Build your AI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234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2"/>
                </a:solidFill>
              </a:rPr>
              <a:t>01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Staunen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Was KI heute schon kann – mit Text, Bild, Ideen und Anwendungen</a:t>
            </a:r>
            <a:endParaRPr lang="en-US" sz="2000" dirty="0"/>
          </a:p>
        </p:txBody>
      </p:sp>
      <p:sp>
        <p:nvSpPr>
          <p:cNvPr id="5" name="Fortschritt Staunen"/>
          <p:cNvSpPr/>
          <p:nvPr/>
        </p:nvSpPr>
        <p:spPr>
          <a:xfrm>
            <a:off x="54864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 Staunen</a:t>
            </a:r>
            <a:endParaRPr lang="en-US" sz="1200" dirty="0"/>
          </a:p>
        </p:txBody>
      </p:sp>
      <p:sp>
        <p:nvSpPr>
          <p:cNvPr id="7" name="Fortschritt Verstehen"/>
          <p:cNvSpPr/>
          <p:nvPr/>
        </p:nvSpPr>
        <p:spPr>
          <a:xfrm>
            <a:off x="310896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  Verstehen</a:t>
            </a:r>
            <a:endParaRPr lang="en-US" sz="1200" dirty="0"/>
          </a:p>
        </p:txBody>
      </p:sp>
      <p:sp>
        <p:nvSpPr>
          <p:cNvPr id="9" name="Fortschritt Chancen"/>
          <p:cNvSpPr/>
          <p:nvPr/>
        </p:nvSpPr>
        <p:spPr>
          <a:xfrm>
            <a:off x="566928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3  Chancen</a:t>
            </a:r>
            <a:endParaRPr lang="en-US" sz="1200" dirty="0"/>
          </a:p>
        </p:txBody>
      </p:sp>
      <p:sp>
        <p:nvSpPr>
          <p:cNvPr id="11" name="Fortschritt Risiken &amp; Verantwortung"/>
          <p:cNvSpPr/>
          <p:nvPr/>
        </p:nvSpPr>
        <p:spPr>
          <a:xfrm>
            <a:off x="822960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4  Risiken &amp; Verantwortung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ChatGPT: 1 Million Nutzer in nur 5 Tagen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Zeit bis zur ersten Million Nutzerinnen und Nutzer</a:t>
            </a:r>
            <a:endParaRPr lang="en-US" sz="1600" dirty="0"/>
          </a:p>
        </p:txBody>
      </p:sp>
      <p:sp>
        <p:nvSpPr>
          <p:cNvPr id="4" name="Achse"/>
          <p:cNvSpPr/>
          <p:nvPr/>
        </p:nvSpPr>
        <p:spPr>
          <a:xfrm>
            <a:off x="2103120" y="1828800"/>
            <a:ext cx="0" cy="37490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Netflix</a:t>
            </a:r>
            <a:endParaRPr lang="en-US" sz="1800" dirty="0"/>
          </a:p>
        </p:txBody>
      </p:sp>
      <p:sp>
        <p:nvSpPr>
          <p:cNvPr id="6" name="Balken Netflix"/>
          <p:cNvSpPr/>
          <p:nvPr/>
        </p:nvSpPr>
        <p:spPr>
          <a:xfrm>
            <a:off x="2103120" y="2011680"/>
            <a:ext cx="5120640" cy="566928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103120" y="20116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3,5 Jahre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4436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Airbnb</a:t>
            </a:r>
            <a:endParaRPr lang="en-US" sz="1800" dirty="0"/>
          </a:p>
        </p:txBody>
      </p:sp>
      <p:sp>
        <p:nvSpPr>
          <p:cNvPr id="9" name="Balken Airbnb"/>
          <p:cNvSpPr/>
          <p:nvPr/>
        </p:nvSpPr>
        <p:spPr>
          <a:xfrm>
            <a:off x="2103120" y="2944368"/>
            <a:ext cx="3657600" cy="5669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03120" y="2944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2,5 Jahre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87705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Twitter</a:t>
            </a:r>
            <a:endParaRPr lang="en-US" sz="1800" dirty="0"/>
          </a:p>
        </p:txBody>
      </p:sp>
      <p:sp>
        <p:nvSpPr>
          <p:cNvPr id="12" name="Balken Twitter"/>
          <p:cNvSpPr/>
          <p:nvPr/>
        </p:nvSpPr>
        <p:spPr>
          <a:xfrm>
            <a:off x="2103120" y="3877056"/>
            <a:ext cx="2926080" cy="5669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103120" y="38770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2 Jahre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0974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ChatGPT</a:t>
            </a:r>
            <a:endParaRPr lang="en-US" sz="1800" dirty="0"/>
          </a:p>
        </p:txBody>
      </p:sp>
      <p:sp>
        <p:nvSpPr>
          <p:cNvPr id="15" name="Balken ChatGPT"/>
          <p:cNvSpPr/>
          <p:nvPr/>
        </p:nvSpPr>
        <p:spPr>
          <a:xfrm>
            <a:off x="2103120" y="4809744"/>
            <a:ext cx="82296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331720" y="4809744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 Tage</a:t>
            </a:r>
            <a:endParaRPr lang="en-US" sz="1800" dirty="0"/>
          </a:p>
        </p:txBody>
      </p:sp>
      <p:sp>
        <p:nvSpPr>
          <p:cNvPr id="17" name="Karte 5 Tage"/>
          <p:cNvSpPr/>
          <p:nvPr/>
        </p:nvSpPr>
        <p:spPr>
          <a:xfrm>
            <a:off x="7955280" y="1828800"/>
            <a:ext cx="3685032" cy="3749040"/>
          </a:xfrm>
          <a:prstGeom prst="roundRect">
            <a:avLst>
              <a:gd name="adj" fmla="val 1985"/>
            </a:avLst>
          </a:prstGeom>
          <a:solidFill>
            <a:schemeClr val="tx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0" y="20116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/>
                </a:solidFill>
              </a:rPr>
              <a:t>5 </a:t>
            </a:r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Tage</a:t>
            </a:r>
            <a:endParaRPr lang="en-US" sz="88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32918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vom Start bis zur ersten Million Nutzer – schneller als jedes Produkt davor.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4348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Für euch: Ihr seid die erste Generation, die von Anfang an mit KI-Assistenten lernt.</a:t>
            </a:r>
            <a:endParaRPr lang="en-US" sz="1400" dirty="0"/>
          </a:p>
        </p:txBody>
      </p:sp>
      <p:sp>
        <p:nvSpPr>
          <p:cNvPr id="21" name="Quelle"/>
          <p:cNvSpPr txBox="1"/>
          <p:nvPr/>
        </p:nvSpPr>
        <p:spPr>
          <a:xfrm>
            <a:off x="548640" y="58704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Statista, nach Unternehmensangaben. ChatGPT wurde am 30. November 2022 veröffentlicht.</a:t>
            </a:r>
            <a:endParaRPr lang="en-US" sz="1000" dirty="0"/>
          </a:p>
        </p:txBody>
      </p:sp>
      <p:sp>
        <p:nvSpPr>
          <p:cNvPr id="22" name="Hinweis Menti-Frage 3"/>
          <p:cNvSpPr/>
          <p:nvPr/>
        </p:nvSpPr>
        <p:spPr>
          <a:xfrm>
            <a:off x="9144000" y="6336792"/>
            <a:ext cx="1783080" cy="27432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0" y="6336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MENTI-FRAGE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Live-Demo: Was KI heute kann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Vier kurze Beispiele – ihr gebt die Aufgaben vor</a:t>
            </a:r>
            <a:endParaRPr lang="en-US" sz="1600" dirty="0"/>
          </a:p>
        </p:txBody>
      </p:sp>
      <p:sp>
        <p:nvSpPr>
          <p:cNvPr id="4" name="Kachel Text"/>
          <p:cNvSpPr/>
          <p:nvPr/>
        </p:nvSpPr>
        <p:spPr>
          <a:xfrm>
            <a:off x="548640" y="1828800"/>
            <a:ext cx="2615184" cy="37490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5" name="Icon-Kreis LuMessageSquareText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con LuMessageSquareTex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2860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1752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Text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7472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Erklärt, fasst zusammen und schreibt um – in jedem Stil.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26280"/>
            <a:ext cx="2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DEMO-IDEE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5488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„Erkläre Photosynthese wie für ein Kind.“</a:t>
            </a:r>
            <a:endParaRPr lang="en-US" sz="1400" dirty="0"/>
          </a:p>
        </p:txBody>
      </p:sp>
      <p:sp>
        <p:nvSpPr>
          <p:cNvPr id="11" name="Kachel Bild"/>
          <p:cNvSpPr/>
          <p:nvPr/>
        </p:nvSpPr>
        <p:spPr>
          <a:xfrm>
            <a:off x="3374136" y="1828800"/>
            <a:ext cx="2615184" cy="37490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12" name="Icon-Kreis LuImage"/>
          <p:cNvSpPr/>
          <p:nvPr/>
        </p:nvSpPr>
        <p:spPr>
          <a:xfrm>
            <a:off x="3648456" y="210312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con Lu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1336" y="22860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648456" y="301752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Bild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3648456" y="347472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Erzeugt Bilder aus einer kurzen Beschreibung.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648456" y="4526280"/>
            <a:ext cx="2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DEMO-IDEE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3648456" y="475488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„Unsere Schule im Jahr 2050“</a:t>
            </a:r>
            <a:endParaRPr lang="en-US" sz="1400" dirty="0"/>
          </a:p>
        </p:txBody>
      </p:sp>
      <p:sp>
        <p:nvSpPr>
          <p:cNvPr id="18" name="Kachel Ideen"/>
          <p:cNvSpPr/>
          <p:nvPr/>
        </p:nvSpPr>
        <p:spPr>
          <a:xfrm>
            <a:off x="6199632" y="1828800"/>
            <a:ext cx="2615184" cy="37490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19" name="Icon-Kreis LuLightbulb"/>
          <p:cNvSpPr/>
          <p:nvPr/>
        </p:nvSpPr>
        <p:spPr>
          <a:xfrm>
            <a:off x="6473952" y="210312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0" name="Icon LuLightbulb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28600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473952" y="301752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Ideen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6473952" y="347472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Sammelt Ideen, Argumente und Quizfragen in Sekunden.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6473952" y="4526280"/>
            <a:ext cx="2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DEMO-IDEE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6473952" y="475488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„10 Ideen für unser Schulfest“</a:t>
            </a:r>
            <a:endParaRPr lang="en-US" sz="1400" dirty="0"/>
          </a:p>
        </p:txBody>
      </p:sp>
      <p:sp>
        <p:nvSpPr>
          <p:cNvPr id="25" name="Kachel Anwendungen"/>
          <p:cNvSpPr/>
          <p:nvPr/>
        </p:nvSpPr>
        <p:spPr>
          <a:xfrm>
            <a:off x="9025128" y="1828800"/>
            <a:ext cx="2615184" cy="3749040"/>
          </a:xfrm>
          <a:prstGeom prst="roundRect">
            <a:avLst>
              <a:gd name="adj" fmla="val 2797"/>
            </a:avLst>
          </a:prstGeom>
          <a:solidFill>
            <a:schemeClr val="bg2"/>
          </a:solidFill>
          <a:ln/>
        </p:spPr>
      </p:sp>
      <p:sp>
        <p:nvSpPr>
          <p:cNvPr id="26" name="Icon-Kreis LuCode"/>
          <p:cNvSpPr/>
          <p:nvPr/>
        </p:nvSpPr>
        <p:spPr>
          <a:xfrm>
            <a:off x="9299448" y="210312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7" name="Icon LuCod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2286000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299448" y="301752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Anwendungen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9299448" y="3474720"/>
            <a:ext cx="2066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Baut einfache Webseiten oder Spiele in Minuten.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9299448" y="4526280"/>
            <a:ext cx="20665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DEMO-IDEE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9299448" y="475488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„Ein Quiz-Spiel zum Stundenplan“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KI-IQ: von 96 auf 136 in einem Jahr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Das beste KI-Modell in standardisierten IQ-Tests – im Abstand von einem Jahr</a:t>
            </a:r>
            <a:endParaRPr lang="en-US" sz="1600" dirty="0"/>
          </a:p>
        </p:txBody>
      </p:sp>
      <p:sp>
        <p:nvSpPr>
          <p:cNvPr id="4" name="Karte 2024"/>
          <p:cNvSpPr/>
          <p:nvPr/>
        </p:nvSpPr>
        <p:spPr>
          <a:xfrm>
            <a:off x="548640" y="1828800"/>
            <a:ext cx="32918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IQ 96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Bestes Modell, Offline-Test</a:t>
            </a:r>
            <a:endParaRPr lang="en-US" sz="1500" dirty="0"/>
          </a:p>
        </p:txBody>
      </p:sp>
      <p:sp>
        <p:nvSpPr>
          <p:cNvPr id="8" name="Karte 2025"/>
          <p:cNvSpPr/>
          <p:nvPr/>
        </p:nvSpPr>
        <p:spPr>
          <a:xfrm>
            <a:off x="548640" y="3840480"/>
            <a:ext cx="329184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977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2025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2976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IQ 136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166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Bestes Modell, Mensa Norwegen</a:t>
            </a:r>
            <a:endParaRPr lang="en-US" sz="1400" dirty="0"/>
          </a:p>
        </p:txBody>
      </p:sp>
      <p:sp>
        <p:nvSpPr>
          <p:cNvPr id="12" name="Rahmen 2024"/>
          <p:cNvSpPr/>
          <p:nvPr/>
        </p:nvSpPr>
        <p:spPr>
          <a:xfrm>
            <a:off x="4114800" y="1828800"/>
            <a:ext cx="7525512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pic>
        <p:nvPicPr>
          <p:cNvPr id="13" name="Diagramm 2024" descr="iq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901952"/>
            <a:ext cx="6379166" cy="1682496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10744200" y="19659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2024</a:t>
            </a:r>
            <a:endParaRPr lang="en-US" sz="1800" dirty="0"/>
          </a:p>
        </p:txBody>
      </p:sp>
      <p:sp>
        <p:nvSpPr>
          <p:cNvPr id="15" name="Rahmen 2025"/>
          <p:cNvSpPr/>
          <p:nvPr/>
        </p:nvSpPr>
        <p:spPr>
          <a:xfrm>
            <a:off x="4114800" y="3840480"/>
            <a:ext cx="7525512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pic>
        <p:nvPicPr>
          <p:cNvPr id="16" name="Diagramm 2025" descr="iq20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913632"/>
            <a:ext cx="6379166" cy="168249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744200" y="3977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8" name="Quelle"/>
          <p:cNvSpPr txBox="1"/>
          <p:nvPr/>
        </p:nvSpPr>
        <p:spPr>
          <a:xfrm>
            <a:off x="548640" y="58704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TrackingAI.org (MaximumTruth.org) – IQ-Werte, Durchschnitt der letzten 7 Tests. Menschlicher Durchschnitt = 100.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234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2"/>
                </a:solidFill>
              </a:rPr>
              <a:t>02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Verstehen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Wie generative KI arbeitet – und warum sie trotzdem falsch liegen kann</a:t>
            </a:r>
            <a:endParaRPr lang="en-US" sz="2000" dirty="0"/>
          </a:p>
        </p:txBody>
      </p:sp>
      <p:sp>
        <p:nvSpPr>
          <p:cNvPr id="5" name="Fortschritt Staunen"/>
          <p:cNvSpPr/>
          <p:nvPr/>
        </p:nvSpPr>
        <p:spPr>
          <a:xfrm>
            <a:off x="54864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 Staunen</a:t>
            </a:r>
            <a:endParaRPr lang="en-US" sz="1200" dirty="0"/>
          </a:p>
        </p:txBody>
      </p:sp>
      <p:sp>
        <p:nvSpPr>
          <p:cNvPr id="7" name="Fortschritt Verstehen"/>
          <p:cNvSpPr/>
          <p:nvPr/>
        </p:nvSpPr>
        <p:spPr>
          <a:xfrm>
            <a:off x="310896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 Verstehen</a:t>
            </a:r>
            <a:endParaRPr lang="en-US" sz="1200" dirty="0"/>
          </a:p>
        </p:txBody>
      </p:sp>
      <p:sp>
        <p:nvSpPr>
          <p:cNvPr id="9" name="Fortschritt Chancen"/>
          <p:cNvSpPr/>
          <p:nvPr/>
        </p:nvSpPr>
        <p:spPr>
          <a:xfrm>
            <a:off x="566928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3  Chancen</a:t>
            </a:r>
            <a:endParaRPr lang="en-US" sz="1200" dirty="0"/>
          </a:p>
        </p:txBody>
      </p:sp>
      <p:sp>
        <p:nvSpPr>
          <p:cNvPr id="11" name="Fortschritt Risiken &amp; Verantwortung"/>
          <p:cNvSpPr/>
          <p:nvPr/>
        </p:nvSpPr>
        <p:spPr>
          <a:xfrm>
            <a:off x="822960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4  Risiken &amp; Verantwortung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Wie generative KI arbeitet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Im Kern sagt sie immer wieder das wahrscheinlichste nächste Wort voraus</a:t>
            </a:r>
            <a:endParaRPr lang="en-US" sz="1600" dirty="0"/>
          </a:p>
        </p:txBody>
      </p:sp>
      <p:sp>
        <p:nvSpPr>
          <p:cNvPr id="4" name="Nummer 1"/>
          <p:cNvSpPr/>
          <p:nvPr/>
        </p:nvSpPr>
        <p:spPr>
          <a:xfrm>
            <a:off x="548640" y="18745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Verbinder 1"/>
          <p:cNvSpPr/>
          <p:nvPr/>
        </p:nvSpPr>
        <p:spPr>
          <a:xfrm>
            <a:off x="845820" y="2532888"/>
            <a:ext cx="0" cy="566928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8562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Lernen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2402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Training mit riesigen Textmengen aus Büchern, Webseiten und Artikeln.</a:t>
            </a:r>
            <a:endParaRPr lang="en-US" sz="1500" dirty="0"/>
          </a:p>
        </p:txBody>
      </p:sp>
      <p:sp>
        <p:nvSpPr>
          <p:cNvPr id="9" name="Nummer 2"/>
          <p:cNvSpPr/>
          <p:nvPr/>
        </p:nvSpPr>
        <p:spPr>
          <a:xfrm>
            <a:off x="548640" y="3154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154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Verbinder 2"/>
          <p:cNvSpPr/>
          <p:nvPr/>
        </p:nvSpPr>
        <p:spPr>
          <a:xfrm>
            <a:off x="845820" y="3813048"/>
            <a:ext cx="0" cy="566928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31363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Muster erkennen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5204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Die KI lernt, welche Wörter typischerweise aufeinander folgen.</a:t>
            </a:r>
            <a:endParaRPr lang="en-US" sz="1500" dirty="0"/>
          </a:p>
        </p:txBody>
      </p:sp>
      <p:sp>
        <p:nvSpPr>
          <p:cNvPr id="14" name="Nummer 3"/>
          <p:cNvSpPr/>
          <p:nvPr/>
        </p:nvSpPr>
        <p:spPr>
          <a:xfrm>
            <a:off x="548640" y="44348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434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4165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Vorhersagen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8006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Antworten entstehen Wort für Wort – immer das wahrscheinlichste nächste.</a:t>
            </a:r>
            <a:endParaRPr lang="en-US" sz="1500" dirty="0"/>
          </a:p>
        </p:txBody>
      </p:sp>
      <p:sp>
        <p:nvSpPr>
          <p:cNvPr id="18" name="Panel Beispiel"/>
          <p:cNvSpPr/>
          <p:nvPr/>
        </p:nvSpPr>
        <p:spPr>
          <a:xfrm>
            <a:off x="6309360" y="1828800"/>
            <a:ext cx="5330952" cy="3794760"/>
          </a:xfrm>
          <a:prstGeom prst="roundRect">
            <a:avLst>
              <a:gd name="adj" fmla="val 192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BEISPIEL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286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„Der Himmel ist heute …“</a:t>
            </a:r>
            <a:endParaRPr lang="en-US" sz="2200" dirty="0"/>
          </a:p>
        </p:txBody>
      </p:sp>
      <p:graphicFrame>
        <p:nvGraphicFramePr>
          <p:cNvPr id="21" name="Diagramm Wortwahrscheinlichkeiten" descr=""/>
          <p:cNvGraphicFramePr/>
          <p:nvPr/>
        </p:nvGraphicFramePr>
        <p:xfrm>
          <a:off x="6492240" y="2788920"/>
          <a:ext cx="49377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6583680" y="49377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Vereinfachte Darstellung. Die KI „weiß“ nichts – sie rechnet mit Wahrscheinlichkeiten.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Klingt überzeugend – ist aber falsch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Warum KI sich irren kann, ohne zu zögern</a:t>
            </a:r>
            <a:endParaRPr lang="en-US" sz="1600" dirty="0"/>
          </a:p>
        </p:txBody>
      </p:sp>
      <p:sp>
        <p:nvSpPr>
          <p:cNvPr id="4" name="Chat-Panel"/>
          <p:cNvSpPr/>
          <p:nvPr/>
        </p:nvSpPr>
        <p:spPr>
          <a:xfrm>
            <a:off x="548640" y="1828800"/>
            <a:ext cx="5394960" cy="3794760"/>
          </a:xfrm>
          <a:prstGeom prst="roundRect">
            <a:avLst>
              <a:gd name="adj" fmla="val 192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BEISPIEL (NACHGESTELLT)</a:t>
            </a:r>
            <a:endParaRPr lang="en-US" sz="1200" dirty="0"/>
          </a:p>
        </p:txBody>
      </p:sp>
      <p:sp>
        <p:nvSpPr>
          <p:cNvPr id="6" name="Frage"/>
          <p:cNvSpPr/>
          <p:nvPr/>
        </p:nvSpPr>
        <p:spPr>
          <a:xfrm>
            <a:off x="2194560" y="2377440"/>
            <a:ext cx="34747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377440" y="23774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Nenne mir eine Studie zur Handynutzung von Jugendlichen.</a:t>
            </a:r>
            <a:endParaRPr lang="en-US" sz="1400" dirty="0"/>
          </a:p>
        </p:txBody>
      </p:sp>
      <p:sp>
        <p:nvSpPr>
          <p:cNvPr id="8" name="KI-Antwort"/>
          <p:cNvSpPr/>
          <p:nvPr/>
        </p:nvSpPr>
        <p:spPr>
          <a:xfrm>
            <a:off x="822960" y="3337560"/>
            <a:ext cx="42062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383280"/>
            <a:ext cx="3886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Laut der Studie „Digitale Jugend im Fokus“ (Universität Musterstadt, 2021) sind Jugendliche im Schnitt 7,4 Stunden täglich online.</a:t>
            </a:r>
            <a:endParaRPr lang="en-US" sz="1400" dirty="0"/>
          </a:p>
        </p:txBody>
      </p:sp>
      <p:sp>
        <p:nvSpPr>
          <p:cNvPr id="10" name="Warnhinweis"/>
          <p:cNvSpPr/>
          <p:nvPr/>
        </p:nvSpPr>
        <p:spPr>
          <a:xfrm>
            <a:off x="822960" y="4937760"/>
            <a:ext cx="4846320" cy="4572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9377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Achtung: Diese Studie ist frei erfunden.</a:t>
            </a:r>
            <a:endParaRPr lang="en-US" sz="1400" dirty="0"/>
          </a:p>
        </p:txBody>
      </p:sp>
      <p:sp>
        <p:nvSpPr>
          <p:cNvPr id="12" name="Icon-Kreis LuSparkles"/>
          <p:cNvSpPr/>
          <p:nvPr/>
        </p:nvSpPr>
        <p:spPr>
          <a:xfrm>
            <a:off x="6355080" y="18288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con LuSparkle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5100" y="1988820"/>
            <a:ext cx="320040" cy="32004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178040" y="181051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Plausibel statt wahr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2176272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wählt, was gut klingt – nicht, was geprüft ist.</a:t>
            </a:r>
            <a:endParaRPr lang="en-US" sz="1400" dirty="0"/>
          </a:p>
        </p:txBody>
      </p:sp>
      <p:sp>
        <p:nvSpPr>
          <p:cNvPr id="16" name="Icon-Kreis LuFileSearch"/>
          <p:cNvSpPr/>
          <p:nvPr/>
        </p:nvSpPr>
        <p:spPr>
          <a:xfrm>
            <a:off x="6355080" y="2907792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7" name="Icon LuFileSearch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0" y="3067812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178040" y="288950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Erfundene Quellen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178040" y="325526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Zitate, Zahlen und Links können frei erfunden sein („Halluzination“).</a:t>
            </a:r>
            <a:endParaRPr lang="en-US" sz="1400" dirty="0"/>
          </a:p>
        </p:txBody>
      </p:sp>
      <p:sp>
        <p:nvSpPr>
          <p:cNvPr id="20" name="Icon-Kreis LuSearch"/>
          <p:cNvSpPr/>
          <p:nvPr/>
        </p:nvSpPr>
        <p:spPr>
          <a:xfrm>
            <a:off x="6355080" y="3986784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1" name="Icon 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4146804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78040" y="396849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Deshalb: prüfen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7178040" y="4334256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Wichtiges immer mit einer zweiten, verlässlichen Quelle abgleichen.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5166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Ausprobieren an Station 3: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KI-Faktencheck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234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2"/>
                </a:solidFill>
              </a:rPr>
              <a:t>03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Chancen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KI als Lerncoach, Kreativpartner und Werkzeug – in der Schule und im Beruf</a:t>
            </a:r>
            <a:endParaRPr lang="en-US" sz="2000" dirty="0"/>
          </a:p>
        </p:txBody>
      </p:sp>
      <p:sp>
        <p:nvSpPr>
          <p:cNvPr id="5" name="Fortschritt Staunen"/>
          <p:cNvSpPr/>
          <p:nvPr/>
        </p:nvSpPr>
        <p:spPr>
          <a:xfrm>
            <a:off x="54864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 Staunen</a:t>
            </a:r>
            <a:endParaRPr lang="en-US" sz="1200" dirty="0"/>
          </a:p>
        </p:txBody>
      </p:sp>
      <p:sp>
        <p:nvSpPr>
          <p:cNvPr id="7" name="Fortschritt Verstehen"/>
          <p:cNvSpPr/>
          <p:nvPr/>
        </p:nvSpPr>
        <p:spPr>
          <a:xfrm>
            <a:off x="310896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  Verstehen</a:t>
            </a:r>
            <a:endParaRPr lang="en-US" sz="1200" dirty="0"/>
          </a:p>
        </p:txBody>
      </p:sp>
      <p:sp>
        <p:nvSpPr>
          <p:cNvPr id="9" name="Fortschritt Chancen"/>
          <p:cNvSpPr/>
          <p:nvPr/>
        </p:nvSpPr>
        <p:spPr>
          <a:xfrm>
            <a:off x="566928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  Chancen</a:t>
            </a:r>
            <a:endParaRPr lang="en-US" sz="1200" dirty="0"/>
          </a:p>
        </p:txBody>
      </p:sp>
      <p:sp>
        <p:nvSpPr>
          <p:cNvPr id="11" name="Fortschritt Risiken &amp; Verantwortung"/>
          <p:cNvSpPr/>
          <p:nvPr/>
        </p:nvSpPr>
        <p:spPr>
          <a:xfrm>
            <a:off x="822960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4  Risiken &amp; Verantwortung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Drei Rollen, in denen KI euch hilft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Richtig genutzt macht KI euch nicht bequemer, sondern besser</a:t>
            </a:r>
            <a:endParaRPr lang="en-US" sz="1600" dirty="0"/>
          </a:p>
        </p:txBody>
      </p:sp>
      <p:sp>
        <p:nvSpPr>
          <p:cNvPr id="4" name="Rolle Lerncoach"/>
          <p:cNvSpPr/>
          <p:nvPr/>
        </p:nvSpPr>
        <p:spPr>
          <a:xfrm>
            <a:off x="548640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Icon-Kreis LuGraduationCap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 LuGraduationCa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2174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Lerncoach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Erklärt Themen Schritt für Schritt, stellt Übungsfragen und gibt Feedback.</a:t>
            </a:r>
            <a:endParaRPr lang="en-US" sz="1500" dirty="0"/>
          </a:p>
        </p:txBody>
      </p:sp>
      <p:sp>
        <p:nvSpPr>
          <p:cNvPr id="9" name="Rolle Kreativpartner"/>
          <p:cNvSpPr/>
          <p:nvPr/>
        </p:nvSpPr>
        <p:spPr>
          <a:xfrm>
            <a:off x="4311396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0" name="Icon-Kreis LuPalette"/>
          <p:cNvSpPr/>
          <p:nvPr/>
        </p:nvSpPr>
        <p:spPr>
          <a:xfrm>
            <a:off x="4585716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LuPalet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2174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62956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Kreativpartner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85716" y="2880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Liefert Ideen und Entwürfe – ihr wählt aus und macht sie besser.</a:t>
            </a:r>
            <a:endParaRPr lang="en-US" sz="1500" dirty="0"/>
          </a:p>
        </p:txBody>
      </p:sp>
      <p:sp>
        <p:nvSpPr>
          <p:cNvPr id="14" name="Rolle Problemlöser"/>
          <p:cNvSpPr/>
          <p:nvPr/>
        </p:nvSpPr>
        <p:spPr>
          <a:xfrm>
            <a:off x="8074152" y="182880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5" name="Icon-Kreis LuPuzzle"/>
          <p:cNvSpPr/>
          <p:nvPr/>
        </p:nvSpPr>
        <p:spPr>
          <a:xfrm>
            <a:off x="8348472" y="20574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 LuPuzzl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492" y="22174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25712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Problemlöser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2880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Hilft beim Planen, Strukturieren und Programmieren.</a:t>
            </a:r>
            <a:endParaRPr lang="en-US" sz="1500" dirty="0"/>
          </a:p>
        </p:txBody>
      </p:sp>
      <p:sp>
        <p:nvSpPr>
          <p:cNvPr id="19" name="Denken ersetzen"/>
          <p:cNvSpPr/>
          <p:nvPr/>
        </p:nvSpPr>
        <p:spPr>
          <a:xfrm>
            <a:off x="548640" y="4160520"/>
            <a:ext cx="5449824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20" name="Icon-Kreis LuX"/>
          <p:cNvSpPr/>
          <p:nvPr/>
        </p:nvSpPr>
        <p:spPr>
          <a:xfrm>
            <a:off x="777240" y="4389120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1" name="Icon LuX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450342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71600" y="4389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Denken ersetzen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937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„Schreib mir die Erörterung zum Thema Handyverbot.“</a:t>
            </a:r>
            <a:endParaRPr lang="en-US" sz="1500" dirty="0"/>
          </a:p>
        </p:txBody>
      </p:sp>
      <p:sp>
        <p:nvSpPr>
          <p:cNvPr id="24" name="Denken unterstützen"/>
          <p:cNvSpPr/>
          <p:nvPr/>
        </p:nvSpPr>
        <p:spPr>
          <a:xfrm>
            <a:off x="6190488" y="4160520"/>
            <a:ext cx="5449824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/>
        </p:spPr>
      </p:sp>
      <p:sp>
        <p:nvSpPr>
          <p:cNvPr id="25" name="Icon-Kreis LuCheck"/>
          <p:cNvSpPr/>
          <p:nvPr/>
        </p:nvSpPr>
        <p:spPr>
          <a:xfrm>
            <a:off x="6419088" y="43891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 Lu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3388" y="4503420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013448" y="4389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Denken unterstützen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6419088" y="4937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„Stell mir Fragen, bis ich meine Gliederung selbst gefunden habe.“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Was im Beruf 2030 zählt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Anteil der Arbeitgeber, die eine Fähigkeit heute als zentral sehen (x) – und die bis 2030 mit wachsender Bedeutung rechnen (y)</a:t>
            </a:r>
            <a:endParaRPr lang="en-US" sz="1600" dirty="0"/>
          </a:p>
        </p:txBody>
      </p:sp>
      <p:sp>
        <p:nvSpPr>
          <p:cNvPr id="4" name="Rahmen WEF"/>
          <p:cNvSpPr/>
          <p:nvPr/>
        </p:nvSpPr>
        <p:spPr>
          <a:xfrm>
            <a:off x="548640" y="1828800"/>
            <a:ext cx="5897880" cy="4023360"/>
          </a:xfrm>
          <a:prstGeom prst="roundRect">
            <a:avLst>
              <a:gd name="adj" fmla="val 1818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pic>
        <p:nvPicPr>
          <p:cNvPr id="5" name="Diagramm WEF Kompetenzen" descr="w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466" y="1897380"/>
            <a:ext cx="5332228" cy="3886200"/>
          </a:xfrm>
          <a:prstGeom prst="rect">
            <a:avLst/>
          </a:prstGeom>
        </p:spPr>
      </p:pic>
      <p:sp>
        <p:nvSpPr>
          <p:cNvPr id="6" name="Nummer 1"/>
          <p:cNvSpPr/>
          <p:nvPr/>
        </p:nvSpPr>
        <p:spPr>
          <a:xfrm>
            <a:off x="6766560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18013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KI und Big Data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2157984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die am schnellsten wachsende Kompetenz – fast 9 von 10 Arbeitgebern rechnen damit</a:t>
            </a:r>
            <a:endParaRPr lang="en-US" sz="1400" dirty="0"/>
          </a:p>
        </p:txBody>
      </p:sp>
      <p:sp>
        <p:nvSpPr>
          <p:cNvPr id="10" name="Nummer 2"/>
          <p:cNvSpPr/>
          <p:nvPr/>
        </p:nvSpPr>
        <p:spPr>
          <a:xfrm>
            <a:off x="6766560" y="285292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66560" y="2852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28254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Denken bleibt zentral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318211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analytisches, kreatives und systemisches Denken</a:t>
            </a:r>
            <a:endParaRPr lang="en-US" sz="1400" dirty="0"/>
          </a:p>
        </p:txBody>
      </p:sp>
      <p:sp>
        <p:nvSpPr>
          <p:cNvPr id="14" name="Nummer 3"/>
          <p:cNvSpPr/>
          <p:nvPr/>
        </p:nvSpPr>
        <p:spPr>
          <a:xfrm>
            <a:off x="6766560" y="387705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766560" y="3877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38496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Menschliche Stärken wachsen mit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42062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Resilienz, Neugier, lebenslanges Lernen, Führung</a:t>
            </a:r>
            <a:endParaRPr lang="en-US" sz="1400" dirty="0"/>
          </a:p>
        </p:txBody>
      </p:sp>
      <p:sp>
        <p:nvSpPr>
          <p:cNvPr id="18" name="Fazit Kompetenzen"/>
          <p:cNvSpPr/>
          <p:nvPr/>
        </p:nvSpPr>
        <p:spPr>
          <a:xfrm>
            <a:off x="6766560" y="4937760"/>
            <a:ext cx="4873752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995160" y="493776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Für euch: KI sicher nutzen – und trainieren, was Maschinen nicht ersetzen.</a:t>
            </a:r>
            <a:endParaRPr lang="en-US" sz="1500" dirty="0"/>
          </a:p>
        </p:txBody>
      </p:sp>
      <p:sp>
        <p:nvSpPr>
          <p:cNvPr id="20" name="Quelle"/>
          <p:cNvSpPr txBox="1"/>
          <p:nvPr/>
        </p:nvSpPr>
        <p:spPr>
          <a:xfrm>
            <a:off x="548640" y="5943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Quelle: World Economic Forum, Future of Jobs Report 2025, Abb. 3.6.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23444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chemeClr val="accent2"/>
                </a:solidFill>
              </a:rPr>
              <a:t>04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26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Risiken &amp; Verantwortung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Wo der Mensch prüfen und entscheiden muss</a:t>
            </a:r>
            <a:endParaRPr lang="en-US" sz="2000" dirty="0"/>
          </a:p>
        </p:txBody>
      </p:sp>
      <p:sp>
        <p:nvSpPr>
          <p:cNvPr id="5" name="Fortschritt Staunen"/>
          <p:cNvSpPr/>
          <p:nvPr/>
        </p:nvSpPr>
        <p:spPr>
          <a:xfrm>
            <a:off x="54864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 Staunen</a:t>
            </a:r>
            <a:endParaRPr lang="en-US" sz="1200" dirty="0"/>
          </a:p>
        </p:txBody>
      </p:sp>
      <p:sp>
        <p:nvSpPr>
          <p:cNvPr id="7" name="Fortschritt Verstehen"/>
          <p:cNvSpPr/>
          <p:nvPr/>
        </p:nvSpPr>
        <p:spPr>
          <a:xfrm>
            <a:off x="310896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  Verstehen</a:t>
            </a:r>
            <a:endParaRPr lang="en-US" sz="1200" dirty="0"/>
          </a:p>
        </p:txBody>
      </p:sp>
      <p:sp>
        <p:nvSpPr>
          <p:cNvPr id="9" name="Fortschritt Chancen"/>
          <p:cNvSpPr/>
          <p:nvPr/>
        </p:nvSpPr>
        <p:spPr>
          <a:xfrm>
            <a:off x="566928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3  Chancen</a:t>
            </a:r>
            <a:endParaRPr lang="en-US" sz="1200" dirty="0"/>
          </a:p>
        </p:txBody>
      </p:sp>
      <p:sp>
        <p:nvSpPr>
          <p:cNvPr id="11" name="Fortschritt Risiken &amp; Verantwortung"/>
          <p:cNvSpPr/>
          <p:nvPr/>
        </p:nvSpPr>
        <p:spPr>
          <a:xfrm>
            <a:off x="8229600" y="5074920"/>
            <a:ext cx="2377440" cy="7315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523951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  Risiken &amp; Verantwortung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Vier Risiken, die ihr kennen solltet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Und je eine Faustregel, wie ihr damit umgeht</a:t>
            </a:r>
            <a:endParaRPr lang="en-US" sz="1600" dirty="0"/>
          </a:p>
        </p:txBody>
      </p:sp>
      <p:sp>
        <p:nvSpPr>
          <p:cNvPr id="4" name="Risiko Halluzinationen"/>
          <p:cNvSpPr/>
          <p:nvPr/>
        </p:nvSpPr>
        <p:spPr>
          <a:xfrm>
            <a:off x="548640" y="1828800"/>
            <a:ext cx="5449824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Icon-Kreis LuTriangleAlert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con LuTriangleAle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2631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075688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Halluzinationen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468880"/>
            <a:ext cx="4078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erfindet Fakten, Zitate oder Quellen – und klingt dabei völlig sicher.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3154680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Wichtiges immer gegenprüfen.</a:t>
            </a:r>
            <a:endParaRPr lang="en-US" sz="1400" dirty="0"/>
          </a:p>
        </p:txBody>
      </p:sp>
      <p:sp>
        <p:nvSpPr>
          <p:cNvPr id="10" name="Risiko Deepfakes"/>
          <p:cNvSpPr/>
          <p:nvPr/>
        </p:nvSpPr>
        <p:spPr>
          <a:xfrm>
            <a:off x="6190488" y="1828800"/>
            <a:ext cx="5449824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1" name="Icon-Kreis LuScanEye"/>
          <p:cNvSpPr/>
          <p:nvPr/>
        </p:nvSpPr>
        <p:spPr>
          <a:xfrm>
            <a:off x="6464808" y="210312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2" name="Icon LuScanEy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828" y="22631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87768" y="2075688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Deepfakes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287768" y="2468880"/>
            <a:ext cx="4078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Täuschend echte Bilder, Videos und Stimmen entstehen in Minuten.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287768" y="3154680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Erst die Quelle prüfen, dann teilen.</a:t>
            </a:r>
            <a:endParaRPr lang="en-US" sz="1400" dirty="0"/>
          </a:p>
        </p:txBody>
      </p:sp>
      <p:sp>
        <p:nvSpPr>
          <p:cNvPr id="16" name="Risiko Datenschutz"/>
          <p:cNvSpPr/>
          <p:nvPr/>
        </p:nvSpPr>
        <p:spPr>
          <a:xfrm>
            <a:off x="548640" y="3840480"/>
            <a:ext cx="5449824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7" name="Icon-Kreis LuLock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8" name="Icon LuLo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4087368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Datenschutz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4480560"/>
            <a:ext cx="4078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Was ihr eingebt, kann gespeichert und weiterverwendet werden.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1645920" y="5166360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Keine persönlichen Daten, Fotos oder Passwörter.</a:t>
            </a:r>
            <a:endParaRPr lang="en-US" sz="1400" dirty="0"/>
          </a:p>
        </p:txBody>
      </p:sp>
      <p:sp>
        <p:nvSpPr>
          <p:cNvPr id="22" name="Risiko Bias"/>
          <p:cNvSpPr/>
          <p:nvPr/>
        </p:nvSpPr>
        <p:spPr>
          <a:xfrm>
            <a:off x="6190488" y="3840480"/>
            <a:ext cx="5449824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23" name="Icon-Kreis LuScale"/>
          <p:cNvSpPr/>
          <p:nvPr/>
        </p:nvSpPr>
        <p:spPr>
          <a:xfrm>
            <a:off x="6464808" y="411480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4" name="Icon LuScal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828" y="4274820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87768" y="4087368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Bias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7287768" y="4480560"/>
            <a:ext cx="4078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KI übernimmt Vorurteile aus Trainingsdaten, z. B. zu Berufen oder Herkunft.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7287768" y="5166360"/>
            <a:ext cx="4078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Faustregel: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Ergebnisse kritisch hinterfragen.</a:t>
            </a:r>
            <a:endParaRPr lang="en-US" sz="1400" dirty="0"/>
          </a:p>
        </p:txBody>
      </p:sp>
      <p:sp>
        <p:nvSpPr>
          <p:cNvPr id="28" name="Hinweis Menti-Frage 4"/>
          <p:cNvSpPr/>
          <p:nvPr/>
        </p:nvSpPr>
        <p:spPr>
          <a:xfrm>
            <a:off x="9144000" y="6336792"/>
            <a:ext cx="1783080" cy="27432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9144000" y="6336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MENTI-FRAGE 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„Erweiterte Intelligenz“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Nicht Mensch oder Maschine – der Wert liegt in der Überschneidung</a:t>
            </a:r>
            <a:endParaRPr lang="en-US" sz="1600" dirty="0"/>
          </a:p>
        </p:txBody>
      </p:sp>
      <p:sp>
        <p:nvSpPr>
          <p:cNvPr id="4" name="Kreis Mensch"/>
          <p:cNvSpPr/>
          <p:nvPr/>
        </p:nvSpPr>
        <p:spPr>
          <a:xfrm>
            <a:off x="822960" y="1783080"/>
            <a:ext cx="4434840" cy="4434840"/>
          </a:xfrm>
          <a:prstGeom prst="ellipse">
            <a:avLst/>
          </a:prstGeom>
          <a:solidFill>
            <a:schemeClr val="accent5"/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5" name="Kreis KI"/>
          <p:cNvSpPr/>
          <p:nvPr/>
        </p:nvSpPr>
        <p:spPr>
          <a:xfrm>
            <a:off x="3611880" y="1783080"/>
            <a:ext cx="4434840" cy="4434840"/>
          </a:xfrm>
          <a:prstGeom prst="ellipse">
            <a:avLst/>
          </a:prstGeom>
          <a:solidFill>
            <a:schemeClr val="accent3">
              <a:alpha val="50000"/>
            </a:schemeClr>
          </a:solidFill>
          <a:ln w="3175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5204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Menschliche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Intelligenz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35204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Erweiterte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Intelligenz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352044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Künstliche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Intelligenz</a:t>
            </a:r>
            <a:endParaRPr lang="en-US" sz="2100" dirty="0"/>
          </a:p>
        </p:txBody>
      </p:sp>
      <p:sp>
        <p:nvSpPr>
          <p:cNvPr id="9" name="Label MENSCH"/>
          <p:cNvSpPr/>
          <p:nvPr/>
        </p:nvSpPr>
        <p:spPr>
          <a:xfrm>
            <a:off x="8503920" y="1874520"/>
            <a:ext cx="1371600" cy="292608"/>
          </a:xfrm>
          <a:prstGeom prst="roundRect">
            <a:avLst>
              <a:gd name="adj" fmla="val 1875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0" y="1874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MENSCH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25856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Urteilsvermögen, Kontext, Vertrauen, Verantwortung</a:t>
            </a:r>
            <a:endParaRPr lang="en-US" sz="1500" dirty="0"/>
          </a:p>
        </p:txBody>
      </p:sp>
      <p:sp>
        <p:nvSpPr>
          <p:cNvPr id="12" name="Label KI"/>
          <p:cNvSpPr/>
          <p:nvPr/>
        </p:nvSpPr>
        <p:spPr>
          <a:xfrm>
            <a:off x="8503920" y="3246120"/>
            <a:ext cx="1371600" cy="292608"/>
          </a:xfrm>
          <a:prstGeom prst="roundRect">
            <a:avLst>
              <a:gd name="adj" fmla="val 18750"/>
            </a:avLst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03920" y="3246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KI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363016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Tempo, Menge, Mustererkennung, unermüdliches Üben</a:t>
            </a:r>
            <a:endParaRPr lang="en-US" sz="1500" dirty="0"/>
          </a:p>
        </p:txBody>
      </p:sp>
      <p:sp>
        <p:nvSpPr>
          <p:cNvPr id="15" name="Label ERWEITERT – IN DER SCHULE"/>
          <p:cNvSpPr/>
          <p:nvPr/>
        </p:nvSpPr>
        <p:spPr>
          <a:xfrm>
            <a:off x="8503920" y="4617720"/>
            <a:ext cx="3108960" cy="292608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03920" y="4617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ERWEITERT – IN DER SCHULE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500176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KI erklärt, übt und gibt Feedback – ihr denkt mit, prüft und entscheidet.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38404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Euer Workshop-Parcours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1188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5 Gruppen à ca. 11 Personen · ca. 25 Minuten pro Station</a:t>
            </a:r>
            <a:endParaRPr lang="en-US" sz="1600" dirty="0"/>
          </a:p>
        </p:txBody>
      </p:sp>
      <p:sp>
        <p:nvSpPr>
          <p:cNvPr id="4" name="Station 1"/>
          <p:cNvSpPr/>
          <p:nvPr/>
        </p:nvSpPr>
        <p:spPr>
          <a:xfrm>
            <a:off x="548640" y="1828800"/>
            <a:ext cx="2093976" cy="4023360"/>
          </a:xfrm>
          <a:prstGeom prst="roundRect">
            <a:avLst>
              <a:gd name="adj" fmla="val 3493"/>
            </a:avLst>
          </a:prstGeom>
          <a:solidFill>
            <a:schemeClr val="bg2"/>
          </a:solidFill>
          <a:ln/>
        </p:spPr>
      </p:sp>
      <p:sp>
        <p:nvSpPr>
          <p:cNvPr id="5" name="Nummer 01"/>
          <p:cNvSpPr/>
          <p:nvPr/>
        </p:nvSpPr>
        <p:spPr>
          <a:xfrm>
            <a:off x="749808" y="2029968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Prompt Battle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383280"/>
            <a:ext cx="1728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Gleiche Aufgabe, verschiedene Prompts: Wer holt das beste Ergebnis heraus?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800600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„Gute KI-Nutzung beginnt mit klarem Denken und guten Fragen.“</a:t>
            </a:r>
            <a:endParaRPr lang="en-US" sz="1200" dirty="0"/>
          </a:p>
        </p:txBody>
      </p:sp>
      <p:sp>
        <p:nvSpPr>
          <p:cNvPr id="10" name="Station 2"/>
          <p:cNvSpPr/>
          <p:nvPr/>
        </p:nvSpPr>
        <p:spPr>
          <a:xfrm>
            <a:off x="2798064" y="1828800"/>
            <a:ext cx="2093976" cy="4023360"/>
          </a:xfrm>
          <a:prstGeom prst="roundRect">
            <a:avLst>
              <a:gd name="adj" fmla="val 3493"/>
            </a:avLst>
          </a:prstGeom>
          <a:solidFill>
            <a:schemeClr val="bg2"/>
          </a:solidFill>
          <a:ln/>
        </p:spPr>
      </p:sp>
      <p:sp>
        <p:nvSpPr>
          <p:cNvPr id="11" name="Nummer 02"/>
          <p:cNvSpPr/>
          <p:nvPr/>
        </p:nvSpPr>
        <p:spPr>
          <a:xfrm>
            <a:off x="2999232" y="2029968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99232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 als Lerncoach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999232" y="3383280"/>
            <a:ext cx="1728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Ein Schulthema mit KI Schritt für Schritt verstehen – ohne abzuschreiben.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99232" y="4800600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„KI soll Denken unterstützen, nicht ersetzen.“</a:t>
            </a:r>
            <a:endParaRPr lang="en-US" sz="1200" dirty="0"/>
          </a:p>
        </p:txBody>
      </p:sp>
      <p:sp>
        <p:nvSpPr>
          <p:cNvPr id="16" name="Station 3"/>
          <p:cNvSpPr/>
          <p:nvPr/>
        </p:nvSpPr>
        <p:spPr>
          <a:xfrm>
            <a:off x="5047488" y="1828800"/>
            <a:ext cx="2093976" cy="4023360"/>
          </a:xfrm>
          <a:prstGeom prst="roundRect">
            <a:avLst>
              <a:gd name="adj" fmla="val 3493"/>
            </a:avLst>
          </a:prstGeom>
          <a:solidFill>
            <a:schemeClr val="bg2"/>
          </a:solidFill>
          <a:ln/>
        </p:spPr>
      </p:sp>
      <p:sp>
        <p:nvSpPr>
          <p:cNvPr id="17" name="Nummer 03"/>
          <p:cNvSpPr/>
          <p:nvPr/>
        </p:nvSpPr>
        <p:spPr>
          <a:xfrm>
            <a:off x="5248656" y="2029968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48656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KI-Faktencheck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48656" y="3383280"/>
            <a:ext cx="1728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Findet den Fehler und die erfundene Quelle in einer KI-Antwort.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48656" y="4800600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„Sprachliche Sicherheit ist kein Beweis für Wahrheit.“</a:t>
            </a:r>
            <a:endParaRPr lang="en-US" sz="1200" dirty="0"/>
          </a:p>
        </p:txBody>
      </p:sp>
      <p:sp>
        <p:nvSpPr>
          <p:cNvPr id="22" name="Station 4"/>
          <p:cNvSpPr/>
          <p:nvPr/>
        </p:nvSpPr>
        <p:spPr>
          <a:xfrm>
            <a:off x="7296912" y="1828800"/>
            <a:ext cx="2093976" cy="4023360"/>
          </a:xfrm>
          <a:prstGeom prst="roundRect">
            <a:avLst>
              <a:gd name="adj" fmla="val 3493"/>
            </a:avLst>
          </a:prstGeom>
          <a:solidFill>
            <a:schemeClr val="bg2"/>
          </a:solidFill>
          <a:ln/>
        </p:spPr>
      </p:sp>
      <p:sp>
        <p:nvSpPr>
          <p:cNvPr id="23" name="Nummer 04"/>
          <p:cNvSpPr/>
          <p:nvPr/>
        </p:nvSpPr>
        <p:spPr>
          <a:xfrm>
            <a:off x="7498080" y="2029968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98080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Deepfake Detective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0" y="3383280"/>
            <a:ext cx="1728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Echt oder KI? Bilder und Aussagen prüfen und die eigene Sicherheit bewerten.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4800600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„Sehen heißt künftig nicht automatisch glauben.“</a:t>
            </a:r>
            <a:endParaRPr lang="en-US" sz="1200" dirty="0"/>
          </a:p>
        </p:txBody>
      </p:sp>
      <p:sp>
        <p:nvSpPr>
          <p:cNvPr id="28" name="Station 5"/>
          <p:cNvSpPr/>
          <p:nvPr/>
        </p:nvSpPr>
        <p:spPr>
          <a:xfrm>
            <a:off x="9546336" y="1828800"/>
            <a:ext cx="2093976" cy="4023360"/>
          </a:xfrm>
          <a:prstGeom prst="roundRect">
            <a:avLst>
              <a:gd name="adj" fmla="val 3493"/>
            </a:avLst>
          </a:prstGeom>
          <a:solidFill>
            <a:schemeClr val="bg2"/>
          </a:solidFill>
          <a:ln/>
        </p:spPr>
      </p:sp>
      <p:sp>
        <p:nvSpPr>
          <p:cNvPr id="29" name="Nummer 05"/>
          <p:cNvSpPr/>
          <p:nvPr/>
        </p:nvSpPr>
        <p:spPr>
          <a:xfrm>
            <a:off x="9747504" y="2029968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747504" y="2029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05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47504" y="2697480"/>
            <a:ext cx="17282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Build your AI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747504" y="3383280"/>
            <a:ext cx="17282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Eigene KI-Idee für ein echtes Problem: Nutzen, Daten, Grenzen, Kontrolle.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747504" y="4800600"/>
            <a:ext cx="17282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„KI ist gestaltbar – Menschen entscheiden, wie sie eingesetzt wird.“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2764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reis Mensch"/>
          <p:cNvSpPr/>
          <p:nvPr/>
        </p:nvSpPr>
        <p:spPr>
          <a:xfrm>
            <a:off x="8503920" y="3291840"/>
            <a:ext cx="2377440" cy="2377440"/>
          </a:xfrm>
          <a:prstGeom prst="ellipse">
            <a:avLst/>
          </a:prstGeom>
          <a:solidFill>
            <a:schemeClr val="accent2">
              <a:alpha val="18000"/>
            </a:schemeClr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3" name="Kreis KI"/>
          <p:cNvSpPr/>
          <p:nvPr/>
        </p:nvSpPr>
        <p:spPr>
          <a:xfrm>
            <a:off x="9601200" y="3291840"/>
            <a:ext cx="2377440" cy="2377440"/>
          </a:xfrm>
          <a:prstGeom prst="ellipse">
            <a:avLst/>
          </a:prstGeom>
          <a:solidFill>
            <a:schemeClr val="accent3">
              <a:alpha val="30000"/>
            </a:schemeClr>
          </a:solidFill>
          <a:ln w="254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</a:rPr>
              <a:t>LEITIDEE</a:t>
            </a:r>
            <a:endParaRPr lang="en-US" sz="1300" dirty="0"/>
          </a:p>
        </p:txBody>
      </p:sp>
      <p:sp>
        <p:nvSpPr>
          <p:cNvPr id="5" name="Leitidee"/>
          <p:cNvSpPr txBox="1"/>
          <p:nvPr/>
        </p:nvSpPr>
        <p:spPr>
          <a:xfrm>
            <a:off x="548640" y="155448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KI nicht nutzen, um weniger zu denken –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sondern um besser denken zu können.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Jetzt seid ihr dran: Viel Spaß an den Stationen!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Fragen? Elias Hauck · SH&amp;Partner</a:t>
            </a:r>
            <a:endParaRPr lang="en-US" sz="1600" dirty="0"/>
          </a:p>
        </p:txBody>
      </p:sp>
      <p:sp>
        <p:nvSpPr>
          <p:cNvPr id="8" name="Hinweis Menti-Frage 5"/>
          <p:cNvSpPr/>
          <p:nvPr/>
        </p:nvSpPr>
        <p:spPr>
          <a:xfrm>
            <a:off x="9144000" y="6336792"/>
            <a:ext cx="1783080" cy="27432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0" y="63367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bg1"/>
                </a:solidFill>
              </a:rPr>
              <a:t>MENTI-FRAGE 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&amp;Partner KI-Tag">
  <a:themeElements>
    <a:clrScheme name="SH&amp;Partner KI-Tag">
      <a:dk1>
        <a:srgbClr val="0F1341"/>
      </a:dk1>
      <a:lt1>
        <a:srgbClr val="FFFFFF"/>
      </a:lt1>
      <a:dk2>
        <a:srgbClr val="636684"/>
      </a:dk2>
      <a:lt2>
        <a:srgbClr val="F3F7FC"/>
      </a:lt2>
      <a:accent1>
        <a:srgbClr val="2E6FBF"/>
      </a:accent1>
      <a:accent2>
        <a:srgbClr val="4A90E2"/>
      </a:accent2>
      <a:accent3>
        <a:srgbClr val="6A7FA8"/>
      </a:accent3>
      <a:accent4>
        <a:srgbClr val="283070"/>
      </a:accent4>
      <a:accent5>
        <a:srgbClr val="DFEBF9"/>
      </a:accent5>
      <a:accent6>
        <a:srgbClr val="E0563F"/>
      </a:accent6>
      <a:hlink>
        <a:srgbClr val="2E6FBF"/>
      </a:hlink>
      <a:folHlink>
        <a:srgbClr val="6A7FA8"/>
      </a:folHlink>
    </a:clrScheme>
    <a:fontScheme name="SH&amp;Partner KI-Tag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SH&amp;Partner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KI-Tag am Gymnasium Süd – Impulsvortrag</dc:title>
  <dc:subject>PptxGenJS Presentation</dc:subject>
  <dc:creator>Elias Hauck</dc:creator>
  <cp:lastModifiedBy>Elias Hauck</cp:lastModifiedBy>
  <cp:revision>1</cp:revision>
  <dcterms:created xsi:type="dcterms:W3CDTF">2026-10-21T20:08:51Z</dcterms:created>
  <dcterms:modified xsi:type="dcterms:W3CDTF">2026-10-21T20:08:51Z</dcterms:modified>
</cp:coreProperties>
</file>