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" id="{be98fee0-6f27-af47-06a6-1d11f26b5642}">
          <p14:sldIdLst>
            <p14:sldId id="256"/>
          </p14:sldIdLst>
        </p14:section>
        <p14:section name="Projektverständnis" id="{71059bce-03ca-52b3-5778-e6861eee129d}">
          <p14:sldIdLst>
            <p14:sldId id="257"/>
          </p14:sldIdLst>
        </p14:section>
        <p14:section name="Herausforderung" id="{54e5fcc9-00c1-082f-f9dc-b97fc754b16a}">
          <p14:sldIdLst>
            <p14:sldId id="258"/>
          </p14:sldIdLst>
        </p14:section>
        <p14:section name="Lösungsansatz" id="{2b468353-fb1f-be07-5cca-7a7567833299}">
          <p14:sldIdLst>
            <p14:sldId id="259"/>
          </p14:sldIdLst>
        </p14:section>
        <p14:section name="Commercial" id="{0601b3e3-453a-6ed2-0e51-92c0b8c40a2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Verständnis aus den bisherigen Gesprächen. Punkte sind als Hypothesen formuliert und im Termin mit VMT zu bestätigen bzw. zu korrigieren.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Platzhalter: Struktur steht, Inhalte zur technischen Lösung werden ergänzt.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dvisory-board/81586563-2a2f-5d41-a0ed-d1d20c2ba94c/scratchpad/build/wave_dar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70" y="0"/>
            <a:ext cx="5576926" cy="5093025"/>
          </a:xfrm>
          <a:prstGeom prst="rect">
            <a:avLst/>
          </a:prstGeom>
        </p:spPr>
      </p:pic>
      <p:pic>
        <p:nvPicPr>
          <p:cNvPr id="3" name="Image 1" descr="SH&amp;Partner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737360" cy="32369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77240" y="2240280"/>
            <a:ext cx="9144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Shape 0"/>
          <p:cNvSpPr/>
          <p:nvPr/>
        </p:nvSpPr>
        <p:spPr>
          <a:xfrm>
            <a:off x="777240" y="3520440"/>
            <a:ext cx="6172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77240" y="3639312"/>
            <a:ext cx="8778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77240" y="6181344"/>
            <a:ext cx="54864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5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dvisory-board/81586563-2a2f-5d41-a0ed-d1d20c2ba94c/scratchpad/build/wave_light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0"/>
            <a:ext cx="4602175" cy="2560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5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85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5" name="Image 1" descr="SH&amp;Partner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960120" cy="17922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91640" y="63276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KI-gestützter Vertrieb im Conventional Tunneling  ·  Projektverständnis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VMT" descr="VM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649224"/>
            <a:ext cx="1783080" cy="39593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77240" y="22402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KI-gestützter Vertrieb im Conventional Tunneling</a:t>
            </a:r>
            <a:endParaRPr lang="en-US" sz="3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77240" y="363931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Projektverständnis und Lösungsansatz</a:t>
            </a:r>
            <a:endParaRPr lang="en-US" sz="24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777240" y="618134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19.10.2026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chemeClr val="accent1"/>
                </a:solidFill>
              </a:rPr>
              <a:t>AUSGANGSLAGE</a:t>
            </a:r>
            <a:endParaRPr lang="en-US" sz="85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Unser bisheriges Verständnis</a:t>
            </a:r>
            <a:endParaRPr lang="en-US" sz="2200" dirty="0"/>
          </a:p>
        </p:txBody>
      </p:sp>
      <p:sp>
        <p:nvSpPr>
          <p:cNvPr id="4" name="Label Ausgangslage im CT-Bereich"/>
          <p:cNvSpPr txBox="1"/>
          <p:nvPr/>
        </p:nvSpPr>
        <p:spPr>
          <a:xfrm>
            <a:off x="548640" y="14630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accent4"/>
                </a:solidFill>
              </a:rPr>
              <a:t>AUSGANGSLAGE IM CT-BEREICH</a:t>
            </a:r>
            <a:endParaRPr lang="en-US" sz="750" dirty="0"/>
          </a:p>
        </p:txBody>
      </p:sp>
      <p:sp>
        <p:nvSpPr>
          <p:cNvPr id="5" name="Nummer 1"/>
          <p:cNvSpPr/>
          <p:nvPr/>
        </p:nvSpPr>
        <p:spPr>
          <a:xfrm>
            <a:off x="548640" y="1810512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Projektgetriebenes Geschäft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0574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Konventioneller Vortrieb (z. B. Spreng- und Baggervortrieb, NATM) mit vielen, häufig kleineren Projekten, international verteilt.</a:t>
            </a:r>
            <a:endParaRPr lang="en-US" sz="1050" dirty="0"/>
          </a:p>
        </p:txBody>
      </p:sp>
      <p:sp>
        <p:nvSpPr>
          <p:cNvPr id="9" name="Nummer 2"/>
          <p:cNvSpPr/>
          <p:nvPr/>
        </p:nvSpPr>
        <p:spPr>
          <a:xfrm>
            <a:off x="548640" y="2798064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770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Verstreute Informationen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30449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Projekt- und Ausschreibungsdaten liegen in unterschiedlichen Quellen, Sprachen und Formaten vor und werden heute manuell zusammengetragen.</a:t>
            </a:r>
            <a:endParaRPr lang="en-US" sz="1050" dirty="0"/>
          </a:p>
        </p:txBody>
      </p:sp>
      <p:sp>
        <p:nvSpPr>
          <p:cNvPr id="13" name="Nummer 3"/>
          <p:cNvSpPr/>
          <p:nvPr/>
        </p:nvSpPr>
        <p:spPr>
          <a:xfrm>
            <a:off x="548640" y="378561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758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Begrenzte Vertriebskapazität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0325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Recherche, Qualifizierung und Angebotsvorbereitung binden Zeit, die im direkten Kundenkontakt fehlt.</a:t>
            </a:r>
            <a:endParaRPr lang="en-US" sz="1050" dirty="0"/>
          </a:p>
        </p:txBody>
      </p:sp>
      <p:sp>
        <p:nvSpPr>
          <p:cNvPr id="17" name="Zielbild Fläche"/>
          <p:cNvSpPr/>
          <p:nvPr/>
        </p:nvSpPr>
        <p:spPr>
          <a:xfrm>
            <a:off x="6172200" y="1463040"/>
            <a:ext cx="548640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Label Zielbild"/>
          <p:cNvSpPr txBox="1"/>
          <p:nvPr/>
        </p:nvSpPr>
        <p:spPr>
          <a:xfrm>
            <a:off x="6400800" y="1645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accent1"/>
                </a:solidFill>
              </a:rPr>
              <a:t>ZIELBILD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KI unterstützt den CT-Vertrieb entlang des gesamten Vertriebsprozesses</a:t>
            </a:r>
            <a:endParaRPr lang="en-US" sz="1200" dirty="0"/>
          </a:p>
        </p:txBody>
      </p:sp>
      <p:sp>
        <p:nvSpPr>
          <p:cNvPr id="20" name="Schritt Identifizieren"/>
          <p:cNvSpPr/>
          <p:nvPr/>
        </p:nvSpPr>
        <p:spPr>
          <a:xfrm>
            <a:off x="6400800" y="2487168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Identifizieren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487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Relevante Projekte weltweit früh erkennen</a:t>
            </a:r>
            <a:endParaRPr lang="en-US" sz="1050" dirty="0"/>
          </a:p>
        </p:txBody>
      </p:sp>
      <p:sp>
        <p:nvSpPr>
          <p:cNvPr id="23" name="Pfeil 1"/>
          <p:cNvSpPr/>
          <p:nvPr/>
        </p:nvSpPr>
        <p:spPr>
          <a:xfrm>
            <a:off x="7123176" y="3063240"/>
            <a:ext cx="155448" cy="128016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Schritt Qualifizieren"/>
          <p:cNvSpPr/>
          <p:nvPr/>
        </p:nvSpPr>
        <p:spPr>
          <a:xfrm>
            <a:off x="6400800" y="3218688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2186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Qualifizieren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3218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Passung und Chancen bewerten, priorisieren</a:t>
            </a:r>
            <a:endParaRPr lang="en-US" sz="1050" dirty="0"/>
          </a:p>
        </p:txBody>
      </p:sp>
      <p:sp>
        <p:nvSpPr>
          <p:cNvPr id="27" name="Pfeil 2"/>
          <p:cNvSpPr/>
          <p:nvPr/>
        </p:nvSpPr>
        <p:spPr>
          <a:xfrm>
            <a:off x="7123176" y="3794760"/>
            <a:ext cx="155448" cy="128016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Schritt Ansprechen"/>
          <p:cNvSpPr/>
          <p:nvPr/>
        </p:nvSpPr>
        <p:spPr>
          <a:xfrm>
            <a:off x="6400800" y="3950208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9502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Ansprechen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3950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Kontakt und Angebot gezielt vorbereiten</a:t>
            </a:r>
            <a:endParaRPr lang="en-US" sz="1050" dirty="0"/>
          </a:p>
        </p:txBody>
      </p:sp>
      <p:sp>
        <p:nvSpPr>
          <p:cNvPr id="31" name="Validierung Fläche"/>
          <p:cNvSpPr/>
          <p:nvPr/>
        </p:nvSpPr>
        <p:spPr>
          <a:xfrm>
            <a:off x="548640" y="5120640"/>
            <a:ext cx="1110996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120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Gemeinsam zu validieren:  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Zielmärkte und Kundengruppen, heutiger Vertriebsprozess im CT-Bereich, verfügbare Daten- und Informationsquellen.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chemeClr val="accent1"/>
                </a:solidFill>
              </a:rPr>
              <a:t>HERAUSFORDERUNG</a:t>
            </a:r>
            <a:endParaRPr lang="en-US" sz="85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Relevante CT-Projekte früher erkennen und gezielter bearbeiten</a:t>
            </a:r>
            <a:endParaRPr lang="en-US" sz="2200" dirty="0"/>
          </a:p>
        </p:txBody>
      </p:sp>
      <p:sp>
        <p:nvSpPr>
          <p:cNvPr id="4" name="Leitfrage Fläche"/>
          <p:cNvSpPr/>
          <p:nvPr/>
        </p:nvSpPr>
        <p:spPr>
          <a:xfrm>
            <a:off x="548640" y="1463040"/>
            <a:ext cx="3840480" cy="4160520"/>
          </a:xfrm>
          <a:prstGeom prst="roundRect">
            <a:avLst>
              <a:gd name="adj" fmla="val 190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Label Leitfrage"/>
          <p:cNvSpPr txBox="1"/>
          <p:nvPr/>
        </p:nvSpPr>
        <p:spPr>
          <a:xfrm>
            <a:off x="822960" y="1737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accent4"/>
                </a:solidFill>
              </a:rPr>
              <a:t>LEITFRAGE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Wie kann der CT-Vertrieb mit den vorhandenen Ressourcen mehr relevante Projekte früher erkennen, besser bewerten und gezielter bearbeiten?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Kernanforderung: Unterstützung des Vertriebs, nicht Ersatz vertrieblicher Entscheidungen.</a:t>
            </a:r>
            <a:endParaRPr lang="en-US" sz="1000" dirty="0"/>
          </a:p>
        </p:txBody>
      </p:sp>
      <p:sp>
        <p:nvSpPr>
          <p:cNvPr id="8" name="Karte Fragmentierte Datenlage"/>
          <p:cNvSpPr/>
          <p:nvPr/>
        </p:nvSpPr>
        <p:spPr>
          <a:xfrm>
            <a:off x="4709160" y="1463040"/>
            <a:ext cx="3291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Fragmentierte Datenlage Kreis"/>
          <p:cNvSpPr/>
          <p:nvPr/>
        </p:nvSpPr>
        <p:spPr>
          <a:xfrm>
            <a:off x="4937760" y="16916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Fragmentierte Datenlage Icon" descr="Fragmentierte Daten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81051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93776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Fragmentierte Datenlage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5786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Ausschreibungsportale, Fachpresse, Behörden- und Unternehmensseiten: mehrsprachig und uneinheitlich strukturiert.</a:t>
            </a:r>
            <a:endParaRPr lang="en-US" sz="1050" dirty="0"/>
          </a:p>
        </p:txBody>
      </p:sp>
      <p:sp>
        <p:nvSpPr>
          <p:cNvPr id="13" name="Karte Relevanz schwer erkennbar"/>
          <p:cNvSpPr/>
          <p:nvPr/>
        </p:nvSpPr>
        <p:spPr>
          <a:xfrm>
            <a:off x="8229600" y="1463040"/>
            <a:ext cx="3291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Relevanz schwer erkennbar Kreis"/>
          <p:cNvSpPr/>
          <p:nvPr/>
        </p:nvSpPr>
        <p:spPr>
          <a:xfrm>
            <a:off x="845820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Relevanz schwer erkennbar Icon" descr="Relevanz schwer erkenn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181051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45820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Relevanz schwer erkennbar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25786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Ob ein Projekt passt, hängt von Vortriebsart, Projektphase und Beteiligten ab und steht selten explizit in den Unterlagen.</a:t>
            </a:r>
            <a:endParaRPr lang="en-US" sz="1050" dirty="0"/>
          </a:p>
        </p:txBody>
      </p:sp>
      <p:sp>
        <p:nvSpPr>
          <p:cNvPr id="18" name="Karte Enges Zeitfenster"/>
          <p:cNvSpPr/>
          <p:nvPr/>
        </p:nvSpPr>
        <p:spPr>
          <a:xfrm>
            <a:off x="4709160" y="3611880"/>
            <a:ext cx="3291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9" name="Enges Zeitfenster Kreis"/>
          <p:cNvSpPr/>
          <p:nvPr/>
        </p:nvSpPr>
        <p:spPr>
          <a:xfrm>
            <a:off x="4937760" y="3840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Enges Zeitfenster Icon" descr="Enges Zeitfens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395935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93776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Enges Zeitfenster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937760" y="47274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Der beste Zeitpunkt für die Ansprache liegt früh im Projekt, bevor Ausrüstung und Lieferanten feststehen.</a:t>
            </a:r>
            <a:endParaRPr lang="en-US" sz="1050" dirty="0"/>
          </a:p>
        </p:txBody>
      </p:sp>
      <p:sp>
        <p:nvSpPr>
          <p:cNvPr id="23" name="Karte Wissen an Personen gebunden"/>
          <p:cNvSpPr/>
          <p:nvPr/>
        </p:nvSpPr>
        <p:spPr>
          <a:xfrm>
            <a:off x="8229600" y="3611880"/>
            <a:ext cx="3291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Wissen an Personen gebunden Kreis"/>
          <p:cNvSpPr/>
          <p:nvPr/>
        </p:nvSpPr>
        <p:spPr>
          <a:xfrm>
            <a:off x="8458200" y="3840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Wissen an Personen gebunden Icon" descr="Wissen an Personen gebund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395935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45820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Wissen an Personen gebunden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458200" y="47274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Marktkenntnis und Kontakte liegen bei Einzelnen und sind nur teilweise systematisch dokumentiert.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chemeClr val="accent1"/>
                </a:solidFill>
              </a:rPr>
              <a:t>LÖSUNGSANSATZ</a:t>
            </a:r>
            <a:endParaRPr lang="en-US" sz="85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Technischer Lösungsansatz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Wie wir die Herausforderung technisch lösen</a:t>
            </a:r>
            <a:endParaRPr lang="en-US" sz="1200" dirty="0"/>
          </a:p>
        </p:txBody>
      </p:sp>
      <p:sp>
        <p:nvSpPr>
          <p:cNvPr id="5" name="Platzhalter Datenquellen"/>
          <p:cNvSpPr/>
          <p:nvPr/>
        </p:nvSpPr>
        <p:spPr>
          <a:xfrm>
            <a:off x="54864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Datenquellen Kreis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Datenquellen Icon" descr="Datenquell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Datenquellen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Inhalte folgen</a:t>
            </a:r>
            <a:endParaRPr lang="en-US" sz="1100" dirty="0"/>
          </a:p>
        </p:txBody>
      </p:sp>
      <p:sp>
        <p:nvSpPr>
          <p:cNvPr id="10" name="Pfeil 1"/>
          <p:cNvSpPr/>
          <p:nvPr/>
        </p:nvSpPr>
        <p:spPr>
          <a:xfrm>
            <a:off x="4096512" y="3127248"/>
            <a:ext cx="219456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Platzhalter KI-Verarbeitung"/>
          <p:cNvSpPr/>
          <p:nvPr/>
        </p:nvSpPr>
        <p:spPr>
          <a:xfrm>
            <a:off x="434340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2" name="KI-Verarbeitung Kreis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KI-Verarbeitung Icon" descr="KI-Verarbeitu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KI-Verarbeitung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Inhalte folgen</a:t>
            </a:r>
            <a:endParaRPr lang="en-US" sz="1100" dirty="0"/>
          </a:p>
        </p:txBody>
      </p:sp>
      <p:sp>
        <p:nvSpPr>
          <p:cNvPr id="16" name="Pfeil 2"/>
          <p:cNvSpPr/>
          <p:nvPr/>
        </p:nvSpPr>
        <p:spPr>
          <a:xfrm>
            <a:off x="7891272" y="3127248"/>
            <a:ext cx="219456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Platzhalter Ergebnis im Vertrieb"/>
          <p:cNvSpPr/>
          <p:nvPr/>
        </p:nvSpPr>
        <p:spPr>
          <a:xfrm>
            <a:off x="813816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8" name="Ergebnis im Vertrieb Kreis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Ergebnis im Vertrieb Icon" descr="Ergebnis im Vertri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848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068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Ergebnis im Vertrieb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Inhalte folgen</a:t>
            </a:r>
            <a:endParaRPr lang="en-US" sz="1100" dirty="0"/>
          </a:p>
        </p:txBody>
      </p:sp>
      <p:sp>
        <p:nvSpPr>
          <p:cNvPr id="22" name="Hinweis Fläche"/>
          <p:cNvSpPr/>
          <p:nvPr/>
        </p:nvSpPr>
        <p:spPr>
          <a:xfrm>
            <a:off x="548640" y="5257800"/>
            <a:ext cx="1110996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52578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Detaillierung des technischen Ansatzes folgt im nächsten Schritt.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chemeClr val="accent1"/>
                </a:solidFill>
              </a:rPr>
              <a:t>COMMERCIAL</a:t>
            </a:r>
            <a:endParaRPr lang="en-US" sz="85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Was der Ansatz für den Commercial-Bereich bedeutet</a:t>
            </a:r>
            <a:endParaRPr lang="en-US" sz="2200" dirty="0"/>
          </a:p>
        </p:txBody>
      </p:sp>
      <p:sp>
        <p:nvSpPr>
          <p:cNvPr id="4" name="Karte Mehr Pipeline"/>
          <p:cNvSpPr/>
          <p:nvPr/>
        </p:nvSpPr>
        <p:spPr>
          <a:xfrm>
            <a:off x="548640" y="14630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Mehr Pipeline Kreis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Mehr Pipeline Icon" descr="Mehr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Mehr Pipeline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786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Breitere und frühere Sicht auf CT-Projekte in den Zielmärkten.</a:t>
            </a:r>
            <a:endParaRPr lang="en-US" sz="1050" dirty="0"/>
          </a:p>
        </p:txBody>
      </p:sp>
      <p:sp>
        <p:nvSpPr>
          <p:cNvPr id="9" name="Trenner Mehr Pipeline"/>
          <p:cNvSpPr/>
          <p:nvPr/>
        </p:nvSpPr>
        <p:spPr>
          <a:xfrm>
            <a:off x="777240" y="342900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Label Messgröße"/>
          <p:cNvSpPr txBox="1"/>
          <p:nvPr/>
        </p:nvSpPr>
        <p:spPr>
          <a:xfrm>
            <a:off x="777240" y="3538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tx2"/>
                </a:solidFill>
              </a:rPr>
              <a:t>MESSGRÖSSE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Qualifizierte Leads je Monat</a:t>
            </a:r>
            <a:endParaRPr lang="en-US" sz="1050" dirty="0"/>
          </a:p>
        </p:txBody>
      </p:sp>
      <p:sp>
        <p:nvSpPr>
          <p:cNvPr id="12" name="Karte Höhere Effizienz"/>
          <p:cNvSpPr/>
          <p:nvPr/>
        </p:nvSpPr>
        <p:spPr>
          <a:xfrm>
            <a:off x="3383280" y="14630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Höhere Effizienz Kreis"/>
          <p:cNvSpPr/>
          <p:nvPr/>
        </p:nvSpPr>
        <p:spPr>
          <a:xfrm>
            <a:off x="36118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Höhere Effizienz Icon" descr="Höhere Effizien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81051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Höhere Effizienz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25786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Weniger manuelle Recherche, mehr Zeit für Kundengespräche.</a:t>
            </a:r>
            <a:endParaRPr lang="en-US" sz="1050" dirty="0"/>
          </a:p>
        </p:txBody>
      </p:sp>
      <p:sp>
        <p:nvSpPr>
          <p:cNvPr id="17" name="Trenner Höhere Effizienz"/>
          <p:cNvSpPr/>
          <p:nvPr/>
        </p:nvSpPr>
        <p:spPr>
          <a:xfrm>
            <a:off x="3611880" y="342900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Label Messgröße"/>
          <p:cNvSpPr txBox="1"/>
          <p:nvPr/>
        </p:nvSpPr>
        <p:spPr>
          <a:xfrm>
            <a:off x="3611880" y="3538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accent1"/>
                </a:solidFill>
              </a:rPr>
              <a:t>MESSGRÖSSE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361188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Rechercheaufwand je Lead</a:t>
            </a:r>
            <a:endParaRPr lang="en-US" sz="1050" dirty="0"/>
          </a:p>
        </p:txBody>
      </p:sp>
      <p:sp>
        <p:nvSpPr>
          <p:cNvPr id="20" name="Karte Bessere Trefferquote"/>
          <p:cNvSpPr/>
          <p:nvPr/>
        </p:nvSpPr>
        <p:spPr>
          <a:xfrm>
            <a:off x="6217920" y="14630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Bessere Trefferquote Kreis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Bessere Trefferquote Icon" descr="Bessere Trefferquo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81051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4652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Bessere Trefferquote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25786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Fokus auf Projekte mit hoher Passung und realistischer Abschlusschance.</a:t>
            </a:r>
            <a:endParaRPr lang="en-US" sz="1050" dirty="0"/>
          </a:p>
        </p:txBody>
      </p:sp>
      <p:sp>
        <p:nvSpPr>
          <p:cNvPr id="25" name="Trenner Bessere Trefferquote"/>
          <p:cNvSpPr/>
          <p:nvPr/>
        </p:nvSpPr>
        <p:spPr>
          <a:xfrm>
            <a:off x="6446520" y="342900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6" name="Label Messgröße"/>
          <p:cNvSpPr txBox="1"/>
          <p:nvPr/>
        </p:nvSpPr>
        <p:spPr>
          <a:xfrm>
            <a:off x="6446520" y="3538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accent2"/>
                </a:solidFill>
              </a:rPr>
              <a:t>MESSGRÖSSE</a:t>
            </a:r>
            <a:endParaRPr lang="en-US" sz="750" dirty="0"/>
          </a:p>
        </p:txBody>
      </p:sp>
      <p:sp>
        <p:nvSpPr>
          <p:cNvPr id="27" name="Text 22"/>
          <p:cNvSpPr txBox="1"/>
          <p:nvPr/>
        </p:nvSpPr>
        <p:spPr>
          <a:xfrm>
            <a:off x="644652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Angebots- und Abschlussquote</a:t>
            </a:r>
            <a:endParaRPr lang="en-US" sz="1050" dirty="0"/>
          </a:p>
        </p:txBody>
      </p:sp>
      <p:sp>
        <p:nvSpPr>
          <p:cNvPr id="28" name="Karte Geteiltes Marktwissen"/>
          <p:cNvSpPr/>
          <p:nvPr/>
        </p:nvSpPr>
        <p:spPr>
          <a:xfrm>
            <a:off x="9052560" y="14630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Geteiltes Marktwissen Kreis"/>
          <p:cNvSpPr/>
          <p:nvPr/>
        </p:nvSpPr>
        <p:spPr>
          <a:xfrm>
            <a:off x="9281160" y="16916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0" name="Geteiltes Marktwissen Icon" descr="Geteiltes Marktwiss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81051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28116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Geteiltes Marktwissen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281160" y="25786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Projekt- und Kundenwissen wird systematisch erfasst und im Team nutzbar.</a:t>
            </a:r>
            <a:endParaRPr lang="en-US" sz="1050" dirty="0"/>
          </a:p>
        </p:txBody>
      </p:sp>
      <p:sp>
        <p:nvSpPr>
          <p:cNvPr id="33" name="Trenner Geteiltes Marktwissen"/>
          <p:cNvSpPr/>
          <p:nvPr/>
        </p:nvSpPr>
        <p:spPr>
          <a:xfrm>
            <a:off x="9281160" y="342900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4" name="Label Messgröße"/>
          <p:cNvSpPr txBox="1"/>
          <p:nvPr/>
        </p:nvSpPr>
        <p:spPr>
          <a:xfrm>
            <a:off x="9281160" y="3538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tx1"/>
                </a:solidFill>
              </a:rPr>
              <a:t>MESSGRÖSSE</a:t>
            </a:r>
            <a:endParaRPr lang="en-US" sz="750" dirty="0"/>
          </a:p>
        </p:txBody>
      </p:sp>
      <p:sp>
        <p:nvSpPr>
          <p:cNvPr id="35" name="Text 29"/>
          <p:cNvSpPr txBox="1"/>
          <p:nvPr/>
        </p:nvSpPr>
        <p:spPr>
          <a:xfrm>
            <a:off x="9281160" y="37490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Abdeckung der Projekte im CRM</a:t>
            </a:r>
            <a:endParaRPr lang="en-US" sz="1050" dirty="0"/>
          </a:p>
        </p:txBody>
      </p:sp>
      <p:sp>
        <p:nvSpPr>
          <p:cNvPr id="36" name="Label Voraussetzungen"/>
          <p:cNvSpPr txBox="1"/>
          <p:nvPr/>
        </p:nvSpPr>
        <p:spPr>
          <a:xfrm>
            <a:off x="548640" y="45262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chemeClr val="accent4"/>
                </a:solidFill>
              </a:rPr>
              <a:t>VORAUSSETZUNGEN</a:t>
            </a:r>
            <a:endParaRPr lang="en-US" sz="750" dirty="0"/>
          </a:p>
        </p:txBody>
      </p:sp>
      <p:sp>
        <p:nvSpPr>
          <p:cNvPr id="37" name="Nummer 1"/>
          <p:cNvSpPr/>
          <p:nvPr/>
        </p:nvSpPr>
        <p:spPr>
          <a:xfrm>
            <a:off x="548640" y="484632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4864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978408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Klares Zielprofil für relevante CT-Projekte</a:t>
            </a:r>
            <a:endParaRPr lang="en-US" sz="1050" dirty="0"/>
          </a:p>
        </p:txBody>
      </p:sp>
      <p:sp>
        <p:nvSpPr>
          <p:cNvPr id="40" name="Nummer 2"/>
          <p:cNvSpPr/>
          <p:nvPr/>
        </p:nvSpPr>
        <p:spPr>
          <a:xfrm>
            <a:off x="4343400" y="484632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34340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4773168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Einbindung in Vertriebsprozess und CRM</a:t>
            </a:r>
            <a:endParaRPr lang="en-US" sz="1050" dirty="0"/>
          </a:p>
        </p:txBody>
      </p:sp>
      <p:sp>
        <p:nvSpPr>
          <p:cNvPr id="43" name="Nummer 3"/>
          <p:cNvSpPr/>
          <p:nvPr/>
        </p:nvSpPr>
        <p:spPr>
          <a:xfrm>
            <a:off x="8138160" y="484632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13816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8567928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Vertrieb entscheidet, KI liefert Vorschläge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 Partner">
  <a:themeElements>
    <a:clrScheme name="SH Partner">
      <a:dk1>
        <a:srgbClr val="141B2E"/>
      </a:dk1>
      <a:lt1>
        <a:srgbClr val="FFFFFF"/>
      </a:lt1>
      <a:dk2>
        <a:srgbClr val="4A5A78"/>
      </a:dk2>
      <a:lt2>
        <a:srgbClr val="F2F3F5"/>
      </a:lt2>
      <a:accent1>
        <a:srgbClr val="1F6F7A"/>
      </a:accent1>
      <a:accent2>
        <a:srgbClr val="9C6F3F"/>
      </a:accent2>
      <a:accent3>
        <a:srgbClr val="5C6679"/>
      </a:accent3>
      <a:accent4>
        <a:srgbClr val="959DAC"/>
      </a:accent4>
      <a:accent5>
        <a:srgbClr val="D9DDE4"/>
      </a:accent5>
      <a:accent6>
        <a:srgbClr val="FBC000"/>
      </a:accent6>
      <a:hlink>
        <a:srgbClr val="1F6F7A"/>
      </a:hlink>
      <a:folHlink>
        <a:srgbClr val="4A5A78"/>
      </a:folHlink>
    </a:clrScheme>
    <a:fontScheme name="SH Part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SH&amp;Partner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KI-gestützter Vertrieb im Conventional Tunneling</dc:title>
  <dc:subject>PptxGenJS Presentation</dc:subject>
  <dc:creator>SH&amp;Partner</dc:creator>
  <cp:lastModifiedBy>SH&amp;Partner</cp:lastModifiedBy>
  <cp:revision>1</cp:revision>
  <dcterms:created xsi:type="dcterms:W3CDTF">2026-10-19T07:27:40Z</dcterms:created>
  <dcterms:modified xsi:type="dcterms:W3CDTF">2026-10-19T07:27:40Z</dcterms:modified>
</cp:coreProperties>
</file>