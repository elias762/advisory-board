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" id="{84ad3472-a36e-426c-f86d-55b5177b6329}">
          <p14:sldIdLst>
            <p14:sldId id="256"/>
          </p14:sldIdLst>
        </p14:section>
        <p14:section name="Ausgangslage" id="{44c845d4-8b6d-45d8-5169-79ac35d993b8}">
          <p14:sldIdLst>
            <p14:sldId id="257"/>
            <p14:sldId id="258"/>
          </p14:sldIdLst>
        </p14:section>
        <p14:section name="Zielbild und Lösung" id="{f408fdad-7685-91a1-23a9-41b2ee57eb08}">
          <p14:sldIdLst>
            <p14:sldId id="259"/>
            <p14:sldId id="260"/>
          </p14:sldIdLst>
        </p14:section>
        <p14:section name="Commercial" id="{f29b603c-ce2f-2710-80c3-2d4553044f3c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Workshop VMT am 06.10.2026 (Vertrieb, IT, kaufmännische Leitung) und Besprechungszusammenfassung vom 07.10.2026. Eine automatisierte Kontaktaufnahme ist ausdrücklich nicht vorgesehen.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Projektphasen und Einordnung laut VMT-Vorbereitung zum Workshop (AI Tender Radar, 01.10.2026). LinkedIn: Offizielle Schnittstellen decken nur eigene bzw. freigegebene Seiten ab; automatisierte Datensammlung ist laut Nutzungsbedingungen (Abschnitt 8.2) untersagt.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Beispiel-Treffer aus öffentlichen Quellen: Staatliches Bauamt Bayreuth, Pressemitteilung 57/2026 vom 19.08.2026 (https://www.stbabt.bayern.de/service/medien/pressemitteilungen/2026/57/index.html); bergmännische Länge laut Eiffage-Projektseite (https://eiffage-infra.de/aktuelles/detail/kauerndorf-die-heimliche-hauptstadt-des-tunnelbaus-1401/). Der Kontakt wird im Anreicherungsschritt ergänzt.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LinkedIn kommt auf zwei Wegen in den Radar: automatisch über einen Datenanbieter (z. B. Octolens ab 159 $/Monat, Coresignal) und manuell über die Teilen-Funktion des Vertriebs. Scraping ist wegen der LinkedIn-Nutzungsbedingungen keine produktive Grundlage. Signale: primär Vergabe an Baufirma/ARGE, indirekt neue ARGEn und Wechsel von Bau-/Projektleitern. Der Pilot mit einem Datenanbieter startet nur mit Zustimmung von VMT.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Marktzahlen: eigene Schätzung auf Basis öffentlicher Quellen, vor externer Verwendung an den Originalen prüfen. Vergaben p. a. = Projekte im Bau (ca. 47–80) ÷ Ø 2,5–4 Jahre Bauzeit. VMT-Einschätzung allein für DACH: 20–30 p. a., inkl. Losen und kleinerer Sanierungen.
DE: STUVA, Tunnelbau in Deutschland – Statistik 2024/2025 (40 Projekte / ca. 83 km im Bau, 156 Projekte / 659 km in Planung): https://www.tunnel-online.info/en/artikel/tunnelling-in-germany-statistics-20242025-analysis-and-outlook-4356136.html ; Statistik 2022/23: https://www.stuva.de/fileadmin/user_upload/downloads/stat/2024-02-07_Tunnelbau_in_Deutschland_2022-2023.pdf
AT: u. a. Brennerbasistunnel-Lose, ASFINAG-Sanierungen S6 Semmering (2025–29), Landeck (2025–30), Karawanken, Tauern/Katschberg: https://www.tunnel-online.info/en/artikel/overhaul-of-the-semmering-tunnel-chain-for-270-million-euros-4288827.html
CH: u. a. 2. Gotthardröhre (ca. 500 m Sprengvortrieb), Gubrist, Belchen, SBB Hauenstein: https://www.astra.admin.ch/fr/percement-du-2d-tube-au-gothard-depuis-le-sud-la-methode-conventionnelle-preferee-au-tunnelier-sur-un-troncon-de-500-metres
FR: Lyon–Turin (Sprengvortriebslose), CETU-Observatorium: https://www.cetu.developpement-durable.gouv.fr/IMG/pdf/observatoire_lettre_info_v6.pdf
UK: HS2 SCL-Arbeiten (Northolt, Chilterns, Euston): https://tunnellingjournal.com/hs2s-northolt-tunnel-cross-passages-complete/
CAC-Zielgröße laut kaufmännischer Leitung VMT (Workshop 06.10.2026): ca. 1 % des Ø Deal-Volumens von 200–250 T€. Payback = Kosten ÷ (zusätzliche Projekte p. a. × 2.500 €) × 12. Kostenszenarien illustrativ; 20–30 T€ als Größenordnung aus dem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visory-board/vmt-ki-vertrieb-ct/assets/wave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SH&amp;Partne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737360" cy="32369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77240" y="210312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3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77240" y="365760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77240" y="6181344"/>
            <a:ext cx="54864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5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visory-board/vmt-ki-vertrieb-ct/assets/wave_light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0"/>
            <a:ext cx="4602175" cy="2560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pic>
        <p:nvPicPr>
          <p:cNvPr id="4" name="Image 1" descr="SH&amp;Partne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960120" cy="179222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MT" descr="VM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649224"/>
            <a:ext cx="1783080" cy="39593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77240" y="21031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bg1"/>
                </a:solidFill>
              </a:rPr>
              <a:t>KI-gestützter Vertrieb im Conventional Tunneling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77240" y="3657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AI Tender Radar: Zielbild, Lösung und Wirtschaftlichkeit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777240" y="618134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21.10.2026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CT rückt in den Fokus, doch relevante Projekte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erreichen den Vertrieb zu spät</a:t>
            </a:r>
            <a:endParaRPr lang="en-US" sz="2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AI Tender Radar  ·  Ausgangslage</a:t>
            </a:r>
            <a:endParaRPr lang="en-US" sz="800" dirty="0"/>
          </a:p>
        </p:txBody>
      </p:sp>
      <p:sp>
        <p:nvSpPr>
          <p:cNvPr id="4" name="Linie Neuer Schwerpunkt"/>
          <p:cNvSpPr/>
          <p:nvPr/>
        </p:nvSpPr>
        <p:spPr>
          <a:xfrm>
            <a:off x="548640" y="1691640"/>
            <a:ext cx="60350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196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Neuer Schwerpunkt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1226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Nach mehreren Produktentwicklungen steht der CT-Bereich stärker im Fokus. Der konventionelle Vortrieb ist kaum automatisiert und bietet entsprechend Potenzial.</a:t>
            </a:r>
            <a:endParaRPr lang="en-US" sz="1050" dirty="0"/>
          </a:p>
        </p:txBody>
      </p:sp>
      <p:sp>
        <p:nvSpPr>
          <p:cNvPr id="7" name="Linie Projekte gehen am Vertrieb vorbei"/>
          <p:cNvSpPr/>
          <p:nvPr/>
        </p:nvSpPr>
        <p:spPr>
          <a:xfrm>
            <a:off x="548640" y="2880360"/>
            <a:ext cx="60350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0837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Projekte gehen am Vertrieb vorbei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0098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Für CT gibt es weder Prozess noch CRM. Projekte werden zu spät, zufällig oder gar nicht entdeckt.</a:t>
            </a:r>
            <a:endParaRPr lang="en-US" sz="1050" dirty="0"/>
          </a:p>
        </p:txBody>
      </p:sp>
      <p:sp>
        <p:nvSpPr>
          <p:cNvPr id="10" name="Linie Erst Überblick, dann Wachstum"/>
          <p:cNvSpPr/>
          <p:nvPr/>
        </p:nvSpPr>
        <p:spPr>
          <a:xfrm>
            <a:off x="548640" y="4069080"/>
            <a:ext cx="60350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19709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Erst Überblick, dann Wachstum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970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Zunächst braucht es einen Marktüberblick und Kontakte zu den ausführenden Baufirmen und ARGEn, um vertrieblich zuzulegen.</a:t>
            </a:r>
            <a:endParaRPr lang="en-US" sz="1050" dirty="0"/>
          </a:p>
        </p:txBody>
      </p:sp>
      <p:sp>
        <p:nvSpPr>
          <p:cNvPr id="13" name="Ansatz Fläche"/>
          <p:cNvSpPr/>
          <p:nvPr/>
        </p:nvSpPr>
        <p:spPr>
          <a:xfrm>
            <a:off x="7086600" y="1691640"/>
            <a:ext cx="4572000" cy="3429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Zwischenüberschrift Unser Ansatz"/>
          <p:cNvSpPr txBox="1"/>
          <p:nvPr/>
        </p:nvSpPr>
        <p:spPr>
          <a:xfrm>
            <a:off x="7406640" y="19202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Unser Ansatz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2128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Künstliche Intelligenz übernimmt die Marktbeobachtung.</a:t>
            </a:r>
            <a:endParaRPr lang="en-US" sz="1500" dirty="0"/>
          </a:p>
        </p:txBody>
      </p:sp>
      <p:sp>
        <p:nvSpPr>
          <p:cNvPr id="16" name="Zeitstrahl"/>
          <p:cNvSpPr/>
          <p:nvPr/>
        </p:nvSpPr>
        <p:spPr>
          <a:xfrm>
            <a:off x="7470648" y="3154680"/>
            <a:ext cx="0" cy="128016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7" name="Punkt Erkennen"/>
          <p:cNvSpPr/>
          <p:nvPr/>
        </p:nvSpPr>
        <p:spPr>
          <a:xfrm>
            <a:off x="7406640" y="3090672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30358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Erkennen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Vergaben an Baufirmen und ARGEn finden</a:t>
            </a:r>
            <a:endParaRPr lang="en-US" sz="1050" dirty="0"/>
          </a:p>
        </p:txBody>
      </p:sp>
      <p:sp>
        <p:nvSpPr>
          <p:cNvPr id="19" name="Punkt Bewerten"/>
          <p:cNvSpPr/>
          <p:nvPr/>
        </p:nvSpPr>
        <p:spPr>
          <a:xfrm>
            <a:off x="7406640" y="3730752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26680" y="36758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Bewerten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Relevanz nach CT-Kriterien prüfen</a:t>
            </a:r>
            <a:endParaRPr lang="en-US" sz="1050" dirty="0"/>
          </a:p>
        </p:txBody>
      </p:sp>
      <p:sp>
        <p:nvSpPr>
          <p:cNvPr id="21" name="Punkt Übergeben"/>
          <p:cNvSpPr/>
          <p:nvPr/>
        </p:nvSpPr>
        <p:spPr>
          <a:xfrm>
            <a:off x="7406640" y="4370832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315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Übergeben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 mit Ansprechpartner an den Vertrieb</a:t>
            </a:r>
            <a:endParaRPr lang="en-US" sz="1050" dirty="0"/>
          </a:p>
        </p:txBody>
      </p:sp>
      <p:sp>
        <p:nvSpPr>
          <p:cNvPr id="23" name="Linie Fazit"/>
          <p:cNvSpPr/>
          <p:nvPr/>
        </p:nvSpPr>
        <p:spPr>
          <a:xfrm>
            <a:off x="548640" y="5440680"/>
            <a:ext cx="11109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55955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Die KI liefert die Projekte, 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der VMT-Vertrieb verkauft.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Das entscheidende Signal ist der Zuschlag,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idealerweise mit Ansprechpartner</a:t>
            </a:r>
            <a:endParaRPr lang="en-US" sz="2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AI Tender Radar  ·  Herausforderung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Projektphasen aus Sicht des VMT-Vertriebs</a:t>
            </a:r>
            <a:endParaRPr lang="en-US" sz="1000" dirty="0"/>
          </a:p>
        </p:txBody>
      </p:sp>
      <p:sp>
        <p:nvSpPr>
          <p:cNvPr id="5" name="Hervorhebung Vergabe"/>
          <p:cNvSpPr/>
          <p:nvPr/>
        </p:nvSpPr>
        <p:spPr>
          <a:xfrm>
            <a:off x="7214616" y="2057400"/>
            <a:ext cx="2221992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hasenlinie"/>
          <p:cNvSpPr/>
          <p:nvPr/>
        </p:nvSpPr>
        <p:spPr>
          <a:xfrm>
            <a:off x="548640" y="2423160"/>
            <a:ext cx="11109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7" name="Phase Planung"/>
          <p:cNvSpPr/>
          <p:nvPr/>
        </p:nvSpPr>
        <p:spPr>
          <a:xfrm>
            <a:off x="685800" y="2359152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517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Planung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632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Für den Vertrieb noch zu früh</a:t>
            </a:r>
            <a:endParaRPr lang="en-US" sz="950" dirty="0"/>
          </a:p>
        </p:txBody>
      </p:sp>
      <p:sp>
        <p:nvSpPr>
          <p:cNvPr id="10" name="Phase Genehmigung"/>
          <p:cNvSpPr/>
          <p:nvPr/>
        </p:nvSpPr>
        <p:spPr>
          <a:xfrm>
            <a:off x="2907792" y="2359152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07792" y="26517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Genehmigung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0632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Planer beeinflussbar, aber aufwendig</a:t>
            </a:r>
            <a:endParaRPr lang="en-US" sz="950" dirty="0"/>
          </a:p>
        </p:txBody>
      </p:sp>
      <p:sp>
        <p:nvSpPr>
          <p:cNvPr id="13" name="Phase Ausschreibung"/>
          <p:cNvSpPr/>
          <p:nvPr/>
        </p:nvSpPr>
        <p:spPr>
          <a:xfrm>
            <a:off x="5129784" y="2359152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9784" y="26517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Ausschreibung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9784" y="30632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Bietende Baufirmen noch unbekannt</a:t>
            </a:r>
            <a:endParaRPr lang="en-US" sz="950" dirty="0"/>
          </a:p>
        </p:txBody>
      </p:sp>
      <p:sp>
        <p:nvSpPr>
          <p:cNvPr id="16" name="Phase Vergabe an Baufirma oder ARGE"/>
          <p:cNvSpPr/>
          <p:nvPr/>
        </p:nvSpPr>
        <p:spPr>
          <a:xfrm>
            <a:off x="7351776" y="2331720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26517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Vergabe an Baufirma oder ARGE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30632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Wichtigste Information, idealerweise mit Kontakt</a:t>
            </a:r>
            <a:endParaRPr lang="en-US" sz="950" dirty="0"/>
          </a:p>
        </p:txBody>
      </p:sp>
      <p:sp>
        <p:nvSpPr>
          <p:cNvPr id="19" name="Phase Baubeginn"/>
          <p:cNvSpPr/>
          <p:nvPr/>
        </p:nvSpPr>
        <p:spPr>
          <a:xfrm>
            <a:off x="9573768" y="2359152"/>
            <a:ext cx="128016" cy="12801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73768" y="265176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Baubeginn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573768" y="30632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Bis hierhin bleibt Zeit für den Vertrieb</a:t>
            </a:r>
            <a:endParaRPr lang="en-US" sz="950" dirty="0"/>
          </a:p>
        </p:txBody>
      </p:sp>
      <p:sp>
        <p:nvSpPr>
          <p:cNvPr id="22" name="Linie Signale sind verstreut"/>
          <p:cNvSpPr/>
          <p:nvPr/>
        </p:nvSpPr>
        <p:spPr>
          <a:xfrm>
            <a:off x="548640" y="420624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3342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Signale sind verstreut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626864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Zuschläge erscheinen in LinkedIn-Beiträgen, Pressemitteilungen, Fachpresse und Vergabeportalen, mehrsprachig und uneinheitlich.</a:t>
            </a:r>
            <a:endParaRPr lang="en-US" sz="1050" dirty="0"/>
          </a:p>
        </p:txBody>
      </p:sp>
      <p:sp>
        <p:nvSpPr>
          <p:cNvPr id="25" name="Linie LinkedIn rechtssicher einbinden"/>
          <p:cNvSpPr/>
          <p:nvPr/>
        </p:nvSpPr>
        <p:spPr>
          <a:xfrm>
            <a:off x="4343400" y="420624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43400" y="43342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LinkedIn rechtssicher einbinden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43400" y="4626864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LinkedIn ist die wichtigste Quelle für Zuschläge. Eingebunden wird sie über einen Datenanbieter und die Funde des Vertriebs, nicht über Scraping.</a:t>
            </a:r>
            <a:endParaRPr lang="en-US" sz="1050" dirty="0"/>
          </a:p>
        </p:txBody>
      </p:sp>
      <p:sp>
        <p:nvSpPr>
          <p:cNvPr id="28" name="Linie Relevanz und Kontakt ergänzen"/>
          <p:cNvSpPr/>
          <p:nvPr/>
        </p:nvSpPr>
        <p:spPr>
          <a:xfrm>
            <a:off x="8138160" y="420624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38160" y="43342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Relevanz und Kontakt ergänzen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4626864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Relevant sind nur Teilschnitt- oder Sprengvortrieb ab 200 m. Die Projekt- oder Bauleitung steht selten in der Meldung.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Zielbild: Jede relevante Vergabe erreicht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den Vertrieb mit Ansprechpartner</a:t>
            </a:r>
            <a:endParaRPr lang="en-US" sz="2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AI Tender Radar  ·  Zielbild</a:t>
            </a:r>
            <a:endParaRPr lang="en-US" sz="800" dirty="0"/>
          </a:p>
        </p:txBody>
      </p:sp>
      <p:sp>
        <p:nvSpPr>
          <p:cNvPr id="4" name="Digest Rahmen"/>
          <p:cNvSpPr/>
          <p:nvPr/>
        </p:nvSpPr>
        <p:spPr>
          <a:xfrm>
            <a:off x="548640" y="1645920"/>
            <a:ext cx="6766560" cy="4160520"/>
          </a:xfrm>
          <a:prstGeom prst="rect">
            <a:avLst/>
          </a:prstGeom>
          <a:solidFill>
            <a:schemeClr val="bg1"/>
          </a:solidFill>
          <a:ln w="12700">
            <a:solidFill>
              <a:srgbClr val="D9DDE4"/>
            </a:solidFill>
            <a:prstDash val="solid"/>
          </a:ln>
        </p:spPr>
      </p:sp>
      <p:sp>
        <p:nvSpPr>
          <p:cNvPr id="5" name="Digest Kopf"/>
          <p:cNvSpPr/>
          <p:nvPr/>
        </p:nvSpPr>
        <p:spPr>
          <a:xfrm>
            <a:off x="548640" y="1645920"/>
            <a:ext cx="6766560" cy="411480"/>
          </a:xfrm>
          <a:prstGeom prst="rect">
            <a:avLst/>
          </a:prstGeom>
          <a:solidFill>
            <a:schemeClr val="bg2"/>
          </a:solidFill>
          <a:ln w="12700">
            <a:solidFill>
              <a:srgbClr val="D9DD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Tender Radar</a:t>
            </a:r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   Tagesdigest vom 21.10.2026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645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3 neue Treffer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402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Tunnel Kauerndorf, B 289 Oberfranken</a:t>
            </a:r>
            <a:endParaRPr lang="en-US" sz="1400" dirty="0"/>
          </a:p>
        </p:txBody>
      </p:sp>
      <p:sp>
        <p:nvSpPr>
          <p:cNvPr id="9" name="Score"/>
          <p:cNvSpPr/>
          <p:nvPr/>
        </p:nvSpPr>
        <p:spPr>
          <a:xfrm>
            <a:off x="6263640" y="2258568"/>
            <a:ext cx="82296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2585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Score 10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4203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Vergabe erfolgt  ·  Deutschland  ·  Quelle: Pressemitteilung StBA Bayreuth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718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Gewinner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ARGE Feldhaus Bergbau / Eiffage Infra-Süd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29718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Bauherr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31546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Staatliches Bauamt Bayreuth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5387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Technik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721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ca. 750 m, davon 626 m bergmännisch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35387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Timing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3721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Zuschlag 19.08.2026, Tunnelanschlag Q1 2027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0565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Ansprechpartner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2885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Projektleitung der ARGE (Anreicherung)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410565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Ansatzpunkt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42885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Vermessung und Profilkontrolle vor dem Anschlag</a:t>
            </a:r>
            <a:endParaRPr lang="en-US" sz="1000" dirty="0"/>
          </a:p>
        </p:txBody>
      </p:sp>
      <p:sp>
        <p:nvSpPr>
          <p:cNvPr id="24" name="Digest Trenner"/>
          <p:cNvSpPr/>
          <p:nvPr/>
        </p:nvSpPr>
        <p:spPr>
          <a:xfrm>
            <a:off x="777240" y="4754880"/>
            <a:ext cx="6309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Weiterer Treffer 1"/>
          <p:cNvSpPr/>
          <p:nvPr/>
        </p:nvSpPr>
        <p:spPr>
          <a:xfrm>
            <a:off x="777240" y="4956048"/>
            <a:ext cx="3108960" cy="1188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Weiterer Treffer Text 1"/>
          <p:cNvSpPr/>
          <p:nvPr/>
        </p:nvSpPr>
        <p:spPr>
          <a:xfrm>
            <a:off x="777240" y="5129784"/>
            <a:ext cx="4754880" cy="7315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Weiterer Treffer 2"/>
          <p:cNvSpPr/>
          <p:nvPr/>
        </p:nvSpPr>
        <p:spPr>
          <a:xfrm>
            <a:off x="777240" y="5321808"/>
            <a:ext cx="2377440" cy="1188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Weiterer Treffer Text 2"/>
          <p:cNvSpPr/>
          <p:nvPr/>
        </p:nvSpPr>
        <p:spPr>
          <a:xfrm>
            <a:off x="777240" y="5495544"/>
            <a:ext cx="3657600" cy="7315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Zwischenüberschrift Inhalt jedes Treffers"/>
          <p:cNvSpPr txBox="1"/>
          <p:nvPr/>
        </p:nvSpPr>
        <p:spPr>
          <a:xfrm>
            <a:off x="7772400" y="16459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Inhalt jedes Treffers</a:t>
            </a:r>
            <a:endParaRPr lang="en-US" sz="1100" dirty="0"/>
          </a:p>
        </p:txBody>
      </p:sp>
      <p:sp>
        <p:nvSpPr>
          <p:cNvPr id="30" name="Linie Inhalt 1"/>
          <p:cNvSpPr/>
          <p:nvPr/>
        </p:nvSpPr>
        <p:spPr>
          <a:xfrm>
            <a:off x="7772400" y="2011680"/>
            <a:ext cx="3886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0" y="20848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Projekt und Bauherr</a:t>
            </a:r>
            <a:endParaRPr lang="en-US" sz="1050" dirty="0"/>
          </a:p>
        </p:txBody>
      </p:sp>
      <p:sp>
        <p:nvSpPr>
          <p:cNvPr id="32" name="Linie Inhalt 2"/>
          <p:cNvSpPr/>
          <p:nvPr/>
        </p:nvSpPr>
        <p:spPr>
          <a:xfrm>
            <a:off x="7772400" y="2395728"/>
            <a:ext cx="3886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2468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Gewinner bzw. ARGE</a:t>
            </a:r>
            <a:endParaRPr lang="en-US" sz="1050" dirty="0"/>
          </a:p>
        </p:txBody>
      </p:sp>
      <p:sp>
        <p:nvSpPr>
          <p:cNvPr id="34" name="Linie Inhalt 3"/>
          <p:cNvSpPr/>
          <p:nvPr/>
        </p:nvSpPr>
        <p:spPr>
          <a:xfrm>
            <a:off x="7772400" y="2779776"/>
            <a:ext cx="3886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0" y="285292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Technik: Länge, Durchmesser, Vortriebsart</a:t>
            </a:r>
            <a:endParaRPr lang="en-US" sz="1050" dirty="0"/>
          </a:p>
        </p:txBody>
      </p:sp>
      <p:sp>
        <p:nvSpPr>
          <p:cNvPr id="36" name="Linie Inhalt 4"/>
          <p:cNvSpPr/>
          <p:nvPr/>
        </p:nvSpPr>
        <p:spPr>
          <a:xfrm>
            <a:off x="7772400" y="3163824"/>
            <a:ext cx="3886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0" y="3236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Ansprechpartner der Projekt- oder Bauleitung</a:t>
            </a:r>
            <a:endParaRPr lang="en-US" sz="1050" dirty="0"/>
          </a:p>
        </p:txBody>
      </p:sp>
      <p:sp>
        <p:nvSpPr>
          <p:cNvPr id="38" name="Linie Inhalt 5"/>
          <p:cNvSpPr/>
          <p:nvPr/>
        </p:nvSpPr>
        <p:spPr>
          <a:xfrm>
            <a:off x="7772400" y="3547872"/>
            <a:ext cx="3886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0" y="362102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Quelle und Score</a:t>
            </a:r>
            <a:endParaRPr lang="en-US" sz="1050" dirty="0"/>
          </a:p>
        </p:txBody>
      </p:sp>
      <p:sp>
        <p:nvSpPr>
          <p:cNvPr id="40" name="Zwischenüberschrift Weg in den Vertrieb"/>
          <p:cNvSpPr txBox="1"/>
          <p:nvPr/>
        </p:nvSpPr>
        <p:spPr>
          <a:xfrm>
            <a:off x="77724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Weg in den Vertrieb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0" y="446227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Täglich per E-Mail oder Excel an den CT Product Champion, der an die regionalen Vertriebler verteilt. Keine automatisierte Kontaktaufnahme.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Lösungsansatz: drei Quellen, eine KI-Pipeline, ein täglicher Digest</a:t>
            </a:r>
            <a:endParaRPr lang="en-US" sz="2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AI Tender Radar  ·  Lösungsansatz</a:t>
            </a:r>
            <a:endParaRPr lang="en-US" sz="800" dirty="0"/>
          </a:p>
        </p:txBody>
      </p:sp>
      <p:sp>
        <p:nvSpPr>
          <p:cNvPr id="4" name="Zwischenüberschrift Quellen"/>
          <p:cNvSpPr txBox="1"/>
          <p:nvPr/>
        </p:nvSpPr>
        <p:spPr>
          <a:xfrm>
            <a:off x="548640" y="1600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5" name="Linie Quelle 1"/>
          <p:cNvSpPr/>
          <p:nvPr/>
        </p:nvSpPr>
        <p:spPr>
          <a:xfrm>
            <a:off x="548640" y="1920240"/>
            <a:ext cx="3200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9339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Deep Research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Newsrooms, Fachpresse, Vergabeportale</a:t>
            </a:r>
            <a:endParaRPr lang="en-US" sz="1100" dirty="0"/>
          </a:p>
        </p:txBody>
      </p:sp>
      <p:sp>
        <p:nvSpPr>
          <p:cNvPr id="7" name="Pfeil Quelle 1"/>
          <p:cNvSpPr/>
          <p:nvPr/>
        </p:nvSpPr>
        <p:spPr>
          <a:xfrm>
            <a:off x="3794760" y="2212848"/>
            <a:ext cx="411480" cy="64008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Linie Quelle 2"/>
          <p:cNvSpPr/>
          <p:nvPr/>
        </p:nvSpPr>
        <p:spPr>
          <a:xfrm>
            <a:off x="548640" y="2542032"/>
            <a:ext cx="3200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518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LinkedIn-Datenanbieter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Keyword-Suche in öffentlichen Beiträgen</a:t>
            </a:r>
            <a:endParaRPr lang="en-US" sz="1100" dirty="0"/>
          </a:p>
        </p:txBody>
      </p:sp>
      <p:sp>
        <p:nvSpPr>
          <p:cNvPr id="10" name="Pfeil Quelle 2"/>
          <p:cNvSpPr/>
          <p:nvPr/>
        </p:nvSpPr>
        <p:spPr>
          <a:xfrm>
            <a:off x="3794760" y="2834640"/>
            <a:ext cx="411480" cy="1828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Linie Quelle 3"/>
          <p:cNvSpPr/>
          <p:nvPr/>
        </p:nvSpPr>
        <p:spPr>
          <a:xfrm>
            <a:off x="548640" y="3163824"/>
            <a:ext cx="3200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3697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Funde des Vertriebs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Weiterleitung per Teilen-Funktion</a:t>
            </a:r>
            <a:endParaRPr lang="en-US" sz="1100" dirty="0"/>
          </a:p>
        </p:txBody>
      </p:sp>
      <p:sp>
        <p:nvSpPr>
          <p:cNvPr id="13" name="Pfeil Quelle 3"/>
          <p:cNvSpPr/>
          <p:nvPr/>
        </p:nvSpPr>
        <p:spPr>
          <a:xfrm flipV="1">
            <a:off x="3794760" y="2852928"/>
            <a:ext cx="411480" cy="60350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Pipeline Fläche"/>
          <p:cNvSpPr/>
          <p:nvPr/>
        </p:nvSpPr>
        <p:spPr>
          <a:xfrm>
            <a:off x="4251960" y="1600200"/>
            <a:ext cx="3931920" cy="25146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1755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KI-Pipeline</a:t>
            </a:r>
            <a:endParaRPr lang="en-US" sz="1200" dirty="0"/>
          </a:p>
        </p:txBody>
      </p:sp>
      <p:sp>
        <p:nvSpPr>
          <p:cNvPr id="16" name="Linie Schritt 1"/>
          <p:cNvSpPr/>
          <p:nvPr/>
        </p:nvSpPr>
        <p:spPr>
          <a:xfrm>
            <a:off x="4526280" y="2130552"/>
            <a:ext cx="33832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2176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Erkennen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176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Vergabe-Signale finden</a:t>
            </a:r>
            <a:endParaRPr lang="en-US" sz="950" dirty="0"/>
          </a:p>
        </p:txBody>
      </p:sp>
      <p:sp>
        <p:nvSpPr>
          <p:cNvPr id="19" name="Linie Schritt 2"/>
          <p:cNvSpPr/>
          <p:nvPr/>
        </p:nvSpPr>
        <p:spPr>
          <a:xfrm>
            <a:off x="4526280" y="2496312"/>
            <a:ext cx="33832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542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Zusammenführen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542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Duplikate bündeln</a:t>
            </a:r>
            <a:endParaRPr lang="en-US" sz="950" dirty="0"/>
          </a:p>
        </p:txBody>
      </p:sp>
      <p:sp>
        <p:nvSpPr>
          <p:cNvPr id="22" name="Linie Schritt 3"/>
          <p:cNvSpPr/>
          <p:nvPr/>
        </p:nvSpPr>
        <p:spPr>
          <a:xfrm>
            <a:off x="4526280" y="2862072"/>
            <a:ext cx="33832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29077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Filtern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907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CT-Kriterien anwenden</a:t>
            </a:r>
            <a:endParaRPr lang="en-US" sz="950" dirty="0"/>
          </a:p>
        </p:txBody>
      </p:sp>
      <p:sp>
        <p:nvSpPr>
          <p:cNvPr id="25" name="Linie Schritt 4"/>
          <p:cNvSpPr/>
          <p:nvPr/>
        </p:nvSpPr>
        <p:spPr>
          <a:xfrm>
            <a:off x="4526280" y="3227832"/>
            <a:ext cx="33832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3273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Anreichern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Technik, ARGE, Kontakte</a:t>
            </a:r>
            <a:endParaRPr lang="en-US" sz="950" dirty="0"/>
          </a:p>
        </p:txBody>
      </p:sp>
      <p:sp>
        <p:nvSpPr>
          <p:cNvPr id="28" name="Linie Schritt 5"/>
          <p:cNvSpPr/>
          <p:nvPr/>
        </p:nvSpPr>
        <p:spPr>
          <a:xfrm>
            <a:off x="4526280" y="3593592"/>
            <a:ext cx="33832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6393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Bewerten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Score je Treffer</a:t>
            </a:r>
            <a:endParaRPr lang="en-US" sz="950" dirty="0"/>
          </a:p>
        </p:txBody>
      </p:sp>
      <p:sp>
        <p:nvSpPr>
          <p:cNvPr id="31" name="Pfeil Digest"/>
          <p:cNvSpPr/>
          <p:nvPr/>
        </p:nvSpPr>
        <p:spPr>
          <a:xfrm>
            <a:off x="8229600" y="2240280"/>
            <a:ext cx="411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2" name="Zwischenüberschrift Ausgabe"/>
          <p:cNvSpPr txBox="1"/>
          <p:nvPr/>
        </p:nvSpPr>
        <p:spPr>
          <a:xfrm>
            <a:off x="8732520" y="16002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Ausgabe</a:t>
            </a:r>
            <a:endParaRPr lang="en-US" sz="1100" dirty="0"/>
          </a:p>
        </p:txBody>
      </p:sp>
      <p:sp>
        <p:nvSpPr>
          <p:cNvPr id="33" name="Linie Ausgabe"/>
          <p:cNvSpPr/>
          <p:nvPr/>
        </p:nvSpPr>
        <p:spPr>
          <a:xfrm>
            <a:off x="8732520" y="1920240"/>
            <a:ext cx="29260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2520" y="199339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Täglicher Digest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An den CT Product Champion. Sein Feedback je Treffer schärft Filter und Score.</a:t>
            </a:r>
            <a:endParaRPr lang="en-US" sz="1100" dirty="0"/>
          </a:p>
        </p:txBody>
      </p:sp>
      <p:sp>
        <p:nvSpPr>
          <p:cNvPr id="35" name="Linie Relevanzfilter"/>
          <p:cNvSpPr/>
          <p:nvPr/>
        </p:nvSpPr>
        <p:spPr>
          <a:xfrm>
            <a:off x="548640" y="448056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085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Relevanzfilter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901184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Neubau oder Sanierung, Teilschnitt oder Drill &amp; Blast, Länge über 200 m, Durchmesser über ca. 2–3 m. Anfangs weit gefasst, dann geschärft.</a:t>
            </a:r>
            <a:endParaRPr lang="en-US" sz="1050" dirty="0"/>
          </a:p>
        </p:txBody>
      </p:sp>
      <p:sp>
        <p:nvSpPr>
          <p:cNvPr id="38" name="Linie Pilot"/>
          <p:cNvSpPr/>
          <p:nvPr/>
        </p:nvSpPr>
        <p:spPr>
          <a:xfrm>
            <a:off x="4343400" y="448056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43400" y="46085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Pilot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343400" y="4901184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Start mit Deep Research und einem Datenanbieter. Nach 2–4 Wochen Abgleich mit bekannten Projekten, danach Ausbau um Kontakte und Regionen.</a:t>
            </a:r>
            <a:endParaRPr lang="en-US" sz="1050" dirty="0"/>
          </a:p>
        </p:txBody>
      </p:sp>
      <p:sp>
        <p:nvSpPr>
          <p:cNvPr id="41" name="Linie Offene Entscheidungen"/>
          <p:cNvSpPr/>
          <p:nvPr/>
        </p:nvSpPr>
        <p:spPr>
          <a:xfrm>
            <a:off x="8138160" y="4480560"/>
            <a:ext cx="35204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46085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Offene Entscheidungen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138160" y="4901184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Betrieb als Service oder intern bei VMT, eigenes Sprachmodell oder Anbindung per API, Freigabe der Datenherkunft durch die VMT-IT.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52160"/>
            <a:ext cx="11109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Scope Proof of Concept: Conventional Tunneling in DACH bzw. Mitteleuropa inkl. Frankreich und UK. Erst Informationsqualität, dann Oberfläche und CRM.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Der Radar trägt sich ab 8 bis 12 zusätzlich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identifizierten Projekten pro Jahr</a:t>
            </a:r>
            <a:endParaRPr lang="en-US" sz="2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AI Tender Radar  ·  Commercial</a:t>
            </a:r>
            <a:endParaRPr lang="en-US" sz="800" dirty="0"/>
          </a:p>
        </p:txBody>
      </p:sp>
      <p:sp>
        <p:nvSpPr>
          <p:cNvPr id="4" name="Zwischenüberschrift Zielgröße: Akquisitionskosten je zusätzlichem Projekt"/>
          <p:cNvSpPr txBox="1"/>
          <p:nvPr/>
        </p:nvSpPr>
        <p:spPr>
          <a:xfrm>
            <a:off x="548640" y="16002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Zielgröße: Akquisitionskosten je zusätzlichem Projekt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250 T€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8716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Ø Projektvolumen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4"/>
                </a:solidFill>
              </a:rPr>
              <a:t>×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920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1 %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4871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CAC-Satz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4"/>
                </a:solidFill>
              </a:rPr>
              <a:t>=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2.500 €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4871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max. CAC je Projekt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8803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Gemessen wird an zusätzlich identifizierten relevanten Projekten, da der Abschluss beim VMT-Vertrieb liegt. Bewertung nach 6–12 Monaten.</a:t>
            </a:r>
            <a:endParaRPr lang="en-US" sz="1050" dirty="0"/>
          </a:p>
        </p:txBody>
      </p:sp>
      <p:sp>
        <p:nvSpPr>
          <p:cNvPr id="14" name="Linie Markt"/>
          <p:cNvSpPr/>
          <p:nvPr/>
        </p:nvSpPr>
        <p:spPr>
          <a:xfrm>
            <a:off x="548640" y="3611880"/>
            <a:ext cx="56692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Zwischenüberschrift Markt: neue relevante CT-Vergaben pro Jahr"/>
          <p:cNvSpPr txBox="1"/>
          <p:nvPr/>
        </p:nvSpPr>
        <p:spPr>
          <a:xfrm>
            <a:off x="548640" y="374904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Markt: neue relevante CT-Vergaben pro Jahr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17–32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4114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Zentraleuropa (DACH, Frankreich, UK), eigene Schätzung. VMT schätzt allein für DACH 20–30.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92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Deutschland 6–11 · Österreich 3–5 · Schweiz 3–6 · Frankreich 3–6 · UK 2–4</a:t>
            </a:r>
            <a:endParaRPr lang="en-US" sz="950" dirty="0"/>
          </a:p>
        </p:txBody>
      </p:sp>
      <p:sp>
        <p:nvSpPr>
          <p:cNvPr id="19" name="Zwischenüberschrift Payback in Monaten"/>
          <p:cNvSpPr txBox="1"/>
          <p:nvPr/>
        </p:nvSpPr>
        <p:spPr>
          <a:xfrm>
            <a:off x="6949440" y="16002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Payback in Monaten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920240"/>
          <a:ext cx="47091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280160"/>
                <a:gridCol w="1280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Zusätzliche Projekte p. a.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20 T€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30 T€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 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949440" y="434340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chemeClr val="tx1"/>
                </a:solidFill>
              </a:rPr>
              <a:t>Break-even bei 8 Projekten (20 T€) bzw. 12 Projekten (30 T€).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3"/>
                </a:solidFill>
              </a:rPr>
              <a:t>Payback = Monate, bis zusätzliche Projekte × 2.500 € die Kosten decken. Kostenszenarien illustrativ.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 Partner">
  <a:themeElements>
    <a:clrScheme name="SH Partner">
      <a:dk1>
        <a:srgbClr val="141B2E"/>
      </a:dk1>
      <a:lt1>
        <a:srgbClr val="FFFFFF"/>
      </a:lt1>
      <a:dk2>
        <a:srgbClr val="4A5A78"/>
      </a:dk2>
      <a:lt2>
        <a:srgbClr val="F2F3F5"/>
      </a:lt2>
      <a:accent1>
        <a:srgbClr val="1F6F7A"/>
      </a:accent1>
      <a:accent2>
        <a:srgbClr val="9C6F3F"/>
      </a:accent2>
      <a:accent3>
        <a:srgbClr val="5C6679"/>
      </a:accent3>
      <a:accent4>
        <a:srgbClr val="959DAC"/>
      </a:accent4>
      <a:accent5>
        <a:srgbClr val="D9DDE4"/>
      </a:accent5>
      <a:accent6>
        <a:srgbClr val="FBC000"/>
      </a:accent6>
      <a:hlink>
        <a:srgbClr val="1F6F7A"/>
      </a:hlink>
      <a:folHlink>
        <a:srgbClr val="4A5A78"/>
      </a:folHlink>
    </a:clrScheme>
    <a:fontScheme name="SH Part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KI-gestützter Vertrieb im Conventional Tunneling</dc:title>
  <dc:subject>PptxGenJS Presentation</dc:subject>
  <dc:creator>SH&amp;Partner</dc:creator>
  <cp:lastModifiedBy>SH&amp;Partner</cp:lastModifiedBy>
  <cp:revision>1</cp:revision>
  <dcterms:created xsi:type="dcterms:W3CDTF">2026-10-19T07:49:18Z</dcterms:created>
  <dcterms:modified xsi:type="dcterms:W3CDTF">2026-10-19T07:49:18Z</dcterms:modified>
</cp:coreProperties>
</file>