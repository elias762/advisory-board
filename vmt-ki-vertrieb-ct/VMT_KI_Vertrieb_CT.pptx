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el" id="{89826932-2fcf-fedd-b2f4-f3bd4d9ffb16}">
          <p14:sldIdLst>
            <p14:sldId id="256"/>
          </p14:sldIdLst>
        </p14:section>
        <p14:section name="Projektverständnis" id="{580f634a-f317-09af-6f9d-e925a07c82ce}">
          <p14:sldIdLst>
            <p14:sldId id="257"/>
          </p14:sldIdLst>
        </p14:section>
        <p14:section name="Herausforderung" id="{aa213965-4f84-8ffa-4759-e3d13a71e44f}">
          <p14:sldIdLst>
            <p14:sldId id="258"/>
          </p14:sldIdLst>
        </p14:section>
        <p14:section name="Zielbild" id="{7a5cf4dc-b0cf-0769-3d19-1fb39904dc78}">
          <p14:sldIdLst>
            <p14:sldId id="259"/>
          </p14:sldIdLst>
        </p14:section>
        <p14:section name="Lösungsansatz" id="{7206ab94-aaf9-da06-bf55-326cd73989de}">
          <p14:sldIdLst>
            <p14:sldId id="260"/>
            <p14:sldId id="261"/>
          </p14:sldIdLst>
        </p14:section>
        <p14:section name="Commercial" id="{6a7859f7-07ee-e262-2531-097ffb59039e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Quellen: Workshop VMT am 06.10.2026 (Vertrieb, IT, kaufmännische Leitung) und Besprechungszusammenfassung vom 07.10.2026.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LinkedIn: Die offiziellen Schnittstellen decken nur eigene bzw. freigegebene Seiten ab; die LinkedIn-Nutzungsbedingungen (Abschnitt 8.2) untersagen automatisierte Datensammlung.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Beispiel-Treffer: Staatliches Bauamt Bayreuth, Pressemitteilung 57/2026 vom 19.08.2026 (https://www.stbabt.bayern.de/service/medien/pressemitteilungen/2026/57/index.html); bergmännische Länge und Rettungsstollen laut Eiffage-Projektseite (https://eiffage-infra.de/aktuelles/detail/kauerndorf-die-heimliche-hauptstadt-des-tunnelbaus-1401/).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LinkedIn kommt auf zwei Wegen in den Radar: automatisch über einen Datenanbieter (z. B. Octolens ab 159 $/Monat, Coresignal) und manuell über die Teilen-Funktion. Scraping ist wegen der LinkedIn-Nutzungsbedingungen keine produktive Grundlage. Optional ergänzbar: TED-Zuschlagsbekanntmachungen über die offene TED-API.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Messgrößen im Pilot: Trefferquote, Präzision, Verzögerung gegenüber der Erstmeldung, Anteil bereits bekannter Projekte, Kosten je Treffer. Der Pilot mit einem Datenanbieter startet nur mit ausdrücklicher Zustimmung von VMT.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Zielgröße laut kaufmännischer Leitung VMT (Workshop 06.10.2026): CAC je Lead ca. 1 % des durchschnittlichen Deal-Volumens von 200–250 T€, also unter ca. 2.500 €, nach 6–12 Monaten. Funnel-Einordnung: 6–10 Leads mit 2 Abschlüssen wurden als gute Quote genannt.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Marktzahlen: eigene Schätzung auf Basis öffentlicher Quellen, vor externer Verwendung an den Originalen prüfen.
DE: STUVA, Tunnelbau in Deutschland – Statistik 2024/2025 (40 Projekte / ca. 83 km im Bau, 156 Projekte / 659 km in Planung): https://www.tunnel-online.info/en/artikel/tunnelling-in-germany-statistics-20242025-analysis-and-outlook-4356136.html ; Statistik 2022/23: https://www.stuva.de/fileadmin/user_upload/downloads/stat/2024-02-07_Tunnelbau_in_Deutschland_2022-2023.pdf
AT: u. a. Brennerbasistunnel-Lose, ASFINAG-Sanierungen S6 Semmering (2025–29), Landeck (2025–30), Karawanken, Tauern/Katschberg: https://www.tunnel-online.info/en/artikel/overhaul-of-the-semmering-tunnel-chain-for-270-million-euros-4288827.html
CH: u. a. 2. Gotthardröhre (ca. 500 m Sprengvortrieb), Gubrist, Belchen, SBB Hauenstein: https://www.astra.admin.ch/fr/percement-du-2d-tube-au-gothard-depuis-le-sud-la-methode-conventionnelle-preferee-au-tunnelier-sur-un-troncon-de-500-metres
FR: Lyon–Turin (Sprengvortriebslose), CETU-Observatorium: https://www.cetu.developpement-durable.gouv.fr/IMG/pdf/observatoire_lettre_info_v6.pdf
UK: HS2 SCL-Arbeiten (Northolt, Chilterns, Euston): https://tunnellingjournal.com/hs2s-northolt-tunnel-cross-passages-complete/
Payback: Kosten ÷ (zusätzlich identifizierte Projekte p. a. × 2.500 €) × 12. Kostenszenarien illustrativ; 20–30 T€ als Größenordnung aus dem Workshop vom 06.10.2026.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dvisory-board/vmt-ki-vertrieb-ct/assets/wave_dark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70" y="0"/>
            <a:ext cx="5576926" cy="5093025"/>
          </a:xfrm>
          <a:prstGeom prst="rect">
            <a:avLst/>
          </a:prstGeom>
        </p:spPr>
      </p:pic>
      <p:pic>
        <p:nvPicPr>
          <p:cNvPr id="3" name="Image 1" descr="SH&amp;Partner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1737360" cy="32369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777240" y="2240280"/>
            <a:ext cx="91440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5" name="Shape 0"/>
          <p:cNvSpPr/>
          <p:nvPr/>
        </p:nvSpPr>
        <p:spPr>
          <a:xfrm>
            <a:off x="777240" y="3520440"/>
            <a:ext cx="6172200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77240" y="3639312"/>
            <a:ext cx="8778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777240" y="6181344"/>
            <a:ext cx="548640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5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9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dvisory-board/vmt-ki-vertrieb-ct/assets/wave_light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0"/>
            <a:ext cx="4602175" cy="2560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"/>
            <a:ext cx="822960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85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85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621792"/>
            <a:ext cx="10058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pic>
        <p:nvPicPr>
          <p:cNvPr id="5" name="Image 1" descr="SH&amp;Partner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960120" cy="179222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6916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KI-gestützter Vertrieb im Conventional Tunneling  ·  AI Tender Radar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2764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2764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VMT" descr="VM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0" y="649224"/>
            <a:ext cx="1783080" cy="39593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77240" y="224028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KI-gestützter Vertrieb im Conventional Tunneling</a:t>
            </a:r>
            <a:endParaRPr lang="en-US" sz="30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777240" y="3639312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AI Tender Radar: Zielbild, Lösungsansatz und Wirtschaftlichkeit</a:t>
            </a:r>
            <a:endParaRPr lang="en-US" sz="24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777240" y="618134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21.10.2026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8404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chemeClr val="accent1"/>
                </a:solidFill>
              </a:rPr>
              <a:t>AUSGANGSLAGE</a:t>
            </a:r>
            <a:endParaRPr lang="en-US" sz="85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Unser Verständnis</a:t>
            </a:r>
            <a:endParaRPr lang="en-US" sz="2200" dirty="0"/>
          </a:p>
        </p:txBody>
      </p:sp>
      <p:sp>
        <p:nvSpPr>
          <p:cNvPr id="4" name="Label Ausgangslage im CT-Bereich"/>
          <p:cNvSpPr txBox="1"/>
          <p:nvPr/>
        </p:nvSpPr>
        <p:spPr>
          <a:xfrm>
            <a:off x="548640" y="1463040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4"/>
                </a:solidFill>
              </a:rPr>
              <a:t>AUSGANGSLAGE IM CT-BEREICH</a:t>
            </a:r>
            <a:endParaRPr lang="en-US" sz="750" dirty="0"/>
          </a:p>
        </p:txBody>
      </p:sp>
      <p:sp>
        <p:nvSpPr>
          <p:cNvPr id="5" name="Nummer 1"/>
          <p:cNvSpPr/>
          <p:nvPr/>
        </p:nvSpPr>
        <p:spPr>
          <a:xfrm>
            <a:off x="548640" y="1810512"/>
            <a:ext cx="329184" cy="32918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7830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CT rückt in den Fokus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205740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Nach diversen Produktentwicklungen steht der Conventional-Tunneling-Bereich stärker im Fokus. Der konventionelle Vortrieb ist kaum automatisiert und bietet viel Potenzial.</a:t>
            </a:r>
            <a:endParaRPr lang="en-US" sz="1050" dirty="0"/>
          </a:p>
        </p:txBody>
      </p:sp>
      <p:sp>
        <p:nvSpPr>
          <p:cNvPr id="9" name="Nummer 2"/>
          <p:cNvSpPr/>
          <p:nvPr/>
        </p:nvSpPr>
        <p:spPr>
          <a:xfrm>
            <a:off x="548640" y="2798064"/>
            <a:ext cx="329184" cy="32918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98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770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Projekte gehen am Vertrieb vorbei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3044952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Für CT gibt es weder Prozess noch CRM. Relevante Projekte werden zu spät, zufällig oder gar nicht entdeckt.</a:t>
            </a:r>
            <a:endParaRPr lang="en-US" sz="1050" dirty="0"/>
          </a:p>
        </p:txBody>
      </p:sp>
      <p:sp>
        <p:nvSpPr>
          <p:cNvPr id="13" name="Nummer 3"/>
          <p:cNvSpPr/>
          <p:nvPr/>
        </p:nvSpPr>
        <p:spPr>
          <a:xfrm>
            <a:off x="548640" y="3785616"/>
            <a:ext cx="329184" cy="32918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856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375818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Überblick und Kontakte aufbauen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4032504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Zunächst soll ein Marktüberblick entstehen, Kontakte zu ausführenden Baufirmen und ARGEn aufgebaut und der Vertrieb gestärkt werden.</a:t>
            </a:r>
            <a:endParaRPr lang="en-US" sz="1050" dirty="0"/>
          </a:p>
        </p:txBody>
      </p:sp>
      <p:sp>
        <p:nvSpPr>
          <p:cNvPr id="17" name="Ansatz Fläche"/>
          <p:cNvSpPr/>
          <p:nvPr/>
        </p:nvSpPr>
        <p:spPr>
          <a:xfrm>
            <a:off x="6172200" y="1463040"/>
            <a:ext cx="548640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8" name="Label Unser Ansatz"/>
          <p:cNvSpPr txBox="1"/>
          <p:nvPr/>
        </p:nvSpPr>
        <p:spPr>
          <a:xfrm>
            <a:off x="6400800" y="164592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1"/>
                </a:solidFill>
              </a:rPr>
              <a:t>UNSER ANSATZ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1874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Diesen Prozess lösen wir hervorragend mit künstlicher Intelligenz</a:t>
            </a:r>
            <a:endParaRPr lang="en-US" sz="1200" dirty="0"/>
          </a:p>
        </p:txBody>
      </p:sp>
      <p:sp>
        <p:nvSpPr>
          <p:cNvPr id="20" name="Schritt Erkennen"/>
          <p:cNvSpPr/>
          <p:nvPr/>
        </p:nvSpPr>
        <p:spPr>
          <a:xfrm>
            <a:off x="6400800" y="2487168"/>
            <a:ext cx="1600200" cy="54864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0" y="248716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Erkennen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183880" y="248716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Vergaben an Baufirmen und ARGEn automatisch finden</a:t>
            </a:r>
            <a:endParaRPr lang="en-US" sz="1050" dirty="0"/>
          </a:p>
        </p:txBody>
      </p:sp>
      <p:sp>
        <p:nvSpPr>
          <p:cNvPr id="23" name="Pfeil 1"/>
          <p:cNvSpPr/>
          <p:nvPr/>
        </p:nvSpPr>
        <p:spPr>
          <a:xfrm>
            <a:off x="7123176" y="3063240"/>
            <a:ext cx="155448" cy="128016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Schritt Bewerten"/>
          <p:cNvSpPr/>
          <p:nvPr/>
        </p:nvSpPr>
        <p:spPr>
          <a:xfrm>
            <a:off x="6400800" y="3218688"/>
            <a:ext cx="160020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0" y="321868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Bewerten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183880" y="32186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Relevanz nach CT-Kriterien prüfen und priorisieren</a:t>
            </a:r>
            <a:endParaRPr lang="en-US" sz="1050" dirty="0"/>
          </a:p>
        </p:txBody>
      </p:sp>
      <p:sp>
        <p:nvSpPr>
          <p:cNvPr id="27" name="Pfeil 2"/>
          <p:cNvSpPr/>
          <p:nvPr/>
        </p:nvSpPr>
        <p:spPr>
          <a:xfrm>
            <a:off x="7123176" y="3794760"/>
            <a:ext cx="155448" cy="128016"/>
          </a:xfrm>
          <a:prstGeom prst="down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8" name="Schritt Übergeben"/>
          <p:cNvSpPr/>
          <p:nvPr/>
        </p:nvSpPr>
        <p:spPr>
          <a:xfrm>
            <a:off x="6400800" y="3950208"/>
            <a:ext cx="1600200" cy="54864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0" y="395020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Übergeben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183880" y="395020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Treffer mit Ansprechpartner an den Vertrieb liefern</a:t>
            </a:r>
            <a:endParaRPr lang="en-US" sz="1050" dirty="0"/>
          </a:p>
        </p:txBody>
      </p:sp>
      <p:sp>
        <p:nvSpPr>
          <p:cNvPr id="31" name="Rollen Fläche"/>
          <p:cNvSpPr/>
          <p:nvPr/>
        </p:nvSpPr>
        <p:spPr>
          <a:xfrm>
            <a:off x="548640" y="5120640"/>
            <a:ext cx="11109960" cy="502920"/>
          </a:xfrm>
          <a:prstGeom prst="roundRect">
            <a:avLst>
              <a:gd name="adj" fmla="val 1090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512064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Rollenverteilung:  </a:t>
            </a:r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Die KI liefert die Projekte, der VMT-Vertrieb verkauft. Eine automatisierte Kontaktaufnahme ist nicht vorgesehen.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2764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8404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chemeClr val="accent1"/>
                </a:solidFill>
              </a:rPr>
              <a:t>HERAUSFORDERUNG</a:t>
            </a:r>
            <a:endParaRPr lang="en-US" sz="85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Den Zuschlag früh genug erfahren, inklusive Ansprechpartner</a:t>
            </a:r>
            <a:endParaRPr lang="en-US" sz="2200" dirty="0"/>
          </a:p>
        </p:txBody>
      </p:sp>
      <p:sp>
        <p:nvSpPr>
          <p:cNvPr id="4" name="Leitfrage Fläche"/>
          <p:cNvSpPr/>
          <p:nvPr/>
        </p:nvSpPr>
        <p:spPr>
          <a:xfrm>
            <a:off x="548640" y="1463040"/>
            <a:ext cx="3840480" cy="4160520"/>
          </a:xfrm>
          <a:prstGeom prst="roundRect">
            <a:avLst>
              <a:gd name="adj" fmla="val 190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Label Leitfrage"/>
          <p:cNvSpPr txBox="1"/>
          <p:nvPr/>
        </p:nvSpPr>
        <p:spPr>
          <a:xfrm>
            <a:off x="822960" y="173736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4"/>
                </a:solidFill>
              </a:rPr>
              <a:t>LEITFRAGE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chemeClr val="bg1"/>
                </a:solidFill>
              </a:rPr>
              <a:t>Wie erfährt der VMT-Vertrieb zuverlässig, welches CT-Projekt an welche Baufirma bzw. ARGE vergeben wurde und wen er dort ansprechen kann?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709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Kernanforderung: Qualität vor Menge. Wenige relevante Treffer statt einer Flut an Meldungen.</a:t>
            </a:r>
            <a:endParaRPr lang="en-US" sz="1000" dirty="0"/>
          </a:p>
        </p:txBody>
      </p:sp>
      <p:sp>
        <p:nvSpPr>
          <p:cNvPr id="8" name="Karte Verstreute Signale"/>
          <p:cNvSpPr/>
          <p:nvPr/>
        </p:nvSpPr>
        <p:spPr>
          <a:xfrm>
            <a:off x="4709160" y="1463040"/>
            <a:ext cx="3291840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9" name="Verstreute Signale Kreis"/>
          <p:cNvSpPr/>
          <p:nvPr/>
        </p:nvSpPr>
        <p:spPr>
          <a:xfrm>
            <a:off x="4937760" y="16916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0" name="Verstreute Signale Icon" descr="Verstreute Sign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6632" y="181051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937760" y="22860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Verstreute Signale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937760" y="25786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Zuschläge erscheinen in LinkedIn-Posts, Newsrooms, Fachpresse und Vergabeportalen, mehrsprachig und uneinheitlich.</a:t>
            </a:r>
            <a:endParaRPr lang="en-US" sz="1050" dirty="0"/>
          </a:p>
        </p:txBody>
      </p:sp>
      <p:sp>
        <p:nvSpPr>
          <p:cNvPr id="13" name="Karte LinkedIn schwer erschließbar"/>
          <p:cNvSpPr/>
          <p:nvPr/>
        </p:nvSpPr>
        <p:spPr>
          <a:xfrm>
            <a:off x="8229600" y="1463040"/>
            <a:ext cx="3291840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4" name="LinkedIn schwer erschließbar Kreis"/>
          <p:cNvSpPr/>
          <p:nvPr/>
        </p:nvSpPr>
        <p:spPr>
          <a:xfrm>
            <a:off x="8458200" y="1691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LinkedIn schwer erschließbar Icon" descr="LinkedIn schwer erschließb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7072" y="1810512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458200" y="22860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LinkedIn schwer erschließbar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8458200" y="25786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Wichtigste Quelle, aber ohne offizielle Suche nach Posts unbekannter Autoren. Scraping ist keine Option.</a:t>
            </a:r>
            <a:endParaRPr lang="en-US" sz="1050" dirty="0"/>
          </a:p>
        </p:txBody>
      </p:sp>
      <p:sp>
        <p:nvSpPr>
          <p:cNvPr id="18" name="Karte Relevanz filtern"/>
          <p:cNvSpPr/>
          <p:nvPr/>
        </p:nvSpPr>
        <p:spPr>
          <a:xfrm>
            <a:off x="4709160" y="3611880"/>
            <a:ext cx="3291840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9" name="Relevanz filtern Kreis"/>
          <p:cNvSpPr/>
          <p:nvPr/>
        </p:nvSpPr>
        <p:spPr>
          <a:xfrm>
            <a:off x="4937760" y="3840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Relevanz filtern Icon" descr="Relevanz filter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6632" y="3959352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937760" y="44348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Relevanz filtern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4937760" y="472744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Nur Teilschnitt oder Drill &amp; Blast, Neubau oder Sanierung, Länge &gt; 200 m, Durchmesser &gt; ca. 2–3 m.</a:t>
            </a:r>
            <a:endParaRPr lang="en-US" sz="1050" dirty="0"/>
          </a:p>
        </p:txBody>
      </p:sp>
      <p:sp>
        <p:nvSpPr>
          <p:cNvPr id="23" name="Karte Ansprechpartner fehlt"/>
          <p:cNvSpPr/>
          <p:nvPr/>
        </p:nvSpPr>
        <p:spPr>
          <a:xfrm>
            <a:off x="8229600" y="3611880"/>
            <a:ext cx="3291840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24" name="Ansprechpartner fehlt Kreis"/>
          <p:cNvSpPr/>
          <p:nvPr/>
        </p:nvSpPr>
        <p:spPr>
          <a:xfrm>
            <a:off x="8458200" y="384048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5" name="Ansprechpartner fehlt Icon" descr="Ansprechpartner feh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3959352"/>
            <a:ext cx="219456" cy="21945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458200" y="44348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Ansprechpartner fehlt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8458200" y="472744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Entscheidend ist die Projekt- oder Bauleitung der ARGE. Diese Information steht selten in der Meldung.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2764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8404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chemeClr val="accent1"/>
                </a:solidFill>
              </a:rPr>
              <a:t>ZIELBILD</a:t>
            </a:r>
            <a:endParaRPr lang="en-US" sz="85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Jede relevante CT-Vergabe landet beim Vertrieb</a:t>
            </a:r>
            <a:endParaRPr lang="en-US" sz="2200" dirty="0"/>
          </a:p>
        </p:txBody>
      </p:sp>
      <p:sp>
        <p:nvSpPr>
          <p:cNvPr id="4" name="Ablauf Bauherr vergibt"/>
          <p:cNvSpPr/>
          <p:nvPr/>
        </p:nvSpPr>
        <p:spPr>
          <a:xfrm>
            <a:off x="548640" y="1417320"/>
            <a:ext cx="2743200" cy="457200"/>
          </a:xfrm>
          <a:prstGeom prst="homePlat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17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1   Bauherr vergibt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3852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Zuschlag an Baufirma oder ARGE</a:t>
            </a:r>
            <a:endParaRPr lang="en-US" sz="950" dirty="0"/>
          </a:p>
        </p:txBody>
      </p:sp>
      <p:sp>
        <p:nvSpPr>
          <p:cNvPr id="7" name="Ablauf Gewinner kommuniziert"/>
          <p:cNvSpPr/>
          <p:nvPr/>
        </p:nvSpPr>
        <p:spPr>
          <a:xfrm>
            <a:off x="3355848" y="1417320"/>
            <a:ext cx="2743200" cy="45720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75888" y="1417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2   Gewinner kommuniziert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675888" y="193852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LinkedIn-Post, Pressemitteilung, Vergabeportal</a:t>
            </a:r>
            <a:endParaRPr lang="en-US" sz="950" dirty="0"/>
          </a:p>
        </p:txBody>
      </p:sp>
      <p:sp>
        <p:nvSpPr>
          <p:cNvPr id="10" name="Ablauf Radar erkennt"/>
          <p:cNvSpPr/>
          <p:nvPr/>
        </p:nvSpPr>
        <p:spPr>
          <a:xfrm>
            <a:off x="6163056" y="1417320"/>
            <a:ext cx="2743200" cy="45720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83096" y="1417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3   Radar erkennt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483096" y="193852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Finden, filtern, anreichern, bewerten</a:t>
            </a:r>
            <a:endParaRPr lang="en-US" sz="950" dirty="0"/>
          </a:p>
        </p:txBody>
      </p:sp>
      <p:sp>
        <p:nvSpPr>
          <p:cNvPr id="13" name="Ablauf Vertrieb wird aktiv"/>
          <p:cNvSpPr/>
          <p:nvPr/>
        </p:nvSpPr>
        <p:spPr>
          <a:xfrm>
            <a:off x="8970264" y="1417320"/>
            <a:ext cx="2743200" cy="457200"/>
          </a:xfrm>
          <a:prstGeom prst="chevron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90304" y="1417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4   Vertrieb wird aktiv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9290304" y="193852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Anruf bei der Projektleitung, bevor die Pakete vergeben sind</a:t>
            </a:r>
            <a:endParaRPr lang="en-US" sz="950" dirty="0"/>
          </a:p>
        </p:txBody>
      </p:sp>
      <p:sp>
        <p:nvSpPr>
          <p:cNvPr id="16" name="Inhalt Fläche"/>
          <p:cNvSpPr/>
          <p:nvPr/>
        </p:nvSpPr>
        <p:spPr>
          <a:xfrm>
            <a:off x="548640" y="2606040"/>
            <a:ext cx="457200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Label Inhalt je Treffer"/>
          <p:cNvSpPr txBox="1"/>
          <p:nvPr/>
        </p:nvSpPr>
        <p:spPr>
          <a:xfrm>
            <a:off x="777240" y="27889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1"/>
                </a:solidFill>
              </a:rPr>
              <a:t>INHALT JE TREFFER</a:t>
            </a:r>
            <a:endParaRPr lang="en-US" sz="750" dirty="0"/>
          </a:p>
        </p:txBody>
      </p:sp>
      <p:sp>
        <p:nvSpPr>
          <p:cNvPr id="18" name="Projekt und Bauherr Kreis"/>
          <p:cNvSpPr/>
          <p:nvPr/>
        </p:nvSpPr>
        <p:spPr>
          <a:xfrm>
            <a:off x="777240" y="3090672"/>
            <a:ext cx="347472" cy="347472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9" name="Projekt und Bauherr Icon" descr="Projekt und Bauher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3181015"/>
            <a:ext cx="166787" cy="166787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261872" y="30632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Projekt und Bauherr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1261872" y="326440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Name, Ort, Auftraggeber</a:t>
            </a:r>
            <a:endParaRPr lang="en-US" sz="950" dirty="0"/>
          </a:p>
        </p:txBody>
      </p:sp>
      <p:sp>
        <p:nvSpPr>
          <p:cNvPr id="22" name="Gewinner bzw. ARGE Kreis"/>
          <p:cNvSpPr/>
          <p:nvPr/>
        </p:nvSpPr>
        <p:spPr>
          <a:xfrm>
            <a:off x="777240" y="3602736"/>
            <a:ext cx="347472" cy="347472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3" name="Gewinner bzw. ARGE Icon" descr="Gewinner bzw. AR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583" y="3693079"/>
            <a:ext cx="166787" cy="166787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261872" y="357530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Gewinner bzw. ARGE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1261872" y="37764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Beauftragte Baufirma und ARGE-Partner</a:t>
            </a:r>
            <a:endParaRPr lang="en-US" sz="950" dirty="0"/>
          </a:p>
        </p:txBody>
      </p:sp>
      <p:sp>
        <p:nvSpPr>
          <p:cNvPr id="26" name="Technik Kreis"/>
          <p:cNvSpPr/>
          <p:nvPr/>
        </p:nvSpPr>
        <p:spPr>
          <a:xfrm>
            <a:off x="777240" y="4114800"/>
            <a:ext cx="347472" cy="347472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7" name="Technik Icon" descr="Techni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583" y="4205143"/>
            <a:ext cx="166787" cy="166787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261872" y="40873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Technik</a:t>
            </a:r>
            <a:endParaRPr lang="en-US" sz="1050" dirty="0"/>
          </a:p>
        </p:txBody>
      </p:sp>
      <p:sp>
        <p:nvSpPr>
          <p:cNvPr id="29" name="Text 24"/>
          <p:cNvSpPr txBox="1"/>
          <p:nvPr/>
        </p:nvSpPr>
        <p:spPr>
          <a:xfrm>
            <a:off x="1261872" y="42885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Länge, Durchmesser, Vortriebsart, Neubau oder Sanierung</a:t>
            </a:r>
            <a:endParaRPr lang="en-US" sz="950" dirty="0"/>
          </a:p>
        </p:txBody>
      </p:sp>
      <p:sp>
        <p:nvSpPr>
          <p:cNvPr id="30" name="Ansprechpartner Kreis"/>
          <p:cNvSpPr/>
          <p:nvPr/>
        </p:nvSpPr>
        <p:spPr>
          <a:xfrm>
            <a:off x="777240" y="4626864"/>
            <a:ext cx="347472" cy="347472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31" name="Ansprechpartner Icon" descr="Ansprechpartn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583" y="4717207"/>
            <a:ext cx="166787" cy="166787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1261872" y="45994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Ansprechpartner</a:t>
            </a:r>
            <a:endParaRPr lang="en-US" sz="1050" dirty="0"/>
          </a:p>
        </p:txBody>
      </p:sp>
      <p:sp>
        <p:nvSpPr>
          <p:cNvPr id="33" name="Text 27"/>
          <p:cNvSpPr txBox="1"/>
          <p:nvPr/>
        </p:nvSpPr>
        <p:spPr>
          <a:xfrm>
            <a:off x="1261872" y="48006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Projekt- oder Bauleitung mit Telefon, E-Mail, LinkedIn</a:t>
            </a:r>
            <a:endParaRPr lang="en-US" sz="950" dirty="0"/>
          </a:p>
        </p:txBody>
      </p:sp>
      <p:sp>
        <p:nvSpPr>
          <p:cNvPr id="34" name="Quelle und Score Kreis"/>
          <p:cNvSpPr/>
          <p:nvPr/>
        </p:nvSpPr>
        <p:spPr>
          <a:xfrm>
            <a:off x="777240" y="5138928"/>
            <a:ext cx="347472" cy="347472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35" name="Quelle und Score Icon" descr="Quelle und Sco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583" y="5229271"/>
            <a:ext cx="166787" cy="166787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1261872" y="511149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Quelle und Score</a:t>
            </a:r>
            <a:endParaRPr lang="en-US" sz="1050" dirty="0"/>
          </a:p>
        </p:txBody>
      </p:sp>
      <p:sp>
        <p:nvSpPr>
          <p:cNvPr id="37" name="Text 30"/>
          <p:cNvSpPr txBox="1"/>
          <p:nvPr/>
        </p:nvSpPr>
        <p:spPr>
          <a:xfrm>
            <a:off x="1261872" y="531266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Nachvollziehbar und priorisiert</a:t>
            </a:r>
            <a:endParaRPr lang="en-US" sz="950" dirty="0"/>
          </a:p>
        </p:txBody>
      </p:sp>
      <p:sp>
        <p:nvSpPr>
          <p:cNvPr id="38" name="Beispiel Treffer"/>
          <p:cNvSpPr/>
          <p:nvPr/>
        </p:nvSpPr>
        <p:spPr>
          <a:xfrm>
            <a:off x="5349240" y="2606040"/>
            <a:ext cx="6309360" cy="310896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39" name="Label Beispiel · Vergabe erfolgt · DE"/>
          <p:cNvSpPr txBox="1"/>
          <p:nvPr/>
        </p:nvSpPr>
        <p:spPr>
          <a:xfrm>
            <a:off x="5577840" y="27889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1"/>
                </a:solidFill>
              </a:rPr>
              <a:t>BEISPIEL · VERGABE ERFOLGT · DE</a:t>
            </a:r>
            <a:endParaRPr lang="en-US" sz="750" dirty="0"/>
          </a:p>
        </p:txBody>
      </p:sp>
      <p:sp>
        <p:nvSpPr>
          <p:cNvPr id="40" name="Score Fläche"/>
          <p:cNvSpPr/>
          <p:nvPr/>
        </p:nvSpPr>
        <p:spPr>
          <a:xfrm>
            <a:off x="10241280" y="2743200"/>
            <a:ext cx="1188720" cy="27432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10241280" y="27432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SCORE 10/10</a:t>
            </a:r>
            <a:endParaRPr lang="en-US" sz="800" dirty="0"/>
          </a:p>
        </p:txBody>
      </p:sp>
      <p:sp>
        <p:nvSpPr>
          <p:cNvPr id="42" name="Text 35"/>
          <p:cNvSpPr txBox="1"/>
          <p:nvPr/>
        </p:nvSpPr>
        <p:spPr>
          <a:xfrm>
            <a:off x="5577840" y="30632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Tunnel Kauerndorf, B 289 Oberfranken</a:t>
            </a:r>
            <a:endParaRPr lang="en-US" sz="1400" dirty="0"/>
          </a:p>
        </p:txBody>
      </p:sp>
      <p:sp>
        <p:nvSpPr>
          <p:cNvPr id="43" name="Label Gewinner"/>
          <p:cNvSpPr txBox="1"/>
          <p:nvPr/>
        </p:nvSpPr>
        <p:spPr>
          <a:xfrm>
            <a:off x="5577840" y="354787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4"/>
                </a:solidFill>
              </a:rPr>
              <a:t>GEWINNER</a:t>
            </a:r>
            <a:endParaRPr lang="en-US" sz="750" dirty="0"/>
          </a:p>
        </p:txBody>
      </p:sp>
      <p:sp>
        <p:nvSpPr>
          <p:cNvPr id="44" name="Text 37"/>
          <p:cNvSpPr txBox="1"/>
          <p:nvPr/>
        </p:nvSpPr>
        <p:spPr>
          <a:xfrm>
            <a:off x="5577840" y="3730752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ARGE Feldhaus Bergbau / Eiffage Infra-Süd</a:t>
            </a:r>
            <a:endParaRPr lang="en-US" sz="1000" dirty="0"/>
          </a:p>
        </p:txBody>
      </p:sp>
      <p:sp>
        <p:nvSpPr>
          <p:cNvPr id="45" name="Label Bauherr"/>
          <p:cNvSpPr txBox="1"/>
          <p:nvPr/>
        </p:nvSpPr>
        <p:spPr>
          <a:xfrm>
            <a:off x="8549640" y="354787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4"/>
                </a:solidFill>
              </a:rPr>
              <a:t>BAUHERR</a:t>
            </a:r>
            <a:endParaRPr lang="en-US" sz="750" dirty="0"/>
          </a:p>
        </p:txBody>
      </p:sp>
      <p:sp>
        <p:nvSpPr>
          <p:cNvPr id="46" name="Text 39"/>
          <p:cNvSpPr txBox="1"/>
          <p:nvPr/>
        </p:nvSpPr>
        <p:spPr>
          <a:xfrm>
            <a:off x="8549640" y="3730752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Staatliches Bauamt Bayreuth</a:t>
            </a:r>
            <a:endParaRPr lang="en-US" sz="1000" dirty="0"/>
          </a:p>
        </p:txBody>
      </p:sp>
      <p:sp>
        <p:nvSpPr>
          <p:cNvPr id="47" name="Label Ereignis"/>
          <p:cNvSpPr txBox="1"/>
          <p:nvPr/>
        </p:nvSpPr>
        <p:spPr>
          <a:xfrm>
            <a:off x="5577840" y="41148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4"/>
                </a:solidFill>
              </a:rPr>
              <a:t>EREIGNIS</a:t>
            </a:r>
            <a:endParaRPr lang="en-US" sz="750" dirty="0"/>
          </a:p>
        </p:txBody>
      </p:sp>
      <p:sp>
        <p:nvSpPr>
          <p:cNvPr id="48" name="Text 41"/>
          <p:cNvSpPr txBox="1"/>
          <p:nvPr/>
        </p:nvSpPr>
        <p:spPr>
          <a:xfrm>
            <a:off x="5577840" y="429768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Zuschlag veröffentlicht am 19.08.2026</a:t>
            </a:r>
            <a:endParaRPr lang="en-US" sz="1000" dirty="0"/>
          </a:p>
        </p:txBody>
      </p:sp>
      <p:sp>
        <p:nvSpPr>
          <p:cNvPr id="49" name="Label Timing"/>
          <p:cNvSpPr txBox="1"/>
          <p:nvPr/>
        </p:nvSpPr>
        <p:spPr>
          <a:xfrm>
            <a:off x="8549640" y="41148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4"/>
                </a:solidFill>
              </a:rPr>
              <a:t>TIMING</a:t>
            </a:r>
            <a:endParaRPr lang="en-US" sz="750" dirty="0"/>
          </a:p>
        </p:txBody>
      </p:sp>
      <p:sp>
        <p:nvSpPr>
          <p:cNvPr id="50" name="Text 43"/>
          <p:cNvSpPr txBox="1"/>
          <p:nvPr/>
        </p:nvSpPr>
        <p:spPr>
          <a:xfrm>
            <a:off x="8549640" y="429768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Baustelle ab Ende 09/2026, Tunnelanschlag Q1 2027</a:t>
            </a:r>
            <a:endParaRPr lang="en-US" sz="1000" dirty="0"/>
          </a:p>
        </p:txBody>
      </p:sp>
      <p:sp>
        <p:nvSpPr>
          <p:cNvPr id="51" name="Label Technik"/>
          <p:cNvSpPr txBox="1"/>
          <p:nvPr/>
        </p:nvSpPr>
        <p:spPr>
          <a:xfrm>
            <a:off x="5577840" y="46817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4"/>
                </a:solidFill>
              </a:rPr>
              <a:t>TECHNIK</a:t>
            </a:r>
            <a:endParaRPr lang="en-US" sz="750" dirty="0"/>
          </a:p>
        </p:txBody>
      </p:sp>
      <p:sp>
        <p:nvSpPr>
          <p:cNvPr id="52" name="Text 45"/>
          <p:cNvSpPr txBox="1"/>
          <p:nvPr/>
        </p:nvSpPr>
        <p:spPr>
          <a:xfrm>
            <a:off x="5577840" y="4864608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ca. 750 m, davon 626 m bergmännisch, 2 Rettungsstollen</a:t>
            </a:r>
            <a:endParaRPr lang="en-US" sz="1000" dirty="0"/>
          </a:p>
        </p:txBody>
      </p:sp>
      <p:sp>
        <p:nvSpPr>
          <p:cNvPr id="53" name="Label Kontakt"/>
          <p:cNvSpPr txBox="1"/>
          <p:nvPr/>
        </p:nvSpPr>
        <p:spPr>
          <a:xfrm>
            <a:off x="8549640" y="46817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4"/>
                </a:solidFill>
              </a:rPr>
              <a:t>KONTAKT</a:t>
            </a:r>
            <a:endParaRPr lang="en-US" sz="750" dirty="0"/>
          </a:p>
        </p:txBody>
      </p:sp>
      <p:sp>
        <p:nvSpPr>
          <p:cNvPr id="54" name="Text 47"/>
          <p:cNvSpPr txBox="1"/>
          <p:nvPr/>
        </p:nvSpPr>
        <p:spPr>
          <a:xfrm>
            <a:off x="8549640" y="4864608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folgt im Anreicherungsschritt</a:t>
            </a:r>
            <a:endParaRPr lang="en-US" sz="1000" dirty="0"/>
          </a:p>
        </p:txBody>
      </p:sp>
      <p:sp>
        <p:nvSpPr>
          <p:cNvPr id="55" name="Text 48"/>
          <p:cNvSpPr txBox="1"/>
          <p:nvPr/>
        </p:nvSpPr>
        <p:spPr>
          <a:xfrm>
            <a:off x="5577840" y="53218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chemeClr val="accent4"/>
                </a:solidFill>
              </a:rPr>
              <a:t>Beispiel aus öffentlichen Quellen: Pressemitteilung StBA Bayreuth 57/2026, Projektseite Eiffage.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2764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8404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chemeClr val="accent1"/>
                </a:solidFill>
              </a:rPr>
              <a:t>TECHNISCHER LÖSUNGSANSATZ</a:t>
            </a:r>
            <a:endParaRPr lang="en-US" sz="85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Drei Quellen, eine KI-Pipeline, ein Digest</a:t>
            </a:r>
            <a:endParaRPr lang="en-US" sz="2200" dirty="0"/>
          </a:p>
        </p:txBody>
      </p:sp>
      <p:sp>
        <p:nvSpPr>
          <p:cNvPr id="4" name="Quelle Deep Research"/>
          <p:cNvSpPr/>
          <p:nvPr/>
        </p:nvSpPr>
        <p:spPr>
          <a:xfrm>
            <a:off x="548640" y="1463040"/>
            <a:ext cx="32918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5" name="Label Automatisch · Web"/>
          <p:cNvSpPr txBox="1"/>
          <p:nvPr/>
        </p:nvSpPr>
        <p:spPr>
          <a:xfrm>
            <a:off x="731520" y="157276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1"/>
                </a:solidFill>
              </a:rPr>
              <a:t>AUTOMATISCH · WEB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556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Deep Research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7510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3"/>
                </a:solidFill>
              </a:rPr>
              <a:t>Newsrooms von Baufirmen und Bauherren, Fachpresse, Vergabeportale (TED, DTVP, evergabe-online, simap.ch)</a:t>
            </a:r>
            <a:endParaRPr lang="en-US" sz="850" dirty="0"/>
          </a:p>
        </p:txBody>
      </p:sp>
      <p:sp>
        <p:nvSpPr>
          <p:cNvPr id="8" name="Pfeil Quelle 1"/>
          <p:cNvSpPr/>
          <p:nvPr/>
        </p:nvSpPr>
        <p:spPr>
          <a:xfrm>
            <a:off x="3931920" y="1828800"/>
            <a:ext cx="237744" cy="18288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Quelle Datenanbieter"/>
          <p:cNvSpPr/>
          <p:nvPr/>
        </p:nvSpPr>
        <p:spPr>
          <a:xfrm>
            <a:off x="548640" y="2487168"/>
            <a:ext cx="32918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0" name="Label Automatisch · LinkedIn"/>
          <p:cNvSpPr txBox="1"/>
          <p:nvPr/>
        </p:nvSpPr>
        <p:spPr>
          <a:xfrm>
            <a:off x="731520" y="259689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1"/>
                </a:solidFill>
              </a:rPr>
              <a:t>AUTOMATISCH · LINKEDIN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7977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Datenanbieter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99923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3"/>
                </a:solidFill>
              </a:rPr>
              <a:t>Keyword-Suche über öffentliche LinkedIn-Posts, Lieferung per API</a:t>
            </a:r>
            <a:endParaRPr lang="en-US" sz="850" dirty="0"/>
          </a:p>
        </p:txBody>
      </p:sp>
      <p:sp>
        <p:nvSpPr>
          <p:cNvPr id="13" name="Pfeil Quelle 2"/>
          <p:cNvSpPr/>
          <p:nvPr/>
        </p:nvSpPr>
        <p:spPr>
          <a:xfrm>
            <a:off x="3931920" y="2852928"/>
            <a:ext cx="237744" cy="18288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Quelle Weiterleitung durch den Vertrieb"/>
          <p:cNvSpPr/>
          <p:nvPr/>
        </p:nvSpPr>
        <p:spPr>
          <a:xfrm>
            <a:off x="548640" y="3511296"/>
            <a:ext cx="32918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15" name="Label Manuell · ein Klick"/>
          <p:cNvSpPr txBox="1"/>
          <p:nvPr/>
        </p:nvSpPr>
        <p:spPr>
          <a:xfrm>
            <a:off x="731520" y="362102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1"/>
                </a:solidFill>
              </a:rPr>
              <a:t>MANUELL · EIN KLICK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8039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Weiterleitung durch den Vertrieb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0233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3"/>
                </a:solidFill>
              </a:rPr>
              <a:t>LinkedIn-Funde per Teilen-Funktion an den Radar (Teams oder E-Mail)</a:t>
            </a:r>
            <a:endParaRPr lang="en-US" sz="850" dirty="0"/>
          </a:p>
        </p:txBody>
      </p:sp>
      <p:sp>
        <p:nvSpPr>
          <p:cNvPr id="18" name="Pfeil Quelle 3"/>
          <p:cNvSpPr/>
          <p:nvPr/>
        </p:nvSpPr>
        <p:spPr>
          <a:xfrm>
            <a:off x="3931920" y="3877056"/>
            <a:ext cx="237744" cy="18288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Pipeline Fläche"/>
          <p:cNvSpPr/>
          <p:nvPr/>
        </p:nvSpPr>
        <p:spPr>
          <a:xfrm>
            <a:off x="4297680" y="1463040"/>
            <a:ext cx="3611880" cy="2962656"/>
          </a:xfrm>
          <a:prstGeom prst="roundRect">
            <a:avLst>
              <a:gd name="adj" fmla="val 246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Label AI Tender Radar · KI-Pipeline"/>
          <p:cNvSpPr txBox="1"/>
          <p:nvPr/>
        </p:nvSpPr>
        <p:spPr>
          <a:xfrm>
            <a:off x="4526280" y="162763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4"/>
                </a:solidFill>
              </a:rPr>
              <a:t>AI TENDER RADAR · KI-PIPELINE</a:t>
            </a:r>
            <a:endParaRPr lang="en-US" sz="750" dirty="0"/>
          </a:p>
        </p:txBody>
      </p:sp>
      <p:sp>
        <p:nvSpPr>
          <p:cNvPr id="21" name="Nummer 1"/>
          <p:cNvSpPr/>
          <p:nvPr/>
        </p:nvSpPr>
        <p:spPr>
          <a:xfrm>
            <a:off x="4526280" y="1938528"/>
            <a:ext cx="310896" cy="31089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2628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956048" y="190195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Erkennen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956048" y="2093976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Vergabe-Signale identifizieren</a:t>
            </a:r>
            <a:endParaRPr lang="en-US" sz="900" dirty="0"/>
          </a:p>
        </p:txBody>
      </p:sp>
      <p:sp>
        <p:nvSpPr>
          <p:cNvPr id="25" name="Nummer 2"/>
          <p:cNvSpPr/>
          <p:nvPr/>
        </p:nvSpPr>
        <p:spPr>
          <a:xfrm>
            <a:off x="4526280" y="2423160"/>
            <a:ext cx="310896" cy="31089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2628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956048" y="238658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Zusammenführen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956048" y="257860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Duplikate über Quellen bündeln</a:t>
            </a:r>
            <a:endParaRPr lang="en-US" sz="900" dirty="0"/>
          </a:p>
        </p:txBody>
      </p:sp>
      <p:sp>
        <p:nvSpPr>
          <p:cNvPr id="29" name="Nummer 3"/>
          <p:cNvSpPr/>
          <p:nvPr/>
        </p:nvSpPr>
        <p:spPr>
          <a:xfrm>
            <a:off x="4526280" y="2907792"/>
            <a:ext cx="310896" cy="31089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26280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4956048" y="287121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Filtern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956048" y="3063240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K.-o.-Kriterien für CT anwenden</a:t>
            </a:r>
            <a:endParaRPr lang="en-US" sz="900" dirty="0"/>
          </a:p>
        </p:txBody>
      </p:sp>
      <p:sp>
        <p:nvSpPr>
          <p:cNvPr id="33" name="Nummer 4"/>
          <p:cNvSpPr/>
          <p:nvPr/>
        </p:nvSpPr>
        <p:spPr>
          <a:xfrm>
            <a:off x="4526280" y="3392424"/>
            <a:ext cx="310896" cy="31089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26280" y="3392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4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4956048" y="33558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Anreichern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4956048" y="3547872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Technik, ARGE-Partner, Kontakte</a:t>
            </a:r>
            <a:endParaRPr lang="en-US" sz="900" dirty="0"/>
          </a:p>
        </p:txBody>
      </p:sp>
      <p:sp>
        <p:nvSpPr>
          <p:cNvPr id="37" name="Nummer 5"/>
          <p:cNvSpPr/>
          <p:nvPr/>
        </p:nvSpPr>
        <p:spPr>
          <a:xfrm>
            <a:off x="4526280" y="3877056"/>
            <a:ext cx="310896" cy="31089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26280" y="3877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5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4956048" y="38404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Bewerten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956048" y="4032504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Score je Treffer, Priorisierung</a:t>
            </a:r>
            <a:endParaRPr lang="en-US" sz="900" dirty="0"/>
          </a:p>
        </p:txBody>
      </p:sp>
      <p:sp>
        <p:nvSpPr>
          <p:cNvPr id="41" name="Pfeil Ausgabe"/>
          <p:cNvSpPr/>
          <p:nvPr/>
        </p:nvSpPr>
        <p:spPr>
          <a:xfrm>
            <a:off x="8010144" y="2852928"/>
            <a:ext cx="237744" cy="18288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2" name="Ausgabe Fläche"/>
          <p:cNvSpPr/>
          <p:nvPr/>
        </p:nvSpPr>
        <p:spPr>
          <a:xfrm>
            <a:off x="8366760" y="1463040"/>
            <a:ext cx="3291840" cy="2962656"/>
          </a:xfrm>
          <a:prstGeom prst="roundRect">
            <a:avLst>
              <a:gd name="adj" fmla="val 246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12000"/>
              </a:srgbClr>
            </a:outerShdw>
          </a:effectLst>
        </p:spPr>
      </p:sp>
      <p:sp>
        <p:nvSpPr>
          <p:cNvPr id="43" name="Label Täglich an den Vertrieb"/>
          <p:cNvSpPr txBox="1"/>
          <p:nvPr/>
        </p:nvSpPr>
        <p:spPr>
          <a:xfrm>
            <a:off x="8595360" y="1627632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1"/>
                </a:solidFill>
              </a:rPr>
              <a:t>TÄGLICH AN DEN VERTRIEB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8595360" y="18470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Digest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8595360" y="2286000"/>
            <a:ext cx="2880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Per E-Mail oder Excel, Format zunächst offen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CT Product Champion prüft und verteilt an die regionalen Vertriebler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Feedback zu jedem Treffer schärft Filter und Score</a:t>
            </a:r>
            <a:endParaRPr lang="en-US" sz="1000" dirty="0"/>
          </a:p>
        </p:txBody>
      </p:sp>
      <p:sp>
        <p:nvSpPr>
          <p:cNvPr id="46" name="Label Offene Architekturentscheidungen"/>
          <p:cNvSpPr txBox="1"/>
          <p:nvPr/>
        </p:nvSpPr>
        <p:spPr>
          <a:xfrm>
            <a:off x="548640" y="475488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4"/>
                </a:solidFill>
              </a:rPr>
              <a:t>OFFENE ARCHITEKTURENTSCHEIDUNGEN</a:t>
            </a:r>
            <a:endParaRPr lang="en-US" sz="750" dirty="0"/>
          </a:p>
        </p:txBody>
      </p:sp>
      <p:sp>
        <p:nvSpPr>
          <p:cNvPr id="47" name="Nummer 1"/>
          <p:cNvSpPr/>
          <p:nvPr/>
        </p:nvSpPr>
        <p:spPr>
          <a:xfrm>
            <a:off x="548640" y="5029200"/>
            <a:ext cx="329184" cy="32918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48640" y="5029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978408" y="49834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Betrieb: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als Service oder intern bei VMT</a:t>
            </a:r>
            <a:endParaRPr lang="en-US" sz="1050" dirty="0"/>
          </a:p>
        </p:txBody>
      </p:sp>
      <p:sp>
        <p:nvSpPr>
          <p:cNvPr id="50" name="Nummer 2"/>
          <p:cNvSpPr/>
          <p:nvPr/>
        </p:nvSpPr>
        <p:spPr>
          <a:xfrm>
            <a:off x="4343400" y="5029200"/>
            <a:ext cx="329184" cy="32918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343400" y="5029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4773168" y="49834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Sprachmodell: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eigenes Modell oder Anbindung per API</a:t>
            </a:r>
            <a:endParaRPr lang="en-US" sz="1050" dirty="0"/>
          </a:p>
        </p:txBody>
      </p:sp>
      <p:sp>
        <p:nvSpPr>
          <p:cNvPr id="53" name="Nummer 3"/>
          <p:cNvSpPr/>
          <p:nvPr/>
        </p:nvSpPr>
        <p:spPr>
          <a:xfrm>
            <a:off x="8138160" y="5029200"/>
            <a:ext cx="329184" cy="32918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138160" y="5029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8567928" y="49834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Datenanbieter: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Freigabe der Datenherkunft durch die VMT-IT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2764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8404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chemeClr val="accent1"/>
                </a:solidFill>
              </a:rPr>
              <a:t>TECHNISCHER LÖSUNGSANSATZ</a:t>
            </a:r>
            <a:endParaRPr lang="en-US" sz="85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Erkennungslogik und Pilotierung</a:t>
            </a:r>
            <a:endParaRPr lang="en-US" sz="2200" dirty="0"/>
          </a:p>
        </p:txBody>
      </p:sp>
      <p:sp>
        <p:nvSpPr>
          <p:cNvPr id="4" name="Logik Fläche"/>
          <p:cNvSpPr/>
          <p:nvPr/>
        </p:nvSpPr>
        <p:spPr>
          <a:xfrm>
            <a:off x="548640" y="1463040"/>
            <a:ext cx="548640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Label Signale"/>
          <p:cNvSpPr txBox="1"/>
          <p:nvPr/>
        </p:nvSpPr>
        <p:spPr>
          <a:xfrm>
            <a:off x="777240" y="164592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1"/>
                </a:solidFill>
              </a:rPr>
              <a:t>SIGNALE</a:t>
            </a:r>
            <a:endParaRPr lang="en-US" sz="750" dirty="0"/>
          </a:p>
        </p:txBody>
      </p:sp>
      <p:sp>
        <p:nvSpPr>
          <p:cNvPr id="6" name="Signal Primär"/>
          <p:cNvSpPr/>
          <p:nvPr/>
        </p:nvSpPr>
        <p:spPr>
          <a:xfrm>
            <a:off x="777240" y="1920240"/>
            <a:ext cx="1051560" cy="27432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2024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chemeClr val="bg1"/>
                </a:solidFill>
              </a:rPr>
              <a:t>PRIMÄR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920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Vergabe eines CT-Projekts an eine Baufirma bzw. ARGE</a:t>
            </a:r>
            <a:endParaRPr lang="en-US" sz="1000" dirty="0"/>
          </a:p>
        </p:txBody>
      </p:sp>
      <p:sp>
        <p:nvSpPr>
          <p:cNvPr id="9" name="Signal Indirekt"/>
          <p:cNvSpPr/>
          <p:nvPr/>
        </p:nvSpPr>
        <p:spPr>
          <a:xfrm>
            <a:off x="777240" y="2377440"/>
            <a:ext cx="1051560" cy="27432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37744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chemeClr val="bg1"/>
                </a:solidFill>
              </a:rPr>
              <a:t>INDIREKT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Neu gegründete ARGE, Wechsel von Bau- oder Projektleitern in eine ARGE</a:t>
            </a:r>
            <a:endParaRPr lang="en-US" sz="1000" dirty="0"/>
          </a:p>
        </p:txBody>
      </p:sp>
      <p:sp>
        <p:nvSpPr>
          <p:cNvPr id="12" name="Signal Nachrangig"/>
          <p:cNvSpPr/>
          <p:nvPr/>
        </p:nvSpPr>
        <p:spPr>
          <a:xfrm>
            <a:off x="777240" y="2834640"/>
            <a:ext cx="1051560" cy="27432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3464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chemeClr val="bg1"/>
                </a:solidFill>
              </a:rPr>
              <a:t>NACHRANGIG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2834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Planung, Genehmigung, Ausschreibung des Bauherrn</a:t>
            </a:r>
            <a:endParaRPr lang="en-US" sz="1000" dirty="0"/>
          </a:p>
        </p:txBody>
      </p:sp>
      <p:sp>
        <p:nvSpPr>
          <p:cNvPr id="15" name="Label Filter · anfangs weit, dann schärfen"/>
          <p:cNvSpPr txBox="1"/>
          <p:nvPr/>
        </p:nvSpPr>
        <p:spPr>
          <a:xfrm>
            <a:off x="777240" y="342900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1"/>
                </a:solidFill>
              </a:rPr>
              <a:t>FILTER · ANFANGS WEIT, DANN SCHÄRFEN</a:t>
            </a:r>
            <a:endParaRPr lang="en-US" sz="750" dirty="0"/>
          </a:p>
        </p:txBody>
      </p:sp>
      <p:sp>
        <p:nvSpPr>
          <p:cNvPr id="16" name="Filter Neubau oder Sanierung"/>
          <p:cNvSpPr/>
          <p:nvPr/>
        </p:nvSpPr>
        <p:spPr>
          <a:xfrm>
            <a:off x="777240" y="3703320"/>
            <a:ext cx="1691640" cy="29260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7033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Neubau oder Sanierung</a:t>
            </a:r>
            <a:endParaRPr lang="en-US" sz="900" dirty="0"/>
          </a:p>
        </p:txBody>
      </p:sp>
      <p:sp>
        <p:nvSpPr>
          <p:cNvPr id="18" name="Filter Teilschnitt oder Drill &amp; Blast"/>
          <p:cNvSpPr/>
          <p:nvPr/>
        </p:nvSpPr>
        <p:spPr>
          <a:xfrm>
            <a:off x="2578608" y="3703320"/>
            <a:ext cx="1965960" cy="29260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578608" y="370332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Teilschnitt oder Drill &amp; Blast</a:t>
            </a:r>
            <a:endParaRPr lang="en-US" sz="900" dirty="0"/>
          </a:p>
        </p:txBody>
      </p:sp>
      <p:sp>
        <p:nvSpPr>
          <p:cNvPr id="20" name="Filter Keine offene Bauweise"/>
          <p:cNvSpPr/>
          <p:nvPr/>
        </p:nvSpPr>
        <p:spPr>
          <a:xfrm>
            <a:off x="777240" y="4114800"/>
            <a:ext cx="1600200" cy="29260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1148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Keine offene Bauweise</a:t>
            </a:r>
            <a:endParaRPr lang="en-US" sz="900" dirty="0"/>
          </a:p>
        </p:txBody>
      </p:sp>
      <p:sp>
        <p:nvSpPr>
          <p:cNvPr id="22" name="Filter Länge &gt; 200 m"/>
          <p:cNvSpPr/>
          <p:nvPr/>
        </p:nvSpPr>
        <p:spPr>
          <a:xfrm>
            <a:off x="2487168" y="4114800"/>
            <a:ext cx="1188720" cy="29260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87168" y="4114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Länge &gt; 200 m</a:t>
            </a:r>
            <a:endParaRPr lang="en-US" sz="900" dirty="0"/>
          </a:p>
        </p:txBody>
      </p:sp>
      <p:sp>
        <p:nvSpPr>
          <p:cNvPr id="24" name="Filter Durchmesser &gt; ca. 2–3 m"/>
          <p:cNvSpPr/>
          <p:nvPr/>
        </p:nvSpPr>
        <p:spPr>
          <a:xfrm>
            <a:off x="3785616" y="4114800"/>
            <a:ext cx="1691640" cy="29260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785616" y="411480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Durchmesser &gt; ca. 2–3 m</a:t>
            </a:r>
            <a:endParaRPr lang="en-US" sz="900" dirty="0"/>
          </a:p>
        </p:txBody>
      </p:sp>
      <p:sp>
        <p:nvSpPr>
          <p:cNvPr id="26" name="Label Pilotierung in drei Stufen"/>
          <p:cNvSpPr txBox="1"/>
          <p:nvPr/>
        </p:nvSpPr>
        <p:spPr>
          <a:xfrm>
            <a:off x="6400800" y="146304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4"/>
                </a:solidFill>
              </a:rPr>
              <a:t>PILOTIERUNG IN DREI STUFEN</a:t>
            </a:r>
            <a:endParaRPr lang="en-US" sz="750" dirty="0"/>
          </a:p>
        </p:txBody>
      </p:sp>
      <p:sp>
        <p:nvSpPr>
          <p:cNvPr id="27" name="Nummer 1"/>
          <p:cNvSpPr/>
          <p:nvPr/>
        </p:nvSpPr>
        <p:spPr>
          <a:xfrm>
            <a:off x="6400800" y="1783080"/>
            <a:ext cx="329184" cy="32918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175564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Ab Tag 1: automatisch starten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0" y="2011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Deep Research und Pilot mit einem Datenanbieter laufen, der Vertrieb erhält den Digest.</a:t>
            </a:r>
            <a:endParaRPr lang="en-US" sz="1000" dirty="0"/>
          </a:p>
        </p:txBody>
      </p:sp>
      <p:sp>
        <p:nvSpPr>
          <p:cNvPr id="31" name="Nummer 2"/>
          <p:cNvSpPr/>
          <p:nvPr/>
        </p:nvSpPr>
        <p:spPr>
          <a:xfrm>
            <a:off x="6400800" y="2807208"/>
            <a:ext cx="329184" cy="32918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00800" y="2807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858000" y="277977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2–4 Wochen: messen und klären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858000" y="303580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Abgleich mit bereits bekannten Projekten, Prüfung der Datenherkunft durch die VMT-IT.</a:t>
            </a:r>
            <a:endParaRPr lang="en-US" sz="1000" dirty="0"/>
          </a:p>
        </p:txBody>
      </p:sp>
      <p:sp>
        <p:nvSpPr>
          <p:cNvPr id="35" name="Nummer 3"/>
          <p:cNvSpPr/>
          <p:nvPr/>
        </p:nvSpPr>
        <p:spPr>
          <a:xfrm>
            <a:off x="6400800" y="3831336"/>
            <a:ext cx="329184" cy="32918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008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6858000" y="380390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Danach: ausbauen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6858000" y="405993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Kontakte anreichern, Quellen und Regionen erweitern, Übertrag auf weitere Produktbereiche.</a:t>
            </a:r>
            <a:endParaRPr lang="en-US" sz="1000" dirty="0"/>
          </a:p>
        </p:txBody>
      </p:sp>
      <p:sp>
        <p:nvSpPr>
          <p:cNvPr id="39" name="Scope Fläche"/>
          <p:cNvSpPr/>
          <p:nvPr/>
        </p:nvSpPr>
        <p:spPr>
          <a:xfrm>
            <a:off x="548640" y="5166360"/>
            <a:ext cx="11109960" cy="502920"/>
          </a:xfrm>
          <a:prstGeom prst="roundRect">
            <a:avLst>
              <a:gd name="adj" fmla="val 1090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77240" y="51663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Scope Proof of Concept:  </a:t>
            </a:r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nur Conventional Tunneling, DACH bzw. Mitteleuropa inkl. Frankreich und UK. Erst die Informationsqualität beweisen, dann Oberfläche und CRM-Integration.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2764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8404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chemeClr val="accent1"/>
                </a:solidFill>
              </a:rPr>
              <a:t>COMMERCIAL</a:t>
            </a:r>
            <a:endParaRPr lang="en-US" sz="85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Zielgröße: Akquisitionskosten je zusätzlich identifiziertem Projekt</a:t>
            </a:r>
            <a:endParaRPr lang="en-US" sz="2200" dirty="0"/>
          </a:p>
        </p:txBody>
      </p:sp>
      <p:sp>
        <p:nvSpPr>
          <p:cNvPr id="4" name="CAC Fläche"/>
          <p:cNvSpPr/>
          <p:nvPr/>
        </p:nvSpPr>
        <p:spPr>
          <a:xfrm>
            <a:off x="548640" y="1463040"/>
            <a:ext cx="5486400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Label Customer Acquisition Cost (CAC)"/>
          <p:cNvSpPr txBox="1"/>
          <p:nvPr/>
        </p:nvSpPr>
        <p:spPr>
          <a:xfrm>
            <a:off x="777240" y="164592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1"/>
                </a:solidFill>
              </a:rPr>
              <a:t>CUSTOMER ACQUISITION COST (CAC)</a:t>
            </a:r>
            <a:endParaRPr lang="en-US" sz="750" dirty="0"/>
          </a:p>
        </p:txBody>
      </p:sp>
      <p:sp>
        <p:nvSpPr>
          <p:cNvPr id="6" name="Wert Ø Projektvolumen"/>
          <p:cNvSpPr/>
          <p:nvPr/>
        </p:nvSpPr>
        <p:spPr>
          <a:xfrm>
            <a:off x="777240" y="1965960"/>
            <a:ext cx="1463040" cy="100584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02996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accent3"/>
                </a:solidFill>
              </a:rPr>
              <a:t>Ø Projektvolumen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249424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250 T€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791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laut VMT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2240280" y="1965960"/>
            <a:ext cx="2926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×</a:t>
            </a:r>
            <a:endParaRPr lang="en-US" sz="1800" dirty="0"/>
          </a:p>
        </p:txBody>
      </p:sp>
      <p:sp>
        <p:nvSpPr>
          <p:cNvPr id="11" name="Wert CAC-Satz"/>
          <p:cNvSpPr/>
          <p:nvPr/>
        </p:nvSpPr>
        <p:spPr>
          <a:xfrm>
            <a:off x="2532888" y="1965960"/>
            <a:ext cx="1463040" cy="100584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32888" y="202996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accent3"/>
                </a:solidFill>
              </a:rPr>
              <a:t>CAC-Satz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532888" y="2249424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1 %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2532888" y="26791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Zielwert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3995928" y="1965960"/>
            <a:ext cx="2926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=</a:t>
            </a:r>
            <a:endParaRPr lang="en-US" sz="1800" dirty="0"/>
          </a:p>
        </p:txBody>
      </p:sp>
      <p:sp>
        <p:nvSpPr>
          <p:cNvPr id="16" name="Wert Max. CAC je Projekt"/>
          <p:cNvSpPr/>
          <p:nvPr/>
        </p:nvSpPr>
        <p:spPr>
          <a:xfrm>
            <a:off x="4288536" y="1965960"/>
            <a:ext cx="1463040" cy="100584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88536" y="202996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accent3"/>
                </a:solidFill>
              </a:rPr>
              <a:t>Max. CAC je Projekt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288536" y="2249424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2.500 €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4288536" y="26791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accent4"/>
                </a:solidFill>
              </a:rPr>
              <a:t>Obergrenze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3200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CAC  =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Kosten des Radars  ÷  zusätzlich identifizierte relevante CT-Projekte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354787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Erreicht ist das Ziel, sobald die Kosten je identifiziertem Projekt bei höchstens 2.500 € liegen.</a:t>
            </a:r>
            <a:endParaRPr lang="en-US" sz="950" dirty="0"/>
          </a:p>
        </p:txBody>
      </p:sp>
      <p:sp>
        <p:nvSpPr>
          <p:cNvPr id="22" name="Label Warum diese Zielgröße"/>
          <p:cNvSpPr txBox="1"/>
          <p:nvPr/>
        </p:nvSpPr>
        <p:spPr>
          <a:xfrm>
            <a:off x="6400800" y="146304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4"/>
                </a:solidFill>
              </a:rPr>
              <a:t>WARUM DIESE ZIELGRÖSSE</a:t>
            </a:r>
            <a:endParaRPr lang="en-US" sz="750" dirty="0"/>
          </a:p>
        </p:txBody>
      </p:sp>
      <p:sp>
        <p:nvSpPr>
          <p:cNvPr id="23" name="Nummer 1"/>
          <p:cNvSpPr/>
          <p:nvPr/>
        </p:nvSpPr>
        <p:spPr>
          <a:xfrm>
            <a:off x="6400800" y="1783080"/>
            <a:ext cx="329184" cy="32918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0" y="175564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Vertriebliche Verantwortung bei VMT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Der Abschluss liegt beim VMT-Vertrieb. Gemessen wird, was der Radar liefert: zusätzliche Projekte.</a:t>
            </a:r>
            <a:endParaRPr lang="en-US" sz="1000" dirty="0"/>
          </a:p>
        </p:txBody>
      </p:sp>
      <p:sp>
        <p:nvSpPr>
          <p:cNvPr id="27" name="Nummer 2"/>
          <p:cNvSpPr/>
          <p:nvPr/>
        </p:nvSpPr>
        <p:spPr>
          <a:xfrm>
            <a:off x="6400800" y="2606040"/>
            <a:ext cx="329184" cy="32918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0" y="2606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257860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Zusätzlich heißt zuvor unbekannt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Es zählen nur relevante Projekte, die der Vertrieb noch nicht auf dem Schirm hatte.</a:t>
            </a:r>
            <a:endParaRPr lang="en-US" sz="1000" dirty="0"/>
          </a:p>
        </p:txBody>
      </p:sp>
      <p:sp>
        <p:nvSpPr>
          <p:cNvPr id="31" name="Nummer 3"/>
          <p:cNvSpPr/>
          <p:nvPr/>
        </p:nvSpPr>
        <p:spPr>
          <a:xfrm>
            <a:off x="6400800" y="3429000"/>
            <a:ext cx="329184" cy="32918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00800" y="3429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858000" y="340156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Bewertung nach 6–12 Monaten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858000" y="36576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Der CT Product Champion bestätigt die Relevanz je Treffer.</a:t>
            </a:r>
            <a:endParaRPr lang="en-US" sz="1000" dirty="0"/>
          </a:p>
        </p:txBody>
      </p:sp>
      <p:sp>
        <p:nvSpPr>
          <p:cNvPr id="35" name="Label Einordnung am Funnel"/>
          <p:cNvSpPr txBox="1"/>
          <p:nvPr/>
        </p:nvSpPr>
        <p:spPr>
          <a:xfrm>
            <a:off x="548640" y="452628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4"/>
                </a:solidFill>
              </a:rPr>
              <a:t>EINORDNUNG AM FUNNEL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7548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10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23036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zusätzliche Projekte</a:t>
            </a:r>
            <a:endParaRPr lang="en-US" sz="950" dirty="0"/>
          </a:p>
        </p:txBody>
      </p:sp>
      <p:sp>
        <p:nvSpPr>
          <p:cNvPr id="38" name="Pfeil Funnel 1"/>
          <p:cNvSpPr/>
          <p:nvPr/>
        </p:nvSpPr>
        <p:spPr>
          <a:xfrm>
            <a:off x="3017520" y="4901184"/>
            <a:ext cx="237744" cy="18288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383280" y="47548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25.000 €</a:t>
            </a:r>
            <a:endParaRPr lang="en-US" sz="2200" dirty="0"/>
          </a:p>
        </p:txBody>
      </p:sp>
      <p:sp>
        <p:nvSpPr>
          <p:cNvPr id="40" name="Text 38"/>
          <p:cNvSpPr txBox="1"/>
          <p:nvPr/>
        </p:nvSpPr>
        <p:spPr>
          <a:xfrm>
            <a:off x="3383280" y="523036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CAC-Budget bei 2.500 € je Projekt</a:t>
            </a:r>
            <a:endParaRPr lang="en-US" sz="950" dirty="0"/>
          </a:p>
        </p:txBody>
      </p:sp>
      <p:sp>
        <p:nvSpPr>
          <p:cNvPr id="41" name="Pfeil Funnel 2"/>
          <p:cNvSpPr/>
          <p:nvPr/>
        </p:nvSpPr>
        <p:spPr>
          <a:xfrm>
            <a:off x="5852160" y="4901184"/>
            <a:ext cx="237744" cy="18288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17920" y="47548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2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6217920" y="523036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Abschlüsse (Quote laut VMT gut)</a:t>
            </a:r>
            <a:endParaRPr lang="en-US" sz="950" dirty="0"/>
          </a:p>
        </p:txBody>
      </p:sp>
      <p:sp>
        <p:nvSpPr>
          <p:cNvPr id="44" name="Pfeil Funnel 3"/>
          <p:cNvSpPr/>
          <p:nvPr/>
        </p:nvSpPr>
        <p:spPr>
          <a:xfrm>
            <a:off x="8686800" y="4901184"/>
            <a:ext cx="237744" cy="18288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052560" y="47548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≈ 500 T€</a:t>
            </a:r>
            <a:endParaRPr lang="en-US" sz="2200" dirty="0"/>
          </a:p>
        </p:txBody>
      </p:sp>
      <p:sp>
        <p:nvSpPr>
          <p:cNvPr id="46" name="Text 44"/>
          <p:cNvSpPr txBox="1"/>
          <p:nvPr/>
        </p:nvSpPr>
        <p:spPr>
          <a:xfrm>
            <a:off x="9052560" y="523036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Auftragsvolumen bei Ø 250 T€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2764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8404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chemeClr val="accent1"/>
                </a:solidFill>
              </a:rPr>
              <a:t>COMMERCIAL</a:t>
            </a:r>
            <a:endParaRPr lang="en-US" sz="85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Marktvolumen und Payback in Zentraleuropa</a:t>
            </a:r>
            <a:endParaRPr lang="en-US" sz="2200" dirty="0"/>
          </a:p>
        </p:txBody>
      </p:sp>
      <p:sp>
        <p:nvSpPr>
          <p:cNvPr id="4" name="Markt Fläche"/>
          <p:cNvSpPr/>
          <p:nvPr/>
        </p:nvSpPr>
        <p:spPr>
          <a:xfrm>
            <a:off x="548640" y="1463040"/>
            <a:ext cx="5120640" cy="36576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Label Relevante CT-Projekte · Schätzung"/>
          <p:cNvSpPr txBox="1"/>
          <p:nvPr/>
        </p:nvSpPr>
        <p:spPr>
          <a:xfrm>
            <a:off x="777240" y="164592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1"/>
                </a:solidFill>
              </a:rPr>
              <a:t>RELEVANTE CT-PROJEKTE · SCHÄTZUNG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20240"/>
          <a:ext cx="46634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4630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Bau (parallel)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Neue Vergaben p. a.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Deutschland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18–28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6–11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Österreich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8–14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Schweiz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8–14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Frankreich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8–14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Vereinigtes Königreich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2–4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Zentraleuropa gesamt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47–80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17–32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77240" y="4233672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3"/>
                </a:solidFill>
              </a:rPr>
              <a:t>Desk-Research: STUVA-Statistik 2024/25 (DE: 40 Verkehrstunnelprojekte im Bau, CT-Anteil ca. 40–50 %), Projektlisten von ASFINAG, ASTRA/SBB, CETU und HS2. Vergaben p. a. = Projekte im Bau ÷ Ø 2,5–4 Jahre Bauzeit. VMT-Einschätzung allein für DACH: 20–30 p. a., inkl. Losen und kleinerer Sanierungen.</a:t>
            </a:r>
            <a:endParaRPr lang="en-US" sz="850" dirty="0"/>
          </a:p>
        </p:txBody>
      </p:sp>
      <p:sp>
        <p:nvSpPr>
          <p:cNvPr id="8" name="Label Payback in Monaten · CAC-Budget 2.500 € je Projekt"/>
          <p:cNvSpPr txBox="1"/>
          <p:nvPr/>
        </p:nvSpPr>
        <p:spPr>
          <a:xfrm>
            <a:off x="5989320" y="1463040"/>
            <a:ext cx="566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chemeClr val="accent4"/>
                </a:solidFill>
              </a:rPr>
              <a:t>PAYBACK IN MONATEN · CAC-BUDGET 2.500 € JE PROJEKT</a:t>
            </a:r>
            <a:endParaRPr lang="en-US" sz="7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1737360"/>
          <a:ext cx="56692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Zusätzlich identifizierte Projekte p. a.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20 T€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30 T€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40 T€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Mon.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Mon.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Mon.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 Mon.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Mon.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 Mon.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 Mon.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 Mon.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Mon.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 Mon.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7,2 Mon.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 Mon.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A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989320" y="3611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Lesart: </a:t>
            </a:r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Payback = Monate, bis die zusätzlich identifizierten Projekte × 2.500 € die Kosten des Radars decken. Markiert: Payback innerhalb von 12 Monaten.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5989320" y="420624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Break-even: 8 Projekte bei 20 T€, 12 bei 30 T€ und 16 bei 40 T€ Kosten.</a:t>
            </a:r>
            <a:endParaRPr lang="en-US" sz="1050" dirty="0"/>
          </a:p>
        </p:txBody>
      </p:sp>
      <p:sp>
        <p:nvSpPr>
          <p:cNvPr id="12" name="Fazit Fläche"/>
          <p:cNvSpPr/>
          <p:nvPr/>
        </p:nvSpPr>
        <p:spPr>
          <a:xfrm>
            <a:off x="548640" y="5349240"/>
            <a:ext cx="11109960" cy="502920"/>
          </a:xfrm>
          <a:prstGeom prst="roundRect">
            <a:avLst>
              <a:gd name="adj" fmla="val 1090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77240" y="534924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Fazit:  </a:t>
            </a:r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Bei ca. 17–32 neuen CT-Vergaben pro Jahr amortisiert sich ein Radar mit 20–30 T€ Kosten innerhalb von 12 Monaten, wenn 8–12 Projekte zusätzlich identifiziert werden.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27648"/>
            <a:ext cx="5486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 Partner">
  <a:themeElements>
    <a:clrScheme name="SH Partner">
      <a:dk1>
        <a:srgbClr val="141B2E"/>
      </a:dk1>
      <a:lt1>
        <a:srgbClr val="FFFFFF"/>
      </a:lt1>
      <a:dk2>
        <a:srgbClr val="4A5A78"/>
      </a:dk2>
      <a:lt2>
        <a:srgbClr val="F2F3F5"/>
      </a:lt2>
      <a:accent1>
        <a:srgbClr val="1F6F7A"/>
      </a:accent1>
      <a:accent2>
        <a:srgbClr val="9C6F3F"/>
      </a:accent2>
      <a:accent3>
        <a:srgbClr val="5C6679"/>
      </a:accent3>
      <a:accent4>
        <a:srgbClr val="959DAC"/>
      </a:accent4>
      <a:accent5>
        <a:srgbClr val="D9DDE4"/>
      </a:accent5>
      <a:accent6>
        <a:srgbClr val="FBC000"/>
      </a:accent6>
      <a:hlink>
        <a:srgbClr val="1F6F7A"/>
      </a:hlink>
      <a:folHlink>
        <a:srgbClr val="4A5A78"/>
      </a:folHlink>
    </a:clrScheme>
    <a:fontScheme name="SH Partn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SH&amp;Partner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KI-gestützter Vertrieb im Conventional Tunneling</dc:title>
  <dc:subject>PptxGenJS Presentation</dc:subject>
  <dc:creator>SH&amp;Partner</dc:creator>
  <cp:lastModifiedBy>SH&amp;Partner</cp:lastModifiedBy>
  <cp:revision>1</cp:revision>
  <dcterms:created xsi:type="dcterms:W3CDTF">2026-10-19T07:36:24Z</dcterms:created>
  <dcterms:modified xsi:type="dcterms:W3CDTF">2026-10-19T07:36:24Z</dcterms:modified>
</cp:coreProperties>
</file>