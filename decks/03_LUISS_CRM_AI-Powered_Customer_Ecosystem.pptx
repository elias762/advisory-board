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Least messy</c:v>
                </c:pt>
              </c:strCache>
            </c:strRef>
          </c:tx>
          <c:spPr>
            <a:solidFill>
              <a:srgbClr val="D9E8F8"/>
            </a:solidFill>
            <a:ln>
              <a:noFill/>
            </a:ln>
            <a:effectLst/>
          </c:spPr>
          <c:marker>
            <c:symbol val="circle"/>
            <c:size val="9"/>
            <c:spPr>
              <a:solidFill>
                <a:srgbClr val="D9E8F8"/>
              </a:solidFill>
              <a:ln w="9525" cap="flat">
                <a:solidFill>
                  <a:srgbClr val="D9E8F8"/>
                </a:solidFill>
                <a:prstDash val="solid"/>
                <a:round/>
              </a:ln>
              <a:effectLst/>
            </c:spPr>
          </c:marker>
          <c:xVal>
            <c:numRef>
              <c:f>Sheet1!$A$2:$A$10</c:f>
              <c:numCache>
                <c:formatCode>General</c:formatCode>
                <c:ptCount val="9"/>
                <c:pt idx="0">
                  <c:v>2022.15</c:v>
                </c:pt>
                <c:pt idx="1">
                  <c:v>2023.05</c:v>
                </c:pt>
                <c:pt idx="2">
                  <c:v>2023.65</c:v>
                </c:pt>
                <c:pt idx="3">
                  <c:v>2024.1</c:v>
                </c:pt>
                <c:pt idx="4">
                  <c:v>2024.2</c:v>
                </c:pt>
                <c:pt idx="5">
                  <c:v>2024.42</c:v>
                </c:pt>
                <c:pt idx="6">
                  <c:v>2024.52</c:v>
                </c:pt>
                <c:pt idx="7">
                  <c:v>2024.62</c:v>
                </c:pt>
                <c:pt idx="8">
                  <c:v>2024.83</c:v>
                </c:pt>
              </c:numCache>
            </c:numRef>
          </c:xVal>
          <c:yVal>
            <c:numRef>
              <c:f>Sheet1!$B$2:$B$10</c:f>
              <c:numCache>
                <c:formatCode>General</c:formatCode>
                <c:ptCount val="9"/>
                <c:pt idx="0">
                  <c:v>1</c:v>
                </c:pt>
                <c:pt idx="1">
                  <c:v>47</c:v>
                </c:pt>
                <c:pt idx="2">
                  <c:v>64</c:v>
                </c:pt>
                <c:pt idx="3">
                  <c:v>64</c:v>
                </c:pt>
                <c:pt idx="4">
                  <c:v>71</c:v>
                </c:pt>
                <c:pt idx="5">
                  <c:v>73</c:v>
                </c:pt>
                <c:pt idx="6">
                  <c:v>84</c:v>
                </c:pt>
                <c:pt idx="7">
                  <c:v>81</c:v>
                </c:pt>
                <c:pt idx="8">
                  <c:v>95</c:v>
                </c:pt>
              </c:numCache>
            </c:numRef>
          </c:yVal>
          <c:smooth val="0"/>
        </c:ser>
        <c:ser>
          <c:idx val="1"/>
          <c:order val="1"/>
          <c:tx>
            <c:strRef>
              <c:f>Sheet1!$C$1</c:f>
              <c:strCache>
                <c:ptCount val="1"/>
                <c:pt idx="0">
                  <c:v>Messiest</c:v>
                </c:pt>
              </c:strCache>
            </c:strRef>
          </c:tx>
          <c:spPr>
            <a:solidFill>
              <a:srgbClr val="4A8FDB"/>
            </a:solidFill>
            <a:ln>
              <a:noFill/>
            </a:ln>
            <a:effectLst/>
          </c:spPr>
          <c:marker>
            <c:symbol val="circle"/>
            <c:size val="9"/>
            <c:spPr>
              <a:solidFill>
                <a:srgbClr val="4A8FDB"/>
              </a:solidFill>
              <a:ln w="9525" cap="flat">
                <a:solidFill>
                  <a:srgbClr val="4A8FDB"/>
                </a:solidFill>
                <a:prstDash val="solid"/>
                <a:round/>
              </a:ln>
              <a:effectLst/>
            </c:spPr>
          </c:marker>
          <c:xVal>
            <c:numRef>
              <c:f>Sheet1!$A$2:$A$10</c:f>
              <c:numCache>
                <c:formatCode>General</c:formatCode>
                <c:ptCount val="9"/>
                <c:pt idx="0">
                  <c:v>2022.15</c:v>
                </c:pt>
                <c:pt idx="1">
                  <c:v>2023.05</c:v>
                </c:pt>
                <c:pt idx="2">
                  <c:v>2023.65</c:v>
                </c:pt>
                <c:pt idx="3">
                  <c:v>2024.1</c:v>
                </c:pt>
                <c:pt idx="4">
                  <c:v>2024.2</c:v>
                </c:pt>
                <c:pt idx="5">
                  <c:v>2024.42</c:v>
                </c:pt>
                <c:pt idx="6">
                  <c:v>2024.52</c:v>
                </c:pt>
                <c:pt idx="7">
                  <c:v>2024.62</c:v>
                </c:pt>
                <c:pt idx="8">
                  <c:v>2024.83</c:v>
                </c:pt>
              </c:numCache>
            </c:numRef>
          </c:xVal>
          <c:yVal>
            <c:numRef>
              <c:f>Sheet1!$C$2:$C$10</c:f>
              <c:numCache>
                <c:formatCode>General</c:formatCode>
                <c:ptCount val="9"/>
                <c:pt idx="0">
                  <c:v>0.5</c:v>
                </c:pt>
                <c:pt idx="1">
                  <c:v>21</c:v>
                </c:pt>
                <c:pt idx="2">
                  <c:v>22</c:v>
                </c:pt>
                <c:pt idx="3">
                  <c:v>17</c:v>
                </c:pt>
                <c:pt idx="4">
                  <c:v>36</c:v>
                </c:pt>
                <c:pt idx="5">
                  <c:v>42</c:v>
                </c:pt>
                <c:pt idx="6">
                  <c:v>40</c:v>
                </c:pt>
                <c:pt idx="7">
                  <c:v>50</c:v>
                </c:pt>
                <c:pt idx="8">
                  <c:v>62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25.5"/>
          <c:min val="2022"/>
        </c:scaling>
        <c:delete val="0"/>
        <c:axPos val="b"/>
        <c:majorGridlines>
          <c:spPr>
            <a:ln w="9525" cap="flat">
              <a:solidFill>
                <a:srgbClr val="2A3170"/>
              </a:solidFill>
              <a:prstDash val="solid"/>
              <a:round/>
            </a:ln>
          </c:spPr>
        </c:majorGridlines>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C9D3E3"/>
                </a:solidFill>
                <a:latin typeface="+mn-lt"/>
              </a:defRPr>
            </a:pPr>
            <a:endParaRPr lang="en-US"/>
          </a:p>
        </c:txPr>
        <c:crossAx val="2094734552"/>
        <c:crosses val="autoZero"/>
        <c:auto val="1"/>
        <c:lblAlgn val="ctr"/>
        <c:noMultiLvlLbl val="1"/>
        <c:majorUnit val="1"/>
      </c:valAx>
      <c:valAx>
        <c:axId val="2094734552"/>
        <c:scaling>
          <c:orientation val="minMax"/>
          <c:max val="100"/>
          <c:min val="0"/>
        </c:scaling>
        <c:delete val="0"/>
        <c:axPos val="l"/>
        <c:majorGridlines>
          <c:spPr>
            <a:ln w="9525" cap="flat">
              <a:solidFill>
                <a:srgbClr val="2A317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C9D3E3"/>
                </a:solidFill>
                <a:latin typeface="+mn-lt"/>
              </a:defRPr>
            </a:pPr>
            <a:endParaRPr lang="en-US"/>
          </a:p>
        </c:txPr>
        <c:crossAx val="2094734554"/>
        <c:crosses val="autoZero"/>
        <c:crossBetween val="midCat"/>
        <c:majorUnit val="20"/>
      </c:valAx>
      <c:spPr>
        <a:solidFill>
          <a:srgbClr val="0F1341"/>
        </a:solidFill>
        <a:ln>
          <a:noFill/>
        </a:ln>
        <a:effectLst/>
      </c:spPr>
    </c:plotArea>
    <c:legend>
      <c:legendPos val="b"/>
      <c:overlay val="0"/>
      <c:txPr>
        <a:bodyPr/>
        <a:lstStyle/>
        <a:p>
          <a:pPr>
            <a:defRPr sz="1000">
              <a:solidFill>
                <a:srgbClr val="FFFFF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Units shipped</c:v>
                </c:pt>
              </c:strCache>
            </c:strRef>
          </c:tx>
          <c:spPr>
            <a:solidFill>
              <a:srgbClr val="0F1341"/>
            </a:solidFill>
            <a:effectLst/>
          </c:spPr>
          <c:invertIfNegative val="0"/>
          <c:dLbls>
            <c:numFmt formatCode="#,##0" sourceLinked="0"/>
            <c:txPr>
              <a:bodyPr/>
              <a:lstStyle/>
              <a:p>
                <a:pPr>
                  <a:defRPr b="0" i="0" strike="noStrike" sz="1100" u="none">
                    <a:solidFill>
                      <a:srgbClr val="0F1341"/>
                    </a:solidFill>
                    <a:latin typeface="+mn-lt"/>
                  </a:defRPr>
                </a:pPr>
              </a:p>
            </c:txPr>
            <c:showLegendKey val="0"/>
            <c:showVal val="1"/>
            <c:showCatName val="0"/>
            <c:showSerName val="0"/>
            <c:showPercent val="0"/>
            <c:showBubbleSize val="0"/>
            <c:showLeaderLines val="0"/>
          </c:dLbls>
          <c:cat>
            <c:multiLvlStrRef>
              <c:f>Sheet1!$A$2:$A$3</c:f>
              <c:multiLvlStrCache>
                <c:ptCount val="2"/>
                <c:lvl>
                  <c:pt idx="0">
                    <c:v>North</c:v>
                  </c:pt>
                  <c:pt idx="1">
                    <c:v>South</c:v>
                  </c:pt>
                </c:lvl>
              </c:multiLvlStrCache>
            </c:multiLvlStrRef>
          </c:cat>
          <c:val>
            <c:numRef>
              <c:f>Sheet1!$B$2:$B$3</c:f>
              <c:numCache>
                <c:formatCode>General</c:formatCode>
                <c:ptCount val="2"/>
                <c:pt idx="0">
                  <c:v>1000</c:v>
                </c:pt>
                <c:pt idx="1">
                  <c:v>300</c:v>
                </c:pt>
              </c:numCache>
            </c:numRef>
          </c:val>
        </c:ser>
        <c:ser>
          <c:idx val="1"/>
          <c:order val="1"/>
          <c:tx>
            <c:strRef>
              <c:f>Sheet1!$C$1</c:f>
              <c:strCache>
                <c:ptCount val="1"/>
                <c:pt idx="0">
                  <c:v>Units sold</c:v>
                </c:pt>
              </c:strCache>
            </c:strRef>
          </c:tx>
          <c:spPr>
            <a:solidFill>
              <a:srgbClr val="4A8FDB"/>
            </a:solidFill>
            <a:effectLst/>
          </c:spPr>
          <c:invertIfNegative val="0"/>
          <c:dLbls>
            <c:numFmt formatCode="#,##0" sourceLinked="0"/>
            <c:txPr>
              <a:bodyPr/>
              <a:lstStyle/>
              <a:p>
                <a:pPr>
                  <a:defRPr b="0" i="0" strike="noStrike" sz="1100" u="none">
                    <a:solidFill>
                      <a:srgbClr val="0F1341"/>
                    </a:solidFill>
                    <a:latin typeface="+mn-lt"/>
                  </a:defRPr>
                </a:pPr>
              </a:p>
            </c:txPr>
            <c:showLegendKey val="0"/>
            <c:showVal val="1"/>
            <c:showCatName val="0"/>
            <c:showSerName val="0"/>
            <c:showPercent val="0"/>
            <c:showBubbleSize val="0"/>
            <c:showLeaderLines val="0"/>
          </c:dLbls>
          <c:cat>
            <c:multiLvlStrRef>
              <c:f>Sheet1!$A$2:$A$3</c:f>
              <c:multiLvlStrCache>
                <c:ptCount val="2"/>
                <c:lvl>
                  <c:pt idx="0">
                    <c:v>North</c:v>
                  </c:pt>
                  <c:pt idx="1">
                    <c:v>South</c:v>
                  </c:pt>
                </c:lvl>
              </c:multiLvlStrCache>
            </c:multiLvlStrRef>
          </c:cat>
          <c:val>
            <c:numRef>
              <c:f>Sheet1!$C$2:$C$3</c:f>
              <c:numCache>
                <c:formatCode>General</c:formatCode>
                <c:ptCount val="2"/>
                <c:pt idx="0">
                  <c:v>400</c:v>
                </c:pt>
                <c:pt idx="1">
                  <c:v>290</c:v>
                </c:pt>
              </c:numCache>
            </c:numRef>
          </c:val>
        </c:ser>
        <c:dLbls>
          <c:numFmt formatCode="#,##0" sourceLinked="0"/>
          <c:txPr>
            <a:bodyPr/>
            <a:lstStyle/>
            <a:p>
              <a:pPr>
                <a:defRPr b="0" i="0" strike="noStrike" sz="1100" u="none">
                  <a:solidFill>
                    <a:srgbClr val="0F1341"/>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341"/>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27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Menti survey (placeholder — insert join code and QR). Run the five questions back to back, about 60 seconds each. Read out one surprising answer per question. Save the results: questions marked “repeat” are asked again at the end.
1. One word: what is a CRM to you today?
2. Who holds the most valuable customer information?  Options: Manufacturer · distributor · retailer · consumer
3. As CEO of a consumer brand, what would you invest in first?  Options: Marketing · data integration · AI forecast
4. How much would you let an AI forecast decide your production plan?
5. By 2030, who manages customer relationships?  Options: People · AI agents ·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 live demo by Emidio (approx. 5–7 minutes). The workflow connects millions of data points from many sources into one decision. Frame it with the lecture's lens: applied to a value chain: linking supply data and customer behaviour.
Afterwards ask the room: what would this have taken a team ten years ago? Bridge to the title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case: a fictional European sports-drink brand — produces, ships to distributors, sells through retailers and its own shop, barely knows its end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1 — adoption speed. Netflix needed 3.5 years, Airbnb 2.5, Twitter 2. ChatGPT needed five days (launch Nov 30, 2022). The bar for ChatGPT is barely visible — that is the point. For CRM: customers now ask an AI assistant before they ask your brand — a new channel nobody owns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2 — capability speed. In 2024 the best model scored around 96 on an offline IQ test (not in any training data). In 2025 the best model (o3) reached 136 on the Mensa Norway test — roughly the top 1% of people. Caveat to say out loud: IQ tests measure pattern reasoning, not judgement or experience. Ask: if AI reasons this well, why do most companies still decide production with spreadsheets?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3 — reality check. METR measured AI success on tasks that take a human professional one hour or less. On clean, well-defined tasks success went from ~0 to ~95% within three years; on messy tasks — unclear goals, many tools, changing context — it is around 60%. Most real jobs are messy. For CRM: forecasting a clean data series is easy for AI; aligning four actors in a value chain is messy.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4 — what becomes valuable. Top right quadrant = core now and growing: AI and big data leads by far, followed by technological literacy, creative and analytical thinking, resilience, curiosity and lifelong learning. Programming sits lower than people expect — AI writes code. CRM roles move to AI and big data + systems thinking — exactly the top-right quadrant.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5 — the bridge to today's topic. Human intelligence brings judgement, context, trust and responsibility. Artificial intelligence brings speed, scale and pattern recognition. Augmented intelligence is the overlap — and that is where the rest of this lecture lives. 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Middle column: most companies today — an AI layer on top of the same silos. Right column: the rethink — the CRM becomes a shared evidence structure across the value chain, with agents that 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for the session. Governance point early: integration rests on permitted access, suitable identifiers and clear governance. For most decisions, aggregate sales by product × region × week are enough — no person-level join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Menti open text option: in your last purchase, where did the manufacturer learn anything about you? Usually: nowhere. That is the gap. Two logics in one company: B2B upwards to the distributor, B2C downwards to the consumer.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answer: redistribute. Push back on cost, shelf life, expected demand. The correct Menti answer is “cannot know from this data” — that is the lesson. Students then estimate what better availability could be worth, tagged “estimated”.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with Claude Code: students choose the new input — a third region, last year's demand, returns or a promotion calendar. Claude Code adds it to the prepared app, the dashboard recalculates and a new recommendation appears. Synthetic data, one live change. Bridge: recommendation agents, IoT shelf sensors and RFID are further behavioural sources with weight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engine is a data producer for the shared structure. BMV complements the CRM: own data for serving today's customers, external and behavioural evidence for betting on new channels or categories.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hidden slice is a quick test of a recommendation, not market validation — say so. Two or three pitches; the rest via Menti.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rethink. Pair discussion (2 min): would you pay a key-account manager for a documented distributor objection the same as for an order? Then repeat Menti question 3 and the closing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Menti question 3, compare with the first vote.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image-1005-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user/work/assets/wave_content.png">    </p:cNvPr>
          <p:cNvPicPr>
            <a:picLocks noChangeAspect="1"/>
          </p:cNvPicPr>
          <p:nvPr/>
        </p:nvPicPr>
        <p:blipFill>
          <a:blip r:embed="rId1"/>
          <a:stretch>
            <a:fillRect/>
          </a:stretch>
        </p:blipFill>
        <p:spPr>
          <a:xfrm>
            <a:off x="6339535" y="0"/>
            <a:ext cx="5852160" cy="2011680"/>
          </a:xfrm>
          <a:prstGeom prst="rect">
            <a:avLst/>
          </a:prstGeom>
        </p:spPr>
      </p:pic>
      <p:pic>
        <p:nvPicPr>
          <p:cNvPr id="3" name="Image 1" descr="/home/user/work/assets/logo_t.png">    </p:cNvPr>
          <p:cNvPicPr>
            <a:picLocks noChangeAspect="1"/>
          </p:cNvPicPr>
          <p:nvPr/>
        </p:nvPicPr>
        <p:blipFill>
          <a:blip r:embed="rId2"/>
          <a:stretch>
            <a:fillRect/>
          </a:stretch>
        </p:blipFill>
        <p:spPr>
          <a:xfrm>
            <a:off x="566928" y="6291072"/>
            <a:ext cx="1143000" cy="420624"/>
          </a:xfrm>
          <a:prstGeom prst="rect">
            <a:avLst/>
          </a:prstGeom>
        </p:spPr>
      </p:pic>
      <p:sp>
        <p:nvSpPr>
          <p:cNvPr id="4" name="Text 0"/>
          <p:cNvSpPr/>
          <p:nvPr>
            <p:ph idx="102" type="title" hasCustomPrompt="1"/>
          </p:nvPr>
        </p:nvSpPr>
        <p:spPr>
          <a:xfrm>
            <a:off x="548640" y="502920"/>
            <a:ext cx="7863840" cy="685800"/>
          </a:xfrm>
          <a:prstGeom prst="rect">
            <a:avLst/>
          </a:prstGeom>
          <a:noFill/>
          <a:ln/>
        </p:spPr>
        <p:txBody>
          <a:bodyPr wrap="square" rtlCol="0"/>
          <a:lstStyle>
            <a:lvl1pPr algn="l" indent="0" marL="0">
              <a:buNone/>
              <a:defRPr lang="en-US" sz="2800" b="1" dirty="0">
                <a:solidFill>
                  <a:srgbClr val="0F1341"/>
                </a:solidFill>
                <a:latin typeface="Montserrat" pitchFamily="34" charset="0"/>
                <a:ea typeface="Montserrat" pitchFamily="34" charset="-122"/>
                <a:cs typeface="Montserrat" pitchFamily="34" charset="-120"/>
              </a:defRPr>
            </a:lvl1pPr>
          </a:lstStyle>
          <a:p>
            <a:pPr algn="l" indent="0" marL="0">
              <a:buNone/>
            </a:pPr>
            <a:r>
              <a:rPr lang="en-US" sz="2800" b="1" dirty="0">
                <a:solidFill>
                  <a:srgbClr val="0F1341"/>
                </a:solidFill>
                <a:latin typeface="Montserrat" pitchFamily="34" charset="0"/>
                <a:ea typeface="Montserrat" pitchFamily="34" charset="-122"/>
                <a:cs typeface="Montserrat" pitchFamily="34" charset="-120"/>
              </a:rPr>
              <a:t>Title</a:t>
            </a:r>
            <a:endParaRPr lang="en-US" sz="2800" dirty="0"/>
          </a:p>
        </p:txBody>
      </p:sp>
      <p:sp>
        <p:nvSpPr>
          <p:cNvPr id="5" name="Text 0"/>
          <p:cNvSpPr/>
          <p:nvPr>
            <p:ph idx="103" type="body" hasCustomPrompt="1"/>
          </p:nvPr>
        </p:nvSpPr>
        <p:spPr>
          <a:xfrm>
            <a:off x="548640" y="1207008"/>
            <a:ext cx="8778240" cy="365760"/>
          </a:xfrm>
          <a:prstGeom prst="rect">
            <a:avLst/>
          </a:prstGeom>
          <a:noFill/>
          <a:ln/>
        </p:spPr>
        <p:txBody>
          <a:bodyPr wrap="square" rtlCol="0"/>
          <a:lstStyle>
            <a:lvl1pPr algn="l" indent="0" marL="0">
              <a:buNone/>
              <a:defRPr lang="en-US" sz="1300" dirty="0">
                <a:solidFill>
                  <a:srgbClr val="5B6270"/>
                </a:solidFill>
                <a:latin typeface="Montserrat" pitchFamily="34" charset="0"/>
                <a:ea typeface="Montserrat" pitchFamily="34" charset="-122"/>
                <a:cs typeface="Montserrat" pitchFamily="34" charset="-120"/>
              </a:defRPr>
            </a:lvl1pPr>
          </a:lstStyle>
          <a:p>
            <a:pPr algn="l" indent="0" marL="0">
              <a:buNone/>
            </a:pPr>
            <a:r>
              <a:rPr lang="en-US" sz="1300" dirty="0">
                <a:solidFill>
                  <a:srgbClr val="5B6270"/>
                </a:solidFill>
                <a:latin typeface="Montserrat" pitchFamily="34" charset="0"/>
                <a:ea typeface="Montserrat" pitchFamily="34" charset="-122"/>
                <a:cs typeface="Montserrat" pitchFamily="34" charset="-120"/>
              </a:rPr>
              <a:t>Subtitle</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341"/>
        </a:solidFill>
      </p:bgPr>
    </p:bg>
    <p:spTree>
      <p:nvGrpSpPr>
        <p:cNvPr id="1" name=""/>
        <p:cNvGrpSpPr/>
        <p:nvPr/>
      </p:nvGrpSpPr>
      <p:grpSpPr>
        <a:xfrm>
          <a:off x="0" y="0"/>
          <a:ext cx="0" cy="0"/>
          <a:chOff x="0" y="0"/>
          <a:chExt cx="0" cy="0"/>
        </a:xfrm>
      </p:grpSpPr>
      <p:pic>
        <p:nvPicPr>
          <p:cNvPr id="2" name="Image 0" descr="/home/user/work/assets/wave_content_dark.png">    </p:cNvPr>
          <p:cNvPicPr>
            <a:picLocks noChangeAspect="1"/>
          </p:cNvPicPr>
          <p:nvPr/>
        </p:nvPicPr>
        <p:blipFill>
          <a:blip r:embed="rId1"/>
          <a:stretch>
            <a:fillRect/>
          </a:stretch>
        </p:blipFill>
        <p:spPr>
          <a:xfrm>
            <a:off x="6339535" y="0"/>
            <a:ext cx="5852160" cy="2011680"/>
          </a:xfrm>
          <a:prstGeom prst="rect">
            <a:avLst/>
          </a:prstGeom>
        </p:spPr>
      </p:pic>
      <p:sp>
        <p:nvSpPr>
          <p:cNvPr id="3" name="Text 0"/>
          <p:cNvSpPr/>
          <p:nvPr>
            <p:ph idx="101" type="title" hasCustomPrompt="1"/>
          </p:nvPr>
        </p:nvSpPr>
        <p:spPr>
          <a:xfrm>
            <a:off x="548640" y="502920"/>
            <a:ext cx="8412480" cy="777240"/>
          </a:xfrm>
          <a:prstGeom prst="rect">
            <a:avLst/>
          </a:prstGeom>
          <a:noFill/>
          <a:ln/>
        </p:spPr>
        <p:txBody>
          <a:bodyPr wrap="square" rtlCol="0"/>
          <a:lstStyle>
            <a:lvl1pPr algn="l" indent="0" marL="0">
              <a:buNone/>
              <a:defRPr lang="en-US" sz="3000" b="1" dirty="0">
                <a:solidFill>
                  <a:srgbClr val="FFFFFF"/>
                </a:solidFill>
                <a:latin typeface="Montserrat" pitchFamily="34" charset="0"/>
                <a:ea typeface="Montserrat" pitchFamily="34" charset="-122"/>
                <a:cs typeface="Montserrat" pitchFamily="34" charset="-120"/>
              </a:defRPr>
            </a:lvl1pPr>
          </a:lstStyle>
          <a:p>
            <a:pPr algn="l" indent="0" marL="0">
              <a:buNone/>
            </a:pPr>
            <a:r>
              <a:rPr lang="en-US" sz="3000" b="1" dirty="0">
                <a:solidFill>
                  <a:srgbClr val="FFFFFF"/>
                </a:solidFill>
                <a:latin typeface="Montserrat" pitchFamily="34" charset="0"/>
                <a:ea typeface="Montserrat" pitchFamily="34" charset="-122"/>
                <a:cs typeface="Montserrat" pitchFamily="34" charset="-120"/>
              </a:rPr>
              <a:t>Title</a:t>
            </a:r>
            <a:endParaRPr lang="en-US" sz="3000" dirty="0"/>
          </a:p>
        </p:txBody>
      </p:sp>
      <p:sp>
        <p:nvSpPr>
          <p:cNvPr id="4" name="Text 0"/>
          <p:cNvSpPr/>
          <p:nvPr>
            <p:ph idx="102" type="body" hasCustomPrompt="1"/>
          </p:nvPr>
        </p:nvSpPr>
        <p:spPr>
          <a:xfrm>
            <a:off x="548640" y="1298448"/>
            <a:ext cx="9326880" cy="411480"/>
          </a:xfrm>
          <a:prstGeom prst="rect">
            <a:avLst/>
          </a:prstGeom>
          <a:noFill/>
          <a:ln/>
        </p:spPr>
        <p:txBody>
          <a:bodyPr wrap="square" rtlCol="0"/>
          <a:lstStyle>
            <a:lvl1pPr algn="l" indent="0" marL="0">
              <a:buNone/>
              <a:defRPr lang="en-US" sz="1400" dirty="0">
                <a:solidFill>
                  <a:srgbClr val="C9D3E3"/>
                </a:solidFill>
                <a:latin typeface="Montserrat" pitchFamily="34" charset="0"/>
                <a:ea typeface="Montserrat" pitchFamily="34" charset="-122"/>
                <a:cs typeface="Montserrat" pitchFamily="34" charset="-120"/>
              </a:defRPr>
            </a:lvl1pPr>
          </a:lstStyle>
          <a:p>
            <a:pPr algn="l" indent="0" marL="0">
              <a:buNone/>
            </a:pPr>
            <a:r>
              <a:rPr lang="en-US" sz="1400" dirty="0">
                <a:solidFill>
                  <a:srgbClr val="C9D3E3"/>
                </a:solidFill>
                <a:latin typeface="Montserrat" pitchFamily="34" charset="0"/>
                <a:ea typeface="Montserrat" pitchFamily="34" charset="-122"/>
                <a:cs typeface="Montserrat" pitchFamily="34" charset="-120"/>
              </a:rPr>
              <a:t>Subtitle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0F1341"/>
        </a:solidFill>
      </p:bgPr>
    </p:bg>
    <p:spTree>
      <p:nvGrpSpPr>
        <p:cNvPr id="1" name=""/>
        <p:cNvGrpSpPr/>
        <p:nvPr/>
      </p:nvGrpSpPr>
      <p:grpSpPr>
        <a:xfrm>
          <a:off x="0" y="0"/>
          <a:ext cx="0" cy="0"/>
          <a:chOff x="0" y="0"/>
          <a:chExt cx="0" cy="0"/>
        </a:xfrm>
      </p:grpSpPr>
      <p:pic>
        <p:nvPicPr>
          <p:cNvPr id="2" name="Image 0" descr="/home/user/work/assets/wave_content_dark.png">    </p:cNvPr>
          <p:cNvPicPr>
            <a:picLocks noChangeAspect="1"/>
          </p:cNvPicPr>
          <p:nvPr/>
        </p:nvPicPr>
        <p:blipFill>
          <a:blip r:embed="rId1"/>
          <a:stretch>
            <a:fillRect/>
          </a:stretch>
        </p:blipFill>
        <p:spPr>
          <a:xfrm>
            <a:off x="6339535" y="0"/>
            <a:ext cx="5852160" cy="2011680"/>
          </a:xfrm>
          <a:prstGeom prst="rect">
            <a:avLst/>
          </a:prstGeom>
        </p:spPr>
      </p:pic>
      <p:sp>
        <p:nvSpPr>
          <p:cNvPr id="3" name="Text 0"/>
          <p:cNvSpPr/>
          <p:nvPr>
            <p:ph idx="101" type="title" hasCustomPrompt="1"/>
          </p:nvPr>
        </p:nvSpPr>
        <p:spPr>
          <a:xfrm>
            <a:off x="548640" y="685800"/>
            <a:ext cx="9509760" cy="1280160"/>
          </a:xfrm>
          <a:prstGeom prst="rect">
            <a:avLst/>
          </a:prstGeom>
          <a:noFill/>
          <a:ln/>
        </p:spPr>
        <p:txBody>
          <a:bodyPr wrap="square" rtlCol="0"/>
          <a:lstStyle>
            <a:lvl1pPr algn="l" indent="0" marL="0">
              <a:buNone/>
              <a:defRPr lang="en-US" sz="3400" b="1" dirty="0">
                <a:solidFill>
                  <a:srgbClr val="FFFFFF"/>
                </a:solidFill>
                <a:latin typeface="Montserrat" pitchFamily="34" charset="0"/>
                <a:ea typeface="Montserrat" pitchFamily="34" charset="-122"/>
                <a:cs typeface="Montserrat" pitchFamily="34" charset="-120"/>
              </a:defRPr>
            </a:lvl1pPr>
          </a:lstStyle>
          <a:p>
            <a:pPr algn="l" indent="0" marL="0">
              <a:buNone/>
            </a:pPr>
            <a:r>
              <a:rPr lang="en-US" sz="3400" b="1" dirty="0">
                <a:solidFill>
                  <a:srgbClr val="FFFFFF"/>
                </a:solidFill>
                <a:latin typeface="Montserrat" pitchFamily="34" charset="0"/>
                <a:ea typeface="Montserrat" pitchFamily="34" charset="-122"/>
                <a:cs typeface="Montserrat" pitchFamily="34" charset="-120"/>
              </a:rPr>
              <a:t>Title</a:t>
            </a:r>
            <a:endParaRPr lang="en-US" sz="3400" dirty="0"/>
          </a:p>
        </p:txBody>
      </p:sp>
      <p:sp>
        <p:nvSpPr>
          <p:cNvPr id="4" name="Text 0"/>
          <p:cNvSpPr/>
          <p:nvPr>
            <p:ph idx="102" type="body" hasCustomPrompt="1"/>
          </p:nvPr>
        </p:nvSpPr>
        <p:spPr>
          <a:xfrm>
            <a:off x="548640" y="2057400"/>
            <a:ext cx="9509760" cy="411480"/>
          </a:xfrm>
          <a:prstGeom prst="rect">
            <a:avLst/>
          </a:prstGeom>
          <a:noFill/>
          <a:ln/>
        </p:spPr>
        <p:txBody>
          <a:bodyPr wrap="square" rtlCol="0"/>
          <a:lstStyle>
            <a:lvl1pPr algn="l" indent="0" marL="0">
              <a:buNone/>
              <a:defRPr lang="en-US" sz="1600" dirty="0">
                <a:solidFill>
                  <a:srgbClr val="4A8FDB"/>
                </a:solidFill>
                <a:latin typeface="Montserrat" pitchFamily="34" charset="0"/>
                <a:ea typeface="Montserrat" pitchFamily="34" charset="-122"/>
                <a:cs typeface="Montserrat" pitchFamily="34" charset="-120"/>
              </a:defRPr>
            </a:lvl1pPr>
          </a:lstStyle>
          <a:p>
            <a:pPr algn="l" indent="0" marL="0">
              <a:buNone/>
            </a:pPr>
            <a:r>
              <a:rPr lang="en-US" sz="1600" dirty="0">
                <a:solidFill>
                  <a:srgbClr val="4A8FDB"/>
                </a:solidFill>
                <a:latin typeface="Montserrat" pitchFamily="34" charset="0"/>
                <a:ea typeface="Montserrat" pitchFamily="34" charset="-122"/>
                <a:cs typeface="Montserrat" pitchFamily="34" charset="-120"/>
              </a:rPr>
              <a:t>Subtitle</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pic>
        <p:nvPicPr>
          <p:cNvPr id="2" name="Image 0" descr="/home/user/work/assets/wave_title.png">    </p:cNvPr>
          <p:cNvPicPr>
            <a:picLocks noChangeAspect="1"/>
          </p:cNvPicPr>
          <p:nvPr/>
        </p:nvPicPr>
        <p:blipFill>
          <a:blip r:embed="rId1"/>
          <a:stretch>
            <a:fillRect/>
          </a:stretch>
        </p:blipFill>
        <p:spPr>
          <a:xfrm>
            <a:off x="5333695" y="0"/>
            <a:ext cx="6858000" cy="6858000"/>
          </a:xfrm>
          <a:prstGeom prst="rect">
            <a:avLst/>
          </a:prstGeom>
        </p:spPr>
      </p:pic>
      <p:pic>
        <p:nvPicPr>
          <p:cNvPr id="3" name="Image 1" descr="/home/user/work/assets/logo_t.png">    </p:cNvPr>
          <p:cNvPicPr>
            <a:picLocks noChangeAspect="1"/>
          </p:cNvPicPr>
          <p:nvPr/>
        </p:nvPicPr>
        <p:blipFill>
          <a:blip r:embed="rId2"/>
          <a:stretch>
            <a:fillRect/>
          </a:stretch>
        </p:blipFill>
        <p:spPr>
          <a:xfrm>
            <a:off x="566928" y="292608"/>
            <a:ext cx="1792224" cy="65836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2.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548640" y="502920"/>
            <a:ext cx="8412480" cy="777240"/>
          </a:xfrm>
          <a:prstGeom prst="rect">
            <a:avLst/>
          </a:prstGeom>
          <a:noFill/>
          <a:ln/>
        </p:spPr>
        <p:txBody>
          <a:bodyPr wrap="square" lIns="0" tIns="0" rIns="0" bIns="0" rtlCol="0" anchor="t"/>
          <a:lstStyle/>
          <a:p>
            <a:pPr algn="l" indent="0" marL="0">
              <a:buNone/>
            </a:pPr>
            <a:r>
              <a:rPr lang="en-US" sz="3000" b="1" dirty="0">
                <a:solidFill>
                  <a:srgbClr val="FFFFFF"/>
                </a:solidFill>
                <a:latin typeface="Montserrat" pitchFamily="34" charset="0"/>
                <a:ea typeface="Montserrat" pitchFamily="34" charset="-122"/>
                <a:cs typeface="Montserrat" pitchFamily="34" charset="-120"/>
              </a:rPr>
              <a:t>Before we start: your view on AI</a:t>
            </a:r>
            <a:endParaRPr lang="en-US" sz="3000" dirty="0"/>
          </a:p>
        </p:txBody>
      </p:sp>
      <p:sp>
        <p:nvSpPr>
          <p:cNvPr id="3" name="Text 0"/>
          <p:cNvSpPr/>
          <p:nvPr>
            <p:ph idx="102" type="body" hasCustomPrompt="1"/>
          </p:nvPr>
        </p:nvSpPr>
        <p:spPr>
          <a:xfrm>
            <a:off x="548640" y="1298448"/>
            <a:ext cx="9326880" cy="411480"/>
          </a:xfrm>
          <a:prstGeom prst="rect">
            <a:avLst/>
          </a:prstGeom>
          <a:noFill/>
          <a:ln/>
        </p:spPr>
        <p:txBody>
          <a:bodyPr wrap="square" lIns="0" tIns="0" rIns="0" bIns="0" rtlCol="0" anchor="t"/>
          <a:lstStyle/>
          <a:p>
            <a:pPr algn="l" indent="0" marL="0">
              <a:buNone/>
            </a:pPr>
            <a:r>
              <a:rPr lang="en-US" sz="1400" dirty="0">
                <a:solidFill>
                  <a:srgbClr val="C9D3E3"/>
                </a:solidFill>
                <a:latin typeface="Montserrat" pitchFamily="34" charset="0"/>
                <a:ea typeface="Montserrat" pitchFamily="34" charset="-122"/>
                <a:cs typeface="Montserrat" pitchFamily="34" charset="-120"/>
              </a:rPr>
              <a:t>Five quick questions on Menti — answers stay on screen and we come back to them at the end.</a:t>
            </a:r>
            <a:endParaRPr lang="en-US" sz="1400" dirty="0"/>
          </a:p>
        </p:txBody>
      </p:sp>
      <p:sp>
        <p:nvSpPr>
          <p:cNvPr id="5" name="Shape 2"/>
          <p:cNvSpPr/>
          <p:nvPr/>
        </p:nvSpPr>
        <p:spPr>
          <a:xfrm>
            <a:off x="548640" y="2011680"/>
            <a:ext cx="3017520" cy="4160520"/>
          </a:xfrm>
          <a:prstGeom prst="roundRect">
            <a:avLst>
              <a:gd name="adj" fmla="val 2424"/>
            </a:avLst>
          </a:prstGeom>
          <a:solidFill>
            <a:srgbClr val="1B2156"/>
          </a:solidFill>
          <a:ln w="15875">
            <a:solidFill>
              <a:srgbClr val="4A8FDB"/>
            </a:solidFill>
            <a:prstDash val="dash"/>
          </a:ln>
        </p:spPr>
      </p:sp>
      <p:pic>
        <p:nvPicPr>
          <p:cNvPr id="6" name="Image 0" descr="preencoded.png">    </p:cNvPr>
          <p:cNvPicPr>
            <a:picLocks noChangeAspect="1"/>
          </p:cNvPicPr>
          <p:nvPr/>
        </p:nvPicPr>
        <p:blipFill>
          <a:blip r:embed="rId1"/>
          <a:stretch>
            <a:fillRect/>
          </a:stretch>
        </p:blipFill>
        <p:spPr>
          <a:xfrm>
            <a:off x="1371600" y="2423160"/>
            <a:ext cx="1371600" cy="1371600"/>
          </a:xfrm>
          <a:prstGeom prst="rect">
            <a:avLst/>
          </a:prstGeom>
        </p:spPr>
      </p:pic>
      <p:sp>
        <p:nvSpPr>
          <p:cNvPr id="7" name="Shape 3"/>
          <p:cNvSpPr/>
          <p:nvPr/>
        </p:nvSpPr>
        <p:spPr>
          <a:xfrm>
            <a:off x="1188720" y="4023360"/>
            <a:ext cx="1737360" cy="274320"/>
          </a:xfrm>
          <a:prstGeom prst="roundRect">
            <a:avLst>
              <a:gd name="adj" fmla="val 26667"/>
            </a:avLst>
          </a:prstGeom>
          <a:solidFill>
            <a:srgbClr val="4A8FDB"/>
          </a:solidFill>
          <a:ln/>
        </p:spPr>
      </p:sp>
      <p:sp>
        <p:nvSpPr>
          <p:cNvPr id="8" name="Text 4"/>
          <p:cNvSpPr txBox="1"/>
          <p:nvPr/>
        </p:nvSpPr>
        <p:spPr>
          <a:xfrm>
            <a:off x="1188720" y="4023360"/>
            <a:ext cx="173736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PLACEHOLDER</a:t>
            </a:r>
            <a:endParaRPr lang="en-US" sz="900" dirty="0"/>
          </a:p>
        </p:txBody>
      </p:sp>
      <p:sp>
        <p:nvSpPr>
          <p:cNvPr id="9" name="Text 5"/>
          <p:cNvSpPr txBox="1"/>
          <p:nvPr/>
        </p:nvSpPr>
        <p:spPr>
          <a:xfrm>
            <a:off x="731520" y="4480560"/>
            <a:ext cx="265176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Interactive Menti survey</a:t>
            </a:r>
            <a:endParaRPr lang="en-US" sz="1400" dirty="0"/>
          </a:p>
        </p:txBody>
      </p:sp>
      <p:sp>
        <p:nvSpPr>
          <p:cNvPr id="10" name="Text 6"/>
          <p:cNvSpPr txBox="1"/>
          <p:nvPr/>
        </p:nvSpPr>
        <p:spPr>
          <a:xfrm>
            <a:off x="731520" y="4846320"/>
            <a:ext cx="2651760" cy="731520"/>
          </a:xfrm>
          <a:prstGeom prst="rect">
            <a:avLst/>
          </a:prstGeom>
          <a:noFill/>
          <a:ln/>
        </p:spPr>
        <p:txBody>
          <a:bodyPr wrap="square" lIns="0" tIns="0" rIns="0" bIns="0" rtlCol="0" anchor="t"/>
          <a:lstStyle/>
          <a:p>
            <a:pPr algn="ctr" indent="0" marL="0">
              <a:buNone/>
            </a:pPr>
            <a:r>
              <a:rPr lang="en-US" sz="1200" dirty="0">
                <a:solidFill>
                  <a:srgbClr val="C9D3E3"/>
                </a:solidFill>
                <a:latin typeface="Montserrat" pitchFamily="34" charset="0"/>
                <a:ea typeface="Montserrat" pitchFamily="34" charset="-122"/>
                <a:cs typeface="Montserrat" pitchFamily="34" charset="-120"/>
              </a:rPr>
              <a:t>menti.com  ·  code [ ____ ]</a:t>
            </a:r>
            <a:endParaRPr lang="en-US" sz="1200" dirty="0"/>
          </a:p>
          <a:p>
            <a:pPr algn="ctr" indent="0" marL="0">
              <a:buNone/>
            </a:pPr>
            <a:r>
              <a:rPr lang="en-US" sz="1200" dirty="0">
                <a:solidFill>
                  <a:srgbClr val="C9D3E3"/>
                </a:solidFill>
                <a:latin typeface="Montserrat" pitchFamily="34" charset="0"/>
                <a:ea typeface="Montserrat" pitchFamily="34" charset="-122"/>
                <a:cs typeface="Montserrat" pitchFamily="34" charset="-120"/>
              </a:rPr>
              <a:t>QR code + live results</a:t>
            </a:r>
            <a:endParaRPr lang="en-US" sz="1200" dirty="0"/>
          </a:p>
        </p:txBody>
      </p:sp>
      <p:sp>
        <p:nvSpPr>
          <p:cNvPr id="11" name="Shape 7"/>
          <p:cNvSpPr/>
          <p:nvPr/>
        </p:nvSpPr>
        <p:spPr>
          <a:xfrm>
            <a:off x="3840480" y="2011680"/>
            <a:ext cx="7799832" cy="758952"/>
          </a:xfrm>
          <a:prstGeom prst="roundRect">
            <a:avLst>
              <a:gd name="adj" fmla="val 9639"/>
            </a:avLst>
          </a:prstGeom>
          <a:solidFill>
            <a:srgbClr val="1B2156"/>
          </a:solidFill>
          <a:ln/>
        </p:spPr>
      </p:sp>
      <p:sp>
        <p:nvSpPr>
          <p:cNvPr id="12" name="Shape 8"/>
          <p:cNvSpPr/>
          <p:nvPr/>
        </p:nvSpPr>
        <p:spPr>
          <a:xfrm>
            <a:off x="4005072" y="2185416"/>
            <a:ext cx="411480" cy="411480"/>
          </a:xfrm>
          <a:prstGeom prst="ellipse">
            <a:avLst/>
          </a:prstGeom>
          <a:solidFill>
            <a:srgbClr val="4A8FDB"/>
          </a:solidFill>
          <a:ln/>
        </p:spPr>
      </p:sp>
      <p:sp>
        <p:nvSpPr>
          <p:cNvPr id="13" name="Text 9"/>
          <p:cNvSpPr txBox="1"/>
          <p:nvPr/>
        </p:nvSpPr>
        <p:spPr>
          <a:xfrm>
            <a:off x="4005072" y="2185416"/>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4" name="Text 10"/>
          <p:cNvSpPr txBox="1"/>
          <p:nvPr/>
        </p:nvSpPr>
        <p:spPr>
          <a:xfrm>
            <a:off x="4572000" y="2084832"/>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One word: what is a CRM to you today?</a:t>
            </a:r>
            <a:endParaRPr lang="en-US" sz="1300" dirty="0"/>
          </a:p>
        </p:txBody>
      </p:sp>
      <p:sp>
        <p:nvSpPr>
          <p:cNvPr id="15" name="Shape 11"/>
          <p:cNvSpPr/>
          <p:nvPr/>
        </p:nvSpPr>
        <p:spPr>
          <a:xfrm>
            <a:off x="9601200" y="2103120"/>
            <a:ext cx="1874520" cy="219456"/>
          </a:xfrm>
          <a:prstGeom prst="roundRect">
            <a:avLst>
              <a:gd name="adj" fmla="val 33333"/>
            </a:avLst>
          </a:prstGeom>
          <a:solidFill>
            <a:srgbClr val="2E6FBF"/>
          </a:solidFill>
          <a:ln/>
        </p:spPr>
      </p:sp>
      <p:sp>
        <p:nvSpPr>
          <p:cNvPr id="16" name="Text 12"/>
          <p:cNvSpPr txBox="1"/>
          <p:nvPr/>
        </p:nvSpPr>
        <p:spPr>
          <a:xfrm>
            <a:off x="9601200" y="2103120"/>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WORD CLOUD</a:t>
            </a:r>
            <a:endParaRPr lang="en-US" sz="800" dirty="0"/>
          </a:p>
        </p:txBody>
      </p:sp>
      <p:sp>
        <p:nvSpPr>
          <p:cNvPr id="17" name="Text 13"/>
          <p:cNvSpPr txBox="1"/>
          <p:nvPr/>
        </p:nvSpPr>
        <p:spPr>
          <a:xfrm>
            <a:off x="9601200" y="2359152"/>
            <a:ext cx="1874520" cy="365760"/>
          </a:xfrm>
          <a:prstGeom prst="rect">
            <a:avLst/>
          </a:prstGeom>
          <a:noFill/>
          <a:ln/>
        </p:spPr>
        <p:txBody>
          <a:bodyPr wrap="square" lIns="0" tIns="0" rIns="0" bIns="0" rtlCol="0" anchor="t"/>
          <a:lstStyle/>
          <a:p>
            <a:pPr algn="l" indent="0" marL="0">
              <a:buNone/>
            </a:pPr>
            <a:endParaRPr lang="en-US" sz="900" dirty="0"/>
          </a:p>
        </p:txBody>
      </p:sp>
      <p:sp>
        <p:nvSpPr>
          <p:cNvPr id="18" name="Shape 14"/>
          <p:cNvSpPr/>
          <p:nvPr/>
        </p:nvSpPr>
        <p:spPr>
          <a:xfrm>
            <a:off x="3840480" y="2862072"/>
            <a:ext cx="7799832" cy="758952"/>
          </a:xfrm>
          <a:prstGeom prst="roundRect">
            <a:avLst>
              <a:gd name="adj" fmla="val 9639"/>
            </a:avLst>
          </a:prstGeom>
          <a:solidFill>
            <a:srgbClr val="1B2156"/>
          </a:solidFill>
          <a:ln/>
        </p:spPr>
      </p:sp>
      <p:sp>
        <p:nvSpPr>
          <p:cNvPr id="19" name="Shape 15"/>
          <p:cNvSpPr/>
          <p:nvPr/>
        </p:nvSpPr>
        <p:spPr>
          <a:xfrm>
            <a:off x="4005072" y="3035808"/>
            <a:ext cx="411480" cy="411480"/>
          </a:xfrm>
          <a:prstGeom prst="ellipse">
            <a:avLst/>
          </a:prstGeom>
          <a:solidFill>
            <a:srgbClr val="4A8FDB"/>
          </a:solidFill>
          <a:ln/>
        </p:spPr>
      </p:sp>
      <p:sp>
        <p:nvSpPr>
          <p:cNvPr id="20" name="Text 16"/>
          <p:cNvSpPr txBox="1"/>
          <p:nvPr/>
        </p:nvSpPr>
        <p:spPr>
          <a:xfrm>
            <a:off x="4005072" y="303580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1" name="Text 17"/>
          <p:cNvSpPr txBox="1"/>
          <p:nvPr/>
        </p:nvSpPr>
        <p:spPr>
          <a:xfrm>
            <a:off x="4572000" y="2935224"/>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Who holds the most valuable customer information?</a:t>
            </a:r>
            <a:endParaRPr lang="en-US" sz="1300" dirty="0"/>
          </a:p>
        </p:txBody>
      </p:sp>
      <p:sp>
        <p:nvSpPr>
          <p:cNvPr id="22" name="Shape 18"/>
          <p:cNvSpPr/>
          <p:nvPr/>
        </p:nvSpPr>
        <p:spPr>
          <a:xfrm>
            <a:off x="9601200" y="2953512"/>
            <a:ext cx="1874520" cy="219456"/>
          </a:xfrm>
          <a:prstGeom prst="roundRect">
            <a:avLst>
              <a:gd name="adj" fmla="val 33333"/>
            </a:avLst>
          </a:prstGeom>
          <a:solidFill>
            <a:srgbClr val="2E6FBF"/>
          </a:solidFill>
          <a:ln/>
        </p:spPr>
      </p:sp>
      <p:sp>
        <p:nvSpPr>
          <p:cNvPr id="23" name="Text 19"/>
          <p:cNvSpPr txBox="1"/>
          <p:nvPr/>
        </p:nvSpPr>
        <p:spPr>
          <a:xfrm>
            <a:off x="9601200" y="2953512"/>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POLL</a:t>
            </a:r>
            <a:endParaRPr lang="en-US" sz="800" dirty="0"/>
          </a:p>
        </p:txBody>
      </p:sp>
      <p:sp>
        <p:nvSpPr>
          <p:cNvPr id="24" name="Text 20"/>
          <p:cNvSpPr txBox="1"/>
          <p:nvPr/>
        </p:nvSpPr>
        <p:spPr>
          <a:xfrm>
            <a:off x="9601200" y="3209544"/>
            <a:ext cx="1874520" cy="365760"/>
          </a:xfrm>
          <a:prstGeom prst="rect">
            <a:avLst/>
          </a:prstGeom>
          <a:noFill/>
          <a:ln/>
        </p:spPr>
        <p:txBody>
          <a:bodyPr wrap="square" lIns="0" tIns="0" rIns="0" bIns="0" rtlCol="0" anchor="t"/>
          <a:lstStyle/>
          <a:p>
            <a:pPr algn="l" indent="0" marL="0">
              <a:buNone/>
            </a:pPr>
            <a:r>
              <a:rPr lang="en-US" sz="900" dirty="0">
                <a:solidFill>
                  <a:srgbClr val="C9D3E3"/>
                </a:solidFill>
                <a:latin typeface="Montserrat" pitchFamily="34" charset="0"/>
                <a:ea typeface="Montserrat" pitchFamily="34" charset="-122"/>
                <a:cs typeface="Montserrat" pitchFamily="34" charset="-120"/>
              </a:rPr>
              <a:t>Manufacturer · distributor · retailer · consumer</a:t>
            </a:r>
            <a:endParaRPr lang="en-US" sz="900" dirty="0"/>
          </a:p>
        </p:txBody>
      </p:sp>
      <p:sp>
        <p:nvSpPr>
          <p:cNvPr id="25" name="Shape 21"/>
          <p:cNvSpPr/>
          <p:nvPr/>
        </p:nvSpPr>
        <p:spPr>
          <a:xfrm>
            <a:off x="3840480" y="3712464"/>
            <a:ext cx="7799832" cy="758952"/>
          </a:xfrm>
          <a:prstGeom prst="roundRect">
            <a:avLst>
              <a:gd name="adj" fmla="val 9639"/>
            </a:avLst>
          </a:prstGeom>
          <a:solidFill>
            <a:srgbClr val="1B2156"/>
          </a:solidFill>
          <a:ln/>
        </p:spPr>
      </p:sp>
      <p:sp>
        <p:nvSpPr>
          <p:cNvPr id="26" name="Shape 22"/>
          <p:cNvSpPr/>
          <p:nvPr/>
        </p:nvSpPr>
        <p:spPr>
          <a:xfrm>
            <a:off x="4005072" y="3886200"/>
            <a:ext cx="411480" cy="411480"/>
          </a:xfrm>
          <a:prstGeom prst="ellipse">
            <a:avLst/>
          </a:prstGeom>
          <a:solidFill>
            <a:srgbClr val="4A8FDB"/>
          </a:solidFill>
          <a:ln/>
        </p:spPr>
      </p:sp>
      <p:sp>
        <p:nvSpPr>
          <p:cNvPr id="27" name="Text 23"/>
          <p:cNvSpPr txBox="1"/>
          <p:nvPr/>
        </p:nvSpPr>
        <p:spPr>
          <a:xfrm>
            <a:off x="4005072" y="38862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8" name="Text 24"/>
          <p:cNvSpPr txBox="1"/>
          <p:nvPr/>
        </p:nvSpPr>
        <p:spPr>
          <a:xfrm>
            <a:off x="4572000" y="3785616"/>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As CEO of a consumer brand, what would you invest in first?</a:t>
            </a:r>
            <a:endParaRPr lang="en-US" sz="1300" dirty="0"/>
          </a:p>
        </p:txBody>
      </p:sp>
      <p:sp>
        <p:nvSpPr>
          <p:cNvPr id="29" name="Shape 25"/>
          <p:cNvSpPr/>
          <p:nvPr/>
        </p:nvSpPr>
        <p:spPr>
          <a:xfrm>
            <a:off x="9601200" y="3803904"/>
            <a:ext cx="1874520" cy="219456"/>
          </a:xfrm>
          <a:prstGeom prst="roundRect">
            <a:avLst>
              <a:gd name="adj" fmla="val 33333"/>
            </a:avLst>
          </a:prstGeom>
          <a:solidFill>
            <a:srgbClr val="2E6FBF"/>
          </a:solidFill>
          <a:ln/>
        </p:spPr>
      </p:sp>
      <p:sp>
        <p:nvSpPr>
          <p:cNvPr id="30" name="Text 26"/>
          <p:cNvSpPr txBox="1"/>
          <p:nvPr/>
        </p:nvSpPr>
        <p:spPr>
          <a:xfrm>
            <a:off x="9601200" y="3803904"/>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POLL · REPEAT</a:t>
            </a:r>
            <a:endParaRPr lang="en-US" sz="800" dirty="0"/>
          </a:p>
        </p:txBody>
      </p:sp>
      <p:sp>
        <p:nvSpPr>
          <p:cNvPr id="31" name="Text 27"/>
          <p:cNvSpPr txBox="1"/>
          <p:nvPr/>
        </p:nvSpPr>
        <p:spPr>
          <a:xfrm>
            <a:off x="9601200" y="4059936"/>
            <a:ext cx="1874520" cy="365760"/>
          </a:xfrm>
          <a:prstGeom prst="rect">
            <a:avLst/>
          </a:prstGeom>
          <a:noFill/>
          <a:ln/>
        </p:spPr>
        <p:txBody>
          <a:bodyPr wrap="square" lIns="0" tIns="0" rIns="0" bIns="0" rtlCol="0" anchor="t"/>
          <a:lstStyle/>
          <a:p>
            <a:pPr algn="l" indent="0" marL="0">
              <a:buNone/>
            </a:pPr>
            <a:r>
              <a:rPr lang="en-US" sz="900" dirty="0">
                <a:solidFill>
                  <a:srgbClr val="C9D3E3"/>
                </a:solidFill>
                <a:latin typeface="Montserrat" pitchFamily="34" charset="0"/>
                <a:ea typeface="Montserrat" pitchFamily="34" charset="-122"/>
                <a:cs typeface="Montserrat" pitchFamily="34" charset="-120"/>
              </a:rPr>
              <a:t>Marketing · data integration · AI forecast</a:t>
            </a:r>
            <a:endParaRPr lang="en-US" sz="900" dirty="0"/>
          </a:p>
        </p:txBody>
      </p:sp>
      <p:sp>
        <p:nvSpPr>
          <p:cNvPr id="32" name="Shape 28"/>
          <p:cNvSpPr/>
          <p:nvPr/>
        </p:nvSpPr>
        <p:spPr>
          <a:xfrm>
            <a:off x="3840480" y="4562856"/>
            <a:ext cx="7799832" cy="758952"/>
          </a:xfrm>
          <a:prstGeom prst="roundRect">
            <a:avLst>
              <a:gd name="adj" fmla="val 9639"/>
            </a:avLst>
          </a:prstGeom>
          <a:solidFill>
            <a:srgbClr val="1B2156"/>
          </a:solidFill>
          <a:ln/>
        </p:spPr>
      </p:sp>
      <p:sp>
        <p:nvSpPr>
          <p:cNvPr id="33" name="Shape 29"/>
          <p:cNvSpPr/>
          <p:nvPr/>
        </p:nvSpPr>
        <p:spPr>
          <a:xfrm>
            <a:off x="4005072" y="4736592"/>
            <a:ext cx="411480" cy="411480"/>
          </a:xfrm>
          <a:prstGeom prst="ellipse">
            <a:avLst/>
          </a:prstGeom>
          <a:solidFill>
            <a:srgbClr val="4A8FDB"/>
          </a:solidFill>
          <a:ln/>
        </p:spPr>
      </p:sp>
      <p:sp>
        <p:nvSpPr>
          <p:cNvPr id="34" name="Text 30"/>
          <p:cNvSpPr txBox="1"/>
          <p:nvPr/>
        </p:nvSpPr>
        <p:spPr>
          <a:xfrm>
            <a:off x="4005072" y="473659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35" name="Text 31"/>
          <p:cNvSpPr txBox="1"/>
          <p:nvPr/>
        </p:nvSpPr>
        <p:spPr>
          <a:xfrm>
            <a:off x="4572000" y="4636008"/>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How much would you let an AI forecast decide your production plan?</a:t>
            </a:r>
            <a:endParaRPr lang="en-US" sz="1300" dirty="0"/>
          </a:p>
        </p:txBody>
      </p:sp>
      <p:sp>
        <p:nvSpPr>
          <p:cNvPr id="36" name="Shape 32"/>
          <p:cNvSpPr/>
          <p:nvPr/>
        </p:nvSpPr>
        <p:spPr>
          <a:xfrm>
            <a:off x="9601200" y="4654296"/>
            <a:ext cx="1874520" cy="219456"/>
          </a:xfrm>
          <a:prstGeom prst="roundRect">
            <a:avLst>
              <a:gd name="adj" fmla="val 33333"/>
            </a:avLst>
          </a:prstGeom>
          <a:solidFill>
            <a:srgbClr val="2E6FBF"/>
          </a:solidFill>
          <a:ln/>
        </p:spPr>
      </p:sp>
      <p:sp>
        <p:nvSpPr>
          <p:cNvPr id="37" name="Text 33"/>
          <p:cNvSpPr txBox="1"/>
          <p:nvPr/>
        </p:nvSpPr>
        <p:spPr>
          <a:xfrm>
            <a:off x="9601200" y="4654296"/>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SCALE 0–100%</a:t>
            </a:r>
            <a:endParaRPr lang="en-US" sz="800" dirty="0"/>
          </a:p>
        </p:txBody>
      </p:sp>
      <p:sp>
        <p:nvSpPr>
          <p:cNvPr id="38" name="Text 34"/>
          <p:cNvSpPr txBox="1"/>
          <p:nvPr/>
        </p:nvSpPr>
        <p:spPr>
          <a:xfrm>
            <a:off x="9601200" y="4910328"/>
            <a:ext cx="1874520" cy="365760"/>
          </a:xfrm>
          <a:prstGeom prst="rect">
            <a:avLst/>
          </a:prstGeom>
          <a:noFill/>
          <a:ln/>
        </p:spPr>
        <p:txBody>
          <a:bodyPr wrap="square" lIns="0" tIns="0" rIns="0" bIns="0" rtlCol="0" anchor="t"/>
          <a:lstStyle/>
          <a:p>
            <a:pPr algn="l" indent="0" marL="0">
              <a:buNone/>
            </a:pPr>
            <a:endParaRPr lang="en-US" sz="900" dirty="0"/>
          </a:p>
        </p:txBody>
      </p:sp>
      <p:sp>
        <p:nvSpPr>
          <p:cNvPr id="39" name="Shape 35"/>
          <p:cNvSpPr/>
          <p:nvPr/>
        </p:nvSpPr>
        <p:spPr>
          <a:xfrm>
            <a:off x="3840480" y="5413248"/>
            <a:ext cx="7799832" cy="758952"/>
          </a:xfrm>
          <a:prstGeom prst="roundRect">
            <a:avLst>
              <a:gd name="adj" fmla="val 9639"/>
            </a:avLst>
          </a:prstGeom>
          <a:solidFill>
            <a:srgbClr val="1B2156"/>
          </a:solidFill>
          <a:ln/>
        </p:spPr>
      </p:sp>
      <p:sp>
        <p:nvSpPr>
          <p:cNvPr id="40" name="Shape 36"/>
          <p:cNvSpPr/>
          <p:nvPr/>
        </p:nvSpPr>
        <p:spPr>
          <a:xfrm>
            <a:off x="4005072" y="5586984"/>
            <a:ext cx="411480" cy="411480"/>
          </a:xfrm>
          <a:prstGeom prst="ellipse">
            <a:avLst/>
          </a:prstGeom>
          <a:solidFill>
            <a:srgbClr val="4A8FDB"/>
          </a:solidFill>
          <a:ln/>
        </p:spPr>
      </p:sp>
      <p:sp>
        <p:nvSpPr>
          <p:cNvPr id="41" name="Text 37"/>
          <p:cNvSpPr txBox="1"/>
          <p:nvPr/>
        </p:nvSpPr>
        <p:spPr>
          <a:xfrm>
            <a:off x="4005072" y="558698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5</a:t>
            </a:r>
            <a:endParaRPr lang="en-US" sz="1300" dirty="0"/>
          </a:p>
        </p:txBody>
      </p:sp>
      <p:sp>
        <p:nvSpPr>
          <p:cNvPr id="42" name="Text 38"/>
          <p:cNvSpPr txBox="1"/>
          <p:nvPr/>
        </p:nvSpPr>
        <p:spPr>
          <a:xfrm>
            <a:off x="4572000" y="5486400"/>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By 2030, who manages customer relationships?</a:t>
            </a:r>
            <a:endParaRPr lang="en-US" sz="1300" dirty="0"/>
          </a:p>
        </p:txBody>
      </p:sp>
      <p:sp>
        <p:nvSpPr>
          <p:cNvPr id="43" name="Shape 39"/>
          <p:cNvSpPr/>
          <p:nvPr/>
        </p:nvSpPr>
        <p:spPr>
          <a:xfrm>
            <a:off x="9601200" y="5504688"/>
            <a:ext cx="1874520" cy="219456"/>
          </a:xfrm>
          <a:prstGeom prst="roundRect">
            <a:avLst>
              <a:gd name="adj" fmla="val 33333"/>
            </a:avLst>
          </a:prstGeom>
          <a:solidFill>
            <a:srgbClr val="2E6FBF"/>
          </a:solidFill>
          <a:ln/>
        </p:spPr>
      </p:sp>
      <p:sp>
        <p:nvSpPr>
          <p:cNvPr id="44" name="Text 40"/>
          <p:cNvSpPr txBox="1"/>
          <p:nvPr/>
        </p:nvSpPr>
        <p:spPr>
          <a:xfrm>
            <a:off x="9601200" y="5504688"/>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POLL</a:t>
            </a:r>
            <a:endParaRPr lang="en-US" sz="800" dirty="0"/>
          </a:p>
        </p:txBody>
      </p:sp>
      <p:sp>
        <p:nvSpPr>
          <p:cNvPr id="45" name="Text 41"/>
          <p:cNvSpPr txBox="1"/>
          <p:nvPr/>
        </p:nvSpPr>
        <p:spPr>
          <a:xfrm>
            <a:off x="9601200" y="5760720"/>
            <a:ext cx="1874520" cy="365760"/>
          </a:xfrm>
          <a:prstGeom prst="rect">
            <a:avLst/>
          </a:prstGeom>
          <a:noFill/>
          <a:ln/>
        </p:spPr>
        <p:txBody>
          <a:bodyPr wrap="square" lIns="0" tIns="0" rIns="0" bIns="0" rtlCol="0" anchor="t"/>
          <a:lstStyle/>
          <a:p>
            <a:pPr algn="l" indent="0" marL="0">
              <a:buNone/>
            </a:pPr>
            <a:r>
              <a:rPr lang="en-US" sz="900" dirty="0">
                <a:solidFill>
                  <a:srgbClr val="C9D3E3"/>
                </a:solidFill>
                <a:latin typeface="Montserrat" pitchFamily="34" charset="0"/>
                <a:ea typeface="Montserrat" pitchFamily="34" charset="-122"/>
                <a:cs typeface="Montserrat" pitchFamily="34" charset="-120"/>
              </a:rPr>
              <a:t>People · AI agents · both</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502920"/>
            <a:ext cx="8412480" cy="777240"/>
          </a:xfrm>
          <a:prstGeom prst="rect">
            <a:avLst/>
          </a:prstGeom>
          <a:noFill/>
          <a:ln/>
        </p:spPr>
        <p:txBody>
          <a:bodyPr wrap="square" lIns="0" tIns="0" rIns="0" bIns="0" rtlCol="0" anchor="t"/>
          <a:lstStyle/>
          <a:p>
            <a:pPr algn="l" indent="0" marL="0">
              <a:buNone/>
            </a:pPr>
            <a:r>
              <a:rPr lang="en-US" sz="3000" b="1" dirty="0">
                <a:solidFill>
                  <a:srgbClr val="FFFFFF"/>
                </a:solidFill>
                <a:latin typeface="Montserrat" pitchFamily="34" charset="0"/>
                <a:ea typeface="Montserrat" pitchFamily="34" charset="-122"/>
                <a:cs typeface="Montserrat" pitchFamily="34" charset="-120"/>
              </a:rPr>
              <a:t>Live: AI linking millions of data points</a:t>
            </a:r>
            <a:endParaRPr lang="en-US" sz="3000" dirty="0"/>
          </a:p>
        </p:txBody>
      </p:sp>
      <p:sp>
        <p:nvSpPr>
          <p:cNvPr id="3" name="Text 0"/>
          <p:cNvSpPr/>
          <p:nvPr>
            <p:ph idx="102" type="body" hasCustomPrompt="1"/>
          </p:nvPr>
        </p:nvSpPr>
        <p:spPr>
          <a:xfrm>
            <a:off x="548640" y="1298448"/>
            <a:ext cx="9326880" cy="411480"/>
          </a:xfrm>
          <a:prstGeom prst="rect">
            <a:avLst/>
          </a:prstGeom>
          <a:noFill/>
          <a:ln/>
        </p:spPr>
        <p:txBody>
          <a:bodyPr wrap="square" lIns="0" tIns="0" rIns="0" bIns="0" rtlCol="0" anchor="t"/>
          <a:lstStyle/>
          <a:p>
            <a:pPr algn="l" indent="0" marL="0">
              <a:buNone/>
            </a:pPr>
            <a:r>
              <a:rPr lang="en-US" sz="1400" dirty="0">
                <a:solidFill>
                  <a:srgbClr val="C9D3E3"/>
                </a:solidFill>
                <a:latin typeface="Montserrat" pitchFamily="34" charset="0"/>
                <a:ea typeface="Montserrat" pitchFamily="34" charset="-122"/>
                <a:cs typeface="Montserrat" pitchFamily="34" charset="-120"/>
              </a:rPr>
              <a:t>Emidio demonstrates a highly complex AI workflow we developed — applied to a value chain: linking supply data and customer behaviour.</a:t>
            </a:r>
            <a:endParaRPr lang="en-US" sz="1400" dirty="0"/>
          </a:p>
        </p:txBody>
      </p:sp>
      <p:sp>
        <p:nvSpPr>
          <p:cNvPr id="5" name="Shape 2"/>
          <p:cNvSpPr/>
          <p:nvPr/>
        </p:nvSpPr>
        <p:spPr>
          <a:xfrm>
            <a:off x="548640" y="2057400"/>
            <a:ext cx="7406640" cy="4114800"/>
          </a:xfrm>
          <a:prstGeom prst="roundRect">
            <a:avLst>
              <a:gd name="adj" fmla="val 1778"/>
            </a:avLst>
          </a:prstGeom>
          <a:solidFill>
            <a:srgbClr val="1B2156"/>
          </a:solidFill>
          <a:ln w="15875">
            <a:solidFill>
              <a:srgbClr val="4A8FDB"/>
            </a:solidFill>
            <a:prstDash val="dash"/>
          </a:ln>
        </p:spPr>
      </p:sp>
      <p:pic>
        <p:nvPicPr>
          <p:cNvPr id="6" name="Image 0" descr="/home/user/work/assets/network.png">    </p:cNvPr>
          <p:cNvPicPr>
            <a:picLocks noChangeAspect="1"/>
          </p:cNvPicPr>
          <p:nvPr/>
        </p:nvPicPr>
        <p:blipFill>
          <a:blip r:embed="rId1">
            <a:alphaModFix amt="75000"/>
          </a:blip>
          <a:stretch>
            <a:fillRect/>
          </a:stretch>
        </p:blipFill>
        <p:spPr>
          <a:xfrm>
            <a:off x="731520" y="2194560"/>
            <a:ext cx="7040880" cy="3840480"/>
          </a:xfrm>
          <a:prstGeom prst="rect">
            <a:avLst/>
          </a:prstGeom>
        </p:spPr>
      </p:pic>
      <p:sp>
        <p:nvSpPr>
          <p:cNvPr id="7" name="Shape 3"/>
          <p:cNvSpPr/>
          <p:nvPr/>
        </p:nvSpPr>
        <p:spPr>
          <a:xfrm>
            <a:off x="2331720" y="3566160"/>
            <a:ext cx="3840480" cy="1051560"/>
          </a:xfrm>
          <a:prstGeom prst="roundRect">
            <a:avLst>
              <a:gd name="adj" fmla="val 6957"/>
            </a:avLst>
          </a:prstGeom>
          <a:solidFill>
            <a:srgbClr val="0F1341"/>
          </a:solidFill>
          <a:ln w="12700">
            <a:solidFill>
              <a:srgbClr val="4A8FDB"/>
            </a:solidFill>
            <a:prstDash val="solid"/>
          </a:ln>
        </p:spPr>
      </p:sp>
      <p:sp>
        <p:nvSpPr>
          <p:cNvPr id="8" name="Shape 4"/>
          <p:cNvSpPr/>
          <p:nvPr/>
        </p:nvSpPr>
        <p:spPr>
          <a:xfrm>
            <a:off x="2971800" y="3685032"/>
            <a:ext cx="2560320" cy="274320"/>
          </a:xfrm>
          <a:prstGeom prst="roundRect">
            <a:avLst>
              <a:gd name="adj" fmla="val 26667"/>
            </a:avLst>
          </a:prstGeom>
          <a:solidFill>
            <a:srgbClr val="4A8FDB"/>
          </a:solidFill>
          <a:ln/>
        </p:spPr>
      </p:sp>
      <p:sp>
        <p:nvSpPr>
          <p:cNvPr id="9" name="Text 5"/>
          <p:cNvSpPr txBox="1"/>
          <p:nvPr/>
        </p:nvSpPr>
        <p:spPr>
          <a:xfrm>
            <a:off x="2971800" y="3685032"/>
            <a:ext cx="2560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PLACEHOLDER  ·  LIVE DEMO</a:t>
            </a:r>
            <a:endParaRPr lang="en-US" sz="900" dirty="0"/>
          </a:p>
        </p:txBody>
      </p:sp>
      <p:sp>
        <p:nvSpPr>
          <p:cNvPr id="10" name="Text 6"/>
          <p:cNvSpPr txBox="1"/>
          <p:nvPr/>
        </p:nvSpPr>
        <p:spPr>
          <a:xfrm>
            <a:off x="2377440" y="4069080"/>
            <a:ext cx="374904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Emidio · AI workflow on screen</a:t>
            </a:r>
            <a:endParaRPr lang="en-US" sz="1400" dirty="0"/>
          </a:p>
        </p:txBody>
      </p:sp>
      <p:sp>
        <p:nvSpPr>
          <p:cNvPr id="11" name="Shape 7"/>
          <p:cNvSpPr/>
          <p:nvPr/>
        </p:nvSpPr>
        <p:spPr>
          <a:xfrm>
            <a:off x="8229600" y="2057400"/>
            <a:ext cx="3410712" cy="1261872"/>
          </a:xfrm>
          <a:prstGeom prst="roundRect">
            <a:avLst>
              <a:gd name="adj" fmla="val 5797"/>
            </a:avLst>
          </a:prstGeom>
          <a:solidFill>
            <a:srgbClr val="1B2156"/>
          </a:solidFill>
          <a:ln/>
        </p:spPr>
      </p:sp>
      <p:sp>
        <p:nvSpPr>
          <p:cNvPr id="12" name="Shape 8"/>
          <p:cNvSpPr/>
          <p:nvPr/>
        </p:nvSpPr>
        <p:spPr>
          <a:xfrm>
            <a:off x="8412480" y="2441448"/>
            <a:ext cx="502920" cy="502920"/>
          </a:xfrm>
          <a:prstGeom prst="ellipse">
            <a:avLst/>
          </a:prstGeom>
          <a:solidFill>
            <a:srgbClr val="2E6FBF"/>
          </a:solidFill>
          <a:ln/>
        </p:spPr>
      </p:sp>
      <p:pic>
        <p:nvPicPr>
          <p:cNvPr id="13" name="Image 1" descr="preencoded.png">    </p:cNvPr>
          <p:cNvPicPr>
            <a:picLocks noChangeAspect="1"/>
          </p:cNvPicPr>
          <p:nvPr/>
        </p:nvPicPr>
        <p:blipFill>
          <a:blip r:embed="rId2"/>
          <a:stretch>
            <a:fillRect/>
          </a:stretch>
        </p:blipFill>
        <p:spPr>
          <a:xfrm>
            <a:off x="8522208" y="2551176"/>
            <a:ext cx="283464" cy="283464"/>
          </a:xfrm>
          <a:prstGeom prst="rect">
            <a:avLst/>
          </a:prstGeom>
        </p:spPr>
      </p:pic>
      <p:sp>
        <p:nvSpPr>
          <p:cNvPr id="14" name="Text 9"/>
          <p:cNvSpPr txBox="1"/>
          <p:nvPr/>
        </p:nvSpPr>
        <p:spPr>
          <a:xfrm>
            <a:off x="9098280" y="2258568"/>
            <a:ext cx="2423160" cy="365760"/>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Millions of data points</a:t>
            </a:r>
            <a:endParaRPr lang="en-US" sz="1300" dirty="0"/>
          </a:p>
        </p:txBody>
      </p:sp>
      <p:sp>
        <p:nvSpPr>
          <p:cNvPr id="15" name="Text 10"/>
          <p:cNvSpPr txBox="1"/>
          <p:nvPr/>
        </p:nvSpPr>
        <p:spPr>
          <a:xfrm>
            <a:off x="9098280" y="2624328"/>
            <a:ext cx="2423160" cy="566928"/>
          </a:xfrm>
          <a:prstGeom prst="rect">
            <a:avLst/>
          </a:prstGeom>
          <a:noFill/>
          <a:ln/>
        </p:spPr>
        <p:txBody>
          <a:bodyPr wrap="square" lIns="0" tIns="0" rIns="0" bIns="0" rtlCol="0" anchor="t"/>
          <a:lstStyle/>
          <a:p>
            <a:pPr indent="0" marL="0">
              <a:buNone/>
            </a:pPr>
            <a:r>
              <a:rPr lang="en-US" sz="1100" dirty="0">
                <a:solidFill>
                  <a:srgbClr val="C9D3E3"/>
                </a:solidFill>
                <a:latin typeface="Montserrat" pitchFamily="34" charset="0"/>
                <a:ea typeface="Montserrat" pitchFamily="34" charset="-122"/>
                <a:cs typeface="Montserrat" pitchFamily="34" charset="-120"/>
              </a:rPr>
              <a:t>Many sources linked in one model</a:t>
            </a:r>
            <a:endParaRPr lang="en-US" sz="1100" dirty="0"/>
          </a:p>
        </p:txBody>
      </p:sp>
      <p:sp>
        <p:nvSpPr>
          <p:cNvPr id="16" name="Shape 11"/>
          <p:cNvSpPr/>
          <p:nvPr/>
        </p:nvSpPr>
        <p:spPr>
          <a:xfrm>
            <a:off x="8229600" y="3456432"/>
            <a:ext cx="3410712" cy="1261872"/>
          </a:xfrm>
          <a:prstGeom prst="roundRect">
            <a:avLst>
              <a:gd name="adj" fmla="val 5797"/>
            </a:avLst>
          </a:prstGeom>
          <a:solidFill>
            <a:srgbClr val="1B2156"/>
          </a:solidFill>
          <a:ln/>
        </p:spPr>
      </p:sp>
      <p:sp>
        <p:nvSpPr>
          <p:cNvPr id="17" name="Shape 12"/>
          <p:cNvSpPr/>
          <p:nvPr/>
        </p:nvSpPr>
        <p:spPr>
          <a:xfrm>
            <a:off x="8412480" y="3840480"/>
            <a:ext cx="502920" cy="502920"/>
          </a:xfrm>
          <a:prstGeom prst="ellipse">
            <a:avLst/>
          </a:prstGeom>
          <a:solidFill>
            <a:srgbClr val="2E6FBF"/>
          </a:solidFill>
          <a:ln/>
        </p:spPr>
      </p:sp>
      <p:pic>
        <p:nvPicPr>
          <p:cNvPr id="18" name="Image 2" descr="preencoded.png">    </p:cNvPr>
          <p:cNvPicPr>
            <a:picLocks noChangeAspect="1"/>
          </p:cNvPicPr>
          <p:nvPr/>
        </p:nvPicPr>
        <p:blipFill>
          <a:blip r:embed="rId3"/>
          <a:stretch>
            <a:fillRect/>
          </a:stretch>
        </p:blipFill>
        <p:spPr>
          <a:xfrm>
            <a:off x="8522208" y="3950208"/>
            <a:ext cx="283464" cy="283464"/>
          </a:xfrm>
          <a:prstGeom prst="rect">
            <a:avLst/>
          </a:prstGeom>
        </p:spPr>
      </p:pic>
      <p:sp>
        <p:nvSpPr>
          <p:cNvPr id="19" name="Text 13"/>
          <p:cNvSpPr txBox="1"/>
          <p:nvPr/>
        </p:nvSpPr>
        <p:spPr>
          <a:xfrm>
            <a:off x="9098280" y="3657600"/>
            <a:ext cx="2423160" cy="365760"/>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Multiple AI agents</a:t>
            </a:r>
            <a:endParaRPr lang="en-US" sz="1300" dirty="0"/>
          </a:p>
        </p:txBody>
      </p:sp>
      <p:sp>
        <p:nvSpPr>
          <p:cNvPr id="20" name="Text 14"/>
          <p:cNvSpPr txBox="1"/>
          <p:nvPr/>
        </p:nvSpPr>
        <p:spPr>
          <a:xfrm>
            <a:off x="9098280" y="4023360"/>
            <a:ext cx="2423160" cy="566928"/>
          </a:xfrm>
          <a:prstGeom prst="rect">
            <a:avLst/>
          </a:prstGeom>
          <a:noFill/>
          <a:ln/>
        </p:spPr>
        <p:txBody>
          <a:bodyPr wrap="square" lIns="0" tIns="0" rIns="0" bIns="0" rtlCol="0" anchor="t"/>
          <a:lstStyle/>
          <a:p>
            <a:pPr indent="0" marL="0">
              <a:buNone/>
            </a:pPr>
            <a:r>
              <a:rPr lang="en-US" sz="1100" dirty="0">
                <a:solidFill>
                  <a:srgbClr val="C9D3E3"/>
                </a:solidFill>
                <a:latin typeface="Montserrat" pitchFamily="34" charset="0"/>
                <a:ea typeface="Montserrat" pitchFamily="34" charset="-122"/>
                <a:cs typeface="Montserrat" pitchFamily="34" charset="-120"/>
              </a:rPr>
              <a:t>Research, matching and scoring in one flow</a:t>
            </a:r>
            <a:endParaRPr lang="en-US" sz="1100" dirty="0"/>
          </a:p>
        </p:txBody>
      </p:sp>
      <p:sp>
        <p:nvSpPr>
          <p:cNvPr id="21" name="Shape 15"/>
          <p:cNvSpPr/>
          <p:nvPr/>
        </p:nvSpPr>
        <p:spPr>
          <a:xfrm>
            <a:off x="8229600" y="4855464"/>
            <a:ext cx="3410712" cy="1261872"/>
          </a:xfrm>
          <a:prstGeom prst="roundRect">
            <a:avLst>
              <a:gd name="adj" fmla="val 5797"/>
            </a:avLst>
          </a:prstGeom>
          <a:solidFill>
            <a:srgbClr val="1B2156"/>
          </a:solidFill>
          <a:ln/>
        </p:spPr>
      </p:sp>
      <p:sp>
        <p:nvSpPr>
          <p:cNvPr id="22" name="Shape 16"/>
          <p:cNvSpPr/>
          <p:nvPr/>
        </p:nvSpPr>
        <p:spPr>
          <a:xfrm>
            <a:off x="8412480" y="5239512"/>
            <a:ext cx="502920" cy="502920"/>
          </a:xfrm>
          <a:prstGeom prst="ellipse">
            <a:avLst/>
          </a:prstGeom>
          <a:solidFill>
            <a:srgbClr val="2E6FBF"/>
          </a:solidFill>
          <a:ln/>
        </p:spPr>
      </p:sp>
      <p:pic>
        <p:nvPicPr>
          <p:cNvPr id="23" name="Image 3" descr="preencoded.png">    </p:cNvPr>
          <p:cNvPicPr>
            <a:picLocks noChangeAspect="1"/>
          </p:cNvPicPr>
          <p:nvPr/>
        </p:nvPicPr>
        <p:blipFill>
          <a:blip r:embed="rId4"/>
          <a:stretch>
            <a:fillRect/>
          </a:stretch>
        </p:blipFill>
        <p:spPr>
          <a:xfrm>
            <a:off x="8522208" y="5349240"/>
            <a:ext cx="283464" cy="283464"/>
          </a:xfrm>
          <a:prstGeom prst="rect">
            <a:avLst/>
          </a:prstGeom>
        </p:spPr>
      </p:pic>
      <p:sp>
        <p:nvSpPr>
          <p:cNvPr id="24" name="Text 17"/>
          <p:cNvSpPr txBox="1"/>
          <p:nvPr/>
        </p:nvSpPr>
        <p:spPr>
          <a:xfrm>
            <a:off x="9098280" y="5056632"/>
            <a:ext cx="2423160" cy="365760"/>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From data to decision</a:t>
            </a:r>
            <a:endParaRPr lang="en-US" sz="1300" dirty="0"/>
          </a:p>
        </p:txBody>
      </p:sp>
      <p:sp>
        <p:nvSpPr>
          <p:cNvPr id="25" name="Text 18"/>
          <p:cNvSpPr txBox="1"/>
          <p:nvPr/>
        </p:nvSpPr>
        <p:spPr>
          <a:xfrm>
            <a:off x="9098280" y="5422392"/>
            <a:ext cx="2423160" cy="566928"/>
          </a:xfrm>
          <a:prstGeom prst="rect">
            <a:avLst/>
          </a:prstGeom>
          <a:noFill/>
          <a:ln/>
        </p:spPr>
        <p:txBody>
          <a:bodyPr wrap="square" lIns="0" tIns="0" rIns="0" bIns="0" rtlCol="0" anchor="t"/>
          <a:lstStyle/>
          <a:p>
            <a:pPr indent="0" marL="0">
              <a:buNone/>
            </a:pPr>
            <a:r>
              <a:rPr lang="en-US" sz="1100" dirty="0">
                <a:solidFill>
                  <a:srgbClr val="C9D3E3"/>
                </a:solidFill>
                <a:latin typeface="Montserrat" pitchFamily="34" charset="0"/>
                <a:ea typeface="Montserrat" pitchFamily="34" charset="-122"/>
                <a:cs typeface="Montserrat" pitchFamily="34" charset="-120"/>
              </a:rPr>
              <a:t>The output is a recommendation, not a dashboard</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2057400"/>
            <a:ext cx="6583680" cy="1737360"/>
          </a:xfrm>
          <a:prstGeom prst="rect">
            <a:avLst/>
          </a:prstGeom>
          <a:noFill/>
          <a:ln/>
        </p:spPr>
        <p:txBody>
          <a:bodyPr wrap="square" lIns="0" tIns="0" rIns="0" bIns="0" rtlCol="0" anchor="b"/>
          <a:lstStyle/>
          <a:p>
            <a:pPr indent="0" marL="0">
              <a:buNone/>
            </a:pPr>
            <a:r>
              <a:rPr lang="en-US" sz="4000" b="1" dirty="0">
                <a:solidFill>
                  <a:srgbClr val="0F1341"/>
                </a:solidFill>
                <a:latin typeface="Montserrat" pitchFamily="34" charset="0"/>
                <a:ea typeface="Montserrat" pitchFamily="34" charset="-122"/>
                <a:cs typeface="Montserrat" pitchFamily="34" charset="-120"/>
              </a:rPr>
              <a:t>The AI-Powered Customer Ecosystem</a:t>
            </a:r>
            <a:endParaRPr lang="en-US" sz="4000" dirty="0"/>
          </a:p>
        </p:txBody>
      </p:sp>
      <p:sp>
        <p:nvSpPr>
          <p:cNvPr id="3" name="Text 1"/>
          <p:cNvSpPr txBox="1"/>
          <p:nvPr/>
        </p:nvSpPr>
        <p:spPr>
          <a:xfrm>
            <a:off x="566928" y="3977640"/>
            <a:ext cx="6035040" cy="914400"/>
          </a:xfrm>
          <a:prstGeom prst="rect">
            <a:avLst/>
          </a:prstGeom>
          <a:noFill/>
          <a:ln/>
        </p:spPr>
        <p:txBody>
          <a:bodyPr wrap="square" lIns="0" tIns="0" rIns="0" bIns="0" rtlCol="0" anchor="t"/>
          <a:lstStyle/>
          <a:p>
            <a:pPr indent="0" marL="0">
              <a:buNone/>
            </a:pPr>
            <a:r>
              <a:rPr lang="en-US" sz="1600" dirty="0">
                <a:solidFill>
                  <a:srgbClr val="5B6270"/>
                </a:solidFill>
                <a:latin typeface="Montserrat" pitchFamily="34" charset="0"/>
                <a:ea typeface="Montserrat" pitchFamily="34" charset="-122"/>
                <a:cs typeface="Montserrat" pitchFamily="34" charset="-120"/>
              </a:rPr>
              <a:t>Connecting supply-side value chains with demand-side behaviour through CRM, data and artificial intelligence.</a:t>
            </a:r>
            <a:endParaRPr lang="en-US" sz="1600" dirty="0"/>
          </a:p>
        </p:txBody>
      </p:sp>
      <p:sp>
        <p:nvSpPr>
          <p:cNvPr id="4" name="Text 2"/>
          <p:cNvSpPr txBox="1"/>
          <p:nvPr/>
        </p:nvSpPr>
        <p:spPr>
          <a:xfrm>
            <a:off x="566928" y="6080760"/>
            <a:ext cx="3657600" cy="320040"/>
          </a:xfrm>
          <a:prstGeom prst="rect">
            <a:avLst/>
          </a:prstGeom>
          <a:noFill/>
          <a:ln/>
        </p:spPr>
        <p:txBody>
          <a:bodyPr wrap="square" lIns="0" tIns="0" rIns="0" bIns="0" rtlCol="0" anchor="t"/>
          <a:lstStyle/>
          <a:p>
            <a:pPr indent="0" marL="0">
              <a:buNone/>
            </a:pPr>
            <a:r>
              <a:rPr lang="en-US" sz="1200" dirty="0">
                <a:solidFill>
                  <a:srgbClr val="8A93A3"/>
                </a:solidFill>
                <a:latin typeface="Montserrat" pitchFamily="34" charset="0"/>
                <a:ea typeface="Montserrat" pitchFamily="34" charset="-122"/>
                <a:cs typeface="Montserrat" pitchFamily="34" charset="-120"/>
              </a:rPr>
              <a:t>Rome, October 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ChatGPT: 1 million users in just 5 days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Time it took to reach 1 million users</a:t>
            </a:r>
            <a:endParaRPr lang="en-US" sz="1300" dirty="0"/>
          </a:p>
        </p:txBody>
      </p:sp>
      <p:sp>
        <p:nvSpPr>
          <p:cNvPr id="5" name="Shape 2"/>
          <p:cNvSpPr/>
          <p:nvPr/>
        </p:nvSpPr>
        <p:spPr>
          <a:xfrm>
            <a:off x="2103120" y="1828800"/>
            <a:ext cx="0" cy="3730752"/>
          </a:xfrm>
          <a:prstGeom prst="line">
            <a:avLst/>
          </a:prstGeom>
          <a:noFill/>
          <a:ln w="12700">
            <a:solidFill>
              <a:srgbClr val="C9D3E3"/>
            </a:solidFill>
            <a:prstDash val="solid"/>
          </a:ln>
        </p:spPr>
      </p:sp>
      <p:sp>
        <p:nvSpPr>
          <p:cNvPr id="6" name="Text 3"/>
          <p:cNvSpPr txBox="1"/>
          <p:nvPr/>
        </p:nvSpPr>
        <p:spPr>
          <a:xfrm>
            <a:off x="548640" y="2011680"/>
            <a:ext cx="1371600" cy="566928"/>
          </a:xfrm>
          <a:prstGeom prst="rect">
            <a:avLst/>
          </a:prstGeom>
          <a:noFill/>
          <a:ln/>
        </p:spPr>
        <p:txBody>
          <a:bodyPr wrap="square" lIns="0" tIns="0" rIns="0" bIns="0" rtlCol="0" anchor="ctr"/>
          <a:lstStyle/>
          <a:p>
            <a:pPr algn="r" indent="0" marL="0">
              <a:buNone/>
            </a:pPr>
            <a:r>
              <a:rPr lang="en-US" sz="1500" dirty="0">
                <a:solidFill>
                  <a:srgbClr val="0F1341"/>
                </a:solidFill>
                <a:latin typeface="Montserrat" pitchFamily="34" charset="0"/>
                <a:ea typeface="Montserrat" pitchFamily="34" charset="-122"/>
                <a:cs typeface="Montserrat" pitchFamily="34" charset="-120"/>
              </a:rPr>
              <a:t>Netflix</a:t>
            </a:r>
            <a:endParaRPr lang="en-US" sz="1500" dirty="0"/>
          </a:p>
        </p:txBody>
      </p:sp>
      <p:sp>
        <p:nvSpPr>
          <p:cNvPr id="7" name="Shape 4"/>
          <p:cNvSpPr/>
          <p:nvPr/>
        </p:nvSpPr>
        <p:spPr>
          <a:xfrm>
            <a:off x="2103120" y="2011680"/>
            <a:ext cx="5120640" cy="566928"/>
          </a:xfrm>
          <a:prstGeom prst="rect">
            <a:avLst/>
          </a:prstGeom>
          <a:solidFill>
            <a:srgbClr val="0F1341"/>
          </a:solidFill>
          <a:ln/>
        </p:spPr>
      </p:sp>
      <p:sp>
        <p:nvSpPr>
          <p:cNvPr id="8" name="Text 5"/>
          <p:cNvSpPr txBox="1"/>
          <p:nvPr/>
        </p:nvSpPr>
        <p:spPr>
          <a:xfrm>
            <a:off x="2103120" y="2011680"/>
            <a:ext cx="512064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Montserrat" pitchFamily="34" charset="0"/>
                <a:ea typeface="Montserrat" pitchFamily="34" charset="-122"/>
                <a:cs typeface="Montserrat" pitchFamily="34" charset="-120"/>
              </a:rPr>
              <a:t>3.5 years</a:t>
            </a:r>
            <a:endParaRPr lang="en-US" sz="1400" dirty="0"/>
          </a:p>
        </p:txBody>
      </p:sp>
      <p:sp>
        <p:nvSpPr>
          <p:cNvPr id="9" name="Text 6"/>
          <p:cNvSpPr txBox="1"/>
          <p:nvPr/>
        </p:nvSpPr>
        <p:spPr>
          <a:xfrm>
            <a:off x="548640" y="2944368"/>
            <a:ext cx="1371600" cy="566928"/>
          </a:xfrm>
          <a:prstGeom prst="rect">
            <a:avLst/>
          </a:prstGeom>
          <a:noFill/>
          <a:ln/>
        </p:spPr>
        <p:txBody>
          <a:bodyPr wrap="square" lIns="0" tIns="0" rIns="0" bIns="0" rtlCol="0" anchor="ctr"/>
          <a:lstStyle/>
          <a:p>
            <a:pPr algn="r" indent="0" marL="0">
              <a:buNone/>
            </a:pPr>
            <a:r>
              <a:rPr lang="en-US" sz="1500" dirty="0">
                <a:solidFill>
                  <a:srgbClr val="0F1341"/>
                </a:solidFill>
                <a:latin typeface="Montserrat" pitchFamily="34" charset="0"/>
                <a:ea typeface="Montserrat" pitchFamily="34" charset="-122"/>
                <a:cs typeface="Montserrat" pitchFamily="34" charset="-120"/>
              </a:rPr>
              <a:t>Airbnb</a:t>
            </a:r>
            <a:endParaRPr lang="en-US" sz="1500" dirty="0"/>
          </a:p>
        </p:txBody>
      </p:sp>
      <p:sp>
        <p:nvSpPr>
          <p:cNvPr id="10" name="Shape 7"/>
          <p:cNvSpPr/>
          <p:nvPr/>
        </p:nvSpPr>
        <p:spPr>
          <a:xfrm>
            <a:off x="2103120" y="2944368"/>
            <a:ext cx="3657600" cy="566928"/>
          </a:xfrm>
          <a:prstGeom prst="rect">
            <a:avLst/>
          </a:prstGeom>
          <a:solidFill>
            <a:srgbClr val="283070"/>
          </a:solidFill>
          <a:ln/>
        </p:spPr>
      </p:sp>
      <p:sp>
        <p:nvSpPr>
          <p:cNvPr id="11" name="Text 8"/>
          <p:cNvSpPr txBox="1"/>
          <p:nvPr/>
        </p:nvSpPr>
        <p:spPr>
          <a:xfrm>
            <a:off x="2103120" y="2944368"/>
            <a:ext cx="365760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Montserrat" pitchFamily="34" charset="0"/>
                <a:ea typeface="Montserrat" pitchFamily="34" charset="-122"/>
                <a:cs typeface="Montserrat" pitchFamily="34" charset="-120"/>
              </a:rPr>
              <a:t>2.5 years</a:t>
            </a:r>
            <a:endParaRPr lang="en-US" sz="1400" dirty="0"/>
          </a:p>
        </p:txBody>
      </p:sp>
      <p:sp>
        <p:nvSpPr>
          <p:cNvPr id="12" name="Text 9"/>
          <p:cNvSpPr txBox="1"/>
          <p:nvPr/>
        </p:nvSpPr>
        <p:spPr>
          <a:xfrm>
            <a:off x="548640" y="3877056"/>
            <a:ext cx="1371600" cy="566928"/>
          </a:xfrm>
          <a:prstGeom prst="rect">
            <a:avLst/>
          </a:prstGeom>
          <a:noFill/>
          <a:ln/>
        </p:spPr>
        <p:txBody>
          <a:bodyPr wrap="square" lIns="0" tIns="0" rIns="0" bIns="0" rtlCol="0" anchor="ctr"/>
          <a:lstStyle/>
          <a:p>
            <a:pPr algn="r" indent="0" marL="0">
              <a:buNone/>
            </a:pPr>
            <a:r>
              <a:rPr lang="en-US" sz="1500" dirty="0">
                <a:solidFill>
                  <a:srgbClr val="0F1341"/>
                </a:solidFill>
                <a:latin typeface="Montserrat" pitchFamily="34" charset="0"/>
                <a:ea typeface="Montserrat" pitchFamily="34" charset="-122"/>
                <a:cs typeface="Montserrat" pitchFamily="34" charset="-120"/>
              </a:rPr>
              <a:t>Twitter</a:t>
            </a:r>
            <a:endParaRPr lang="en-US" sz="1500" dirty="0"/>
          </a:p>
        </p:txBody>
      </p:sp>
      <p:sp>
        <p:nvSpPr>
          <p:cNvPr id="13" name="Shape 10"/>
          <p:cNvSpPr/>
          <p:nvPr/>
        </p:nvSpPr>
        <p:spPr>
          <a:xfrm>
            <a:off x="2103120" y="3877056"/>
            <a:ext cx="2926080" cy="566928"/>
          </a:xfrm>
          <a:prstGeom prst="rect">
            <a:avLst/>
          </a:prstGeom>
          <a:solidFill>
            <a:srgbClr val="6A7FA8"/>
          </a:solidFill>
          <a:ln/>
        </p:spPr>
      </p:sp>
      <p:sp>
        <p:nvSpPr>
          <p:cNvPr id="14" name="Text 11"/>
          <p:cNvSpPr txBox="1"/>
          <p:nvPr/>
        </p:nvSpPr>
        <p:spPr>
          <a:xfrm>
            <a:off x="2103120" y="3877056"/>
            <a:ext cx="292608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Montserrat" pitchFamily="34" charset="0"/>
                <a:ea typeface="Montserrat" pitchFamily="34" charset="-122"/>
                <a:cs typeface="Montserrat" pitchFamily="34" charset="-120"/>
              </a:rPr>
              <a:t>2 years</a:t>
            </a:r>
            <a:endParaRPr lang="en-US" sz="1400" dirty="0"/>
          </a:p>
        </p:txBody>
      </p:sp>
      <p:sp>
        <p:nvSpPr>
          <p:cNvPr id="15" name="Text 12"/>
          <p:cNvSpPr txBox="1"/>
          <p:nvPr/>
        </p:nvSpPr>
        <p:spPr>
          <a:xfrm>
            <a:off x="548640" y="4809744"/>
            <a:ext cx="1371600" cy="566928"/>
          </a:xfrm>
          <a:prstGeom prst="rect">
            <a:avLst/>
          </a:prstGeom>
          <a:noFill/>
          <a:ln/>
        </p:spPr>
        <p:txBody>
          <a:bodyPr wrap="square" lIns="0" tIns="0" rIns="0" bIns="0" rtlCol="0" anchor="ctr"/>
          <a:lstStyle/>
          <a:p>
            <a:pPr algn="r" indent="0" marL="0">
              <a:buNone/>
            </a:pPr>
            <a:r>
              <a:rPr lang="en-US" sz="1500" b="1" dirty="0">
                <a:solidFill>
                  <a:srgbClr val="2E6FBF"/>
                </a:solidFill>
                <a:latin typeface="Montserrat" pitchFamily="34" charset="0"/>
                <a:ea typeface="Montserrat" pitchFamily="34" charset="-122"/>
                <a:cs typeface="Montserrat" pitchFamily="34" charset="-120"/>
              </a:rPr>
              <a:t>ChatGPT</a:t>
            </a:r>
            <a:endParaRPr lang="en-US" sz="1500" dirty="0"/>
          </a:p>
        </p:txBody>
      </p:sp>
      <p:sp>
        <p:nvSpPr>
          <p:cNvPr id="16" name="Shape 13"/>
          <p:cNvSpPr/>
          <p:nvPr/>
        </p:nvSpPr>
        <p:spPr>
          <a:xfrm>
            <a:off x="2103120" y="4809744"/>
            <a:ext cx="82296" cy="566928"/>
          </a:xfrm>
          <a:prstGeom prst="rect">
            <a:avLst/>
          </a:prstGeom>
          <a:solidFill>
            <a:srgbClr val="2E6FBF"/>
          </a:solidFill>
          <a:ln/>
        </p:spPr>
      </p:sp>
      <p:sp>
        <p:nvSpPr>
          <p:cNvPr id="17" name="Text 14"/>
          <p:cNvSpPr txBox="1"/>
          <p:nvPr/>
        </p:nvSpPr>
        <p:spPr>
          <a:xfrm>
            <a:off x="2331720" y="4809744"/>
            <a:ext cx="1828800" cy="566928"/>
          </a:xfrm>
          <a:prstGeom prst="rect">
            <a:avLst/>
          </a:prstGeom>
          <a:noFill/>
          <a:ln/>
        </p:spPr>
        <p:txBody>
          <a:bodyPr wrap="square" lIns="0" tIns="0" rIns="0" bIns="0" rtlCol="0" anchor="ctr"/>
          <a:lstStyle/>
          <a:p>
            <a:pPr indent="0" marL="0">
              <a:buNone/>
            </a:pPr>
            <a:r>
              <a:rPr lang="en-US" sz="1500" b="1" dirty="0">
                <a:solidFill>
                  <a:srgbClr val="2E6FBF"/>
                </a:solidFill>
                <a:latin typeface="Montserrat" pitchFamily="34" charset="0"/>
                <a:ea typeface="Montserrat" pitchFamily="34" charset="-122"/>
                <a:cs typeface="Montserrat" pitchFamily="34" charset="-120"/>
              </a:rPr>
              <a:t>5 days</a:t>
            </a:r>
            <a:endParaRPr lang="en-US" sz="1500" dirty="0"/>
          </a:p>
        </p:txBody>
      </p:sp>
      <p:sp>
        <p:nvSpPr>
          <p:cNvPr id="18" name="Shape 15"/>
          <p:cNvSpPr/>
          <p:nvPr/>
        </p:nvSpPr>
        <p:spPr>
          <a:xfrm>
            <a:off x="7955280" y="1828800"/>
            <a:ext cx="3685032" cy="3520440"/>
          </a:xfrm>
          <a:prstGeom prst="roundRect">
            <a:avLst>
              <a:gd name="adj" fmla="val 2078"/>
            </a:avLst>
          </a:prstGeom>
          <a:solidFill>
            <a:srgbClr val="0F1341"/>
          </a:solidFill>
          <a:ln/>
        </p:spPr>
      </p:sp>
      <p:sp>
        <p:nvSpPr>
          <p:cNvPr id="19" name="Text 16"/>
          <p:cNvSpPr txBox="1"/>
          <p:nvPr/>
        </p:nvSpPr>
        <p:spPr>
          <a:xfrm>
            <a:off x="8183880" y="2011680"/>
            <a:ext cx="3291840" cy="1280160"/>
          </a:xfrm>
          <a:prstGeom prst="rect">
            <a:avLst/>
          </a:prstGeom>
          <a:noFill/>
          <a:ln/>
        </p:spPr>
        <p:txBody>
          <a:bodyPr wrap="square" lIns="0" tIns="0" rIns="0" bIns="0" rtlCol="0" anchor="t"/>
          <a:lstStyle/>
          <a:p>
            <a:pPr indent="0" marL="0">
              <a:buNone/>
            </a:pPr>
            <a:r>
              <a:rPr lang="en-US" sz="8800" b="1" dirty="0">
                <a:solidFill>
                  <a:srgbClr val="FFFFFF"/>
                </a:solidFill>
                <a:latin typeface="Montserrat" pitchFamily="34" charset="0"/>
                <a:ea typeface="Montserrat" pitchFamily="34" charset="-122"/>
                <a:cs typeface="Montserrat" pitchFamily="34" charset="-120"/>
              </a:rPr>
              <a:t>5</a:t>
            </a:r>
            <a:endParaRPr lang="en-US" sz="8800" dirty="0"/>
          </a:p>
        </p:txBody>
      </p:sp>
      <p:sp>
        <p:nvSpPr>
          <p:cNvPr id="20" name="Text 17"/>
          <p:cNvSpPr txBox="1"/>
          <p:nvPr/>
        </p:nvSpPr>
        <p:spPr>
          <a:xfrm>
            <a:off x="9144000" y="2606040"/>
            <a:ext cx="2194560" cy="548640"/>
          </a:xfrm>
          <a:prstGeom prst="rect">
            <a:avLst/>
          </a:prstGeom>
          <a:noFill/>
          <a:ln/>
        </p:spPr>
        <p:txBody>
          <a:bodyPr wrap="square" lIns="0" tIns="0" rIns="0" bIns="0" rtlCol="0" anchor="t"/>
          <a:lstStyle/>
          <a:p>
            <a:pPr indent="0" marL="0">
              <a:buNone/>
            </a:pPr>
            <a:r>
              <a:rPr lang="en-US" sz="2800" b="1" dirty="0">
                <a:solidFill>
                  <a:srgbClr val="4A8FDB"/>
                </a:solidFill>
                <a:latin typeface="Montserrat" pitchFamily="34" charset="0"/>
                <a:ea typeface="Montserrat" pitchFamily="34" charset="-122"/>
                <a:cs typeface="Montserrat" pitchFamily="34" charset="-120"/>
              </a:rPr>
              <a:t>days</a:t>
            </a:r>
            <a:endParaRPr lang="en-US" sz="2800" dirty="0"/>
          </a:p>
        </p:txBody>
      </p:sp>
      <p:sp>
        <p:nvSpPr>
          <p:cNvPr id="21" name="Text 18"/>
          <p:cNvSpPr txBox="1"/>
          <p:nvPr/>
        </p:nvSpPr>
        <p:spPr>
          <a:xfrm>
            <a:off x="8183880" y="3429000"/>
            <a:ext cx="3246120" cy="914400"/>
          </a:xfrm>
          <a:prstGeom prst="rect">
            <a:avLst/>
          </a:prstGeom>
          <a:noFill/>
          <a:ln/>
        </p:spPr>
        <p:txBody>
          <a:bodyPr wrap="square" lIns="0" tIns="0" rIns="0" bIns="0" rtlCol="0" anchor="t"/>
          <a:lstStyle/>
          <a:p>
            <a:pPr indent="0" marL="0">
              <a:buNone/>
            </a:pPr>
            <a:r>
              <a:rPr lang="en-US" sz="1400" dirty="0">
                <a:solidFill>
                  <a:srgbClr val="FFFFFF"/>
                </a:solidFill>
                <a:latin typeface="Montserrat" pitchFamily="34" charset="0"/>
                <a:ea typeface="Montserrat" pitchFamily="34" charset="-122"/>
                <a:cs typeface="Montserrat" pitchFamily="34" charset="-120"/>
              </a:rPr>
              <a:t>from launch to one million users — faster than any consumer product before it.</a:t>
            </a:r>
            <a:endParaRPr lang="en-US" sz="1400" dirty="0"/>
          </a:p>
        </p:txBody>
      </p:sp>
      <p:sp>
        <p:nvSpPr>
          <p:cNvPr id="22" name="Text 19"/>
          <p:cNvSpPr txBox="1"/>
          <p:nvPr/>
        </p:nvSpPr>
        <p:spPr>
          <a:xfrm>
            <a:off x="8183880" y="4434840"/>
            <a:ext cx="3246120" cy="777240"/>
          </a:xfrm>
          <a:prstGeom prst="rect">
            <a:avLst/>
          </a:prstGeom>
          <a:noFill/>
          <a:ln/>
        </p:spPr>
        <p:txBody>
          <a:bodyPr wrap="square" lIns="0" tIns="0" rIns="0" bIns="0" rtlCol="0" anchor="t"/>
          <a:lstStyle/>
          <a:p>
            <a:pPr indent="0" marL="0">
              <a:buNone/>
            </a:pPr>
            <a:r>
              <a:rPr lang="en-US" sz="1200" i="1" dirty="0">
                <a:solidFill>
                  <a:srgbClr val="C9D3E3"/>
                </a:solidFill>
                <a:latin typeface="Montserrat" pitchFamily="34" charset="0"/>
                <a:ea typeface="Montserrat" pitchFamily="34" charset="-122"/>
                <a:cs typeface="Montserrat" pitchFamily="34" charset="-120"/>
              </a:rPr>
              <a:t>For CRM: customers now ask an AI assistant before they ask your brand — a new channel.</a:t>
            </a:r>
            <a:endParaRPr lang="en-US" sz="1200" dirty="0"/>
          </a:p>
        </p:txBody>
      </p:sp>
      <p:sp>
        <p:nvSpPr>
          <p:cNvPr id="23" name="Text 20"/>
          <p:cNvSpPr txBox="1"/>
          <p:nvPr/>
        </p:nvSpPr>
        <p:spPr>
          <a:xfrm>
            <a:off x="548640" y="5806440"/>
            <a:ext cx="6949440" cy="228600"/>
          </a:xfrm>
          <a:prstGeom prst="rect">
            <a:avLst/>
          </a:prstGeom>
          <a:noFill/>
          <a:ln/>
        </p:spPr>
        <p:txBody>
          <a:bodyPr wrap="square" lIns="0" tIns="0" rIns="0" bIns="0" rtlCol="0" anchor="t"/>
          <a:lstStyle/>
          <a:p>
            <a:pPr indent="0" marL="0">
              <a:buNone/>
            </a:pPr>
            <a:r>
              <a:rPr lang="en-US" sz="900" i="1" dirty="0">
                <a:solidFill>
                  <a:srgbClr val="8A93A3"/>
                </a:solidFill>
                <a:latin typeface="Montserrat" pitchFamily="34" charset="0"/>
                <a:ea typeface="Montserrat" pitchFamily="34" charset="-122"/>
                <a:cs typeface="Montserrat" pitchFamily="34" charset="-120"/>
              </a:rPr>
              <a:t>Source: Statista, based on company announcements. ChatGPT launched on 30 November 2022.</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AI's IQ: from 96 to 136 in one year</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Best AI model on standardised IQ tests — one year apart</a:t>
            </a:r>
            <a:endParaRPr lang="en-US" sz="1300" dirty="0"/>
          </a:p>
        </p:txBody>
      </p:sp>
      <p:sp>
        <p:nvSpPr>
          <p:cNvPr id="5" name="Shape 2"/>
          <p:cNvSpPr/>
          <p:nvPr/>
        </p:nvSpPr>
        <p:spPr>
          <a:xfrm>
            <a:off x="548640" y="1828800"/>
            <a:ext cx="3291840" cy="1828800"/>
          </a:xfrm>
          <a:prstGeom prst="roundRect">
            <a:avLst>
              <a:gd name="adj" fmla="val 4000"/>
            </a:avLst>
          </a:prstGeom>
          <a:solidFill>
            <a:srgbClr val="F3F7FC"/>
          </a:solidFill>
          <a:ln/>
        </p:spPr>
      </p:sp>
      <p:sp>
        <p:nvSpPr>
          <p:cNvPr id="6" name="Text 3"/>
          <p:cNvSpPr txBox="1"/>
          <p:nvPr/>
        </p:nvSpPr>
        <p:spPr>
          <a:xfrm>
            <a:off x="777240" y="1965960"/>
            <a:ext cx="2743200" cy="320040"/>
          </a:xfrm>
          <a:prstGeom prst="rect">
            <a:avLst/>
          </a:prstGeom>
          <a:noFill/>
          <a:ln/>
        </p:spPr>
        <p:txBody>
          <a:bodyPr wrap="square" lIns="0" tIns="0" rIns="0" bIns="0" rtlCol="0" anchor="t"/>
          <a:lstStyle/>
          <a:p>
            <a:pPr indent="0" marL="0">
              <a:buNone/>
            </a:pPr>
            <a:r>
              <a:rPr lang="en-US" sz="1300" b="1" dirty="0">
                <a:solidFill>
                  <a:srgbClr val="8A93A3"/>
                </a:solidFill>
                <a:latin typeface="Montserrat" pitchFamily="34" charset="0"/>
                <a:ea typeface="Montserrat" pitchFamily="34" charset="-122"/>
                <a:cs typeface="Montserrat" pitchFamily="34" charset="-120"/>
              </a:rPr>
              <a:t>2024</a:t>
            </a:r>
            <a:endParaRPr lang="en-US" sz="1300" dirty="0"/>
          </a:p>
        </p:txBody>
      </p:sp>
      <p:sp>
        <p:nvSpPr>
          <p:cNvPr id="7" name="Text 4"/>
          <p:cNvSpPr txBox="1"/>
          <p:nvPr/>
        </p:nvSpPr>
        <p:spPr>
          <a:xfrm>
            <a:off x="777240" y="2286000"/>
            <a:ext cx="2926080" cy="822960"/>
          </a:xfrm>
          <a:prstGeom prst="rect">
            <a:avLst/>
          </a:prstGeom>
          <a:noFill/>
          <a:ln/>
        </p:spPr>
        <p:txBody>
          <a:bodyPr wrap="square" lIns="0" tIns="0" rIns="0" bIns="0" rtlCol="0" anchor="t"/>
          <a:lstStyle/>
          <a:p>
            <a:pPr indent="0" marL="0">
              <a:buNone/>
            </a:pPr>
            <a:r>
              <a:rPr lang="en-US" sz="4400" b="1" dirty="0">
                <a:solidFill>
                  <a:srgbClr val="6A7FA8"/>
                </a:solidFill>
                <a:latin typeface="Montserrat" pitchFamily="34" charset="0"/>
                <a:ea typeface="Montserrat" pitchFamily="34" charset="-122"/>
                <a:cs typeface="Montserrat" pitchFamily="34" charset="-120"/>
              </a:rPr>
              <a:t>IQ 96</a:t>
            </a:r>
            <a:endParaRPr lang="en-US" sz="4400" dirty="0"/>
          </a:p>
        </p:txBody>
      </p:sp>
      <p:sp>
        <p:nvSpPr>
          <p:cNvPr id="8" name="Text 5"/>
          <p:cNvSpPr txBox="1"/>
          <p:nvPr/>
        </p:nvSpPr>
        <p:spPr>
          <a:xfrm>
            <a:off x="777240" y="3154680"/>
            <a:ext cx="2926080" cy="32004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Best model, offline test</a:t>
            </a:r>
            <a:endParaRPr lang="en-US" sz="1200" dirty="0"/>
          </a:p>
        </p:txBody>
      </p:sp>
      <p:sp>
        <p:nvSpPr>
          <p:cNvPr id="9" name="Shape 6"/>
          <p:cNvSpPr/>
          <p:nvPr/>
        </p:nvSpPr>
        <p:spPr>
          <a:xfrm>
            <a:off x="548640" y="3840480"/>
            <a:ext cx="3291840" cy="1828800"/>
          </a:xfrm>
          <a:prstGeom prst="roundRect">
            <a:avLst>
              <a:gd name="adj" fmla="val 4000"/>
            </a:avLst>
          </a:prstGeom>
          <a:solidFill>
            <a:srgbClr val="0F1341"/>
          </a:solidFill>
          <a:ln/>
        </p:spPr>
      </p:sp>
      <p:sp>
        <p:nvSpPr>
          <p:cNvPr id="10" name="Text 7"/>
          <p:cNvSpPr txBox="1"/>
          <p:nvPr/>
        </p:nvSpPr>
        <p:spPr>
          <a:xfrm>
            <a:off x="777240" y="3977640"/>
            <a:ext cx="2743200" cy="320040"/>
          </a:xfrm>
          <a:prstGeom prst="rect">
            <a:avLst/>
          </a:prstGeom>
          <a:noFill/>
          <a:ln/>
        </p:spPr>
        <p:txBody>
          <a:bodyPr wrap="square" lIns="0" tIns="0" rIns="0" bIns="0" rtlCol="0" anchor="t"/>
          <a:lstStyle/>
          <a:p>
            <a:pPr indent="0" marL="0">
              <a:buNone/>
            </a:pPr>
            <a:r>
              <a:rPr lang="en-US" sz="1300" b="1" dirty="0">
                <a:solidFill>
                  <a:srgbClr val="4A8FDB"/>
                </a:solidFill>
                <a:latin typeface="Montserrat" pitchFamily="34" charset="0"/>
                <a:ea typeface="Montserrat" pitchFamily="34" charset="-122"/>
                <a:cs typeface="Montserrat" pitchFamily="34" charset="-120"/>
              </a:rPr>
              <a:t>2025</a:t>
            </a:r>
            <a:endParaRPr lang="en-US" sz="1300" dirty="0"/>
          </a:p>
        </p:txBody>
      </p:sp>
      <p:sp>
        <p:nvSpPr>
          <p:cNvPr id="11" name="Text 8"/>
          <p:cNvSpPr txBox="1"/>
          <p:nvPr/>
        </p:nvSpPr>
        <p:spPr>
          <a:xfrm>
            <a:off x="777240" y="4297680"/>
            <a:ext cx="2926080" cy="822960"/>
          </a:xfrm>
          <a:prstGeom prst="rect">
            <a:avLst/>
          </a:prstGeom>
          <a:noFill/>
          <a:ln/>
        </p:spPr>
        <p:txBody>
          <a:bodyPr wrap="square" lIns="0" tIns="0" rIns="0" bIns="0" rtlCol="0" anchor="t"/>
          <a:lstStyle/>
          <a:p>
            <a:pPr indent="0" marL="0">
              <a:buNone/>
            </a:pPr>
            <a:r>
              <a:rPr lang="en-US" sz="4400" b="1" dirty="0">
                <a:solidFill>
                  <a:srgbClr val="FFFFFF"/>
                </a:solidFill>
                <a:latin typeface="Montserrat" pitchFamily="34" charset="0"/>
                <a:ea typeface="Montserrat" pitchFamily="34" charset="-122"/>
                <a:cs typeface="Montserrat" pitchFamily="34" charset="-120"/>
              </a:rPr>
              <a:t>IQ 136</a:t>
            </a:r>
            <a:endParaRPr lang="en-US" sz="4400" dirty="0"/>
          </a:p>
        </p:txBody>
      </p:sp>
      <p:sp>
        <p:nvSpPr>
          <p:cNvPr id="12" name="Text 9"/>
          <p:cNvSpPr txBox="1"/>
          <p:nvPr/>
        </p:nvSpPr>
        <p:spPr>
          <a:xfrm>
            <a:off x="777240" y="5166360"/>
            <a:ext cx="2926080"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Best model, Mensa Norway test</a:t>
            </a:r>
            <a:endParaRPr lang="en-US" sz="1200" dirty="0"/>
          </a:p>
        </p:txBody>
      </p:sp>
      <p:sp>
        <p:nvSpPr>
          <p:cNvPr id="13" name="Shape 10"/>
          <p:cNvSpPr/>
          <p:nvPr/>
        </p:nvSpPr>
        <p:spPr>
          <a:xfrm>
            <a:off x="4160520" y="1828800"/>
            <a:ext cx="7479792" cy="1828800"/>
          </a:xfrm>
          <a:prstGeom prst="roundRect">
            <a:avLst>
              <a:gd name="adj" fmla="val 4000"/>
            </a:avLst>
          </a:prstGeom>
          <a:solidFill>
            <a:srgbClr val="FFFFFF"/>
          </a:solidFill>
          <a:ln w="12700">
            <a:solidFill>
              <a:srgbClr val="C9D3E3"/>
            </a:solidFill>
            <a:prstDash val="solid"/>
          </a:ln>
        </p:spPr>
      </p:sp>
      <p:pic>
        <p:nvPicPr>
          <p:cNvPr id="14" name="Image 0" descr="/home/user/work/assets/iq2024.png">    </p:cNvPr>
          <p:cNvPicPr>
            <a:picLocks noChangeAspect="1"/>
          </p:cNvPicPr>
          <p:nvPr/>
        </p:nvPicPr>
        <p:blipFill>
          <a:blip r:embed="rId1"/>
          <a:stretch>
            <a:fillRect/>
          </a:stretch>
        </p:blipFill>
        <p:spPr>
          <a:xfrm>
            <a:off x="4343400" y="2057400"/>
            <a:ext cx="5897880" cy="1499616"/>
          </a:xfrm>
          <a:prstGeom prst="rect">
            <a:avLst/>
          </a:prstGeom>
        </p:spPr>
      </p:pic>
      <p:sp>
        <p:nvSpPr>
          <p:cNvPr id="15" name="Text 11"/>
          <p:cNvSpPr txBox="1"/>
          <p:nvPr/>
        </p:nvSpPr>
        <p:spPr>
          <a:xfrm>
            <a:off x="10332720" y="2011680"/>
            <a:ext cx="1188720" cy="365760"/>
          </a:xfrm>
          <a:prstGeom prst="rect">
            <a:avLst/>
          </a:prstGeom>
          <a:noFill/>
          <a:ln/>
        </p:spPr>
        <p:txBody>
          <a:bodyPr wrap="square" lIns="0" tIns="0" rIns="0" bIns="0" rtlCol="0" anchor="t"/>
          <a:lstStyle/>
          <a:p>
            <a:pPr algn="r" indent="0" marL="0">
              <a:buNone/>
            </a:pPr>
            <a:r>
              <a:rPr lang="en-US" sz="1600" b="1" dirty="0">
                <a:solidFill>
                  <a:srgbClr val="6A7FA8"/>
                </a:solidFill>
                <a:latin typeface="Montserrat" pitchFamily="34" charset="0"/>
                <a:ea typeface="Montserrat" pitchFamily="34" charset="-122"/>
                <a:cs typeface="Montserrat" pitchFamily="34" charset="-120"/>
              </a:rPr>
              <a:t>2024</a:t>
            </a:r>
            <a:endParaRPr lang="en-US" sz="1600" dirty="0"/>
          </a:p>
        </p:txBody>
      </p:sp>
      <p:sp>
        <p:nvSpPr>
          <p:cNvPr id="16" name="Shape 12"/>
          <p:cNvSpPr/>
          <p:nvPr/>
        </p:nvSpPr>
        <p:spPr>
          <a:xfrm>
            <a:off x="4160520" y="3840480"/>
            <a:ext cx="7479792" cy="1828800"/>
          </a:xfrm>
          <a:prstGeom prst="roundRect">
            <a:avLst>
              <a:gd name="adj" fmla="val 4000"/>
            </a:avLst>
          </a:prstGeom>
          <a:solidFill>
            <a:srgbClr val="FFFFFF"/>
          </a:solidFill>
          <a:ln w="12700">
            <a:solidFill>
              <a:srgbClr val="C9D3E3"/>
            </a:solidFill>
            <a:prstDash val="solid"/>
          </a:ln>
        </p:spPr>
      </p:sp>
      <p:pic>
        <p:nvPicPr>
          <p:cNvPr id="17" name="Image 1" descr="/home/user/work/assets/iq2025.png">    </p:cNvPr>
          <p:cNvPicPr>
            <a:picLocks noChangeAspect="1"/>
          </p:cNvPicPr>
          <p:nvPr/>
        </p:nvPicPr>
        <p:blipFill>
          <a:blip r:embed="rId2"/>
          <a:stretch>
            <a:fillRect/>
          </a:stretch>
        </p:blipFill>
        <p:spPr>
          <a:xfrm>
            <a:off x="4800600" y="3913632"/>
            <a:ext cx="4690872" cy="1700784"/>
          </a:xfrm>
          <a:prstGeom prst="rect">
            <a:avLst/>
          </a:prstGeom>
        </p:spPr>
      </p:pic>
      <p:sp>
        <p:nvSpPr>
          <p:cNvPr id="18" name="Text 13"/>
          <p:cNvSpPr txBox="1"/>
          <p:nvPr/>
        </p:nvSpPr>
        <p:spPr>
          <a:xfrm>
            <a:off x="10332720" y="4023360"/>
            <a:ext cx="1188720" cy="365760"/>
          </a:xfrm>
          <a:prstGeom prst="rect">
            <a:avLst/>
          </a:prstGeom>
          <a:noFill/>
          <a:ln/>
        </p:spPr>
        <p:txBody>
          <a:bodyPr wrap="square" lIns="0" tIns="0" rIns="0" bIns="0" rtlCol="0" anchor="t"/>
          <a:lstStyle/>
          <a:p>
            <a:pPr algn="r" indent="0" marL="0">
              <a:buNone/>
            </a:pPr>
            <a:r>
              <a:rPr lang="en-US" sz="1600" b="1" dirty="0">
                <a:solidFill>
                  <a:srgbClr val="2E6FBF"/>
                </a:solidFill>
                <a:latin typeface="Montserrat" pitchFamily="34" charset="0"/>
                <a:ea typeface="Montserrat" pitchFamily="34" charset="-122"/>
                <a:cs typeface="Montserrat" pitchFamily="34" charset="-120"/>
              </a:rPr>
              <a:t>2025</a:t>
            </a:r>
            <a:endParaRPr lang="en-US" sz="1600" dirty="0"/>
          </a:p>
        </p:txBody>
      </p:sp>
      <p:sp>
        <p:nvSpPr>
          <p:cNvPr id="19" name="Text 14"/>
          <p:cNvSpPr txBox="1"/>
          <p:nvPr/>
        </p:nvSpPr>
        <p:spPr>
          <a:xfrm>
            <a:off x="548640" y="5806440"/>
            <a:ext cx="10972800" cy="228600"/>
          </a:xfrm>
          <a:prstGeom prst="rect">
            <a:avLst/>
          </a:prstGeom>
          <a:noFill/>
          <a:ln/>
        </p:spPr>
        <p:txBody>
          <a:bodyPr wrap="square" lIns="0" tIns="0" rIns="0" bIns="0" rtlCol="0" anchor="t"/>
          <a:lstStyle/>
          <a:p>
            <a:pPr indent="0" marL="0">
              <a:buNone/>
            </a:pPr>
            <a:r>
              <a:rPr lang="en-US" sz="900" i="1" dirty="0">
                <a:solidFill>
                  <a:srgbClr val="8A93A3"/>
                </a:solidFill>
                <a:latin typeface="Montserrat" pitchFamily="34" charset="0"/>
                <a:ea typeface="Montserrat" pitchFamily="34" charset="-122"/>
                <a:cs typeface="Montserrat" pitchFamily="34" charset="-120"/>
              </a:rPr>
              <a:t>Source: TrackingAI.org (MaximumTruth.org) — IQ scores, average of last 7 tests. Average human = 100.</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Why AI is (still) hardly replacing jobs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Capability is rising fast — but real work is messy</a:t>
            </a:r>
            <a:endParaRPr lang="en-US" sz="1300" dirty="0"/>
          </a:p>
        </p:txBody>
      </p:sp>
      <p:sp>
        <p:nvSpPr>
          <p:cNvPr id="5" name="Shape 2"/>
          <p:cNvSpPr/>
          <p:nvPr/>
        </p:nvSpPr>
        <p:spPr>
          <a:xfrm>
            <a:off x="548640" y="1874520"/>
            <a:ext cx="566928" cy="566928"/>
          </a:xfrm>
          <a:prstGeom prst="ellipse">
            <a:avLst/>
          </a:prstGeom>
          <a:solidFill>
            <a:srgbClr val="D9E8F8"/>
          </a:solidFill>
          <a:ln/>
        </p:spPr>
      </p:sp>
      <p:sp>
        <p:nvSpPr>
          <p:cNvPr id="6" name="Text 3"/>
          <p:cNvSpPr txBox="1"/>
          <p:nvPr/>
        </p:nvSpPr>
        <p:spPr>
          <a:xfrm>
            <a:off x="1325880" y="1874520"/>
            <a:ext cx="5120640" cy="566928"/>
          </a:xfrm>
          <a:prstGeom prst="rect">
            <a:avLst/>
          </a:prstGeom>
          <a:noFill/>
          <a:ln/>
        </p:spPr>
        <p:txBody>
          <a:bodyPr wrap="square" lIns="0" tIns="0" rIns="0" bIns="0" rtlCol="0" anchor="ctr"/>
          <a:lstStyle/>
          <a:p>
            <a:pPr indent="0" marL="0">
              <a:buNone/>
            </a:pPr>
            <a:r>
              <a:rPr lang="en-US" sz="1600" dirty="0">
                <a:solidFill>
                  <a:srgbClr val="0F1341"/>
                </a:solidFill>
                <a:latin typeface="Montserrat" pitchFamily="34" charset="0"/>
                <a:ea typeface="Montserrat" pitchFamily="34" charset="-122"/>
                <a:cs typeface="Montserrat" pitchFamily="34" charset="-120"/>
              </a:rPr>
              <a:t>So far, hardly any job losses from AI</a:t>
            </a:r>
            <a:endParaRPr lang="en-US" sz="1600" dirty="0"/>
          </a:p>
        </p:txBody>
      </p:sp>
      <p:sp>
        <p:nvSpPr>
          <p:cNvPr id="7" name="Shape 4"/>
          <p:cNvSpPr/>
          <p:nvPr/>
        </p:nvSpPr>
        <p:spPr>
          <a:xfrm>
            <a:off x="548640" y="2770632"/>
            <a:ext cx="566928" cy="566928"/>
          </a:xfrm>
          <a:prstGeom prst="ellipse">
            <a:avLst/>
          </a:prstGeom>
          <a:solidFill>
            <a:srgbClr val="D9E8F8"/>
          </a:solidFill>
          <a:ln/>
        </p:spPr>
      </p:sp>
      <p:sp>
        <p:nvSpPr>
          <p:cNvPr id="8" name="Text 5"/>
          <p:cNvSpPr txBox="1"/>
          <p:nvPr/>
        </p:nvSpPr>
        <p:spPr>
          <a:xfrm>
            <a:off x="1325880" y="2770632"/>
            <a:ext cx="5120640" cy="566928"/>
          </a:xfrm>
          <a:prstGeom prst="rect">
            <a:avLst/>
          </a:prstGeom>
          <a:noFill/>
          <a:ln/>
        </p:spPr>
        <p:txBody>
          <a:bodyPr wrap="square" lIns="0" tIns="0" rIns="0" bIns="0" rtlCol="0" anchor="ctr"/>
          <a:lstStyle/>
          <a:p>
            <a:pPr indent="0" marL="0">
              <a:buNone/>
            </a:pPr>
            <a:r>
              <a:rPr lang="en-US" sz="1600" dirty="0">
                <a:solidFill>
                  <a:srgbClr val="0F1341"/>
                </a:solidFill>
                <a:latin typeface="Montserrat" pitchFamily="34" charset="0"/>
                <a:ea typeface="Montserrat" pitchFamily="34" charset="-122"/>
                <a:cs typeface="Montserrat" pitchFamily="34" charset="-120"/>
              </a:rPr>
              <a:t>AI hits its limits in complex, dynamic workflows</a:t>
            </a:r>
            <a:endParaRPr lang="en-US" sz="1600" dirty="0"/>
          </a:p>
        </p:txBody>
      </p:sp>
      <p:sp>
        <p:nvSpPr>
          <p:cNvPr id="9" name="Shape 6"/>
          <p:cNvSpPr/>
          <p:nvPr/>
        </p:nvSpPr>
        <p:spPr>
          <a:xfrm>
            <a:off x="548640" y="3666744"/>
            <a:ext cx="566928" cy="566928"/>
          </a:xfrm>
          <a:prstGeom prst="ellipse">
            <a:avLst/>
          </a:prstGeom>
          <a:solidFill>
            <a:srgbClr val="D9E8F8"/>
          </a:solidFill>
          <a:ln/>
        </p:spPr>
      </p:sp>
      <p:sp>
        <p:nvSpPr>
          <p:cNvPr id="10" name="Text 7"/>
          <p:cNvSpPr txBox="1"/>
          <p:nvPr/>
        </p:nvSpPr>
        <p:spPr>
          <a:xfrm>
            <a:off x="1325880" y="3666744"/>
            <a:ext cx="5120640" cy="566928"/>
          </a:xfrm>
          <a:prstGeom prst="rect">
            <a:avLst/>
          </a:prstGeom>
          <a:noFill/>
          <a:ln/>
        </p:spPr>
        <p:txBody>
          <a:bodyPr wrap="square" lIns="0" tIns="0" rIns="0" bIns="0" rtlCol="0" anchor="ctr"/>
          <a:lstStyle/>
          <a:p>
            <a:pPr indent="0" marL="0">
              <a:buNone/>
            </a:pPr>
            <a:r>
              <a:rPr lang="en-US" sz="1600" dirty="0">
                <a:solidFill>
                  <a:srgbClr val="0F1341"/>
                </a:solidFill>
                <a:latin typeface="Montserrat" pitchFamily="34" charset="0"/>
                <a:ea typeface="Montserrat" pitchFamily="34" charset="-122"/>
                <a:cs typeface="Montserrat" pitchFamily="34" charset="-120"/>
              </a:rPr>
              <a:t>Office and routine work stable so far — despite automation risk</a:t>
            </a:r>
            <a:endParaRPr lang="en-US" sz="1600" dirty="0"/>
          </a:p>
        </p:txBody>
      </p:sp>
      <p:sp>
        <p:nvSpPr>
          <p:cNvPr id="11" name="Shape 8"/>
          <p:cNvSpPr/>
          <p:nvPr/>
        </p:nvSpPr>
        <p:spPr>
          <a:xfrm>
            <a:off x="548640" y="4562856"/>
            <a:ext cx="566928" cy="566928"/>
          </a:xfrm>
          <a:prstGeom prst="ellipse">
            <a:avLst/>
          </a:prstGeom>
          <a:solidFill>
            <a:srgbClr val="D9E8F8"/>
          </a:solidFill>
          <a:ln/>
        </p:spPr>
      </p:sp>
      <p:sp>
        <p:nvSpPr>
          <p:cNvPr id="12" name="Text 9"/>
          <p:cNvSpPr txBox="1"/>
          <p:nvPr/>
        </p:nvSpPr>
        <p:spPr>
          <a:xfrm>
            <a:off x="1325880" y="4562856"/>
            <a:ext cx="5120640" cy="566928"/>
          </a:xfrm>
          <a:prstGeom prst="rect">
            <a:avLst/>
          </a:prstGeom>
          <a:noFill/>
          <a:ln/>
        </p:spPr>
        <p:txBody>
          <a:bodyPr wrap="square" lIns="0" tIns="0" rIns="0" bIns="0" rtlCol="0" anchor="ctr"/>
          <a:lstStyle/>
          <a:p>
            <a:pPr indent="0" marL="0">
              <a:buNone/>
            </a:pPr>
            <a:r>
              <a:rPr lang="en-US" sz="1600" dirty="0">
                <a:solidFill>
                  <a:srgbClr val="0F1341"/>
                </a:solidFill>
                <a:latin typeface="Montserrat" pitchFamily="34" charset="0"/>
                <a:ea typeface="Montserrat" pitchFamily="34" charset="-122"/>
                <a:cs typeface="Montserrat" pitchFamily="34" charset="-120"/>
              </a:rPr>
              <a:t>Demand for AI skills is growing sharply</a:t>
            </a:r>
            <a:endParaRPr lang="en-US" sz="1600" dirty="0"/>
          </a:p>
        </p:txBody>
      </p:sp>
      <p:sp>
        <p:nvSpPr>
          <p:cNvPr id="13" name="Shape 10"/>
          <p:cNvSpPr/>
          <p:nvPr/>
        </p:nvSpPr>
        <p:spPr>
          <a:xfrm>
            <a:off x="548640" y="5486400"/>
            <a:ext cx="5897880" cy="566928"/>
          </a:xfrm>
          <a:prstGeom prst="roundRect">
            <a:avLst>
              <a:gd name="adj" fmla="val 12903"/>
            </a:avLst>
          </a:prstGeom>
          <a:solidFill>
            <a:srgbClr val="F3F7FC"/>
          </a:solidFill>
          <a:ln/>
        </p:spPr>
      </p:sp>
      <p:sp>
        <p:nvSpPr>
          <p:cNvPr id="14" name="Text 11"/>
          <p:cNvSpPr txBox="1"/>
          <p:nvPr/>
        </p:nvSpPr>
        <p:spPr>
          <a:xfrm>
            <a:off x="731520" y="5486400"/>
            <a:ext cx="5577840" cy="566928"/>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For you: </a:t>
            </a:r>
            <a:pPr indent="0" marL="0">
              <a:buNone/>
            </a:pPr>
            <a:r>
              <a:rPr lang="en-US" sz="1200" dirty="0">
                <a:solidFill>
                  <a:srgbClr val="0F1341"/>
                </a:solidFill>
                <a:latin typeface="Montserrat" pitchFamily="34" charset="0"/>
                <a:ea typeface="Montserrat" pitchFamily="34" charset="-122"/>
                <a:cs typeface="Montserrat" pitchFamily="34" charset="-120"/>
              </a:rPr>
              <a:t>Forecasting is a clean task. Aligning manufacturer, distributor and retailer is messy — that is the CRM job.</a:t>
            </a:r>
            <a:endParaRPr lang="en-US" sz="1200" dirty="0"/>
          </a:p>
        </p:txBody>
      </p:sp>
      <p:sp>
        <p:nvSpPr>
          <p:cNvPr id="15" name="Shape 12"/>
          <p:cNvSpPr/>
          <p:nvPr/>
        </p:nvSpPr>
        <p:spPr>
          <a:xfrm>
            <a:off x="6766560" y="1737360"/>
            <a:ext cx="4873752" cy="4526280"/>
          </a:xfrm>
          <a:prstGeom prst="roundRect">
            <a:avLst>
              <a:gd name="adj" fmla="val 1616"/>
            </a:avLst>
          </a:prstGeom>
          <a:solidFill>
            <a:srgbClr val="0F1341"/>
          </a:solidFill>
          <a:ln/>
        </p:spPr>
      </p:sp>
      <p:sp>
        <p:nvSpPr>
          <p:cNvPr id="16" name="Text 13"/>
          <p:cNvSpPr txBox="1"/>
          <p:nvPr/>
        </p:nvSpPr>
        <p:spPr>
          <a:xfrm>
            <a:off x="6995160" y="1874520"/>
            <a:ext cx="4480560" cy="548640"/>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AI's ability to automate jobs is constrained by task “messiness”</a:t>
            </a:r>
            <a:endParaRPr lang="en-US" sz="1300" dirty="0"/>
          </a:p>
        </p:txBody>
      </p:sp>
      <p:sp>
        <p:nvSpPr>
          <p:cNvPr id="17" name="Text 14"/>
          <p:cNvSpPr txBox="1"/>
          <p:nvPr/>
        </p:nvSpPr>
        <p:spPr>
          <a:xfrm>
            <a:off x="6995160" y="2423160"/>
            <a:ext cx="4480560" cy="274320"/>
          </a:xfrm>
          <a:prstGeom prst="rect">
            <a:avLst/>
          </a:prstGeom>
          <a:noFill/>
          <a:ln/>
        </p:spPr>
        <p:txBody>
          <a:bodyPr wrap="square" lIns="0" tIns="0" rIns="0" bIns="0" rtlCol="0" anchor="t"/>
          <a:lstStyle/>
          <a:p>
            <a:pPr indent="0" marL="0">
              <a:buNone/>
            </a:pPr>
            <a:r>
              <a:rPr lang="en-US" sz="1000" dirty="0">
                <a:solidFill>
                  <a:srgbClr val="C9D3E3"/>
                </a:solidFill>
                <a:latin typeface="Montserrat" pitchFamily="34" charset="0"/>
                <a:ea typeface="Montserrat" pitchFamily="34" charset="-122"/>
                <a:cs typeface="Montserrat" pitchFamily="34" charset="-120"/>
              </a:rPr>
              <a:t>AI task success rate by messiness of the task (%)</a:t>
            </a:r>
            <a:endParaRPr lang="en-US" sz="1000" dirty="0"/>
          </a:p>
        </p:txBody>
      </p:sp>
      <p:graphicFrame>
        <p:nvGraphicFramePr>
          <p:cNvPr id="18" name="Chart 0" descr=""/>
          <p:cNvGraphicFramePr/>
          <p:nvPr/>
        </p:nvGraphicFramePr>
        <p:xfrm>
          <a:off x="6858000" y="2697480"/>
          <a:ext cx="4663440" cy="3063240"/>
        </p:xfrm>
        <a:graphic xmlns:a="http://schemas.openxmlformats.org/drawingml/2006/main">
          <a:graphicData uri="http://schemas.openxmlformats.org/drawingml/2006/chart">
            <c:chart xmlns:c="http://schemas.openxmlformats.org/drawingml/2006/chart" r:id="rId1"/>
          </a:graphicData>
        </a:graphic>
      </p:graphicFrame>
      <p:sp>
        <p:nvSpPr>
          <p:cNvPr id="19" name="Text 15"/>
          <p:cNvSpPr txBox="1"/>
          <p:nvPr/>
        </p:nvSpPr>
        <p:spPr>
          <a:xfrm>
            <a:off x="6995160" y="5760720"/>
            <a:ext cx="4480560" cy="411480"/>
          </a:xfrm>
          <a:prstGeom prst="rect">
            <a:avLst/>
          </a:prstGeom>
          <a:noFill/>
          <a:ln/>
        </p:spPr>
        <p:txBody>
          <a:bodyPr wrap="square" lIns="0" tIns="0" rIns="0" bIns="0" rtlCol="0" anchor="t"/>
          <a:lstStyle/>
          <a:p>
            <a:pPr indent="0" marL="0">
              <a:buNone/>
            </a:pPr>
            <a:r>
              <a:rPr lang="en-US" sz="900" i="1" dirty="0">
                <a:solidFill>
                  <a:srgbClr val="C9D3E3"/>
                </a:solidFill>
                <a:latin typeface="Montserrat" pitchFamily="34" charset="0"/>
                <a:ea typeface="Montserrat" pitchFamily="34" charset="-122"/>
                <a:cs typeface="Montserrat" pitchFamily="34" charset="-120"/>
              </a:rPr>
              <a:t>Tasks taking a human professional ≤ 1 hour. Source: METR / Measuring AI Ability (values read from published chart).</a:t>
            </a:r>
            <a:endParaRPr lang="en-US" sz="900" dirty="0"/>
          </a:p>
        </p:txBody>
      </p:sp>
      <p:pic>
        <p:nvPicPr>
          <p:cNvPr id="20" name="Image 0" descr="preencoded.png">    </p:cNvPr>
          <p:cNvPicPr>
            <a:picLocks noChangeAspect="1"/>
          </p:cNvPicPr>
          <p:nvPr/>
        </p:nvPicPr>
        <p:blipFill>
          <a:blip r:embed="rId2"/>
          <a:stretch>
            <a:fillRect/>
          </a:stretch>
        </p:blipFill>
        <p:spPr>
          <a:xfrm>
            <a:off x="676656" y="2002536"/>
            <a:ext cx="310896" cy="310896"/>
          </a:xfrm>
          <a:prstGeom prst="rect">
            <a:avLst/>
          </a:prstGeom>
        </p:spPr>
      </p:pic>
      <p:pic>
        <p:nvPicPr>
          <p:cNvPr id="21" name="Image 1" descr="preencoded.png">    </p:cNvPr>
          <p:cNvPicPr>
            <a:picLocks noChangeAspect="1"/>
          </p:cNvPicPr>
          <p:nvPr/>
        </p:nvPicPr>
        <p:blipFill>
          <a:blip r:embed="rId3"/>
          <a:stretch>
            <a:fillRect/>
          </a:stretch>
        </p:blipFill>
        <p:spPr>
          <a:xfrm>
            <a:off x="676656" y="2898648"/>
            <a:ext cx="310896" cy="310896"/>
          </a:xfrm>
          <a:prstGeom prst="rect">
            <a:avLst/>
          </a:prstGeom>
        </p:spPr>
      </p:pic>
      <p:pic>
        <p:nvPicPr>
          <p:cNvPr id="22" name="Image 2" descr="preencoded.png">    </p:cNvPr>
          <p:cNvPicPr>
            <a:picLocks noChangeAspect="1"/>
          </p:cNvPicPr>
          <p:nvPr/>
        </p:nvPicPr>
        <p:blipFill>
          <a:blip r:embed="rId4"/>
          <a:stretch>
            <a:fillRect/>
          </a:stretch>
        </p:blipFill>
        <p:spPr>
          <a:xfrm>
            <a:off x="676656" y="3794760"/>
            <a:ext cx="310896" cy="310896"/>
          </a:xfrm>
          <a:prstGeom prst="rect">
            <a:avLst/>
          </a:prstGeom>
        </p:spPr>
      </p:pic>
      <p:pic>
        <p:nvPicPr>
          <p:cNvPr id="23" name="Image 3" descr="preencoded.png">    </p:cNvPr>
          <p:cNvPicPr>
            <a:picLocks noChangeAspect="1"/>
          </p:cNvPicPr>
          <p:nvPr/>
        </p:nvPicPr>
        <p:blipFill>
          <a:blip r:embed="rId5"/>
          <a:stretch>
            <a:fillRect/>
          </a:stretch>
        </p:blipFill>
        <p:spPr>
          <a:xfrm>
            <a:off x="676656" y="4690872"/>
            <a:ext cx="310896" cy="310896"/>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Core skills in 2030</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Share of employers calling a skill core today (x) vs expecting it to grow by 2030 (y)</a:t>
            </a:r>
            <a:endParaRPr lang="en-US" sz="1300" dirty="0"/>
          </a:p>
        </p:txBody>
      </p:sp>
      <p:sp>
        <p:nvSpPr>
          <p:cNvPr id="5" name="Shape 2"/>
          <p:cNvSpPr/>
          <p:nvPr/>
        </p:nvSpPr>
        <p:spPr>
          <a:xfrm>
            <a:off x="548640" y="1719072"/>
            <a:ext cx="5897880" cy="4315968"/>
          </a:xfrm>
          <a:prstGeom prst="roundRect">
            <a:avLst>
              <a:gd name="adj" fmla="val 1695"/>
            </a:avLst>
          </a:prstGeom>
          <a:solidFill>
            <a:srgbClr val="FFFFFF"/>
          </a:solidFill>
          <a:ln w="12700">
            <a:solidFill>
              <a:srgbClr val="C9D3E3"/>
            </a:solidFill>
            <a:prstDash val="solid"/>
          </a:ln>
        </p:spPr>
      </p:sp>
      <p:pic>
        <p:nvPicPr>
          <p:cNvPr id="6" name="Image 0" descr="/home/user/work/assets/wef.png">    </p:cNvPr>
          <p:cNvPicPr>
            <a:picLocks noChangeAspect="1"/>
          </p:cNvPicPr>
          <p:nvPr/>
        </p:nvPicPr>
        <p:blipFill>
          <a:blip r:embed="rId1"/>
          <a:stretch>
            <a:fillRect/>
          </a:stretch>
        </p:blipFill>
        <p:spPr>
          <a:xfrm>
            <a:off x="640080" y="1783080"/>
            <a:ext cx="5715000" cy="4187952"/>
          </a:xfrm>
          <a:prstGeom prst="rect">
            <a:avLst/>
          </a:prstGeom>
        </p:spPr>
      </p:pic>
      <p:sp>
        <p:nvSpPr>
          <p:cNvPr id="7" name="Shape 3"/>
          <p:cNvSpPr/>
          <p:nvPr/>
        </p:nvSpPr>
        <p:spPr>
          <a:xfrm>
            <a:off x="6812280" y="1783080"/>
            <a:ext cx="384048" cy="384048"/>
          </a:xfrm>
          <a:prstGeom prst="ellipse">
            <a:avLst/>
          </a:prstGeom>
          <a:solidFill>
            <a:srgbClr val="2E6FBF"/>
          </a:solidFill>
          <a:ln/>
        </p:spPr>
      </p:sp>
      <p:sp>
        <p:nvSpPr>
          <p:cNvPr id="8" name="Text 4"/>
          <p:cNvSpPr txBox="1"/>
          <p:nvPr/>
        </p:nvSpPr>
        <p:spPr>
          <a:xfrm>
            <a:off x="6812280" y="17830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9" name="Text 5"/>
          <p:cNvSpPr txBox="1"/>
          <p:nvPr/>
        </p:nvSpPr>
        <p:spPr>
          <a:xfrm>
            <a:off x="7360920" y="1737360"/>
            <a:ext cx="4279392" cy="347472"/>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AI and big data</a:t>
            </a:r>
            <a:endParaRPr lang="en-US" sz="1400" dirty="0"/>
          </a:p>
        </p:txBody>
      </p:sp>
      <p:sp>
        <p:nvSpPr>
          <p:cNvPr id="10" name="Text 6"/>
          <p:cNvSpPr txBox="1"/>
          <p:nvPr/>
        </p:nvSpPr>
        <p:spPr>
          <a:xfrm>
            <a:off x="7360920" y="2084832"/>
            <a:ext cx="4279392" cy="59436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the fastest-growing skill of all — almost 9 in 10 employers expect it to grow</a:t>
            </a:r>
            <a:endParaRPr lang="en-US" sz="1200" dirty="0"/>
          </a:p>
        </p:txBody>
      </p:sp>
      <p:sp>
        <p:nvSpPr>
          <p:cNvPr id="11" name="Shape 7"/>
          <p:cNvSpPr/>
          <p:nvPr/>
        </p:nvSpPr>
        <p:spPr>
          <a:xfrm>
            <a:off x="6812280" y="2807208"/>
            <a:ext cx="384048" cy="384048"/>
          </a:xfrm>
          <a:prstGeom prst="ellipse">
            <a:avLst/>
          </a:prstGeom>
          <a:solidFill>
            <a:srgbClr val="2E6FBF"/>
          </a:solidFill>
          <a:ln/>
        </p:spPr>
      </p:sp>
      <p:sp>
        <p:nvSpPr>
          <p:cNvPr id="12" name="Text 8"/>
          <p:cNvSpPr txBox="1"/>
          <p:nvPr/>
        </p:nvSpPr>
        <p:spPr>
          <a:xfrm>
            <a:off x="6812280" y="28072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3" name="Text 9"/>
          <p:cNvSpPr txBox="1"/>
          <p:nvPr/>
        </p:nvSpPr>
        <p:spPr>
          <a:xfrm>
            <a:off x="7360920" y="2761488"/>
            <a:ext cx="4279392" cy="347472"/>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Thinking skills stay core</a:t>
            </a:r>
            <a:endParaRPr lang="en-US" sz="1400" dirty="0"/>
          </a:p>
        </p:txBody>
      </p:sp>
      <p:sp>
        <p:nvSpPr>
          <p:cNvPr id="14" name="Text 10"/>
          <p:cNvSpPr txBox="1"/>
          <p:nvPr/>
        </p:nvSpPr>
        <p:spPr>
          <a:xfrm>
            <a:off x="7360920" y="3108960"/>
            <a:ext cx="4279392" cy="59436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analytical thinking, creative thinking, systems thinking</a:t>
            </a:r>
            <a:endParaRPr lang="en-US" sz="1200" dirty="0"/>
          </a:p>
        </p:txBody>
      </p:sp>
      <p:sp>
        <p:nvSpPr>
          <p:cNvPr id="15" name="Shape 11"/>
          <p:cNvSpPr/>
          <p:nvPr/>
        </p:nvSpPr>
        <p:spPr>
          <a:xfrm>
            <a:off x="6812280" y="3831336"/>
            <a:ext cx="384048" cy="384048"/>
          </a:xfrm>
          <a:prstGeom prst="ellipse">
            <a:avLst/>
          </a:prstGeom>
          <a:solidFill>
            <a:srgbClr val="2E6FBF"/>
          </a:solidFill>
          <a:ln/>
        </p:spPr>
      </p:sp>
      <p:sp>
        <p:nvSpPr>
          <p:cNvPr id="16" name="Text 12"/>
          <p:cNvSpPr txBox="1"/>
          <p:nvPr/>
        </p:nvSpPr>
        <p:spPr>
          <a:xfrm>
            <a:off x="6812280" y="38313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7" name="Text 13"/>
          <p:cNvSpPr txBox="1"/>
          <p:nvPr/>
        </p:nvSpPr>
        <p:spPr>
          <a:xfrm>
            <a:off x="7360920" y="3785616"/>
            <a:ext cx="4279392" cy="347472"/>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Human skills rise with AI</a:t>
            </a:r>
            <a:endParaRPr lang="en-US" sz="1400" dirty="0"/>
          </a:p>
        </p:txBody>
      </p:sp>
      <p:sp>
        <p:nvSpPr>
          <p:cNvPr id="18" name="Text 14"/>
          <p:cNvSpPr txBox="1"/>
          <p:nvPr/>
        </p:nvSpPr>
        <p:spPr>
          <a:xfrm>
            <a:off x="7360920" y="4133088"/>
            <a:ext cx="4279392" cy="59436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resilience, curiosity and lifelong learning, leadership</a:t>
            </a:r>
            <a:endParaRPr lang="en-US" sz="1200" dirty="0"/>
          </a:p>
        </p:txBody>
      </p:sp>
      <p:sp>
        <p:nvSpPr>
          <p:cNvPr id="19" name="Shape 15"/>
          <p:cNvSpPr/>
          <p:nvPr/>
        </p:nvSpPr>
        <p:spPr>
          <a:xfrm>
            <a:off x="6812280" y="4846320"/>
            <a:ext cx="4828032" cy="1188720"/>
          </a:xfrm>
          <a:prstGeom prst="roundRect">
            <a:avLst>
              <a:gd name="adj" fmla="val 6154"/>
            </a:avLst>
          </a:prstGeom>
          <a:solidFill>
            <a:srgbClr val="0F1341"/>
          </a:solidFill>
          <a:ln/>
        </p:spPr>
      </p:sp>
      <p:sp>
        <p:nvSpPr>
          <p:cNvPr id="20" name="Text 16"/>
          <p:cNvSpPr txBox="1"/>
          <p:nvPr/>
        </p:nvSpPr>
        <p:spPr>
          <a:xfrm>
            <a:off x="7040880" y="4846320"/>
            <a:ext cx="4434840" cy="1188720"/>
          </a:xfrm>
          <a:prstGeom prst="rect">
            <a:avLst/>
          </a:prstGeom>
          <a:noFill/>
          <a:ln/>
        </p:spPr>
        <p:txBody>
          <a:bodyPr wrap="square" lIns="0" tIns="0" rIns="0" bIns="0" rtlCol="0" anchor="ctr"/>
          <a:lstStyle/>
          <a:p>
            <a:pPr indent="0" marL="0">
              <a:buNone/>
            </a:pPr>
            <a:r>
              <a:rPr lang="en-US" sz="1300" dirty="0">
                <a:solidFill>
                  <a:srgbClr val="FFFFFF"/>
                </a:solidFill>
                <a:latin typeface="Montserrat" pitchFamily="34" charset="0"/>
                <a:ea typeface="Montserrat" pitchFamily="34" charset="-122"/>
                <a:cs typeface="Montserrat" pitchFamily="34" charset="-120"/>
              </a:rPr>
              <a:t>The CRM role of 2030: AI and big data plus systems thinking — the top-right quadrant.</a:t>
            </a:r>
            <a:endParaRPr lang="en-US" sz="1300" dirty="0"/>
          </a:p>
        </p:txBody>
      </p:sp>
      <p:sp>
        <p:nvSpPr>
          <p:cNvPr id="21" name="Text 17"/>
          <p:cNvSpPr txBox="1"/>
          <p:nvPr/>
        </p:nvSpPr>
        <p:spPr>
          <a:xfrm>
            <a:off x="1920240" y="6080760"/>
            <a:ext cx="5486400" cy="228600"/>
          </a:xfrm>
          <a:prstGeom prst="rect">
            <a:avLst/>
          </a:prstGeom>
          <a:noFill/>
          <a:ln/>
        </p:spPr>
        <p:txBody>
          <a:bodyPr wrap="square" lIns="0" tIns="0" rIns="0" bIns="0" rtlCol="0" anchor="t"/>
          <a:lstStyle/>
          <a:p>
            <a:pPr indent="0" marL="0">
              <a:buNone/>
            </a:pPr>
            <a:r>
              <a:rPr lang="en-US" sz="900" i="1" dirty="0">
                <a:solidFill>
                  <a:srgbClr val="8A93A3"/>
                </a:solidFill>
                <a:latin typeface="Montserrat" pitchFamily="34" charset="0"/>
                <a:ea typeface="Montserrat" pitchFamily="34" charset="-122"/>
                <a:cs typeface="Montserrat" pitchFamily="34" charset="-120"/>
              </a:rPr>
              <a:t>Source: World Economic Forum, Future of Jobs Report 2025, Figure 3.6.</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“Augmented Intelligence”</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Not human or machine — the value sits in the overlap</a:t>
            </a:r>
            <a:endParaRPr lang="en-US" sz="1300" dirty="0"/>
          </a:p>
        </p:txBody>
      </p:sp>
      <p:sp>
        <p:nvSpPr>
          <p:cNvPr id="5" name="Shape 2"/>
          <p:cNvSpPr/>
          <p:nvPr/>
        </p:nvSpPr>
        <p:spPr>
          <a:xfrm>
            <a:off x="822960" y="1783080"/>
            <a:ext cx="4572000" cy="4343400"/>
          </a:xfrm>
          <a:prstGeom prst="ellipse">
            <a:avLst/>
          </a:prstGeom>
          <a:solidFill>
            <a:srgbClr val="D9E8F8">
              <a:alpha val="85000"/>
            </a:srgbClr>
          </a:solidFill>
          <a:ln w="38100">
            <a:solidFill>
              <a:srgbClr val="4A8FDB"/>
            </a:solidFill>
            <a:prstDash val="solid"/>
          </a:ln>
        </p:spPr>
      </p:sp>
      <p:sp>
        <p:nvSpPr>
          <p:cNvPr id="6" name="Shape 3"/>
          <p:cNvSpPr/>
          <p:nvPr/>
        </p:nvSpPr>
        <p:spPr>
          <a:xfrm>
            <a:off x="3566160" y="1783080"/>
            <a:ext cx="4572000" cy="4343400"/>
          </a:xfrm>
          <a:prstGeom prst="ellipse">
            <a:avLst/>
          </a:prstGeom>
          <a:solidFill>
            <a:srgbClr val="6A7FA8">
              <a:alpha val="55000"/>
            </a:srgbClr>
          </a:solidFill>
          <a:ln w="38100">
            <a:solidFill>
              <a:srgbClr val="0F1341"/>
            </a:solidFill>
            <a:prstDash val="solid"/>
          </a:ln>
        </p:spPr>
      </p:sp>
      <p:sp>
        <p:nvSpPr>
          <p:cNvPr id="7" name="Text 4"/>
          <p:cNvSpPr txBox="1"/>
          <p:nvPr/>
        </p:nvSpPr>
        <p:spPr>
          <a:xfrm>
            <a:off x="1097280" y="3520440"/>
            <a:ext cx="2377440" cy="822960"/>
          </a:xfrm>
          <a:prstGeom prst="rect">
            <a:avLst/>
          </a:prstGeom>
          <a:noFill/>
          <a:ln/>
        </p:spPr>
        <p:txBody>
          <a:bodyPr wrap="square" lIns="0" tIns="0" rIns="0" bIns="0" rtlCol="0" anchor="ctr"/>
          <a:lstStyle/>
          <a:p>
            <a:pPr algn="ctr" indent="0" marL="0">
              <a:buNone/>
            </a:pPr>
            <a:r>
              <a:rPr lang="en-US" sz="1800" b="1" dirty="0">
                <a:solidFill>
                  <a:srgbClr val="2E6FBF"/>
                </a:solidFill>
                <a:latin typeface="Montserrat" pitchFamily="34" charset="0"/>
                <a:ea typeface="Montserrat" pitchFamily="34" charset="-122"/>
                <a:cs typeface="Montserrat" pitchFamily="34" charset="-120"/>
              </a:rPr>
              <a:t>Human</a:t>
            </a:r>
            <a:endParaRPr lang="en-US" sz="1800" dirty="0"/>
          </a:p>
          <a:p>
            <a:pPr algn="ctr" indent="0" marL="0">
              <a:buNone/>
            </a:pPr>
            <a:r>
              <a:rPr lang="en-US" sz="1800" b="1" dirty="0">
                <a:solidFill>
                  <a:srgbClr val="2E6FBF"/>
                </a:solidFill>
                <a:latin typeface="Montserrat" pitchFamily="34" charset="0"/>
                <a:ea typeface="Montserrat" pitchFamily="34" charset="-122"/>
                <a:cs typeface="Montserrat" pitchFamily="34" charset="-120"/>
              </a:rPr>
              <a:t>Intelligence</a:t>
            </a:r>
            <a:endParaRPr lang="en-US" sz="1800" dirty="0"/>
          </a:p>
        </p:txBody>
      </p:sp>
      <p:sp>
        <p:nvSpPr>
          <p:cNvPr id="8" name="Text 5"/>
          <p:cNvSpPr txBox="1"/>
          <p:nvPr/>
        </p:nvSpPr>
        <p:spPr>
          <a:xfrm>
            <a:off x="3611880" y="3520440"/>
            <a:ext cx="17373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Augmented</a:t>
            </a:r>
            <a:endParaRPr lang="en-US" sz="1600" dirty="0"/>
          </a:p>
          <a:p>
            <a:pPr algn="ctr" indent="0" marL="0">
              <a:buNone/>
            </a:pPr>
            <a:r>
              <a:rPr lang="en-US" sz="1600" b="1" dirty="0">
                <a:solidFill>
                  <a:srgbClr val="FFFFFF"/>
                </a:solidFill>
                <a:latin typeface="Montserrat" pitchFamily="34" charset="0"/>
                <a:ea typeface="Montserrat" pitchFamily="34" charset="-122"/>
                <a:cs typeface="Montserrat" pitchFamily="34" charset="-120"/>
              </a:rPr>
              <a:t>Intelligence</a:t>
            </a:r>
            <a:endParaRPr lang="en-US" sz="1600" dirty="0"/>
          </a:p>
        </p:txBody>
      </p:sp>
      <p:sp>
        <p:nvSpPr>
          <p:cNvPr id="9" name="Text 6"/>
          <p:cNvSpPr txBox="1"/>
          <p:nvPr/>
        </p:nvSpPr>
        <p:spPr>
          <a:xfrm>
            <a:off x="5486400" y="3520440"/>
            <a:ext cx="2377440" cy="822960"/>
          </a:xfrm>
          <a:prstGeom prst="rect">
            <a:avLst/>
          </a:prstGeom>
          <a:noFill/>
          <a:ln/>
        </p:spPr>
        <p:txBody>
          <a:bodyPr wrap="square" lIns="0" tIns="0" rIns="0" bIns="0" rtlCol="0" anchor="ctr"/>
          <a:lstStyle/>
          <a:p>
            <a:pPr algn="ctr" indent="0" marL="0">
              <a:buNone/>
            </a:pPr>
            <a:r>
              <a:rPr lang="en-US" sz="1800" b="1" dirty="0">
                <a:solidFill>
                  <a:srgbClr val="0F1341"/>
                </a:solidFill>
                <a:latin typeface="Montserrat" pitchFamily="34" charset="0"/>
                <a:ea typeface="Montserrat" pitchFamily="34" charset="-122"/>
                <a:cs typeface="Montserrat" pitchFamily="34" charset="-120"/>
              </a:rPr>
              <a:t>Artificial</a:t>
            </a:r>
            <a:endParaRPr lang="en-US" sz="1800" dirty="0"/>
          </a:p>
          <a:p>
            <a:pPr algn="ctr" indent="0" marL="0">
              <a:buNone/>
            </a:pPr>
            <a:r>
              <a:rPr lang="en-US" sz="1800" b="1" dirty="0">
                <a:solidFill>
                  <a:srgbClr val="0F1341"/>
                </a:solidFill>
                <a:latin typeface="Montserrat" pitchFamily="34" charset="0"/>
                <a:ea typeface="Montserrat" pitchFamily="34" charset="-122"/>
                <a:cs typeface="Montserrat" pitchFamily="34" charset="-120"/>
              </a:rPr>
              <a:t>Intelligence</a:t>
            </a:r>
            <a:endParaRPr lang="en-US" sz="1800" dirty="0"/>
          </a:p>
        </p:txBody>
      </p:sp>
      <p:sp>
        <p:nvSpPr>
          <p:cNvPr id="10" name="Shape 7"/>
          <p:cNvSpPr/>
          <p:nvPr/>
        </p:nvSpPr>
        <p:spPr>
          <a:xfrm>
            <a:off x="8595360" y="1874520"/>
            <a:ext cx="1280160" cy="274320"/>
          </a:xfrm>
          <a:prstGeom prst="roundRect">
            <a:avLst>
              <a:gd name="adj" fmla="val 26667"/>
            </a:avLst>
          </a:prstGeom>
          <a:solidFill>
            <a:srgbClr val="2E6FBF"/>
          </a:solidFill>
          <a:ln/>
        </p:spPr>
      </p:sp>
      <p:sp>
        <p:nvSpPr>
          <p:cNvPr id="11" name="Text 8"/>
          <p:cNvSpPr txBox="1"/>
          <p:nvPr/>
        </p:nvSpPr>
        <p:spPr>
          <a:xfrm>
            <a:off x="8595360" y="1874520"/>
            <a:ext cx="128016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HUMAN</a:t>
            </a:r>
            <a:endParaRPr lang="en-US" sz="900" dirty="0"/>
          </a:p>
        </p:txBody>
      </p:sp>
      <p:sp>
        <p:nvSpPr>
          <p:cNvPr id="12" name="Text 9"/>
          <p:cNvSpPr txBox="1"/>
          <p:nvPr/>
        </p:nvSpPr>
        <p:spPr>
          <a:xfrm>
            <a:off x="8595360" y="2258568"/>
            <a:ext cx="3044952" cy="868680"/>
          </a:xfrm>
          <a:prstGeom prst="rect">
            <a:avLst/>
          </a:prstGeom>
          <a:noFill/>
          <a:ln/>
        </p:spPr>
        <p:txBody>
          <a:bodyPr wrap="square" lIns="0" tIns="0" rIns="0" bIns="0" rtlCol="0" anchor="t"/>
          <a:lstStyle/>
          <a:p>
            <a:pPr indent="0" marL="0">
              <a:buNone/>
            </a:pPr>
            <a:r>
              <a:rPr lang="en-US" sz="1300" dirty="0">
                <a:solidFill>
                  <a:srgbClr val="0F1341"/>
                </a:solidFill>
                <a:latin typeface="Montserrat" pitchFamily="34" charset="0"/>
                <a:ea typeface="Montserrat" pitchFamily="34" charset="-122"/>
                <a:cs typeface="Montserrat" pitchFamily="34" charset="-120"/>
              </a:rPr>
              <a:t>Judgement, context, trust, responsibility</a:t>
            </a:r>
            <a:endParaRPr lang="en-US" sz="1300" dirty="0"/>
          </a:p>
        </p:txBody>
      </p:sp>
      <p:sp>
        <p:nvSpPr>
          <p:cNvPr id="13" name="Shape 10"/>
          <p:cNvSpPr/>
          <p:nvPr/>
        </p:nvSpPr>
        <p:spPr>
          <a:xfrm>
            <a:off x="8595360" y="3246120"/>
            <a:ext cx="1280160" cy="274320"/>
          </a:xfrm>
          <a:prstGeom prst="roundRect">
            <a:avLst>
              <a:gd name="adj" fmla="val 26667"/>
            </a:avLst>
          </a:prstGeom>
          <a:solidFill>
            <a:srgbClr val="0F1341"/>
          </a:solidFill>
          <a:ln/>
        </p:spPr>
      </p:sp>
      <p:sp>
        <p:nvSpPr>
          <p:cNvPr id="14" name="Text 11"/>
          <p:cNvSpPr txBox="1"/>
          <p:nvPr/>
        </p:nvSpPr>
        <p:spPr>
          <a:xfrm>
            <a:off x="8595360" y="3246120"/>
            <a:ext cx="128016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AI</a:t>
            </a:r>
            <a:endParaRPr lang="en-US" sz="900" dirty="0"/>
          </a:p>
        </p:txBody>
      </p:sp>
      <p:sp>
        <p:nvSpPr>
          <p:cNvPr id="15" name="Text 12"/>
          <p:cNvSpPr txBox="1"/>
          <p:nvPr/>
        </p:nvSpPr>
        <p:spPr>
          <a:xfrm>
            <a:off x="8595360" y="3630168"/>
            <a:ext cx="3044952" cy="868680"/>
          </a:xfrm>
          <a:prstGeom prst="rect">
            <a:avLst/>
          </a:prstGeom>
          <a:noFill/>
          <a:ln/>
        </p:spPr>
        <p:txBody>
          <a:bodyPr wrap="square" lIns="0" tIns="0" rIns="0" bIns="0" rtlCol="0" anchor="t"/>
          <a:lstStyle/>
          <a:p>
            <a:pPr indent="0" marL="0">
              <a:buNone/>
            </a:pPr>
            <a:r>
              <a:rPr lang="en-US" sz="1300" dirty="0">
                <a:solidFill>
                  <a:srgbClr val="0F1341"/>
                </a:solidFill>
                <a:latin typeface="Montserrat" pitchFamily="34" charset="0"/>
                <a:ea typeface="Montserrat" pitchFamily="34" charset="-122"/>
                <a:cs typeface="Montserrat" pitchFamily="34" charset="-120"/>
              </a:rPr>
              <a:t>Speed, scale, pattern recognition, tireless testing</a:t>
            </a:r>
            <a:endParaRPr lang="en-US" sz="1300" dirty="0"/>
          </a:p>
        </p:txBody>
      </p:sp>
      <p:sp>
        <p:nvSpPr>
          <p:cNvPr id="16" name="Shape 13"/>
          <p:cNvSpPr/>
          <p:nvPr/>
        </p:nvSpPr>
        <p:spPr>
          <a:xfrm>
            <a:off x="8595360" y="4617720"/>
            <a:ext cx="3044952" cy="274320"/>
          </a:xfrm>
          <a:prstGeom prst="roundRect">
            <a:avLst>
              <a:gd name="adj" fmla="val 26667"/>
            </a:avLst>
          </a:prstGeom>
          <a:solidFill>
            <a:srgbClr val="6A7FA8"/>
          </a:solidFill>
          <a:ln/>
        </p:spPr>
      </p:sp>
      <p:sp>
        <p:nvSpPr>
          <p:cNvPr id="17" name="Text 14"/>
          <p:cNvSpPr txBox="1"/>
          <p:nvPr/>
        </p:nvSpPr>
        <p:spPr>
          <a:xfrm>
            <a:off x="8595360" y="4617720"/>
            <a:ext cx="3044952"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AUGMENTED — CRM</a:t>
            </a:r>
            <a:endParaRPr lang="en-US" sz="900" dirty="0"/>
          </a:p>
        </p:txBody>
      </p:sp>
      <p:sp>
        <p:nvSpPr>
          <p:cNvPr id="18" name="Text 15"/>
          <p:cNvSpPr txBox="1"/>
          <p:nvPr/>
        </p:nvSpPr>
        <p:spPr>
          <a:xfrm>
            <a:off x="8595360" y="5001768"/>
            <a:ext cx="3044952" cy="868680"/>
          </a:xfrm>
          <a:prstGeom prst="rect">
            <a:avLst/>
          </a:prstGeom>
          <a:noFill/>
          <a:ln/>
        </p:spPr>
        <p:txBody>
          <a:bodyPr wrap="square" lIns="0" tIns="0" rIns="0" bIns="0" rtlCol="0" anchor="t"/>
          <a:lstStyle/>
          <a:p>
            <a:pPr indent="0" marL="0">
              <a:buNone/>
            </a:pPr>
            <a:r>
              <a:rPr lang="en-US" sz="1300" dirty="0">
                <a:solidFill>
                  <a:srgbClr val="0F1341"/>
                </a:solidFill>
                <a:latin typeface="Montserrat" pitchFamily="34" charset="0"/>
                <a:ea typeface="Montserrat" pitchFamily="34" charset="-122"/>
                <a:cs typeface="Montserrat" pitchFamily="34" charset="-120"/>
              </a:rPr>
              <a:t>AI connects millions of signals along the chain — people decide what to share, whom to trust and what to do.</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Rethinking CRM</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How CRM worked, what AI enables today — and what an AI-native customer ecosystem means</a:t>
            </a:r>
            <a:endParaRPr lang="en-US" sz="1300" dirty="0"/>
          </a:p>
        </p:txBody>
      </p:sp>
      <p:sp>
        <p:nvSpPr>
          <p:cNvPr id="5" name="Shape 2"/>
          <p:cNvSpPr/>
          <p:nvPr/>
        </p:nvSpPr>
        <p:spPr>
          <a:xfrm>
            <a:off x="2560320" y="1783080"/>
            <a:ext cx="2953512" cy="347472"/>
          </a:xfrm>
          <a:prstGeom prst="roundRect">
            <a:avLst>
              <a:gd name="adj" fmla="val 21053"/>
            </a:avLst>
          </a:prstGeom>
          <a:solidFill>
            <a:srgbClr val="C9D3E3"/>
          </a:solidFill>
          <a:ln/>
        </p:spPr>
      </p:sp>
      <p:sp>
        <p:nvSpPr>
          <p:cNvPr id="6" name="Text 3"/>
          <p:cNvSpPr txBox="1"/>
          <p:nvPr/>
        </p:nvSpPr>
        <p:spPr>
          <a:xfrm>
            <a:off x="2560320" y="1783080"/>
            <a:ext cx="2953512" cy="347472"/>
          </a:xfrm>
          <a:prstGeom prst="rect">
            <a:avLst/>
          </a:prstGeom>
          <a:noFill/>
          <a:ln/>
        </p:spPr>
        <p:txBody>
          <a:bodyPr wrap="square" lIns="0" tIns="0" rIns="0" bIns="0" rtlCol="0" anchor="ctr"/>
          <a:lstStyle/>
          <a:p>
            <a:pPr algn="ctr" indent="0" marL="0">
              <a:buNone/>
            </a:pPr>
            <a:r>
              <a:rPr lang="en-US" sz="1100" b="1" spc="100" kern="0" dirty="0">
                <a:solidFill>
                  <a:srgbClr val="0F1341"/>
                </a:solidFill>
                <a:latin typeface="Montserrat" pitchFamily="34" charset="0"/>
                <a:ea typeface="Montserrat" pitchFamily="34" charset="-122"/>
                <a:cs typeface="Montserrat" pitchFamily="34" charset="-120"/>
              </a:rPr>
              <a:t>BEFORE</a:t>
            </a:r>
            <a:endParaRPr lang="en-US" sz="1100" dirty="0"/>
          </a:p>
        </p:txBody>
      </p:sp>
      <p:sp>
        <p:nvSpPr>
          <p:cNvPr id="7" name="Shape 4"/>
          <p:cNvSpPr/>
          <p:nvPr/>
        </p:nvSpPr>
        <p:spPr>
          <a:xfrm>
            <a:off x="5623560" y="1783080"/>
            <a:ext cx="2953512" cy="347472"/>
          </a:xfrm>
          <a:prstGeom prst="roundRect">
            <a:avLst>
              <a:gd name="adj" fmla="val 21053"/>
            </a:avLst>
          </a:prstGeom>
          <a:solidFill>
            <a:srgbClr val="4A8FDB"/>
          </a:solidFill>
          <a:ln/>
        </p:spPr>
      </p:sp>
      <p:sp>
        <p:nvSpPr>
          <p:cNvPr id="8" name="Text 5"/>
          <p:cNvSpPr txBox="1"/>
          <p:nvPr/>
        </p:nvSpPr>
        <p:spPr>
          <a:xfrm>
            <a:off x="5623560" y="1783080"/>
            <a:ext cx="2953512"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ontserrat" pitchFamily="34" charset="0"/>
                <a:ea typeface="Montserrat" pitchFamily="34" charset="-122"/>
                <a:cs typeface="Montserrat" pitchFamily="34" charset="-120"/>
              </a:rPr>
              <a:t>NOW, WITH AI</a:t>
            </a:r>
            <a:endParaRPr lang="en-US" sz="1100" dirty="0"/>
          </a:p>
        </p:txBody>
      </p:sp>
      <p:sp>
        <p:nvSpPr>
          <p:cNvPr id="9" name="Shape 6"/>
          <p:cNvSpPr/>
          <p:nvPr/>
        </p:nvSpPr>
        <p:spPr>
          <a:xfrm>
            <a:off x="8686800" y="1783080"/>
            <a:ext cx="2953512" cy="347472"/>
          </a:xfrm>
          <a:prstGeom prst="roundRect">
            <a:avLst>
              <a:gd name="adj" fmla="val 21053"/>
            </a:avLst>
          </a:prstGeom>
          <a:solidFill>
            <a:srgbClr val="0F1341"/>
          </a:solidFill>
          <a:ln/>
        </p:spPr>
      </p:sp>
      <p:sp>
        <p:nvSpPr>
          <p:cNvPr id="10" name="Text 7"/>
          <p:cNvSpPr txBox="1"/>
          <p:nvPr/>
        </p:nvSpPr>
        <p:spPr>
          <a:xfrm>
            <a:off x="8686800" y="1783080"/>
            <a:ext cx="2953512"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ontserrat" pitchFamily="34" charset="0"/>
                <a:ea typeface="Montserrat" pitchFamily="34" charset="-122"/>
                <a:cs typeface="Montserrat" pitchFamily="34" charset="-120"/>
              </a:rPr>
              <a:t>AI-NATIVE</a:t>
            </a:r>
            <a:endParaRPr lang="en-US" sz="1100" dirty="0"/>
          </a:p>
        </p:txBody>
      </p:sp>
      <p:sp>
        <p:nvSpPr>
          <p:cNvPr id="11" name="Text 8"/>
          <p:cNvSpPr txBox="1"/>
          <p:nvPr/>
        </p:nvSpPr>
        <p:spPr>
          <a:xfrm>
            <a:off x="548640" y="2286000"/>
            <a:ext cx="1828800" cy="786384"/>
          </a:xfrm>
          <a:prstGeom prst="rect">
            <a:avLst/>
          </a:prstGeom>
          <a:noFill/>
          <a:ln/>
        </p:spPr>
        <p:txBody>
          <a:bodyPr wrap="square" lIns="0" tIns="0" rIns="0" bIns="0" rtlCol="0" anchor="ctr"/>
          <a:lstStyle/>
          <a:p>
            <a:pPr indent="0" marL="0">
              <a:buNone/>
            </a:pPr>
            <a:r>
              <a:rPr lang="en-US" sz="1400" b="1" dirty="0">
                <a:solidFill>
                  <a:srgbClr val="0F1341"/>
                </a:solidFill>
                <a:latin typeface="Montserrat" pitchFamily="34" charset="0"/>
                <a:ea typeface="Montserrat" pitchFamily="34" charset="-122"/>
                <a:cs typeface="Montserrat" pitchFamily="34" charset="-120"/>
              </a:rPr>
              <a:t>Data</a:t>
            </a:r>
            <a:endParaRPr lang="en-US" sz="1400" dirty="0"/>
          </a:p>
        </p:txBody>
      </p:sp>
      <p:sp>
        <p:nvSpPr>
          <p:cNvPr id="12" name="Shape 9"/>
          <p:cNvSpPr/>
          <p:nvPr/>
        </p:nvSpPr>
        <p:spPr>
          <a:xfrm>
            <a:off x="2560320" y="2286000"/>
            <a:ext cx="2953512" cy="786384"/>
          </a:xfrm>
          <a:prstGeom prst="roundRect">
            <a:avLst>
              <a:gd name="adj" fmla="val 9302"/>
            </a:avLst>
          </a:prstGeom>
          <a:solidFill>
            <a:srgbClr val="F3F7FC"/>
          </a:solidFill>
          <a:ln/>
        </p:spPr>
      </p:sp>
      <p:sp>
        <p:nvSpPr>
          <p:cNvPr id="13" name="Text 10"/>
          <p:cNvSpPr txBox="1"/>
          <p:nvPr/>
        </p:nvSpPr>
        <p:spPr>
          <a:xfrm>
            <a:off x="2724912" y="2286000"/>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Contact records in silos</a:t>
            </a:r>
            <a:endParaRPr lang="en-US" sz="1250" dirty="0"/>
          </a:p>
        </p:txBody>
      </p:sp>
      <p:sp>
        <p:nvSpPr>
          <p:cNvPr id="14" name="Shape 11"/>
          <p:cNvSpPr/>
          <p:nvPr/>
        </p:nvSpPr>
        <p:spPr>
          <a:xfrm>
            <a:off x="5623560" y="2286000"/>
            <a:ext cx="2953512" cy="786384"/>
          </a:xfrm>
          <a:prstGeom prst="roundRect">
            <a:avLst>
              <a:gd name="adj" fmla="val 9302"/>
            </a:avLst>
          </a:prstGeom>
          <a:solidFill>
            <a:srgbClr val="D9E8F8"/>
          </a:solidFill>
          <a:ln/>
        </p:spPr>
      </p:sp>
      <p:sp>
        <p:nvSpPr>
          <p:cNvPr id="15" name="Text 12"/>
          <p:cNvSpPr txBox="1"/>
          <p:nvPr/>
        </p:nvSpPr>
        <p:spPr>
          <a:xfrm>
            <a:off x="5788152" y="2286000"/>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Unified customer data, cleaned by AI</a:t>
            </a:r>
            <a:endParaRPr lang="en-US" sz="1250" dirty="0"/>
          </a:p>
        </p:txBody>
      </p:sp>
      <p:sp>
        <p:nvSpPr>
          <p:cNvPr id="16" name="Shape 13"/>
          <p:cNvSpPr/>
          <p:nvPr/>
        </p:nvSpPr>
        <p:spPr>
          <a:xfrm>
            <a:off x="8686800" y="2286000"/>
            <a:ext cx="2953512" cy="786384"/>
          </a:xfrm>
          <a:prstGeom prst="roundRect">
            <a:avLst>
              <a:gd name="adj" fmla="val 9302"/>
            </a:avLst>
          </a:prstGeom>
          <a:solidFill>
            <a:srgbClr val="0F1341"/>
          </a:solidFill>
          <a:ln/>
        </p:spPr>
      </p:sp>
      <p:sp>
        <p:nvSpPr>
          <p:cNvPr id="17" name="Text 14"/>
          <p:cNvSpPr txBox="1"/>
          <p:nvPr/>
        </p:nvSpPr>
        <p:spPr>
          <a:xfrm>
            <a:off x="8851392" y="2286000"/>
            <a:ext cx="2624328" cy="7863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A shared evidence ledger across the value chain</a:t>
            </a:r>
            <a:endParaRPr lang="en-US" sz="1250" dirty="0"/>
          </a:p>
        </p:txBody>
      </p:sp>
      <p:sp>
        <p:nvSpPr>
          <p:cNvPr id="18" name="Text 15"/>
          <p:cNvSpPr txBox="1"/>
          <p:nvPr/>
        </p:nvSpPr>
        <p:spPr>
          <a:xfrm>
            <a:off x="548640" y="3182112"/>
            <a:ext cx="1828800" cy="786384"/>
          </a:xfrm>
          <a:prstGeom prst="rect">
            <a:avLst/>
          </a:prstGeom>
          <a:noFill/>
          <a:ln/>
        </p:spPr>
        <p:txBody>
          <a:bodyPr wrap="square" lIns="0" tIns="0" rIns="0" bIns="0" rtlCol="0" anchor="ctr"/>
          <a:lstStyle/>
          <a:p>
            <a:pPr indent="0" marL="0">
              <a:buNone/>
            </a:pPr>
            <a:r>
              <a:rPr lang="en-US" sz="1400" b="1" dirty="0">
                <a:solidFill>
                  <a:srgbClr val="0F1341"/>
                </a:solidFill>
                <a:latin typeface="Montserrat" pitchFamily="34" charset="0"/>
                <a:ea typeface="Montserrat" pitchFamily="34" charset="-122"/>
                <a:cs typeface="Montserrat" pitchFamily="34" charset="-120"/>
              </a:rPr>
              <a:t>Insight</a:t>
            </a:r>
            <a:endParaRPr lang="en-US" sz="1400" dirty="0"/>
          </a:p>
        </p:txBody>
      </p:sp>
      <p:sp>
        <p:nvSpPr>
          <p:cNvPr id="19" name="Shape 16"/>
          <p:cNvSpPr/>
          <p:nvPr/>
        </p:nvSpPr>
        <p:spPr>
          <a:xfrm>
            <a:off x="2560320" y="3182112"/>
            <a:ext cx="2953512" cy="786384"/>
          </a:xfrm>
          <a:prstGeom prst="roundRect">
            <a:avLst>
              <a:gd name="adj" fmla="val 9302"/>
            </a:avLst>
          </a:prstGeom>
          <a:solidFill>
            <a:srgbClr val="F3F7FC"/>
          </a:solidFill>
          <a:ln/>
        </p:spPr>
      </p:sp>
      <p:sp>
        <p:nvSpPr>
          <p:cNvPr id="20" name="Text 17"/>
          <p:cNvSpPr txBox="1"/>
          <p:nvPr/>
        </p:nvSpPr>
        <p:spPr>
          <a:xfrm>
            <a:off x="2724912" y="3182112"/>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Monthly manual reports</a:t>
            </a:r>
            <a:endParaRPr lang="en-US" sz="1250" dirty="0"/>
          </a:p>
        </p:txBody>
      </p:sp>
      <p:sp>
        <p:nvSpPr>
          <p:cNvPr id="21" name="Shape 18"/>
          <p:cNvSpPr/>
          <p:nvPr/>
        </p:nvSpPr>
        <p:spPr>
          <a:xfrm>
            <a:off x="5623560" y="3182112"/>
            <a:ext cx="2953512" cy="786384"/>
          </a:xfrm>
          <a:prstGeom prst="roundRect">
            <a:avLst>
              <a:gd name="adj" fmla="val 9302"/>
            </a:avLst>
          </a:prstGeom>
          <a:solidFill>
            <a:srgbClr val="D9E8F8"/>
          </a:solidFill>
          <a:ln/>
        </p:spPr>
      </p:sp>
      <p:sp>
        <p:nvSpPr>
          <p:cNvPr id="22" name="Text 19"/>
          <p:cNvSpPr txBox="1"/>
          <p:nvPr/>
        </p:nvSpPr>
        <p:spPr>
          <a:xfrm>
            <a:off x="5788152" y="3182112"/>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AI dashboards and forecasts</a:t>
            </a:r>
            <a:endParaRPr lang="en-US" sz="1250" dirty="0"/>
          </a:p>
        </p:txBody>
      </p:sp>
      <p:sp>
        <p:nvSpPr>
          <p:cNvPr id="23" name="Shape 20"/>
          <p:cNvSpPr/>
          <p:nvPr/>
        </p:nvSpPr>
        <p:spPr>
          <a:xfrm>
            <a:off x="8686800" y="3182112"/>
            <a:ext cx="2953512" cy="786384"/>
          </a:xfrm>
          <a:prstGeom prst="roundRect">
            <a:avLst>
              <a:gd name="adj" fmla="val 9302"/>
            </a:avLst>
          </a:prstGeom>
          <a:solidFill>
            <a:srgbClr val="0F1341"/>
          </a:solidFill>
          <a:ln/>
        </p:spPr>
      </p:sp>
      <p:sp>
        <p:nvSpPr>
          <p:cNvPr id="24" name="Text 21"/>
          <p:cNvSpPr txBox="1"/>
          <p:nvPr/>
        </p:nvSpPr>
        <p:spPr>
          <a:xfrm>
            <a:off x="8851392" y="3182112"/>
            <a:ext cx="2624328" cy="7863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Real-time signals, each with a weight</a:t>
            </a:r>
            <a:endParaRPr lang="en-US" sz="1250" dirty="0"/>
          </a:p>
        </p:txBody>
      </p:sp>
      <p:sp>
        <p:nvSpPr>
          <p:cNvPr id="25" name="Text 22"/>
          <p:cNvSpPr txBox="1"/>
          <p:nvPr/>
        </p:nvSpPr>
        <p:spPr>
          <a:xfrm>
            <a:off x="548640" y="4078224"/>
            <a:ext cx="1828800" cy="786384"/>
          </a:xfrm>
          <a:prstGeom prst="rect">
            <a:avLst/>
          </a:prstGeom>
          <a:noFill/>
          <a:ln/>
        </p:spPr>
        <p:txBody>
          <a:bodyPr wrap="square" lIns="0" tIns="0" rIns="0" bIns="0" rtlCol="0" anchor="ctr"/>
          <a:lstStyle/>
          <a:p>
            <a:pPr indent="0" marL="0">
              <a:buNone/>
            </a:pPr>
            <a:r>
              <a:rPr lang="en-US" sz="1400" b="1" dirty="0">
                <a:solidFill>
                  <a:srgbClr val="0F1341"/>
                </a:solidFill>
                <a:latin typeface="Montserrat" pitchFamily="34" charset="0"/>
                <a:ea typeface="Montserrat" pitchFamily="34" charset="-122"/>
                <a:cs typeface="Montserrat" pitchFamily="34" charset="-120"/>
              </a:rPr>
              <a:t>Action</a:t>
            </a:r>
            <a:endParaRPr lang="en-US" sz="1400" dirty="0"/>
          </a:p>
        </p:txBody>
      </p:sp>
      <p:sp>
        <p:nvSpPr>
          <p:cNvPr id="26" name="Shape 23"/>
          <p:cNvSpPr/>
          <p:nvPr/>
        </p:nvSpPr>
        <p:spPr>
          <a:xfrm>
            <a:off x="2560320" y="4078224"/>
            <a:ext cx="2953512" cy="786384"/>
          </a:xfrm>
          <a:prstGeom prst="roundRect">
            <a:avLst>
              <a:gd name="adj" fmla="val 9302"/>
            </a:avLst>
          </a:prstGeom>
          <a:solidFill>
            <a:srgbClr val="F3F7FC"/>
          </a:solidFill>
          <a:ln/>
        </p:spPr>
      </p:sp>
      <p:sp>
        <p:nvSpPr>
          <p:cNvPr id="27" name="Text 24"/>
          <p:cNvSpPr txBox="1"/>
          <p:nvPr/>
        </p:nvSpPr>
        <p:spPr>
          <a:xfrm>
            <a:off x="2724912" y="4078224"/>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Reactive campaigns</a:t>
            </a:r>
            <a:endParaRPr lang="en-US" sz="1250" dirty="0"/>
          </a:p>
        </p:txBody>
      </p:sp>
      <p:sp>
        <p:nvSpPr>
          <p:cNvPr id="28" name="Shape 25"/>
          <p:cNvSpPr/>
          <p:nvPr/>
        </p:nvSpPr>
        <p:spPr>
          <a:xfrm>
            <a:off x="5623560" y="4078224"/>
            <a:ext cx="2953512" cy="786384"/>
          </a:xfrm>
          <a:prstGeom prst="roundRect">
            <a:avLst>
              <a:gd name="adj" fmla="val 9302"/>
            </a:avLst>
          </a:prstGeom>
          <a:solidFill>
            <a:srgbClr val="D9E8F8"/>
          </a:solidFill>
          <a:ln/>
        </p:spPr>
      </p:sp>
      <p:sp>
        <p:nvSpPr>
          <p:cNvPr id="29" name="Text 26"/>
          <p:cNvSpPr txBox="1"/>
          <p:nvPr/>
        </p:nvSpPr>
        <p:spPr>
          <a:xfrm>
            <a:off x="5788152" y="4078224"/>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Next-best-action suggestions</a:t>
            </a:r>
            <a:endParaRPr lang="en-US" sz="1250" dirty="0"/>
          </a:p>
        </p:txBody>
      </p:sp>
      <p:sp>
        <p:nvSpPr>
          <p:cNvPr id="30" name="Shape 27"/>
          <p:cNvSpPr/>
          <p:nvPr/>
        </p:nvSpPr>
        <p:spPr>
          <a:xfrm>
            <a:off x="8686800" y="4078224"/>
            <a:ext cx="2953512" cy="786384"/>
          </a:xfrm>
          <a:prstGeom prst="roundRect">
            <a:avLst>
              <a:gd name="adj" fmla="val 9302"/>
            </a:avLst>
          </a:prstGeom>
          <a:solidFill>
            <a:srgbClr val="0F1341"/>
          </a:solidFill>
          <a:ln/>
        </p:spPr>
      </p:sp>
      <p:sp>
        <p:nvSpPr>
          <p:cNvPr id="31" name="Text 28"/>
          <p:cNvSpPr txBox="1"/>
          <p:nvPr/>
        </p:nvSpPr>
        <p:spPr>
          <a:xfrm>
            <a:off x="8851392" y="4078224"/>
            <a:ext cx="2624328" cy="7863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Agents act — humans set the guardrails</a:t>
            </a:r>
            <a:endParaRPr lang="en-US" sz="1250" dirty="0"/>
          </a:p>
        </p:txBody>
      </p:sp>
      <p:sp>
        <p:nvSpPr>
          <p:cNvPr id="32" name="Text 29"/>
          <p:cNvSpPr txBox="1"/>
          <p:nvPr/>
        </p:nvSpPr>
        <p:spPr>
          <a:xfrm>
            <a:off x="548640" y="4974336"/>
            <a:ext cx="1828800" cy="786384"/>
          </a:xfrm>
          <a:prstGeom prst="rect">
            <a:avLst/>
          </a:prstGeom>
          <a:noFill/>
          <a:ln/>
        </p:spPr>
        <p:txBody>
          <a:bodyPr wrap="square" lIns="0" tIns="0" rIns="0" bIns="0" rtlCol="0" anchor="ctr"/>
          <a:lstStyle/>
          <a:p>
            <a:pPr indent="0" marL="0">
              <a:buNone/>
            </a:pPr>
            <a:r>
              <a:rPr lang="en-US" sz="1400" b="1" dirty="0">
                <a:solidFill>
                  <a:srgbClr val="0F1341"/>
                </a:solidFill>
                <a:latin typeface="Montserrat" pitchFamily="34" charset="0"/>
                <a:ea typeface="Montserrat" pitchFamily="34" charset="-122"/>
                <a:cs typeface="Montserrat" pitchFamily="34" charset="-120"/>
              </a:rPr>
              <a:t>Relationship</a:t>
            </a:r>
            <a:endParaRPr lang="en-US" sz="1400" dirty="0"/>
          </a:p>
        </p:txBody>
      </p:sp>
      <p:sp>
        <p:nvSpPr>
          <p:cNvPr id="33" name="Shape 30"/>
          <p:cNvSpPr/>
          <p:nvPr/>
        </p:nvSpPr>
        <p:spPr>
          <a:xfrm>
            <a:off x="2560320" y="4974336"/>
            <a:ext cx="2953512" cy="786384"/>
          </a:xfrm>
          <a:prstGeom prst="roundRect">
            <a:avLst>
              <a:gd name="adj" fmla="val 9302"/>
            </a:avLst>
          </a:prstGeom>
          <a:solidFill>
            <a:srgbClr val="F3F7FC"/>
          </a:solidFill>
          <a:ln/>
        </p:spPr>
      </p:sp>
      <p:sp>
        <p:nvSpPr>
          <p:cNvPr id="34" name="Text 31"/>
          <p:cNvSpPr txBox="1"/>
          <p:nvPr/>
        </p:nvSpPr>
        <p:spPr>
          <a:xfrm>
            <a:off x="2724912" y="4974336"/>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Owned by whoever sells</a:t>
            </a:r>
            <a:endParaRPr lang="en-US" sz="1250" dirty="0"/>
          </a:p>
        </p:txBody>
      </p:sp>
      <p:sp>
        <p:nvSpPr>
          <p:cNvPr id="35" name="Shape 32"/>
          <p:cNvSpPr/>
          <p:nvPr/>
        </p:nvSpPr>
        <p:spPr>
          <a:xfrm>
            <a:off x="5623560" y="4974336"/>
            <a:ext cx="2953512" cy="786384"/>
          </a:xfrm>
          <a:prstGeom prst="roundRect">
            <a:avLst>
              <a:gd name="adj" fmla="val 9302"/>
            </a:avLst>
          </a:prstGeom>
          <a:solidFill>
            <a:srgbClr val="D9E8F8"/>
          </a:solidFill>
          <a:ln/>
        </p:spPr>
      </p:sp>
      <p:sp>
        <p:nvSpPr>
          <p:cNvPr id="36" name="Text 33"/>
          <p:cNvSpPr txBox="1"/>
          <p:nvPr/>
        </p:nvSpPr>
        <p:spPr>
          <a:xfrm>
            <a:off x="5788152" y="4974336"/>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Omnichannel journeys</a:t>
            </a:r>
            <a:endParaRPr lang="en-US" sz="1250" dirty="0"/>
          </a:p>
        </p:txBody>
      </p:sp>
      <p:sp>
        <p:nvSpPr>
          <p:cNvPr id="37" name="Shape 34"/>
          <p:cNvSpPr/>
          <p:nvPr/>
        </p:nvSpPr>
        <p:spPr>
          <a:xfrm>
            <a:off x="8686800" y="4974336"/>
            <a:ext cx="2953512" cy="786384"/>
          </a:xfrm>
          <a:prstGeom prst="roundRect">
            <a:avLst>
              <a:gd name="adj" fmla="val 9302"/>
            </a:avLst>
          </a:prstGeom>
          <a:solidFill>
            <a:srgbClr val="0F1341"/>
          </a:solidFill>
          <a:ln/>
        </p:spPr>
      </p:sp>
      <p:sp>
        <p:nvSpPr>
          <p:cNvPr id="38" name="Text 35"/>
          <p:cNvSpPr txBox="1"/>
          <p:nvPr/>
        </p:nvSpPr>
        <p:spPr>
          <a:xfrm>
            <a:off x="8851392" y="4974336"/>
            <a:ext cx="2624328" cy="7863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Supply and demand side learn together</a:t>
            </a:r>
            <a:endParaRPr lang="en-US" sz="1250" dirty="0"/>
          </a:p>
        </p:txBody>
      </p:sp>
      <p:sp>
        <p:nvSpPr>
          <p:cNvPr id="39" name="Text 36"/>
          <p:cNvSpPr txBox="1"/>
          <p:nvPr/>
        </p:nvSpPr>
        <p:spPr>
          <a:xfrm>
            <a:off x="548640" y="5943600"/>
            <a:ext cx="11064240" cy="274320"/>
          </a:xfrm>
          <a:prstGeom prst="rect">
            <a:avLst/>
          </a:prstGeom>
          <a:noFill/>
          <a:ln/>
        </p:spPr>
        <p:txBody>
          <a:bodyPr wrap="square" lIns="0" tIns="0" rIns="0" bIns="0" rtlCol="0" anchor="t"/>
          <a:lstStyle/>
          <a:p>
            <a:pPr indent="0" marL="0">
              <a:buNone/>
            </a:pPr>
            <a:r>
              <a:rPr lang="en-US" sz="1100" i="1" dirty="0">
                <a:solidFill>
                  <a:srgbClr val="5B6270"/>
                </a:solidFill>
                <a:latin typeface="Montserrat" pitchFamily="34" charset="0"/>
                <a:ea typeface="Montserrat" pitchFamily="34" charset="-122"/>
                <a:cs typeface="Montserrat" pitchFamily="34" charset="-120"/>
              </a:rPr>
              <a:t>The trap in the middle column: AI on top of silos gives you faster reports — not a connected customer.</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What we mean by “AI-native”</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An AI-native CRM is not a smarter contact database — it is the structure that lets the whole chain learn</a:t>
            </a:r>
            <a:endParaRPr lang="en-US" sz="1300" dirty="0"/>
          </a:p>
        </p:txBody>
      </p:sp>
      <p:sp>
        <p:nvSpPr>
          <p:cNvPr id="5" name="Shape 2"/>
          <p:cNvSpPr/>
          <p:nvPr/>
        </p:nvSpPr>
        <p:spPr>
          <a:xfrm>
            <a:off x="548640" y="1783080"/>
            <a:ext cx="5120640" cy="1691640"/>
          </a:xfrm>
          <a:prstGeom prst="roundRect">
            <a:avLst>
              <a:gd name="adj" fmla="val 4324"/>
            </a:avLst>
          </a:prstGeom>
          <a:solidFill>
            <a:srgbClr val="F3F7FC"/>
          </a:solidFill>
          <a:ln/>
        </p:spPr>
      </p:sp>
      <p:sp>
        <p:nvSpPr>
          <p:cNvPr id="6" name="Shape 3"/>
          <p:cNvSpPr/>
          <p:nvPr/>
        </p:nvSpPr>
        <p:spPr>
          <a:xfrm>
            <a:off x="777240" y="1965960"/>
            <a:ext cx="1554480" cy="274320"/>
          </a:xfrm>
          <a:prstGeom prst="roundRect">
            <a:avLst>
              <a:gd name="adj" fmla="val 26667"/>
            </a:avLst>
          </a:prstGeom>
          <a:solidFill>
            <a:srgbClr val="C9D3E3"/>
          </a:solidFill>
          <a:ln/>
        </p:spPr>
      </p:sp>
      <p:sp>
        <p:nvSpPr>
          <p:cNvPr id="7" name="Text 4"/>
          <p:cNvSpPr txBox="1"/>
          <p:nvPr/>
        </p:nvSpPr>
        <p:spPr>
          <a:xfrm>
            <a:off x="777240" y="1965960"/>
            <a:ext cx="1554480" cy="274320"/>
          </a:xfrm>
          <a:prstGeom prst="rect">
            <a:avLst/>
          </a:prstGeom>
          <a:noFill/>
          <a:ln/>
        </p:spPr>
        <p:txBody>
          <a:bodyPr wrap="square" lIns="0" tIns="0" rIns="0" bIns="0" rtlCol="0" anchor="ctr"/>
          <a:lstStyle/>
          <a:p>
            <a:pPr algn="ctr" indent="0" marL="0">
              <a:buNone/>
            </a:pPr>
            <a:r>
              <a:rPr lang="en-US" sz="900" b="1" spc="100" kern="0" dirty="0">
                <a:solidFill>
                  <a:srgbClr val="0F1341"/>
                </a:solidFill>
                <a:latin typeface="Montserrat" pitchFamily="34" charset="0"/>
                <a:ea typeface="Montserrat" pitchFamily="34" charset="-122"/>
                <a:cs typeface="Montserrat" pitchFamily="34" charset="-120"/>
              </a:rPr>
              <a:t>AI-ENABLED</a:t>
            </a:r>
            <a:endParaRPr lang="en-US" sz="900" dirty="0"/>
          </a:p>
        </p:txBody>
      </p:sp>
      <p:sp>
        <p:nvSpPr>
          <p:cNvPr id="8" name="Text 5"/>
          <p:cNvSpPr txBox="1"/>
          <p:nvPr/>
        </p:nvSpPr>
        <p:spPr>
          <a:xfrm>
            <a:off x="777240" y="2331720"/>
            <a:ext cx="4754880" cy="365760"/>
          </a:xfrm>
          <a:prstGeom prst="rect">
            <a:avLst/>
          </a:prstGeom>
          <a:noFill/>
          <a:ln/>
        </p:spPr>
        <p:txBody>
          <a:bodyPr wrap="square" lIns="0" tIns="0" rIns="0" bIns="0" rtlCol="0" anchor="t"/>
          <a:lstStyle/>
          <a:p>
            <a:pPr indent="0" marL="0">
              <a:buNone/>
            </a:pPr>
            <a:r>
              <a:rPr lang="en-US" sz="1500" b="1" dirty="0">
                <a:solidFill>
                  <a:srgbClr val="0F1341"/>
                </a:solidFill>
                <a:latin typeface="Montserrat" pitchFamily="34" charset="0"/>
                <a:ea typeface="Montserrat" pitchFamily="34" charset="-122"/>
                <a:cs typeface="Montserrat" pitchFamily="34" charset="-120"/>
              </a:rPr>
              <a:t>The old process, plus an AI tool</a:t>
            </a:r>
            <a:endParaRPr lang="en-US" sz="1500" dirty="0"/>
          </a:p>
        </p:txBody>
      </p:sp>
      <p:sp>
        <p:nvSpPr>
          <p:cNvPr id="9" name="Text 6"/>
          <p:cNvSpPr txBox="1"/>
          <p:nvPr/>
        </p:nvSpPr>
        <p:spPr>
          <a:xfrm>
            <a:off x="777240" y="2724912"/>
            <a:ext cx="4754880" cy="68580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An AI assistant on top of the CRM writes emails, scores leads and summarises reports. The silos stay where they were.</a:t>
            </a:r>
            <a:endParaRPr lang="en-US" sz="1200" dirty="0"/>
          </a:p>
        </p:txBody>
      </p:sp>
      <p:sp>
        <p:nvSpPr>
          <p:cNvPr id="10" name="Shape 7"/>
          <p:cNvSpPr/>
          <p:nvPr/>
        </p:nvSpPr>
        <p:spPr>
          <a:xfrm>
            <a:off x="548640" y="3657600"/>
            <a:ext cx="5120640" cy="1874520"/>
          </a:xfrm>
          <a:prstGeom prst="roundRect">
            <a:avLst>
              <a:gd name="adj" fmla="val 3902"/>
            </a:avLst>
          </a:prstGeom>
          <a:solidFill>
            <a:srgbClr val="0F1341"/>
          </a:solidFill>
          <a:ln/>
        </p:spPr>
      </p:sp>
      <p:sp>
        <p:nvSpPr>
          <p:cNvPr id="11" name="Shape 8"/>
          <p:cNvSpPr/>
          <p:nvPr/>
        </p:nvSpPr>
        <p:spPr>
          <a:xfrm>
            <a:off x="777240" y="3840480"/>
            <a:ext cx="1554480" cy="274320"/>
          </a:xfrm>
          <a:prstGeom prst="roundRect">
            <a:avLst>
              <a:gd name="adj" fmla="val 26667"/>
            </a:avLst>
          </a:prstGeom>
          <a:solidFill>
            <a:srgbClr val="4A8FDB"/>
          </a:solidFill>
          <a:ln/>
        </p:spPr>
      </p:sp>
      <p:sp>
        <p:nvSpPr>
          <p:cNvPr id="12" name="Text 9"/>
          <p:cNvSpPr txBox="1"/>
          <p:nvPr/>
        </p:nvSpPr>
        <p:spPr>
          <a:xfrm>
            <a:off x="777240" y="3840480"/>
            <a:ext cx="15544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AI-NATIVE</a:t>
            </a:r>
            <a:endParaRPr lang="en-US" sz="900" dirty="0"/>
          </a:p>
        </p:txBody>
      </p:sp>
      <p:sp>
        <p:nvSpPr>
          <p:cNvPr id="13" name="Text 10"/>
          <p:cNvSpPr txBox="1"/>
          <p:nvPr/>
        </p:nvSpPr>
        <p:spPr>
          <a:xfrm>
            <a:off x="777240" y="4206240"/>
            <a:ext cx="4754880" cy="594360"/>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The process redesigned around what AI makes cheap</a:t>
            </a:r>
            <a:endParaRPr lang="en-US" sz="1500" dirty="0"/>
          </a:p>
        </p:txBody>
      </p:sp>
      <p:sp>
        <p:nvSpPr>
          <p:cNvPr id="14" name="Text 11"/>
          <p:cNvSpPr txBox="1"/>
          <p:nvPr/>
        </p:nvSpPr>
        <p:spPr>
          <a:xfrm>
            <a:off x="777240" y="4800600"/>
            <a:ext cx="4754880" cy="68580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Manufacturer, distributor, retailer and consumer signals flow into one structure. Agents forecast, detect gaps and propose actions.</a:t>
            </a:r>
            <a:endParaRPr lang="en-US" sz="1200" dirty="0"/>
          </a:p>
        </p:txBody>
      </p:sp>
      <p:sp>
        <p:nvSpPr>
          <p:cNvPr id="15" name="Shape 12"/>
          <p:cNvSpPr/>
          <p:nvPr/>
        </p:nvSpPr>
        <p:spPr>
          <a:xfrm>
            <a:off x="6035040" y="1892808"/>
            <a:ext cx="548640" cy="548640"/>
          </a:xfrm>
          <a:prstGeom prst="ellipse">
            <a:avLst/>
          </a:prstGeom>
          <a:solidFill>
            <a:srgbClr val="D9E8F8"/>
          </a:solidFill>
          <a:ln/>
        </p:spPr>
      </p:sp>
      <p:pic>
        <p:nvPicPr>
          <p:cNvPr id="16" name="Image 0" descr="preencoded.png">    </p:cNvPr>
          <p:cNvPicPr>
            <a:picLocks noChangeAspect="1"/>
          </p:cNvPicPr>
          <p:nvPr/>
        </p:nvPicPr>
        <p:blipFill>
          <a:blip r:embed="rId1"/>
          <a:stretch>
            <a:fillRect/>
          </a:stretch>
        </p:blipFill>
        <p:spPr>
          <a:xfrm>
            <a:off x="6163056" y="2020824"/>
            <a:ext cx="292608" cy="292608"/>
          </a:xfrm>
          <a:prstGeom prst="rect">
            <a:avLst/>
          </a:prstGeom>
        </p:spPr>
      </p:pic>
      <p:sp>
        <p:nvSpPr>
          <p:cNvPr id="17" name="Text 13"/>
          <p:cNvSpPr txBox="1"/>
          <p:nvPr/>
        </p:nvSpPr>
        <p:spPr>
          <a:xfrm>
            <a:off x="6766560" y="1828800"/>
            <a:ext cx="4873752" cy="329184"/>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Agents do the work, humans set direction</a:t>
            </a:r>
            <a:endParaRPr lang="en-US" sz="1400" dirty="0"/>
          </a:p>
        </p:txBody>
      </p:sp>
      <p:sp>
        <p:nvSpPr>
          <p:cNvPr id="18" name="Text 14"/>
          <p:cNvSpPr txBox="1"/>
          <p:nvPr/>
        </p:nvSpPr>
        <p:spPr>
          <a:xfrm>
            <a:off x="6766560" y="2167128"/>
            <a:ext cx="4873752" cy="50292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Agents forecast and propose — humans approve stock and campaign moves</a:t>
            </a:r>
            <a:endParaRPr lang="en-US" sz="1200" dirty="0"/>
          </a:p>
        </p:txBody>
      </p:sp>
      <p:sp>
        <p:nvSpPr>
          <p:cNvPr id="19" name="Shape 15"/>
          <p:cNvSpPr/>
          <p:nvPr/>
        </p:nvSpPr>
        <p:spPr>
          <a:xfrm>
            <a:off x="6035040" y="2843784"/>
            <a:ext cx="548640" cy="548640"/>
          </a:xfrm>
          <a:prstGeom prst="ellipse">
            <a:avLst/>
          </a:prstGeom>
          <a:solidFill>
            <a:srgbClr val="D9E8F8"/>
          </a:solidFill>
          <a:ln/>
        </p:spPr>
      </p:sp>
      <p:pic>
        <p:nvPicPr>
          <p:cNvPr id="20" name="Image 1" descr="preencoded.png">    </p:cNvPr>
          <p:cNvPicPr>
            <a:picLocks noChangeAspect="1"/>
          </p:cNvPicPr>
          <p:nvPr/>
        </p:nvPicPr>
        <p:blipFill>
          <a:blip r:embed="rId2"/>
          <a:stretch>
            <a:fillRect/>
          </a:stretch>
        </p:blipFill>
        <p:spPr>
          <a:xfrm>
            <a:off x="6163056" y="2971800"/>
            <a:ext cx="292608" cy="292608"/>
          </a:xfrm>
          <a:prstGeom prst="rect">
            <a:avLst/>
          </a:prstGeom>
        </p:spPr>
      </p:pic>
      <p:sp>
        <p:nvSpPr>
          <p:cNvPr id="21" name="Text 16"/>
          <p:cNvSpPr txBox="1"/>
          <p:nvPr/>
        </p:nvSpPr>
        <p:spPr>
          <a:xfrm>
            <a:off x="6766560" y="2779776"/>
            <a:ext cx="4873752" cy="329184"/>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Every decision is a hypothesis</a:t>
            </a:r>
            <a:endParaRPr lang="en-US" sz="1400" dirty="0"/>
          </a:p>
        </p:txBody>
      </p:sp>
      <p:sp>
        <p:nvSpPr>
          <p:cNvPr id="22" name="Text 17"/>
          <p:cNvSpPr txBox="1"/>
          <p:nvPr/>
        </p:nvSpPr>
        <p:spPr>
          <a:xfrm>
            <a:off x="6766560" y="3118104"/>
            <a:ext cx="4873752" cy="50292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“Redistribute to South” is a hypothesis until next week's sell-out</a:t>
            </a:r>
            <a:endParaRPr lang="en-US" sz="1200" dirty="0"/>
          </a:p>
        </p:txBody>
      </p:sp>
      <p:sp>
        <p:nvSpPr>
          <p:cNvPr id="23" name="Shape 18"/>
          <p:cNvSpPr/>
          <p:nvPr/>
        </p:nvSpPr>
        <p:spPr>
          <a:xfrm>
            <a:off x="6035040" y="3794760"/>
            <a:ext cx="548640" cy="548640"/>
          </a:xfrm>
          <a:prstGeom prst="ellipse">
            <a:avLst/>
          </a:prstGeom>
          <a:solidFill>
            <a:srgbClr val="D9E8F8"/>
          </a:solidFill>
          <a:ln/>
        </p:spPr>
      </p:sp>
      <p:pic>
        <p:nvPicPr>
          <p:cNvPr id="24" name="Image 2" descr="preencoded.png">    </p:cNvPr>
          <p:cNvPicPr>
            <a:picLocks noChangeAspect="1"/>
          </p:cNvPicPr>
          <p:nvPr/>
        </p:nvPicPr>
        <p:blipFill>
          <a:blip r:embed="rId3"/>
          <a:stretch>
            <a:fillRect/>
          </a:stretch>
        </p:blipFill>
        <p:spPr>
          <a:xfrm>
            <a:off x="6163056" y="3922776"/>
            <a:ext cx="292608" cy="292608"/>
          </a:xfrm>
          <a:prstGeom prst="rect">
            <a:avLst/>
          </a:prstGeom>
        </p:spPr>
      </p:pic>
      <p:sp>
        <p:nvSpPr>
          <p:cNvPr id="25" name="Text 19"/>
          <p:cNvSpPr txBox="1"/>
          <p:nvPr/>
        </p:nvSpPr>
        <p:spPr>
          <a:xfrm>
            <a:off x="6766560" y="3730752"/>
            <a:ext cx="4873752" cy="329184"/>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Every loop makes the system smarter</a:t>
            </a:r>
            <a:endParaRPr lang="en-US" sz="1400" dirty="0"/>
          </a:p>
        </p:txBody>
      </p:sp>
      <p:sp>
        <p:nvSpPr>
          <p:cNvPr id="26" name="Text 20"/>
          <p:cNvSpPr txBox="1"/>
          <p:nvPr/>
        </p:nvSpPr>
        <p:spPr>
          <a:xfrm>
            <a:off x="6766560" y="4069080"/>
            <a:ext cx="4873752" cy="50292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Every forecast is checked against reality — the model calibrates</a:t>
            </a:r>
            <a:endParaRPr lang="en-US" sz="1200" dirty="0"/>
          </a:p>
        </p:txBody>
      </p:sp>
      <p:sp>
        <p:nvSpPr>
          <p:cNvPr id="27" name="Shape 21"/>
          <p:cNvSpPr/>
          <p:nvPr/>
        </p:nvSpPr>
        <p:spPr>
          <a:xfrm>
            <a:off x="6035040" y="4745736"/>
            <a:ext cx="548640" cy="548640"/>
          </a:xfrm>
          <a:prstGeom prst="ellipse">
            <a:avLst/>
          </a:prstGeom>
          <a:solidFill>
            <a:srgbClr val="D9E8F8"/>
          </a:solidFill>
          <a:ln/>
        </p:spPr>
      </p:sp>
      <p:pic>
        <p:nvPicPr>
          <p:cNvPr id="28" name="Image 3" descr="preencoded.png">    </p:cNvPr>
          <p:cNvPicPr>
            <a:picLocks noChangeAspect="1"/>
          </p:cNvPicPr>
          <p:nvPr/>
        </p:nvPicPr>
        <p:blipFill>
          <a:blip r:embed="rId4"/>
          <a:stretch>
            <a:fillRect/>
          </a:stretch>
        </p:blipFill>
        <p:spPr>
          <a:xfrm>
            <a:off x="6163056" y="4873752"/>
            <a:ext cx="292608" cy="292608"/>
          </a:xfrm>
          <a:prstGeom prst="rect">
            <a:avLst/>
          </a:prstGeom>
        </p:spPr>
      </p:pic>
      <p:sp>
        <p:nvSpPr>
          <p:cNvPr id="29" name="Text 22"/>
          <p:cNvSpPr txBox="1"/>
          <p:nvPr/>
        </p:nvSpPr>
        <p:spPr>
          <a:xfrm>
            <a:off x="6766560" y="4681728"/>
            <a:ext cx="4873752" cy="329184"/>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Evidence beats opinion</a:t>
            </a:r>
            <a:endParaRPr lang="en-US" sz="1400" dirty="0"/>
          </a:p>
        </p:txBody>
      </p:sp>
      <p:sp>
        <p:nvSpPr>
          <p:cNvPr id="30" name="Text 23"/>
          <p:cNvSpPr txBox="1"/>
          <p:nvPr/>
        </p:nvSpPr>
        <p:spPr>
          <a:xfrm>
            <a:off x="6766560" y="5020056"/>
            <a:ext cx="4873752" cy="50292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Point-of-sale behaviour outweighs what a survey says</a:t>
            </a:r>
            <a:endParaRPr lang="en-US" sz="1200" dirty="0"/>
          </a:p>
        </p:txBody>
      </p:sp>
      <p:sp>
        <p:nvSpPr>
          <p:cNvPr id="31" name="Shape 24"/>
          <p:cNvSpPr/>
          <p:nvPr/>
        </p:nvSpPr>
        <p:spPr>
          <a:xfrm>
            <a:off x="548640" y="5669280"/>
            <a:ext cx="11091672" cy="502920"/>
          </a:xfrm>
          <a:prstGeom prst="roundRect">
            <a:avLst>
              <a:gd name="adj" fmla="val 14545"/>
            </a:avLst>
          </a:prstGeom>
          <a:solidFill>
            <a:srgbClr val="0F1341"/>
          </a:solidFill>
          <a:ln/>
        </p:spPr>
      </p:sp>
      <p:sp>
        <p:nvSpPr>
          <p:cNvPr id="32" name="Text 25"/>
          <p:cNvSpPr txBox="1"/>
          <p:nvPr/>
        </p:nvSpPr>
        <p:spPr>
          <a:xfrm>
            <a:off x="777240" y="5669280"/>
            <a:ext cx="10698480" cy="502920"/>
          </a:xfrm>
          <a:prstGeom prst="rect">
            <a:avLst/>
          </a:prstGeom>
          <a:noFill/>
          <a:ln/>
        </p:spPr>
        <p:txBody>
          <a:bodyPr wrap="square" lIns="0" tIns="0" rIns="0" bIns="0" rtlCol="0" anchor="ctr"/>
          <a:lstStyle/>
          <a:p>
            <a:pPr indent="0" marL="0">
              <a:buNone/>
            </a:pPr>
            <a:r>
              <a:rPr lang="en-US" sz="1300" b="1" dirty="0">
                <a:solidFill>
                  <a:srgbClr val="4A8FDB"/>
                </a:solidFill>
                <a:latin typeface="Montserrat" pitchFamily="34" charset="0"/>
                <a:ea typeface="Montserrat" pitchFamily="34" charset="-122"/>
                <a:cs typeface="Montserrat" pitchFamily="34" charset="-120"/>
              </a:rPr>
              <a:t>In one line: </a:t>
            </a:r>
            <a:pPr indent="0" marL="0">
              <a:buNone/>
            </a:pPr>
            <a:r>
              <a:rPr lang="en-US" sz="1300" dirty="0">
                <a:solidFill>
                  <a:srgbClr val="FFFFFF"/>
                </a:solidFill>
                <a:latin typeface="Montserrat" pitchFamily="34" charset="0"/>
                <a:ea typeface="Montserrat" pitchFamily="34" charset="-122"/>
                <a:cs typeface="Montserrat" pitchFamily="34" charset="-120"/>
              </a:rPr>
              <a:t>connect customer behaviour with supply decisions — and make every interaction part of a learning process.</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Two worlds, disconnected</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The brand knows it shipped 1,000 cases — not who bought them, or why</a:t>
            </a:r>
            <a:endParaRPr lang="en-US" sz="1300" dirty="0"/>
          </a:p>
        </p:txBody>
      </p:sp>
      <p:sp>
        <p:nvSpPr>
          <p:cNvPr id="5" name="Text 2"/>
          <p:cNvSpPr txBox="1"/>
          <p:nvPr/>
        </p:nvSpPr>
        <p:spPr>
          <a:xfrm>
            <a:off x="548640" y="1737360"/>
            <a:ext cx="7315200" cy="274320"/>
          </a:xfrm>
          <a:prstGeom prst="rect">
            <a:avLst/>
          </a:prstGeom>
          <a:noFill/>
          <a:ln/>
        </p:spPr>
        <p:txBody>
          <a:bodyPr wrap="square" lIns="0" tIns="0" rIns="0" bIns="0" rtlCol="0" anchor="t"/>
          <a:lstStyle/>
          <a:p>
            <a:pPr indent="0" marL="0">
              <a:buNone/>
            </a:pPr>
            <a:r>
              <a:rPr lang="en-US" sz="1000" b="1" spc="100" kern="0" dirty="0">
                <a:solidFill>
                  <a:srgbClr val="8A93A3"/>
                </a:solidFill>
                <a:latin typeface="Montserrat" pitchFamily="34" charset="0"/>
                <a:ea typeface="Montserrat" pitchFamily="34" charset="-122"/>
                <a:cs typeface="Montserrat" pitchFamily="34" charset="-120"/>
              </a:rPr>
              <a:t>SUPPLY SIDE  ·  WHAT THE COMPANY DECIDES</a:t>
            </a:r>
            <a:endParaRPr lang="en-US" sz="1000" dirty="0"/>
          </a:p>
        </p:txBody>
      </p:sp>
      <p:sp>
        <p:nvSpPr>
          <p:cNvPr id="6" name="Shape 3"/>
          <p:cNvSpPr/>
          <p:nvPr/>
        </p:nvSpPr>
        <p:spPr>
          <a:xfrm>
            <a:off x="548640" y="2084832"/>
            <a:ext cx="2615184" cy="822960"/>
          </a:xfrm>
          <a:prstGeom prst="roundRect">
            <a:avLst>
              <a:gd name="adj" fmla="val 8889"/>
            </a:avLst>
          </a:prstGeom>
          <a:solidFill>
            <a:srgbClr val="0F1341"/>
          </a:solidFill>
          <a:ln/>
        </p:spPr>
      </p:sp>
      <p:pic>
        <p:nvPicPr>
          <p:cNvPr id="7" name="Image 0" descr="preencoded.png">    </p:cNvPr>
          <p:cNvPicPr>
            <a:picLocks noChangeAspect="1"/>
          </p:cNvPicPr>
          <p:nvPr/>
        </p:nvPicPr>
        <p:blipFill>
          <a:blip r:embed="rId1"/>
          <a:stretch>
            <a:fillRect/>
          </a:stretch>
        </p:blipFill>
        <p:spPr>
          <a:xfrm>
            <a:off x="749808" y="2286000"/>
            <a:ext cx="411480" cy="411480"/>
          </a:xfrm>
          <a:prstGeom prst="rect">
            <a:avLst/>
          </a:prstGeom>
        </p:spPr>
      </p:pic>
      <p:sp>
        <p:nvSpPr>
          <p:cNvPr id="8" name="Text 4"/>
          <p:cNvSpPr txBox="1"/>
          <p:nvPr/>
        </p:nvSpPr>
        <p:spPr>
          <a:xfrm>
            <a:off x="1325880" y="2084832"/>
            <a:ext cx="1737360" cy="822960"/>
          </a:xfrm>
          <a:prstGeom prst="rect">
            <a:avLst/>
          </a:prstGeom>
          <a:noFill/>
          <a:ln/>
        </p:spPr>
        <p:txBody>
          <a:bodyPr wrap="square" lIns="0" tIns="0" rIns="0" bIns="0" rtlCol="0" anchor="ctr"/>
          <a:lstStyle/>
          <a:p>
            <a:pPr indent="0" marL="0">
              <a:buNone/>
            </a:pPr>
            <a:r>
              <a:rPr lang="en-US" sz="1500" b="1" dirty="0">
                <a:solidFill>
                  <a:srgbClr val="FFFFFF"/>
                </a:solidFill>
                <a:latin typeface="Montserrat" pitchFamily="34" charset="0"/>
                <a:ea typeface="Montserrat" pitchFamily="34" charset="-122"/>
                <a:cs typeface="Montserrat" pitchFamily="34" charset="-120"/>
              </a:rPr>
              <a:t>Production</a:t>
            </a:r>
            <a:endParaRPr lang="en-US" sz="1500" dirty="0"/>
          </a:p>
        </p:txBody>
      </p:sp>
      <p:sp>
        <p:nvSpPr>
          <p:cNvPr id="9" name="Text 5"/>
          <p:cNvSpPr txBox="1"/>
          <p:nvPr/>
        </p:nvSpPr>
        <p:spPr>
          <a:xfrm>
            <a:off x="3163824" y="2084832"/>
            <a:ext cx="210312" cy="822960"/>
          </a:xfrm>
          <a:prstGeom prst="rect">
            <a:avLst/>
          </a:prstGeom>
          <a:noFill/>
          <a:ln/>
        </p:spPr>
        <p:txBody>
          <a:bodyPr wrap="square" lIns="0" tIns="0" rIns="0" bIns="0" rtlCol="0" anchor="ctr"/>
          <a:lstStyle/>
          <a:p>
            <a:pPr algn="ctr" indent="0" marL="0">
              <a:buNone/>
            </a:pPr>
            <a:r>
              <a:rPr lang="en-US" sz="1800" dirty="0">
                <a:solidFill>
                  <a:srgbClr val="8A93A3"/>
                </a:solidFill>
                <a:latin typeface="Montserrat" pitchFamily="34" charset="0"/>
                <a:ea typeface="Montserrat" pitchFamily="34" charset="-122"/>
                <a:cs typeface="Montserrat" pitchFamily="34" charset="-120"/>
              </a:rPr>
              <a:t>›</a:t>
            </a:r>
            <a:endParaRPr lang="en-US" sz="1800" dirty="0"/>
          </a:p>
        </p:txBody>
      </p:sp>
      <p:sp>
        <p:nvSpPr>
          <p:cNvPr id="10" name="Shape 6"/>
          <p:cNvSpPr/>
          <p:nvPr/>
        </p:nvSpPr>
        <p:spPr>
          <a:xfrm>
            <a:off x="3374136" y="2084832"/>
            <a:ext cx="2615184" cy="822960"/>
          </a:xfrm>
          <a:prstGeom prst="roundRect">
            <a:avLst>
              <a:gd name="adj" fmla="val 8889"/>
            </a:avLst>
          </a:prstGeom>
          <a:solidFill>
            <a:srgbClr val="0F1341"/>
          </a:solidFill>
          <a:ln/>
        </p:spPr>
      </p:sp>
      <p:pic>
        <p:nvPicPr>
          <p:cNvPr id="11" name="Image 1" descr="preencoded.png">    </p:cNvPr>
          <p:cNvPicPr>
            <a:picLocks noChangeAspect="1"/>
          </p:cNvPicPr>
          <p:nvPr/>
        </p:nvPicPr>
        <p:blipFill>
          <a:blip r:embed="rId2"/>
          <a:stretch>
            <a:fillRect/>
          </a:stretch>
        </p:blipFill>
        <p:spPr>
          <a:xfrm>
            <a:off x="3575304" y="2286000"/>
            <a:ext cx="411480" cy="411480"/>
          </a:xfrm>
          <a:prstGeom prst="rect">
            <a:avLst/>
          </a:prstGeom>
        </p:spPr>
      </p:pic>
      <p:sp>
        <p:nvSpPr>
          <p:cNvPr id="12" name="Text 7"/>
          <p:cNvSpPr txBox="1"/>
          <p:nvPr/>
        </p:nvSpPr>
        <p:spPr>
          <a:xfrm>
            <a:off x="4151376" y="2084832"/>
            <a:ext cx="1737360" cy="822960"/>
          </a:xfrm>
          <a:prstGeom prst="rect">
            <a:avLst/>
          </a:prstGeom>
          <a:noFill/>
          <a:ln/>
        </p:spPr>
        <p:txBody>
          <a:bodyPr wrap="square" lIns="0" tIns="0" rIns="0" bIns="0" rtlCol="0" anchor="ctr"/>
          <a:lstStyle/>
          <a:p>
            <a:pPr indent="0" marL="0">
              <a:buNone/>
            </a:pPr>
            <a:r>
              <a:rPr lang="en-US" sz="1500" b="1" dirty="0">
                <a:solidFill>
                  <a:srgbClr val="FFFFFF"/>
                </a:solidFill>
                <a:latin typeface="Montserrat" pitchFamily="34" charset="0"/>
                <a:ea typeface="Montserrat" pitchFamily="34" charset="-122"/>
                <a:cs typeface="Montserrat" pitchFamily="34" charset="-120"/>
              </a:rPr>
              <a:t>Distribution</a:t>
            </a:r>
            <a:endParaRPr lang="en-US" sz="1500" dirty="0"/>
          </a:p>
        </p:txBody>
      </p:sp>
      <p:sp>
        <p:nvSpPr>
          <p:cNvPr id="13" name="Text 8"/>
          <p:cNvSpPr txBox="1"/>
          <p:nvPr/>
        </p:nvSpPr>
        <p:spPr>
          <a:xfrm>
            <a:off x="5989320" y="2084832"/>
            <a:ext cx="210312" cy="822960"/>
          </a:xfrm>
          <a:prstGeom prst="rect">
            <a:avLst/>
          </a:prstGeom>
          <a:noFill/>
          <a:ln/>
        </p:spPr>
        <p:txBody>
          <a:bodyPr wrap="square" lIns="0" tIns="0" rIns="0" bIns="0" rtlCol="0" anchor="ctr"/>
          <a:lstStyle/>
          <a:p>
            <a:pPr algn="ctr" indent="0" marL="0">
              <a:buNone/>
            </a:pPr>
            <a:r>
              <a:rPr lang="en-US" sz="1800" dirty="0">
                <a:solidFill>
                  <a:srgbClr val="8A93A3"/>
                </a:solidFill>
                <a:latin typeface="Montserrat" pitchFamily="34" charset="0"/>
                <a:ea typeface="Montserrat" pitchFamily="34" charset="-122"/>
                <a:cs typeface="Montserrat" pitchFamily="34" charset="-120"/>
              </a:rPr>
              <a:t>›</a:t>
            </a:r>
            <a:endParaRPr lang="en-US" sz="1800" dirty="0"/>
          </a:p>
        </p:txBody>
      </p:sp>
      <p:sp>
        <p:nvSpPr>
          <p:cNvPr id="14" name="Shape 9"/>
          <p:cNvSpPr/>
          <p:nvPr/>
        </p:nvSpPr>
        <p:spPr>
          <a:xfrm>
            <a:off x="6199632" y="2084832"/>
            <a:ext cx="2615184" cy="822960"/>
          </a:xfrm>
          <a:prstGeom prst="roundRect">
            <a:avLst>
              <a:gd name="adj" fmla="val 8889"/>
            </a:avLst>
          </a:prstGeom>
          <a:solidFill>
            <a:srgbClr val="0F1341"/>
          </a:solidFill>
          <a:ln/>
        </p:spPr>
      </p:sp>
      <p:pic>
        <p:nvPicPr>
          <p:cNvPr id="15" name="Image 2" descr="preencoded.png">    </p:cNvPr>
          <p:cNvPicPr>
            <a:picLocks noChangeAspect="1"/>
          </p:cNvPicPr>
          <p:nvPr/>
        </p:nvPicPr>
        <p:blipFill>
          <a:blip r:embed="rId3"/>
          <a:stretch>
            <a:fillRect/>
          </a:stretch>
        </p:blipFill>
        <p:spPr>
          <a:xfrm>
            <a:off x="6400800" y="2286000"/>
            <a:ext cx="411480" cy="411480"/>
          </a:xfrm>
          <a:prstGeom prst="rect">
            <a:avLst/>
          </a:prstGeom>
        </p:spPr>
      </p:pic>
      <p:sp>
        <p:nvSpPr>
          <p:cNvPr id="16" name="Text 10"/>
          <p:cNvSpPr txBox="1"/>
          <p:nvPr/>
        </p:nvSpPr>
        <p:spPr>
          <a:xfrm>
            <a:off x="6976872" y="2084832"/>
            <a:ext cx="1737360" cy="822960"/>
          </a:xfrm>
          <a:prstGeom prst="rect">
            <a:avLst/>
          </a:prstGeom>
          <a:noFill/>
          <a:ln/>
        </p:spPr>
        <p:txBody>
          <a:bodyPr wrap="square" lIns="0" tIns="0" rIns="0" bIns="0" rtlCol="0" anchor="ctr"/>
          <a:lstStyle/>
          <a:p>
            <a:pPr indent="0" marL="0">
              <a:buNone/>
            </a:pPr>
            <a:r>
              <a:rPr lang="en-US" sz="1500" b="1" dirty="0">
                <a:solidFill>
                  <a:srgbClr val="FFFFFF"/>
                </a:solidFill>
                <a:latin typeface="Montserrat" pitchFamily="34" charset="0"/>
                <a:ea typeface="Montserrat" pitchFamily="34" charset="-122"/>
                <a:cs typeface="Montserrat" pitchFamily="34" charset="-120"/>
              </a:rPr>
              <a:t>Retail</a:t>
            </a:r>
            <a:endParaRPr lang="en-US" sz="1500" dirty="0"/>
          </a:p>
        </p:txBody>
      </p:sp>
      <p:sp>
        <p:nvSpPr>
          <p:cNvPr id="17" name="Text 11"/>
          <p:cNvSpPr txBox="1"/>
          <p:nvPr/>
        </p:nvSpPr>
        <p:spPr>
          <a:xfrm>
            <a:off x="8814816" y="2084832"/>
            <a:ext cx="210312" cy="822960"/>
          </a:xfrm>
          <a:prstGeom prst="rect">
            <a:avLst/>
          </a:prstGeom>
          <a:noFill/>
          <a:ln/>
        </p:spPr>
        <p:txBody>
          <a:bodyPr wrap="square" lIns="0" tIns="0" rIns="0" bIns="0" rtlCol="0" anchor="ctr"/>
          <a:lstStyle/>
          <a:p>
            <a:pPr algn="ctr" indent="0" marL="0">
              <a:buNone/>
            </a:pPr>
            <a:r>
              <a:rPr lang="en-US" sz="1800" dirty="0">
                <a:solidFill>
                  <a:srgbClr val="8A93A3"/>
                </a:solidFill>
                <a:latin typeface="Montserrat" pitchFamily="34" charset="0"/>
                <a:ea typeface="Montserrat" pitchFamily="34" charset="-122"/>
                <a:cs typeface="Montserrat" pitchFamily="34" charset="-120"/>
              </a:rPr>
              <a:t>›</a:t>
            </a:r>
            <a:endParaRPr lang="en-US" sz="1800" dirty="0"/>
          </a:p>
        </p:txBody>
      </p:sp>
      <p:sp>
        <p:nvSpPr>
          <p:cNvPr id="18" name="Shape 12"/>
          <p:cNvSpPr/>
          <p:nvPr/>
        </p:nvSpPr>
        <p:spPr>
          <a:xfrm>
            <a:off x="9025128" y="2084832"/>
            <a:ext cx="2615184" cy="822960"/>
          </a:xfrm>
          <a:prstGeom prst="roundRect">
            <a:avLst>
              <a:gd name="adj" fmla="val 8889"/>
            </a:avLst>
          </a:prstGeom>
          <a:solidFill>
            <a:srgbClr val="0F1341"/>
          </a:solidFill>
          <a:ln/>
        </p:spPr>
      </p:sp>
      <p:pic>
        <p:nvPicPr>
          <p:cNvPr id="19" name="Image 3" descr="preencoded.png">    </p:cNvPr>
          <p:cNvPicPr>
            <a:picLocks noChangeAspect="1"/>
          </p:cNvPicPr>
          <p:nvPr/>
        </p:nvPicPr>
        <p:blipFill>
          <a:blip r:embed="rId4"/>
          <a:stretch>
            <a:fillRect/>
          </a:stretch>
        </p:blipFill>
        <p:spPr>
          <a:xfrm>
            <a:off x="9226296" y="2286000"/>
            <a:ext cx="411480" cy="411480"/>
          </a:xfrm>
          <a:prstGeom prst="rect">
            <a:avLst/>
          </a:prstGeom>
        </p:spPr>
      </p:pic>
      <p:sp>
        <p:nvSpPr>
          <p:cNvPr id="20" name="Text 13"/>
          <p:cNvSpPr txBox="1"/>
          <p:nvPr/>
        </p:nvSpPr>
        <p:spPr>
          <a:xfrm>
            <a:off x="9802368" y="2084832"/>
            <a:ext cx="1737360" cy="822960"/>
          </a:xfrm>
          <a:prstGeom prst="rect">
            <a:avLst/>
          </a:prstGeom>
          <a:noFill/>
          <a:ln/>
        </p:spPr>
        <p:txBody>
          <a:bodyPr wrap="square" lIns="0" tIns="0" rIns="0" bIns="0" rtlCol="0" anchor="ctr"/>
          <a:lstStyle/>
          <a:p>
            <a:pPr indent="0" marL="0">
              <a:buNone/>
            </a:pPr>
            <a:r>
              <a:rPr lang="en-US" sz="1500" b="1" dirty="0">
                <a:solidFill>
                  <a:srgbClr val="FFFFFF"/>
                </a:solidFill>
                <a:latin typeface="Montserrat" pitchFamily="34" charset="0"/>
                <a:ea typeface="Montserrat" pitchFamily="34" charset="-122"/>
                <a:cs typeface="Montserrat" pitchFamily="34" charset="-120"/>
              </a:rPr>
              <a:t>Inventory</a:t>
            </a:r>
            <a:endParaRPr lang="en-US" sz="1500" dirty="0"/>
          </a:p>
        </p:txBody>
      </p:sp>
      <p:sp>
        <p:nvSpPr>
          <p:cNvPr id="21" name="Shape 14"/>
          <p:cNvSpPr/>
          <p:nvPr/>
        </p:nvSpPr>
        <p:spPr>
          <a:xfrm>
            <a:off x="548640" y="3090672"/>
            <a:ext cx="11091672" cy="777240"/>
          </a:xfrm>
          <a:prstGeom prst="roundRect">
            <a:avLst>
              <a:gd name="adj" fmla="val 9412"/>
            </a:avLst>
          </a:prstGeom>
          <a:solidFill>
            <a:srgbClr val="FFFFFF"/>
          </a:solidFill>
          <a:ln w="15875">
            <a:solidFill>
              <a:srgbClr val="4A8FDB"/>
            </a:solidFill>
            <a:prstDash val="dash"/>
          </a:ln>
        </p:spPr>
      </p:sp>
      <p:sp>
        <p:nvSpPr>
          <p:cNvPr id="22" name="Text 15"/>
          <p:cNvSpPr txBox="1"/>
          <p:nvPr/>
        </p:nvSpPr>
        <p:spPr>
          <a:xfrm>
            <a:off x="777240" y="3090672"/>
            <a:ext cx="10698480" cy="777240"/>
          </a:xfrm>
          <a:prstGeom prst="rect">
            <a:avLst/>
          </a:prstGeom>
          <a:noFill/>
          <a:ln/>
        </p:spPr>
        <p:txBody>
          <a:bodyPr wrap="square" lIns="0" tIns="0" rIns="0" bIns="0" rtlCol="0" anchor="ctr"/>
          <a:lstStyle/>
          <a:p>
            <a:pPr indent="0" marL="0">
              <a:buNone/>
            </a:pPr>
            <a:r>
              <a:rPr lang="en-US" sz="1400" b="1" dirty="0">
                <a:solidFill>
                  <a:srgbClr val="2E6FBF"/>
                </a:solidFill>
                <a:latin typeface="Montserrat" pitchFamily="34" charset="0"/>
                <a:ea typeface="Montserrat" pitchFamily="34" charset="-122"/>
                <a:cs typeface="Montserrat" pitchFamily="34" charset="-120"/>
              </a:rPr>
              <a:t>Missing connection: shared customer intelligence. </a:t>
            </a:r>
            <a:pPr indent="0" marL="0">
              <a:buNone/>
            </a:pPr>
            <a:r>
              <a:rPr lang="en-US" sz="1400" dirty="0">
                <a:solidFill>
                  <a:srgbClr val="0F1341"/>
                </a:solidFill>
                <a:latin typeface="Montserrat" pitchFamily="34" charset="0"/>
                <a:ea typeface="Montserrat" pitchFamily="34" charset="-122"/>
                <a:cs typeface="Montserrat" pitchFamily="34" charset="-120"/>
              </a:rPr>
              <a:t>Two or three handovers where the signal is lost.</a:t>
            </a:r>
            <a:endParaRPr lang="en-US" sz="1400" dirty="0"/>
          </a:p>
        </p:txBody>
      </p:sp>
      <p:sp>
        <p:nvSpPr>
          <p:cNvPr id="23" name="Text 16"/>
          <p:cNvSpPr txBox="1"/>
          <p:nvPr/>
        </p:nvSpPr>
        <p:spPr>
          <a:xfrm>
            <a:off x="548640" y="4023360"/>
            <a:ext cx="7315200" cy="274320"/>
          </a:xfrm>
          <a:prstGeom prst="rect">
            <a:avLst/>
          </a:prstGeom>
          <a:noFill/>
          <a:ln/>
        </p:spPr>
        <p:txBody>
          <a:bodyPr wrap="square" lIns="0" tIns="0" rIns="0" bIns="0" rtlCol="0" anchor="t"/>
          <a:lstStyle/>
          <a:p>
            <a:pPr indent="0" marL="0">
              <a:buNone/>
            </a:pPr>
            <a:r>
              <a:rPr lang="en-US" sz="1000" b="1" spc="100" kern="0" dirty="0">
                <a:solidFill>
                  <a:srgbClr val="8A93A3"/>
                </a:solidFill>
                <a:latin typeface="Montserrat" pitchFamily="34" charset="0"/>
                <a:ea typeface="Montserrat" pitchFamily="34" charset="-122"/>
                <a:cs typeface="Montserrat" pitchFamily="34" charset="-120"/>
              </a:rPr>
              <a:t>DEMAND SIDE  ·  WHAT THE CUSTOMER DOES</a:t>
            </a:r>
            <a:endParaRPr lang="en-US" sz="1000" dirty="0"/>
          </a:p>
        </p:txBody>
      </p:sp>
      <p:sp>
        <p:nvSpPr>
          <p:cNvPr id="24" name="Shape 17"/>
          <p:cNvSpPr/>
          <p:nvPr/>
        </p:nvSpPr>
        <p:spPr>
          <a:xfrm>
            <a:off x="548640" y="4370832"/>
            <a:ext cx="2615184" cy="822960"/>
          </a:xfrm>
          <a:prstGeom prst="roundRect">
            <a:avLst>
              <a:gd name="adj" fmla="val 8889"/>
            </a:avLst>
          </a:prstGeom>
          <a:solidFill>
            <a:srgbClr val="F3F7FC"/>
          </a:solidFill>
          <a:ln/>
        </p:spPr>
      </p:sp>
      <p:pic>
        <p:nvPicPr>
          <p:cNvPr id="25" name="Image 4" descr="preencoded.png">    </p:cNvPr>
          <p:cNvPicPr>
            <a:picLocks noChangeAspect="1"/>
          </p:cNvPicPr>
          <p:nvPr/>
        </p:nvPicPr>
        <p:blipFill>
          <a:blip r:embed="rId5"/>
          <a:stretch>
            <a:fillRect/>
          </a:stretch>
        </p:blipFill>
        <p:spPr>
          <a:xfrm>
            <a:off x="749808" y="4572000"/>
            <a:ext cx="411480" cy="411480"/>
          </a:xfrm>
          <a:prstGeom prst="rect">
            <a:avLst/>
          </a:prstGeom>
        </p:spPr>
      </p:pic>
      <p:sp>
        <p:nvSpPr>
          <p:cNvPr id="26" name="Text 18"/>
          <p:cNvSpPr txBox="1"/>
          <p:nvPr/>
        </p:nvSpPr>
        <p:spPr>
          <a:xfrm>
            <a:off x="1325880" y="4370832"/>
            <a:ext cx="1737360" cy="822960"/>
          </a:xfrm>
          <a:prstGeom prst="rect">
            <a:avLst/>
          </a:prstGeom>
          <a:noFill/>
          <a:ln/>
        </p:spPr>
        <p:txBody>
          <a:bodyPr wrap="square" lIns="0" tIns="0" rIns="0" bIns="0" rtlCol="0" anchor="ctr"/>
          <a:lstStyle/>
          <a:p>
            <a:pPr indent="0" marL="0">
              <a:buNone/>
            </a:pPr>
            <a:r>
              <a:rPr lang="en-US" sz="1500" b="1" dirty="0">
                <a:solidFill>
                  <a:srgbClr val="0F1341"/>
                </a:solidFill>
                <a:latin typeface="Montserrat" pitchFamily="34" charset="0"/>
                <a:ea typeface="Montserrat" pitchFamily="34" charset="-122"/>
                <a:cs typeface="Montserrat" pitchFamily="34" charset="-120"/>
              </a:rPr>
              <a:t>Awareness</a:t>
            </a:r>
            <a:endParaRPr lang="en-US" sz="1500" dirty="0"/>
          </a:p>
        </p:txBody>
      </p:sp>
      <p:sp>
        <p:nvSpPr>
          <p:cNvPr id="27" name="Text 19"/>
          <p:cNvSpPr txBox="1"/>
          <p:nvPr/>
        </p:nvSpPr>
        <p:spPr>
          <a:xfrm>
            <a:off x="3163824" y="4370832"/>
            <a:ext cx="210312" cy="822960"/>
          </a:xfrm>
          <a:prstGeom prst="rect">
            <a:avLst/>
          </a:prstGeom>
          <a:noFill/>
          <a:ln/>
        </p:spPr>
        <p:txBody>
          <a:bodyPr wrap="square" lIns="0" tIns="0" rIns="0" bIns="0" rtlCol="0" anchor="ctr"/>
          <a:lstStyle/>
          <a:p>
            <a:pPr algn="ctr" indent="0" marL="0">
              <a:buNone/>
            </a:pPr>
            <a:r>
              <a:rPr lang="en-US" sz="1800" dirty="0">
                <a:solidFill>
                  <a:srgbClr val="8A93A3"/>
                </a:solidFill>
                <a:latin typeface="Montserrat" pitchFamily="34" charset="0"/>
                <a:ea typeface="Montserrat" pitchFamily="34" charset="-122"/>
                <a:cs typeface="Montserrat" pitchFamily="34" charset="-120"/>
              </a:rPr>
              <a:t>›</a:t>
            </a:r>
            <a:endParaRPr lang="en-US" sz="1800" dirty="0"/>
          </a:p>
        </p:txBody>
      </p:sp>
      <p:sp>
        <p:nvSpPr>
          <p:cNvPr id="28" name="Shape 20"/>
          <p:cNvSpPr/>
          <p:nvPr/>
        </p:nvSpPr>
        <p:spPr>
          <a:xfrm>
            <a:off x="3374136" y="4370832"/>
            <a:ext cx="2615184" cy="822960"/>
          </a:xfrm>
          <a:prstGeom prst="roundRect">
            <a:avLst>
              <a:gd name="adj" fmla="val 8889"/>
            </a:avLst>
          </a:prstGeom>
          <a:solidFill>
            <a:srgbClr val="F3F7FC"/>
          </a:solidFill>
          <a:ln/>
        </p:spPr>
      </p:sp>
      <p:pic>
        <p:nvPicPr>
          <p:cNvPr id="29" name="Image 5" descr="preencoded.png">    </p:cNvPr>
          <p:cNvPicPr>
            <a:picLocks noChangeAspect="1"/>
          </p:cNvPicPr>
          <p:nvPr/>
        </p:nvPicPr>
        <p:blipFill>
          <a:blip r:embed="rId6"/>
          <a:stretch>
            <a:fillRect/>
          </a:stretch>
        </p:blipFill>
        <p:spPr>
          <a:xfrm>
            <a:off x="3575304" y="4572000"/>
            <a:ext cx="411480" cy="411480"/>
          </a:xfrm>
          <a:prstGeom prst="rect">
            <a:avLst/>
          </a:prstGeom>
        </p:spPr>
      </p:pic>
      <p:sp>
        <p:nvSpPr>
          <p:cNvPr id="30" name="Text 21"/>
          <p:cNvSpPr txBox="1"/>
          <p:nvPr/>
        </p:nvSpPr>
        <p:spPr>
          <a:xfrm>
            <a:off x="4151376" y="4370832"/>
            <a:ext cx="1737360" cy="822960"/>
          </a:xfrm>
          <a:prstGeom prst="rect">
            <a:avLst/>
          </a:prstGeom>
          <a:noFill/>
          <a:ln/>
        </p:spPr>
        <p:txBody>
          <a:bodyPr wrap="square" lIns="0" tIns="0" rIns="0" bIns="0" rtlCol="0" anchor="ctr"/>
          <a:lstStyle/>
          <a:p>
            <a:pPr indent="0" marL="0">
              <a:buNone/>
            </a:pPr>
            <a:r>
              <a:rPr lang="en-US" sz="1500" b="1" dirty="0">
                <a:solidFill>
                  <a:srgbClr val="0F1341"/>
                </a:solidFill>
                <a:latin typeface="Montserrat" pitchFamily="34" charset="0"/>
                <a:ea typeface="Montserrat" pitchFamily="34" charset="-122"/>
                <a:cs typeface="Montserrat" pitchFamily="34" charset="-120"/>
              </a:rPr>
              <a:t>Purchase</a:t>
            </a:r>
            <a:endParaRPr lang="en-US" sz="1500" dirty="0"/>
          </a:p>
        </p:txBody>
      </p:sp>
      <p:sp>
        <p:nvSpPr>
          <p:cNvPr id="31" name="Text 22"/>
          <p:cNvSpPr txBox="1"/>
          <p:nvPr/>
        </p:nvSpPr>
        <p:spPr>
          <a:xfrm>
            <a:off x="5989320" y="4370832"/>
            <a:ext cx="210312" cy="822960"/>
          </a:xfrm>
          <a:prstGeom prst="rect">
            <a:avLst/>
          </a:prstGeom>
          <a:noFill/>
          <a:ln/>
        </p:spPr>
        <p:txBody>
          <a:bodyPr wrap="square" lIns="0" tIns="0" rIns="0" bIns="0" rtlCol="0" anchor="ctr"/>
          <a:lstStyle/>
          <a:p>
            <a:pPr algn="ctr" indent="0" marL="0">
              <a:buNone/>
            </a:pPr>
            <a:r>
              <a:rPr lang="en-US" sz="1800" dirty="0">
                <a:solidFill>
                  <a:srgbClr val="8A93A3"/>
                </a:solidFill>
                <a:latin typeface="Montserrat" pitchFamily="34" charset="0"/>
                <a:ea typeface="Montserrat" pitchFamily="34" charset="-122"/>
                <a:cs typeface="Montserrat" pitchFamily="34" charset="-120"/>
              </a:rPr>
              <a:t>›</a:t>
            </a:r>
            <a:endParaRPr lang="en-US" sz="1800" dirty="0"/>
          </a:p>
        </p:txBody>
      </p:sp>
      <p:sp>
        <p:nvSpPr>
          <p:cNvPr id="32" name="Shape 23"/>
          <p:cNvSpPr/>
          <p:nvPr/>
        </p:nvSpPr>
        <p:spPr>
          <a:xfrm>
            <a:off x="6199632" y="4370832"/>
            <a:ext cx="2615184" cy="822960"/>
          </a:xfrm>
          <a:prstGeom prst="roundRect">
            <a:avLst>
              <a:gd name="adj" fmla="val 8889"/>
            </a:avLst>
          </a:prstGeom>
          <a:solidFill>
            <a:srgbClr val="F3F7FC"/>
          </a:solidFill>
          <a:ln/>
        </p:spPr>
      </p:sp>
      <p:pic>
        <p:nvPicPr>
          <p:cNvPr id="33" name="Image 6" descr="preencoded.png">    </p:cNvPr>
          <p:cNvPicPr>
            <a:picLocks noChangeAspect="1"/>
          </p:cNvPicPr>
          <p:nvPr/>
        </p:nvPicPr>
        <p:blipFill>
          <a:blip r:embed="rId7"/>
          <a:stretch>
            <a:fillRect/>
          </a:stretch>
        </p:blipFill>
        <p:spPr>
          <a:xfrm>
            <a:off x="6400800" y="4572000"/>
            <a:ext cx="411480" cy="411480"/>
          </a:xfrm>
          <a:prstGeom prst="rect">
            <a:avLst/>
          </a:prstGeom>
        </p:spPr>
      </p:pic>
      <p:sp>
        <p:nvSpPr>
          <p:cNvPr id="34" name="Text 24"/>
          <p:cNvSpPr txBox="1"/>
          <p:nvPr/>
        </p:nvSpPr>
        <p:spPr>
          <a:xfrm>
            <a:off x="6976872" y="4370832"/>
            <a:ext cx="1737360" cy="822960"/>
          </a:xfrm>
          <a:prstGeom prst="rect">
            <a:avLst/>
          </a:prstGeom>
          <a:noFill/>
          <a:ln/>
        </p:spPr>
        <p:txBody>
          <a:bodyPr wrap="square" lIns="0" tIns="0" rIns="0" bIns="0" rtlCol="0" anchor="ctr"/>
          <a:lstStyle/>
          <a:p>
            <a:pPr indent="0" marL="0">
              <a:buNone/>
            </a:pPr>
            <a:r>
              <a:rPr lang="en-US" sz="1500" b="1" dirty="0">
                <a:solidFill>
                  <a:srgbClr val="0F1341"/>
                </a:solidFill>
                <a:latin typeface="Montserrat" pitchFamily="34" charset="0"/>
                <a:ea typeface="Montserrat" pitchFamily="34" charset="-122"/>
                <a:cs typeface="Montserrat" pitchFamily="34" charset="-120"/>
              </a:rPr>
              <a:t>Consumption</a:t>
            </a:r>
            <a:endParaRPr lang="en-US" sz="1500" dirty="0"/>
          </a:p>
        </p:txBody>
      </p:sp>
      <p:sp>
        <p:nvSpPr>
          <p:cNvPr id="35" name="Text 25"/>
          <p:cNvSpPr txBox="1"/>
          <p:nvPr/>
        </p:nvSpPr>
        <p:spPr>
          <a:xfrm>
            <a:off x="8814816" y="4370832"/>
            <a:ext cx="210312" cy="822960"/>
          </a:xfrm>
          <a:prstGeom prst="rect">
            <a:avLst/>
          </a:prstGeom>
          <a:noFill/>
          <a:ln/>
        </p:spPr>
        <p:txBody>
          <a:bodyPr wrap="square" lIns="0" tIns="0" rIns="0" bIns="0" rtlCol="0" anchor="ctr"/>
          <a:lstStyle/>
          <a:p>
            <a:pPr algn="ctr" indent="0" marL="0">
              <a:buNone/>
            </a:pPr>
            <a:r>
              <a:rPr lang="en-US" sz="1800" dirty="0">
                <a:solidFill>
                  <a:srgbClr val="8A93A3"/>
                </a:solidFill>
                <a:latin typeface="Montserrat" pitchFamily="34" charset="0"/>
                <a:ea typeface="Montserrat" pitchFamily="34" charset="-122"/>
                <a:cs typeface="Montserrat" pitchFamily="34" charset="-120"/>
              </a:rPr>
              <a:t>›</a:t>
            </a:r>
            <a:endParaRPr lang="en-US" sz="1800" dirty="0"/>
          </a:p>
        </p:txBody>
      </p:sp>
      <p:sp>
        <p:nvSpPr>
          <p:cNvPr id="36" name="Shape 26"/>
          <p:cNvSpPr/>
          <p:nvPr/>
        </p:nvSpPr>
        <p:spPr>
          <a:xfrm>
            <a:off x="9025128" y="4370832"/>
            <a:ext cx="2615184" cy="822960"/>
          </a:xfrm>
          <a:prstGeom prst="roundRect">
            <a:avLst>
              <a:gd name="adj" fmla="val 8889"/>
            </a:avLst>
          </a:prstGeom>
          <a:solidFill>
            <a:srgbClr val="F3F7FC"/>
          </a:solidFill>
          <a:ln/>
        </p:spPr>
      </p:sp>
      <p:pic>
        <p:nvPicPr>
          <p:cNvPr id="37" name="Image 7" descr="preencoded.png">    </p:cNvPr>
          <p:cNvPicPr>
            <a:picLocks noChangeAspect="1"/>
          </p:cNvPicPr>
          <p:nvPr/>
        </p:nvPicPr>
        <p:blipFill>
          <a:blip r:embed="rId8"/>
          <a:stretch>
            <a:fillRect/>
          </a:stretch>
        </p:blipFill>
        <p:spPr>
          <a:xfrm>
            <a:off x="9226296" y="4572000"/>
            <a:ext cx="411480" cy="411480"/>
          </a:xfrm>
          <a:prstGeom prst="rect">
            <a:avLst/>
          </a:prstGeom>
        </p:spPr>
      </p:pic>
      <p:sp>
        <p:nvSpPr>
          <p:cNvPr id="38" name="Text 27"/>
          <p:cNvSpPr txBox="1"/>
          <p:nvPr/>
        </p:nvSpPr>
        <p:spPr>
          <a:xfrm>
            <a:off x="9802368" y="4370832"/>
            <a:ext cx="1737360" cy="822960"/>
          </a:xfrm>
          <a:prstGeom prst="rect">
            <a:avLst/>
          </a:prstGeom>
          <a:noFill/>
          <a:ln/>
        </p:spPr>
        <p:txBody>
          <a:bodyPr wrap="square" lIns="0" tIns="0" rIns="0" bIns="0" rtlCol="0" anchor="ctr"/>
          <a:lstStyle/>
          <a:p>
            <a:pPr indent="0" marL="0">
              <a:buNone/>
            </a:pPr>
            <a:r>
              <a:rPr lang="en-US" sz="1500" b="1" dirty="0">
                <a:solidFill>
                  <a:srgbClr val="0F1341"/>
                </a:solidFill>
                <a:latin typeface="Montserrat" pitchFamily="34" charset="0"/>
                <a:ea typeface="Montserrat" pitchFamily="34" charset="-122"/>
                <a:cs typeface="Montserrat" pitchFamily="34" charset="-120"/>
              </a:rPr>
              <a:t>Loyalty</a:t>
            </a:r>
            <a:endParaRPr lang="en-US" sz="1500" dirty="0"/>
          </a:p>
        </p:txBody>
      </p:sp>
      <p:sp>
        <p:nvSpPr>
          <p:cNvPr id="39" name="Shape 28"/>
          <p:cNvSpPr/>
          <p:nvPr/>
        </p:nvSpPr>
        <p:spPr>
          <a:xfrm>
            <a:off x="548640" y="5623560"/>
            <a:ext cx="11091672" cy="502920"/>
          </a:xfrm>
          <a:prstGeom prst="roundRect">
            <a:avLst>
              <a:gd name="adj" fmla="val 14545"/>
            </a:avLst>
          </a:prstGeom>
          <a:solidFill>
            <a:srgbClr val="0F1341"/>
          </a:solidFill>
          <a:ln/>
        </p:spPr>
      </p:sp>
      <p:sp>
        <p:nvSpPr>
          <p:cNvPr id="40" name="Text 29"/>
          <p:cNvSpPr txBox="1"/>
          <p:nvPr/>
        </p:nvSpPr>
        <p:spPr>
          <a:xfrm>
            <a:off x="777240" y="5623560"/>
            <a:ext cx="10698480" cy="502920"/>
          </a:xfrm>
          <a:prstGeom prst="rect">
            <a:avLst/>
          </a:prstGeom>
          <a:noFill/>
          <a:ln/>
        </p:spPr>
        <p:txBody>
          <a:bodyPr wrap="square" lIns="0" tIns="0" rIns="0" bIns="0" rtlCol="0" anchor="ctr"/>
          <a:lstStyle/>
          <a:p>
            <a:pPr indent="0" marL="0">
              <a:buNone/>
            </a:pPr>
            <a:r>
              <a:rPr lang="en-US" sz="1300" b="1" dirty="0">
                <a:solidFill>
                  <a:srgbClr val="4A8FDB"/>
                </a:solidFill>
                <a:latin typeface="Montserrat" pitchFamily="34" charset="0"/>
                <a:ea typeface="Montserrat" pitchFamily="34" charset="-122"/>
                <a:cs typeface="Montserrat" pitchFamily="34" charset="-120"/>
              </a:rPr>
              <a:t>Lead question for today: </a:t>
            </a:r>
            <a:pPr indent="0" marL="0">
              <a:buNone/>
            </a:pPr>
            <a:r>
              <a:rPr lang="en-US" sz="1300" dirty="0">
                <a:solidFill>
                  <a:srgbClr val="FFFFFF"/>
                </a:solidFill>
                <a:latin typeface="Montserrat" pitchFamily="34" charset="0"/>
                <a:ea typeface="Montserrat" pitchFamily="34" charset="-122"/>
                <a:cs typeface="Montserrat" pitchFamily="34" charset="-120"/>
              </a:rPr>
              <a:t>how do we connect these two worlds — without pooling every piece of personal data?</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Quantify the cost of disconnected data</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Same product, same period, two regions — what would you recommend to the manufacturer?</a:t>
            </a:r>
            <a:endParaRPr lang="en-US" sz="1300" dirty="0"/>
          </a:p>
        </p:txBody>
      </p:sp>
      <p:sp>
        <p:nvSpPr>
          <p:cNvPr id="5" name="Shape 2"/>
          <p:cNvSpPr/>
          <p:nvPr/>
        </p:nvSpPr>
        <p:spPr>
          <a:xfrm>
            <a:off x="548640" y="1783080"/>
            <a:ext cx="4480560" cy="274320"/>
          </a:xfrm>
          <a:prstGeom prst="roundRect">
            <a:avLst>
              <a:gd name="adj" fmla="val 26667"/>
            </a:avLst>
          </a:prstGeom>
          <a:solidFill>
            <a:srgbClr val="C9D3E3"/>
          </a:solidFill>
          <a:ln/>
        </p:spPr>
      </p:sp>
      <p:sp>
        <p:nvSpPr>
          <p:cNvPr id="6" name="Text 3"/>
          <p:cNvSpPr txBox="1"/>
          <p:nvPr/>
        </p:nvSpPr>
        <p:spPr>
          <a:xfrm>
            <a:off x="548640" y="1783080"/>
            <a:ext cx="4480560" cy="274320"/>
          </a:xfrm>
          <a:prstGeom prst="rect">
            <a:avLst/>
          </a:prstGeom>
          <a:noFill/>
          <a:ln/>
        </p:spPr>
        <p:txBody>
          <a:bodyPr wrap="square" lIns="0" tIns="0" rIns="0" bIns="0" rtlCol="0" anchor="ctr"/>
          <a:lstStyle/>
          <a:p>
            <a:pPr algn="ctr" indent="0" marL="0">
              <a:buNone/>
            </a:pPr>
            <a:r>
              <a:rPr lang="en-US" sz="900" b="1" spc="100" kern="0" dirty="0">
                <a:solidFill>
                  <a:srgbClr val="0F1341"/>
                </a:solidFill>
                <a:latin typeface="Montserrat" pitchFamily="34" charset="0"/>
                <a:ea typeface="Montserrat" pitchFamily="34" charset="-122"/>
                <a:cs typeface="Montserrat" pitchFamily="34" charset="-120"/>
              </a:rPr>
              <a:t>ILLUSTRATIVE DATA  ·  ZERO OPENING STOCK, NO RETURNS</a:t>
            </a:r>
            <a:endParaRPr lang="en-US" sz="900" dirty="0"/>
          </a:p>
        </p:txBody>
      </p:sp>
      <p:graphicFrame>
        <p:nvGraphicFramePr>
          <p:cNvPr id="7" name="Chart 0" descr=""/>
          <p:cNvGraphicFramePr/>
          <p:nvPr/>
        </p:nvGraphicFramePr>
        <p:xfrm>
          <a:off x="457200" y="2148840"/>
          <a:ext cx="5852160" cy="338328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8778240" y="1783080"/>
            <a:ext cx="1280160" cy="274320"/>
          </a:xfrm>
          <a:prstGeom prst="rect">
            <a:avLst/>
          </a:prstGeom>
          <a:noFill/>
          <a:ln/>
        </p:spPr>
        <p:txBody>
          <a:bodyPr wrap="square" lIns="0" tIns="0" rIns="0" bIns="0" rtlCol="0" anchor="t"/>
          <a:lstStyle/>
          <a:p>
            <a:pPr algn="ctr" indent="0" marL="0">
              <a:buNone/>
            </a:pPr>
            <a:r>
              <a:rPr lang="en-US" sz="1100" b="1" dirty="0">
                <a:solidFill>
                  <a:srgbClr val="8A93A3"/>
                </a:solidFill>
                <a:latin typeface="Montserrat" pitchFamily="34" charset="0"/>
                <a:ea typeface="Montserrat" pitchFamily="34" charset="-122"/>
                <a:cs typeface="Montserrat" pitchFamily="34" charset="-120"/>
              </a:rPr>
              <a:t>North</a:t>
            </a:r>
            <a:endParaRPr lang="en-US" sz="1100" dirty="0"/>
          </a:p>
        </p:txBody>
      </p:sp>
      <p:sp>
        <p:nvSpPr>
          <p:cNvPr id="9" name="Text 5"/>
          <p:cNvSpPr txBox="1"/>
          <p:nvPr/>
        </p:nvSpPr>
        <p:spPr>
          <a:xfrm>
            <a:off x="10195560" y="1783080"/>
            <a:ext cx="1280160" cy="274320"/>
          </a:xfrm>
          <a:prstGeom prst="rect">
            <a:avLst/>
          </a:prstGeom>
          <a:noFill/>
          <a:ln/>
        </p:spPr>
        <p:txBody>
          <a:bodyPr wrap="square" lIns="0" tIns="0" rIns="0" bIns="0" rtlCol="0" anchor="t"/>
          <a:lstStyle/>
          <a:p>
            <a:pPr algn="ctr" indent="0" marL="0">
              <a:buNone/>
            </a:pPr>
            <a:r>
              <a:rPr lang="en-US" sz="1100" b="1" dirty="0">
                <a:solidFill>
                  <a:srgbClr val="8A93A3"/>
                </a:solidFill>
                <a:latin typeface="Montserrat" pitchFamily="34" charset="0"/>
                <a:ea typeface="Montserrat" pitchFamily="34" charset="-122"/>
                <a:cs typeface="Montserrat" pitchFamily="34" charset="-120"/>
              </a:rPr>
              <a:t>South</a:t>
            </a:r>
            <a:endParaRPr lang="en-US" sz="1100" dirty="0"/>
          </a:p>
        </p:txBody>
      </p:sp>
      <p:sp>
        <p:nvSpPr>
          <p:cNvPr id="10" name="Shape 6"/>
          <p:cNvSpPr/>
          <p:nvPr/>
        </p:nvSpPr>
        <p:spPr>
          <a:xfrm>
            <a:off x="6675120" y="2103120"/>
            <a:ext cx="4965192" cy="658368"/>
          </a:xfrm>
          <a:prstGeom prst="roundRect">
            <a:avLst>
              <a:gd name="adj" fmla="val 11111"/>
            </a:avLst>
          </a:prstGeom>
          <a:solidFill>
            <a:srgbClr val="F3F7FC"/>
          </a:solidFill>
          <a:ln/>
        </p:spPr>
      </p:sp>
      <p:sp>
        <p:nvSpPr>
          <p:cNvPr id="11" name="Text 7"/>
          <p:cNvSpPr txBox="1"/>
          <p:nvPr/>
        </p:nvSpPr>
        <p:spPr>
          <a:xfrm>
            <a:off x="6858000" y="2103120"/>
            <a:ext cx="1920240" cy="658368"/>
          </a:xfrm>
          <a:prstGeom prst="rect">
            <a:avLst/>
          </a:prstGeom>
          <a:noFill/>
          <a:ln/>
        </p:spPr>
        <p:txBody>
          <a:bodyPr wrap="square" lIns="0" tIns="0" rIns="0" bIns="0" rtlCol="0" anchor="ctr"/>
          <a:lstStyle/>
          <a:p>
            <a:pPr indent="0" marL="0">
              <a:buNone/>
            </a:pPr>
            <a:r>
              <a:rPr lang="en-US" sz="1300" b="1" dirty="0">
                <a:solidFill>
                  <a:srgbClr val="0F1341"/>
                </a:solidFill>
                <a:latin typeface="Montserrat" pitchFamily="34" charset="0"/>
                <a:ea typeface="Montserrat" pitchFamily="34" charset="-122"/>
                <a:cs typeface="Montserrat" pitchFamily="34" charset="-120"/>
              </a:rPr>
              <a:t>Sell-through</a:t>
            </a:r>
            <a:endParaRPr lang="en-US" sz="1300" dirty="0"/>
          </a:p>
        </p:txBody>
      </p:sp>
      <p:sp>
        <p:nvSpPr>
          <p:cNvPr id="12" name="Text 8"/>
          <p:cNvSpPr txBox="1"/>
          <p:nvPr/>
        </p:nvSpPr>
        <p:spPr>
          <a:xfrm>
            <a:off x="8778240" y="2103120"/>
            <a:ext cx="1280160" cy="658368"/>
          </a:xfrm>
          <a:prstGeom prst="rect">
            <a:avLst/>
          </a:prstGeom>
          <a:noFill/>
          <a:ln/>
        </p:spPr>
        <p:txBody>
          <a:bodyPr wrap="square" lIns="0" tIns="0" rIns="0" bIns="0" rtlCol="0" anchor="ctr"/>
          <a:lstStyle/>
          <a:p>
            <a:pPr algn="ctr" indent="0" marL="0">
              <a:buNone/>
            </a:pPr>
            <a:r>
              <a:rPr lang="en-US" sz="1800" b="1" dirty="0">
                <a:solidFill>
                  <a:srgbClr val="0F1341"/>
                </a:solidFill>
                <a:latin typeface="Montserrat" pitchFamily="34" charset="0"/>
                <a:ea typeface="Montserrat" pitchFamily="34" charset="-122"/>
                <a:cs typeface="Montserrat" pitchFamily="34" charset="-120"/>
              </a:rPr>
              <a:t>40%</a:t>
            </a:r>
            <a:endParaRPr lang="en-US" sz="1800" dirty="0"/>
          </a:p>
        </p:txBody>
      </p:sp>
      <p:sp>
        <p:nvSpPr>
          <p:cNvPr id="13" name="Text 9"/>
          <p:cNvSpPr txBox="1"/>
          <p:nvPr/>
        </p:nvSpPr>
        <p:spPr>
          <a:xfrm>
            <a:off x="10195560" y="2103120"/>
            <a:ext cx="1280160" cy="658368"/>
          </a:xfrm>
          <a:prstGeom prst="rect">
            <a:avLst/>
          </a:prstGeom>
          <a:noFill/>
          <a:ln/>
        </p:spPr>
        <p:txBody>
          <a:bodyPr wrap="square" lIns="0" tIns="0" rIns="0" bIns="0" rtlCol="0" anchor="ctr"/>
          <a:lstStyle/>
          <a:p>
            <a:pPr algn="ctr" indent="0" marL="0">
              <a:buNone/>
            </a:pPr>
            <a:r>
              <a:rPr lang="en-US" sz="1800" b="1" dirty="0">
                <a:solidFill>
                  <a:srgbClr val="2E6FBF"/>
                </a:solidFill>
                <a:latin typeface="Montserrat" pitchFamily="34" charset="0"/>
                <a:ea typeface="Montserrat" pitchFamily="34" charset="-122"/>
                <a:cs typeface="Montserrat" pitchFamily="34" charset="-120"/>
              </a:rPr>
              <a:t>97%</a:t>
            </a:r>
            <a:endParaRPr lang="en-US" sz="1800" dirty="0"/>
          </a:p>
        </p:txBody>
      </p:sp>
      <p:sp>
        <p:nvSpPr>
          <p:cNvPr id="14" name="Shape 10"/>
          <p:cNvSpPr/>
          <p:nvPr/>
        </p:nvSpPr>
        <p:spPr>
          <a:xfrm>
            <a:off x="6675120" y="2880360"/>
            <a:ext cx="4965192" cy="658368"/>
          </a:xfrm>
          <a:prstGeom prst="roundRect">
            <a:avLst>
              <a:gd name="adj" fmla="val 11111"/>
            </a:avLst>
          </a:prstGeom>
          <a:solidFill>
            <a:srgbClr val="F3F7FC"/>
          </a:solidFill>
          <a:ln/>
        </p:spPr>
      </p:sp>
      <p:sp>
        <p:nvSpPr>
          <p:cNvPr id="15" name="Text 11"/>
          <p:cNvSpPr txBox="1"/>
          <p:nvPr/>
        </p:nvSpPr>
        <p:spPr>
          <a:xfrm>
            <a:off x="6858000" y="2880360"/>
            <a:ext cx="1920240" cy="658368"/>
          </a:xfrm>
          <a:prstGeom prst="rect">
            <a:avLst/>
          </a:prstGeom>
          <a:noFill/>
          <a:ln/>
        </p:spPr>
        <p:txBody>
          <a:bodyPr wrap="square" lIns="0" tIns="0" rIns="0" bIns="0" rtlCol="0" anchor="ctr"/>
          <a:lstStyle/>
          <a:p>
            <a:pPr indent="0" marL="0">
              <a:buNone/>
            </a:pPr>
            <a:r>
              <a:rPr lang="en-US" sz="1300" b="1" dirty="0">
                <a:solidFill>
                  <a:srgbClr val="0F1341"/>
                </a:solidFill>
                <a:latin typeface="Montserrat" pitchFamily="34" charset="0"/>
                <a:ea typeface="Montserrat" pitchFamily="34" charset="-122"/>
                <a:cs typeface="Montserrat" pitchFamily="34" charset="-120"/>
              </a:rPr>
              <a:t>Remaining stock</a:t>
            </a:r>
            <a:endParaRPr lang="en-US" sz="1300" dirty="0"/>
          </a:p>
        </p:txBody>
      </p:sp>
      <p:sp>
        <p:nvSpPr>
          <p:cNvPr id="16" name="Text 12"/>
          <p:cNvSpPr txBox="1"/>
          <p:nvPr/>
        </p:nvSpPr>
        <p:spPr>
          <a:xfrm>
            <a:off x="8778240" y="2880360"/>
            <a:ext cx="1280160" cy="658368"/>
          </a:xfrm>
          <a:prstGeom prst="rect">
            <a:avLst/>
          </a:prstGeom>
          <a:noFill/>
          <a:ln/>
        </p:spPr>
        <p:txBody>
          <a:bodyPr wrap="square" lIns="0" tIns="0" rIns="0" bIns="0" rtlCol="0" anchor="ctr"/>
          <a:lstStyle/>
          <a:p>
            <a:pPr algn="ctr" indent="0" marL="0">
              <a:buNone/>
            </a:pPr>
            <a:r>
              <a:rPr lang="en-US" sz="1800" b="1" dirty="0">
                <a:solidFill>
                  <a:srgbClr val="0F1341"/>
                </a:solidFill>
                <a:latin typeface="Montserrat" pitchFamily="34" charset="0"/>
                <a:ea typeface="Montserrat" pitchFamily="34" charset="-122"/>
                <a:cs typeface="Montserrat" pitchFamily="34" charset="-120"/>
              </a:rPr>
              <a:t>600</a:t>
            </a:r>
            <a:endParaRPr lang="en-US" sz="1800" dirty="0"/>
          </a:p>
        </p:txBody>
      </p:sp>
      <p:sp>
        <p:nvSpPr>
          <p:cNvPr id="17" name="Text 13"/>
          <p:cNvSpPr txBox="1"/>
          <p:nvPr/>
        </p:nvSpPr>
        <p:spPr>
          <a:xfrm>
            <a:off x="10195560" y="2880360"/>
            <a:ext cx="1280160" cy="658368"/>
          </a:xfrm>
          <a:prstGeom prst="rect">
            <a:avLst/>
          </a:prstGeom>
          <a:noFill/>
          <a:ln/>
        </p:spPr>
        <p:txBody>
          <a:bodyPr wrap="square" lIns="0" tIns="0" rIns="0" bIns="0" rtlCol="0" anchor="ctr"/>
          <a:lstStyle/>
          <a:p>
            <a:pPr algn="ctr" indent="0" marL="0">
              <a:buNone/>
            </a:pPr>
            <a:r>
              <a:rPr lang="en-US" sz="1800" b="1" dirty="0">
                <a:solidFill>
                  <a:srgbClr val="2E6FBF"/>
                </a:solidFill>
                <a:latin typeface="Montserrat" pitchFamily="34" charset="0"/>
                <a:ea typeface="Montserrat" pitchFamily="34" charset="-122"/>
                <a:cs typeface="Montserrat" pitchFamily="34" charset="-120"/>
              </a:rPr>
              <a:t>10</a:t>
            </a:r>
            <a:endParaRPr lang="en-US" sz="1800" dirty="0"/>
          </a:p>
        </p:txBody>
      </p:sp>
      <p:sp>
        <p:nvSpPr>
          <p:cNvPr id="18" name="Shape 14"/>
          <p:cNvSpPr/>
          <p:nvPr/>
        </p:nvSpPr>
        <p:spPr>
          <a:xfrm>
            <a:off x="6675120" y="3749040"/>
            <a:ext cx="4965192" cy="1783080"/>
          </a:xfrm>
          <a:prstGeom prst="roundRect">
            <a:avLst>
              <a:gd name="adj" fmla="val 4103"/>
            </a:avLst>
          </a:prstGeom>
          <a:solidFill>
            <a:srgbClr val="0F1341"/>
          </a:solidFill>
          <a:ln/>
        </p:spPr>
      </p:sp>
      <p:sp>
        <p:nvSpPr>
          <p:cNvPr id="19" name="Text 15"/>
          <p:cNvSpPr txBox="1"/>
          <p:nvPr/>
        </p:nvSpPr>
        <p:spPr>
          <a:xfrm>
            <a:off x="6858000" y="3840480"/>
            <a:ext cx="4663440" cy="502920"/>
          </a:xfrm>
          <a:prstGeom prst="rect">
            <a:avLst/>
          </a:prstGeom>
          <a:noFill/>
          <a:ln/>
        </p:spPr>
        <p:txBody>
          <a:bodyPr wrap="square" lIns="0" tIns="0" rIns="0" bIns="0" rtlCol="0" anchor="t"/>
          <a:lstStyle/>
          <a:p>
            <a:pPr indent="0" marL="0">
              <a:buNone/>
            </a:pPr>
            <a:r>
              <a:rPr lang="en-US" sz="1200" b="1" dirty="0">
                <a:solidFill>
                  <a:srgbClr val="FFFFFF"/>
                </a:solidFill>
                <a:latin typeface="Montserrat" pitchFamily="34" charset="0"/>
                <a:ea typeface="Montserrat" pitchFamily="34" charset="-122"/>
                <a:cs typeface="Montserrat" pitchFamily="34" charset="-120"/>
              </a:rPr>
              <a:t>MENTI  ·  How much revenue did South lose to the stockout?</a:t>
            </a:r>
            <a:endParaRPr lang="en-US" sz="1200" dirty="0"/>
          </a:p>
        </p:txBody>
      </p:sp>
      <p:sp>
        <p:nvSpPr>
          <p:cNvPr id="20" name="Text 16"/>
          <p:cNvSpPr txBox="1"/>
          <p:nvPr/>
        </p:nvSpPr>
        <p:spPr>
          <a:xfrm>
            <a:off x="6858000" y="4343400"/>
            <a:ext cx="4663440" cy="365760"/>
          </a:xfrm>
          <a:prstGeom prst="rect">
            <a:avLst/>
          </a:prstGeom>
          <a:noFill/>
          <a:ln/>
        </p:spPr>
        <p:txBody>
          <a:bodyPr wrap="square" lIns="0" tIns="0" rIns="0" bIns="0" rtlCol="0" anchor="t"/>
          <a:lstStyle/>
          <a:p>
            <a:pPr indent="0" marL="0">
              <a:buNone/>
            </a:pPr>
            <a:r>
              <a:rPr lang="en-US" sz="1100" dirty="0">
                <a:solidFill>
                  <a:srgbClr val="C9D3E3"/>
                </a:solidFill>
                <a:latin typeface="Montserrat" pitchFamily="34" charset="0"/>
                <a:ea typeface="Montserrat" pitchFamily="34" charset="-122"/>
                <a:cs typeface="Montserrat" pitchFamily="34" charset="-120"/>
              </a:rPr>
              <a:t>0  ·  &lt; €5k  ·  €5–20k  ·  &gt; €20k  ·  cannot know from this data</a:t>
            </a:r>
            <a:endParaRPr lang="en-US" sz="1100" dirty="0"/>
          </a:p>
        </p:txBody>
      </p:sp>
      <p:sp>
        <p:nvSpPr>
          <p:cNvPr id="21" name="Text 17"/>
          <p:cNvSpPr txBox="1"/>
          <p:nvPr/>
        </p:nvSpPr>
        <p:spPr>
          <a:xfrm>
            <a:off x="6858000" y="4754880"/>
            <a:ext cx="4663440" cy="640080"/>
          </a:xfrm>
          <a:prstGeom prst="rect">
            <a:avLst/>
          </a:prstGeom>
          <a:noFill/>
          <a:ln/>
        </p:spPr>
        <p:txBody>
          <a:bodyPr wrap="square" lIns="0" tIns="0" rIns="0" bIns="0" rtlCol="0" anchor="t"/>
          <a:lstStyle/>
          <a:p>
            <a:pPr indent="0" marL="0">
              <a:buNone/>
            </a:pPr>
            <a:r>
              <a:rPr lang="en-US" sz="1200" i="1" dirty="0">
                <a:solidFill>
                  <a:srgbClr val="4A8FDB"/>
                </a:solidFill>
                <a:latin typeface="Montserrat" pitchFamily="34" charset="0"/>
                <a:ea typeface="Montserrat" pitchFamily="34" charset="-122"/>
                <a:cs typeface="Montserrat" pitchFamily="34" charset="-120"/>
              </a:rPr>
              <a:t>The lost demand in South is not in the data — the stockout hides it.</a:t>
            </a:r>
            <a:endParaRPr lang="en-US" sz="1200" dirty="0"/>
          </a:p>
        </p:txBody>
      </p:sp>
      <p:sp>
        <p:nvSpPr>
          <p:cNvPr id="22" name="Shape 18"/>
          <p:cNvSpPr/>
          <p:nvPr/>
        </p:nvSpPr>
        <p:spPr>
          <a:xfrm>
            <a:off x="548640" y="5715000"/>
            <a:ext cx="11091672" cy="457200"/>
          </a:xfrm>
          <a:prstGeom prst="roundRect">
            <a:avLst>
              <a:gd name="adj" fmla="val 16000"/>
            </a:avLst>
          </a:prstGeom>
          <a:solidFill>
            <a:srgbClr val="0F1341"/>
          </a:solidFill>
          <a:ln/>
        </p:spPr>
      </p:sp>
      <p:sp>
        <p:nvSpPr>
          <p:cNvPr id="23" name="Text 19"/>
          <p:cNvSpPr txBox="1"/>
          <p:nvPr/>
        </p:nvSpPr>
        <p:spPr>
          <a:xfrm>
            <a:off x="777240" y="5715000"/>
            <a:ext cx="10698480" cy="457200"/>
          </a:xfrm>
          <a:prstGeom prst="rect">
            <a:avLst/>
          </a:prstGeom>
          <a:noFill/>
          <a:ln/>
        </p:spPr>
        <p:txBody>
          <a:bodyPr wrap="square" lIns="0" tIns="0" rIns="0" bIns="0" rtlCol="0" anchor="ctr"/>
          <a:lstStyle/>
          <a:p>
            <a:pPr indent="0" marL="0">
              <a:buNone/>
            </a:pPr>
            <a:r>
              <a:rPr lang="en-US" sz="1300" b="1" dirty="0">
                <a:solidFill>
                  <a:srgbClr val="4A8FDB"/>
                </a:solidFill>
                <a:latin typeface="Montserrat" pitchFamily="34" charset="0"/>
                <a:ea typeface="Montserrat" pitchFamily="34" charset="-122"/>
                <a:cs typeface="Montserrat" pitchFamily="34" charset="-120"/>
              </a:rPr>
              <a:t>AI can only learn from what the chain shares: </a:t>
            </a:r>
            <a:pPr indent="0" marL="0">
              <a:buNone/>
            </a:pPr>
            <a:r>
              <a:rPr lang="en-US" sz="1300" dirty="0">
                <a:solidFill>
                  <a:srgbClr val="FFFFFF"/>
                </a:solidFill>
                <a:latin typeface="Montserrat" pitchFamily="34" charset="0"/>
                <a:ea typeface="Montserrat" pitchFamily="34" charset="-122"/>
                <a:cs typeface="Montserrat" pitchFamily="34" charset="-120"/>
              </a:rPr>
              <a:t>redistribution depends on cost, shelf life — and evidence you don't have yet.</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From data to decisions — live</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Integration pays off only when it changes a decision and an action</a:t>
            </a:r>
            <a:endParaRPr lang="en-US" sz="1300" dirty="0"/>
          </a:p>
        </p:txBody>
      </p:sp>
      <p:sp>
        <p:nvSpPr>
          <p:cNvPr id="5" name="Shape 2"/>
          <p:cNvSpPr/>
          <p:nvPr/>
        </p:nvSpPr>
        <p:spPr>
          <a:xfrm>
            <a:off x="548640" y="1783080"/>
            <a:ext cx="2615184" cy="2011680"/>
          </a:xfrm>
          <a:prstGeom prst="roundRect">
            <a:avLst>
              <a:gd name="adj" fmla="val 3636"/>
            </a:avLst>
          </a:prstGeom>
          <a:solidFill>
            <a:srgbClr val="F3F7FC"/>
          </a:solidFill>
          <a:ln/>
        </p:spPr>
      </p:sp>
      <p:sp>
        <p:nvSpPr>
          <p:cNvPr id="6" name="Shape 3"/>
          <p:cNvSpPr/>
          <p:nvPr/>
        </p:nvSpPr>
        <p:spPr>
          <a:xfrm>
            <a:off x="749808" y="1947672"/>
            <a:ext cx="502920" cy="502920"/>
          </a:xfrm>
          <a:prstGeom prst="ellipse">
            <a:avLst/>
          </a:prstGeom>
          <a:solidFill>
            <a:srgbClr val="D9E8F8"/>
          </a:solidFill>
          <a:ln/>
        </p:spPr>
      </p:sp>
      <p:pic>
        <p:nvPicPr>
          <p:cNvPr id="7" name="Image 0" descr="preencoded.png">    </p:cNvPr>
          <p:cNvPicPr>
            <a:picLocks noChangeAspect="1"/>
          </p:cNvPicPr>
          <p:nvPr/>
        </p:nvPicPr>
        <p:blipFill>
          <a:blip r:embed="rId1"/>
          <a:stretch>
            <a:fillRect/>
          </a:stretch>
        </p:blipFill>
        <p:spPr>
          <a:xfrm>
            <a:off x="850392" y="2048256"/>
            <a:ext cx="301752" cy="301752"/>
          </a:xfrm>
          <a:prstGeom prst="rect">
            <a:avLst/>
          </a:prstGeom>
        </p:spPr>
      </p:pic>
      <p:sp>
        <p:nvSpPr>
          <p:cNvPr id="8" name="Text 4"/>
          <p:cNvSpPr txBox="1"/>
          <p:nvPr/>
        </p:nvSpPr>
        <p:spPr>
          <a:xfrm>
            <a:off x="749808" y="2560320"/>
            <a:ext cx="2286000" cy="365760"/>
          </a:xfrm>
          <a:prstGeom prst="rect">
            <a:avLst/>
          </a:prstGeom>
          <a:noFill/>
          <a:ln/>
        </p:spPr>
        <p:txBody>
          <a:bodyPr wrap="square" lIns="0" tIns="0" rIns="0" bIns="0" rtlCol="0" anchor="t"/>
          <a:lstStyle/>
          <a:p>
            <a:pPr indent="0" marL="0">
              <a:buNone/>
            </a:pPr>
            <a:r>
              <a:rPr lang="en-US" sz="1350" b="1" dirty="0">
                <a:solidFill>
                  <a:srgbClr val="0F1341"/>
                </a:solidFill>
                <a:latin typeface="Montserrat" pitchFamily="34" charset="0"/>
                <a:ea typeface="Montserrat" pitchFamily="34" charset="-122"/>
                <a:cs typeface="Montserrat" pitchFamily="34" charset="-120"/>
              </a:rPr>
              <a:t>Demand forecasting</a:t>
            </a:r>
            <a:endParaRPr lang="en-US" sz="1350" dirty="0"/>
          </a:p>
        </p:txBody>
      </p:sp>
      <p:sp>
        <p:nvSpPr>
          <p:cNvPr id="9" name="Text 5"/>
          <p:cNvSpPr txBox="1"/>
          <p:nvPr/>
        </p:nvSpPr>
        <p:spPr>
          <a:xfrm>
            <a:off x="749808" y="2907792"/>
            <a:ext cx="2286000" cy="502920"/>
          </a:xfrm>
          <a:prstGeom prst="rect">
            <a:avLst/>
          </a:prstGeom>
          <a:noFill/>
          <a:ln/>
        </p:spPr>
        <p:txBody>
          <a:bodyPr wrap="square" lIns="0" tIns="0" rIns="0" bIns="0" rtlCol="0" anchor="t"/>
          <a:lstStyle/>
          <a:p>
            <a:pPr indent="0" marL="0">
              <a:buNone/>
            </a:pPr>
            <a:r>
              <a:rPr lang="en-US" sz="1100" dirty="0">
                <a:solidFill>
                  <a:srgbClr val="5B6270"/>
                </a:solidFill>
                <a:latin typeface="Montserrat" pitchFamily="34" charset="0"/>
                <a:ea typeface="Montserrat" pitchFamily="34" charset="-122"/>
                <a:cs typeface="Montserrat" pitchFamily="34" charset="-120"/>
              </a:rPr>
              <a:t>Regional demand from history, seasonality, external factors</a:t>
            </a:r>
            <a:endParaRPr lang="en-US" sz="1100" dirty="0"/>
          </a:p>
        </p:txBody>
      </p:sp>
      <p:sp>
        <p:nvSpPr>
          <p:cNvPr id="10" name="Text 6"/>
          <p:cNvSpPr txBox="1"/>
          <p:nvPr/>
        </p:nvSpPr>
        <p:spPr>
          <a:xfrm>
            <a:off x="749808" y="3456432"/>
            <a:ext cx="2286000" cy="256032"/>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KPI · FORECAST ERROR</a:t>
            </a:r>
            <a:endParaRPr lang="en-US" sz="900" dirty="0"/>
          </a:p>
        </p:txBody>
      </p:sp>
      <p:sp>
        <p:nvSpPr>
          <p:cNvPr id="11" name="Shape 7"/>
          <p:cNvSpPr/>
          <p:nvPr/>
        </p:nvSpPr>
        <p:spPr>
          <a:xfrm>
            <a:off x="3374136" y="1783080"/>
            <a:ext cx="2615184" cy="2011680"/>
          </a:xfrm>
          <a:prstGeom prst="roundRect">
            <a:avLst>
              <a:gd name="adj" fmla="val 3636"/>
            </a:avLst>
          </a:prstGeom>
          <a:solidFill>
            <a:srgbClr val="F3F7FC"/>
          </a:solidFill>
          <a:ln/>
        </p:spPr>
      </p:sp>
      <p:sp>
        <p:nvSpPr>
          <p:cNvPr id="12" name="Shape 8"/>
          <p:cNvSpPr/>
          <p:nvPr/>
        </p:nvSpPr>
        <p:spPr>
          <a:xfrm>
            <a:off x="3575304" y="1947672"/>
            <a:ext cx="502920" cy="502920"/>
          </a:xfrm>
          <a:prstGeom prst="ellipse">
            <a:avLst/>
          </a:prstGeom>
          <a:solidFill>
            <a:srgbClr val="D9E8F8"/>
          </a:solidFill>
          <a:ln/>
        </p:spPr>
      </p:sp>
      <p:pic>
        <p:nvPicPr>
          <p:cNvPr id="13" name="Image 1" descr="preencoded.png">    </p:cNvPr>
          <p:cNvPicPr>
            <a:picLocks noChangeAspect="1"/>
          </p:cNvPicPr>
          <p:nvPr/>
        </p:nvPicPr>
        <p:blipFill>
          <a:blip r:embed="rId2"/>
          <a:stretch>
            <a:fillRect/>
          </a:stretch>
        </p:blipFill>
        <p:spPr>
          <a:xfrm>
            <a:off x="3675888" y="2048256"/>
            <a:ext cx="301752" cy="301752"/>
          </a:xfrm>
          <a:prstGeom prst="rect">
            <a:avLst/>
          </a:prstGeom>
        </p:spPr>
      </p:pic>
      <p:sp>
        <p:nvSpPr>
          <p:cNvPr id="14" name="Text 9"/>
          <p:cNvSpPr txBox="1"/>
          <p:nvPr/>
        </p:nvSpPr>
        <p:spPr>
          <a:xfrm>
            <a:off x="3575304" y="2560320"/>
            <a:ext cx="2286000" cy="365760"/>
          </a:xfrm>
          <a:prstGeom prst="rect">
            <a:avLst/>
          </a:prstGeom>
          <a:noFill/>
          <a:ln/>
        </p:spPr>
        <p:txBody>
          <a:bodyPr wrap="square" lIns="0" tIns="0" rIns="0" bIns="0" rtlCol="0" anchor="t"/>
          <a:lstStyle/>
          <a:p>
            <a:pPr indent="0" marL="0">
              <a:buNone/>
            </a:pPr>
            <a:r>
              <a:rPr lang="en-US" sz="1350" b="1" dirty="0">
                <a:solidFill>
                  <a:srgbClr val="0F1341"/>
                </a:solidFill>
                <a:latin typeface="Montserrat" pitchFamily="34" charset="0"/>
                <a:ea typeface="Montserrat" pitchFamily="34" charset="-122"/>
                <a:cs typeface="Montserrat" pitchFamily="34" charset="-120"/>
              </a:rPr>
              <a:t>Inventory optimisation</a:t>
            </a:r>
            <a:endParaRPr lang="en-US" sz="1350" dirty="0"/>
          </a:p>
        </p:txBody>
      </p:sp>
      <p:sp>
        <p:nvSpPr>
          <p:cNvPr id="15" name="Text 10"/>
          <p:cNvSpPr txBox="1"/>
          <p:nvPr/>
        </p:nvSpPr>
        <p:spPr>
          <a:xfrm>
            <a:off x="3575304" y="2907792"/>
            <a:ext cx="2286000" cy="502920"/>
          </a:xfrm>
          <a:prstGeom prst="rect">
            <a:avLst/>
          </a:prstGeom>
          <a:noFill/>
          <a:ln/>
        </p:spPr>
        <p:txBody>
          <a:bodyPr wrap="square" lIns="0" tIns="0" rIns="0" bIns="0" rtlCol="0" anchor="t"/>
          <a:lstStyle/>
          <a:p>
            <a:pPr indent="0" marL="0">
              <a:buNone/>
            </a:pPr>
            <a:r>
              <a:rPr lang="en-US" sz="1100" dirty="0">
                <a:solidFill>
                  <a:srgbClr val="5B6270"/>
                </a:solidFill>
                <a:latin typeface="Montserrat" pitchFamily="34" charset="0"/>
                <a:ea typeface="Montserrat" pitchFamily="34" charset="-122"/>
                <a:cs typeface="Montserrat" pitchFamily="34" charset="-120"/>
              </a:rPr>
              <a:t>Detect imbalances, recommend redistribution</a:t>
            </a:r>
            <a:endParaRPr lang="en-US" sz="1100" dirty="0"/>
          </a:p>
        </p:txBody>
      </p:sp>
      <p:sp>
        <p:nvSpPr>
          <p:cNvPr id="16" name="Text 11"/>
          <p:cNvSpPr txBox="1"/>
          <p:nvPr/>
        </p:nvSpPr>
        <p:spPr>
          <a:xfrm>
            <a:off x="3575304" y="3456432"/>
            <a:ext cx="2286000" cy="256032"/>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KPI · STOCKOUT RATE</a:t>
            </a:r>
            <a:endParaRPr lang="en-US" sz="900" dirty="0"/>
          </a:p>
        </p:txBody>
      </p:sp>
      <p:sp>
        <p:nvSpPr>
          <p:cNvPr id="17" name="Shape 12"/>
          <p:cNvSpPr/>
          <p:nvPr/>
        </p:nvSpPr>
        <p:spPr>
          <a:xfrm>
            <a:off x="6199632" y="1783080"/>
            <a:ext cx="2615184" cy="2011680"/>
          </a:xfrm>
          <a:prstGeom prst="roundRect">
            <a:avLst>
              <a:gd name="adj" fmla="val 3636"/>
            </a:avLst>
          </a:prstGeom>
          <a:solidFill>
            <a:srgbClr val="F3F7FC"/>
          </a:solidFill>
          <a:ln/>
        </p:spPr>
      </p:sp>
      <p:sp>
        <p:nvSpPr>
          <p:cNvPr id="18" name="Shape 13"/>
          <p:cNvSpPr/>
          <p:nvPr/>
        </p:nvSpPr>
        <p:spPr>
          <a:xfrm>
            <a:off x="6400800" y="1947672"/>
            <a:ext cx="502920" cy="502920"/>
          </a:xfrm>
          <a:prstGeom prst="ellipse">
            <a:avLst/>
          </a:prstGeom>
          <a:solidFill>
            <a:srgbClr val="D9E8F8"/>
          </a:solidFill>
          <a:ln/>
        </p:spPr>
      </p:sp>
      <p:pic>
        <p:nvPicPr>
          <p:cNvPr id="19" name="Image 2" descr="preencoded.png">    </p:cNvPr>
          <p:cNvPicPr>
            <a:picLocks noChangeAspect="1"/>
          </p:cNvPicPr>
          <p:nvPr/>
        </p:nvPicPr>
        <p:blipFill>
          <a:blip r:embed="rId3"/>
          <a:stretch>
            <a:fillRect/>
          </a:stretch>
        </p:blipFill>
        <p:spPr>
          <a:xfrm>
            <a:off x="6501384" y="2048256"/>
            <a:ext cx="301752" cy="301752"/>
          </a:xfrm>
          <a:prstGeom prst="rect">
            <a:avLst/>
          </a:prstGeom>
        </p:spPr>
      </p:pic>
      <p:sp>
        <p:nvSpPr>
          <p:cNvPr id="20" name="Text 14"/>
          <p:cNvSpPr txBox="1"/>
          <p:nvPr/>
        </p:nvSpPr>
        <p:spPr>
          <a:xfrm>
            <a:off x="6400800" y="2560320"/>
            <a:ext cx="2286000" cy="365760"/>
          </a:xfrm>
          <a:prstGeom prst="rect">
            <a:avLst/>
          </a:prstGeom>
          <a:noFill/>
          <a:ln/>
        </p:spPr>
        <p:txBody>
          <a:bodyPr wrap="square" lIns="0" tIns="0" rIns="0" bIns="0" rtlCol="0" anchor="t"/>
          <a:lstStyle/>
          <a:p>
            <a:pPr indent="0" marL="0">
              <a:buNone/>
            </a:pPr>
            <a:r>
              <a:rPr lang="en-US" sz="1350" b="1" dirty="0">
                <a:solidFill>
                  <a:srgbClr val="0F1341"/>
                </a:solidFill>
                <a:latin typeface="Montserrat" pitchFamily="34" charset="0"/>
                <a:ea typeface="Montserrat" pitchFamily="34" charset="-122"/>
                <a:cs typeface="Montserrat" pitchFamily="34" charset="-120"/>
              </a:rPr>
              <a:t>Customer intelligence</a:t>
            </a:r>
            <a:endParaRPr lang="en-US" sz="1350" dirty="0"/>
          </a:p>
        </p:txBody>
      </p:sp>
      <p:sp>
        <p:nvSpPr>
          <p:cNvPr id="21" name="Text 15"/>
          <p:cNvSpPr txBox="1"/>
          <p:nvPr/>
        </p:nvSpPr>
        <p:spPr>
          <a:xfrm>
            <a:off x="6400800" y="2907792"/>
            <a:ext cx="2286000" cy="502920"/>
          </a:xfrm>
          <a:prstGeom prst="rect">
            <a:avLst/>
          </a:prstGeom>
          <a:noFill/>
          <a:ln/>
        </p:spPr>
        <p:txBody>
          <a:bodyPr wrap="square" lIns="0" tIns="0" rIns="0" bIns="0" rtlCol="0" anchor="t"/>
          <a:lstStyle/>
          <a:p>
            <a:pPr indent="0" marL="0">
              <a:buNone/>
            </a:pPr>
            <a:r>
              <a:rPr lang="en-US" sz="1100" dirty="0">
                <a:solidFill>
                  <a:srgbClr val="5B6270"/>
                </a:solidFill>
                <a:latin typeface="Montserrat" pitchFamily="34" charset="0"/>
                <a:ea typeface="Montserrat" pitchFamily="34" charset="-122"/>
                <a:cs typeface="Montserrat" pitchFamily="34" charset="-120"/>
              </a:rPr>
              <a:t>Buying behaviour across channels and regions</a:t>
            </a:r>
            <a:endParaRPr lang="en-US" sz="1100" dirty="0"/>
          </a:p>
        </p:txBody>
      </p:sp>
      <p:sp>
        <p:nvSpPr>
          <p:cNvPr id="22" name="Text 16"/>
          <p:cNvSpPr txBox="1"/>
          <p:nvPr/>
        </p:nvSpPr>
        <p:spPr>
          <a:xfrm>
            <a:off x="6400800" y="3456432"/>
            <a:ext cx="2286000" cy="256032"/>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KPI · REPEAT PURCHASE</a:t>
            </a:r>
            <a:endParaRPr lang="en-US" sz="900" dirty="0"/>
          </a:p>
        </p:txBody>
      </p:sp>
      <p:sp>
        <p:nvSpPr>
          <p:cNvPr id="23" name="Shape 17"/>
          <p:cNvSpPr/>
          <p:nvPr/>
        </p:nvSpPr>
        <p:spPr>
          <a:xfrm>
            <a:off x="9025128" y="1783080"/>
            <a:ext cx="2615184" cy="2011680"/>
          </a:xfrm>
          <a:prstGeom prst="roundRect">
            <a:avLst>
              <a:gd name="adj" fmla="val 3636"/>
            </a:avLst>
          </a:prstGeom>
          <a:solidFill>
            <a:srgbClr val="F3F7FC"/>
          </a:solidFill>
          <a:ln/>
        </p:spPr>
      </p:sp>
      <p:sp>
        <p:nvSpPr>
          <p:cNvPr id="24" name="Shape 18"/>
          <p:cNvSpPr/>
          <p:nvPr/>
        </p:nvSpPr>
        <p:spPr>
          <a:xfrm>
            <a:off x="9226296" y="1947672"/>
            <a:ext cx="502920" cy="502920"/>
          </a:xfrm>
          <a:prstGeom prst="ellipse">
            <a:avLst/>
          </a:prstGeom>
          <a:solidFill>
            <a:srgbClr val="D9E8F8"/>
          </a:solidFill>
          <a:ln/>
        </p:spPr>
      </p:sp>
      <p:pic>
        <p:nvPicPr>
          <p:cNvPr id="25" name="Image 3" descr="preencoded.png">    </p:cNvPr>
          <p:cNvPicPr>
            <a:picLocks noChangeAspect="1"/>
          </p:cNvPicPr>
          <p:nvPr/>
        </p:nvPicPr>
        <p:blipFill>
          <a:blip r:embed="rId4"/>
          <a:stretch>
            <a:fillRect/>
          </a:stretch>
        </p:blipFill>
        <p:spPr>
          <a:xfrm>
            <a:off x="9326880" y="2048256"/>
            <a:ext cx="301752" cy="301752"/>
          </a:xfrm>
          <a:prstGeom prst="rect">
            <a:avLst/>
          </a:prstGeom>
        </p:spPr>
      </p:pic>
      <p:sp>
        <p:nvSpPr>
          <p:cNvPr id="26" name="Text 19"/>
          <p:cNvSpPr txBox="1"/>
          <p:nvPr/>
        </p:nvSpPr>
        <p:spPr>
          <a:xfrm>
            <a:off x="9226296" y="2560320"/>
            <a:ext cx="2286000" cy="365760"/>
          </a:xfrm>
          <a:prstGeom prst="rect">
            <a:avLst/>
          </a:prstGeom>
          <a:noFill/>
          <a:ln/>
        </p:spPr>
        <p:txBody>
          <a:bodyPr wrap="square" lIns="0" tIns="0" rIns="0" bIns="0" rtlCol="0" anchor="t"/>
          <a:lstStyle/>
          <a:p>
            <a:pPr indent="0" marL="0">
              <a:buNone/>
            </a:pPr>
            <a:r>
              <a:rPr lang="en-US" sz="1350" b="1" dirty="0">
                <a:solidFill>
                  <a:srgbClr val="0F1341"/>
                </a:solidFill>
                <a:latin typeface="Montserrat" pitchFamily="34" charset="0"/>
                <a:ea typeface="Montserrat" pitchFamily="34" charset="-122"/>
                <a:cs typeface="Montserrat" pitchFamily="34" charset="-120"/>
              </a:rPr>
              <a:t>Next-best action</a:t>
            </a:r>
            <a:endParaRPr lang="en-US" sz="1350" dirty="0"/>
          </a:p>
        </p:txBody>
      </p:sp>
      <p:sp>
        <p:nvSpPr>
          <p:cNvPr id="27" name="Text 20"/>
          <p:cNvSpPr txBox="1"/>
          <p:nvPr/>
        </p:nvSpPr>
        <p:spPr>
          <a:xfrm>
            <a:off x="9226296" y="2907792"/>
            <a:ext cx="2286000" cy="502920"/>
          </a:xfrm>
          <a:prstGeom prst="rect">
            <a:avLst/>
          </a:prstGeom>
          <a:noFill/>
          <a:ln/>
        </p:spPr>
        <p:txBody>
          <a:bodyPr wrap="square" lIns="0" tIns="0" rIns="0" bIns="0" rtlCol="0" anchor="t"/>
          <a:lstStyle/>
          <a:p>
            <a:pPr indent="0" marL="0">
              <a:buNone/>
            </a:pPr>
            <a:r>
              <a:rPr lang="en-US" sz="1100" dirty="0">
                <a:solidFill>
                  <a:srgbClr val="5B6270"/>
                </a:solidFill>
                <a:latin typeface="Montserrat" pitchFamily="34" charset="0"/>
                <a:ea typeface="Montserrat" pitchFamily="34" charset="-122"/>
                <a:cs typeface="Montserrat" pitchFamily="34" charset="-120"/>
              </a:rPr>
              <a:t>Campaign, assortment change or distributor action</a:t>
            </a:r>
            <a:endParaRPr lang="en-US" sz="1100" dirty="0"/>
          </a:p>
        </p:txBody>
      </p:sp>
      <p:sp>
        <p:nvSpPr>
          <p:cNvPr id="28" name="Text 21"/>
          <p:cNvSpPr txBox="1"/>
          <p:nvPr/>
        </p:nvSpPr>
        <p:spPr>
          <a:xfrm>
            <a:off x="9226296" y="3456432"/>
            <a:ext cx="2286000" cy="256032"/>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KPI · INCREMENTAL REVENUE</a:t>
            </a:r>
            <a:endParaRPr lang="en-US" sz="900" dirty="0"/>
          </a:p>
        </p:txBody>
      </p:sp>
      <p:sp>
        <p:nvSpPr>
          <p:cNvPr id="29" name="Shape 22"/>
          <p:cNvSpPr/>
          <p:nvPr/>
        </p:nvSpPr>
        <p:spPr>
          <a:xfrm>
            <a:off x="548640" y="4069080"/>
            <a:ext cx="4206240" cy="274320"/>
          </a:xfrm>
          <a:prstGeom prst="roundRect">
            <a:avLst>
              <a:gd name="adj" fmla="val 26667"/>
            </a:avLst>
          </a:prstGeom>
          <a:solidFill>
            <a:srgbClr val="2E6FBF"/>
          </a:solidFill>
          <a:ln/>
        </p:spPr>
      </p:sp>
      <p:sp>
        <p:nvSpPr>
          <p:cNvPr id="30" name="Text 23"/>
          <p:cNvSpPr txBox="1"/>
          <p:nvPr/>
        </p:nvSpPr>
        <p:spPr>
          <a:xfrm>
            <a:off x="548640" y="4069080"/>
            <a:ext cx="420624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LIVE DEMO  ·  CLAUDE CODE  ·  CHANNEL INTELLIGENCE</a:t>
            </a:r>
            <a:endParaRPr lang="en-US" sz="900" dirty="0"/>
          </a:p>
        </p:txBody>
      </p:sp>
      <p:sp>
        <p:nvSpPr>
          <p:cNvPr id="31" name="Text 24"/>
          <p:cNvSpPr txBox="1"/>
          <p:nvPr/>
        </p:nvSpPr>
        <p:spPr>
          <a:xfrm>
            <a:off x="548640" y="4480560"/>
            <a:ext cx="5394960" cy="1188720"/>
          </a:xfrm>
          <a:prstGeom prst="rect">
            <a:avLst/>
          </a:prstGeom>
          <a:noFill/>
          <a:ln/>
        </p:spPr>
        <p:txBody>
          <a:bodyPr wrap="square" lIns="0" tIns="0" rIns="0" bIns="0" rtlCol="0" anchor="t"/>
          <a:lstStyle/>
          <a:p>
            <a:pPr indent="0" marL="0">
              <a:buNone/>
            </a:pPr>
            <a:r>
              <a:rPr lang="en-US" sz="1300" dirty="0">
                <a:solidFill>
                  <a:srgbClr val="0F1341"/>
                </a:solidFill>
                <a:latin typeface="Montserrat" pitchFamily="34" charset="0"/>
                <a:ea typeface="Montserrat" pitchFamily="34" charset="-122"/>
                <a:cs typeface="Montserrat" pitchFamily="34" charset="-120"/>
              </a:rPr>
              <a:t>You choose the new input: a third region, last year's demand, returns or a promotion calendar. Claude Code adds it to the prepared app — the dashboard recalculates and a new recommendation appears.</a:t>
            </a:r>
            <a:endParaRPr lang="en-US" sz="1300" dirty="0"/>
          </a:p>
        </p:txBody>
      </p:sp>
      <p:sp>
        <p:nvSpPr>
          <p:cNvPr id="32" name="Shape 25"/>
          <p:cNvSpPr/>
          <p:nvPr/>
        </p:nvSpPr>
        <p:spPr>
          <a:xfrm>
            <a:off x="6263640" y="4069080"/>
            <a:ext cx="5376672" cy="1645920"/>
          </a:xfrm>
          <a:prstGeom prst="roundRect">
            <a:avLst>
              <a:gd name="adj" fmla="val 4444"/>
            </a:avLst>
          </a:prstGeom>
          <a:solidFill>
            <a:srgbClr val="0F1341"/>
          </a:solidFill>
          <a:ln/>
        </p:spPr>
      </p:sp>
      <p:sp>
        <p:nvSpPr>
          <p:cNvPr id="33" name="Text 26"/>
          <p:cNvSpPr txBox="1"/>
          <p:nvPr/>
        </p:nvSpPr>
        <p:spPr>
          <a:xfrm>
            <a:off x="6492240" y="4187952"/>
            <a:ext cx="4572000" cy="274320"/>
          </a:xfrm>
          <a:prstGeom prst="rect">
            <a:avLst/>
          </a:prstGeom>
          <a:noFill/>
          <a:ln/>
        </p:spPr>
        <p:txBody>
          <a:bodyPr wrap="square" lIns="0" tIns="0" rIns="0" bIns="0" rtlCol="0" anchor="t"/>
          <a:lstStyle/>
          <a:p>
            <a:pPr indent="0" marL="0">
              <a:buNone/>
            </a:pPr>
            <a:r>
              <a:rPr lang="en-US" sz="1000" b="1" spc="100" kern="0" dirty="0">
                <a:solidFill>
                  <a:srgbClr val="4A8FDB"/>
                </a:solidFill>
                <a:latin typeface="Montserrat" pitchFamily="34" charset="0"/>
                <a:ea typeface="Montserrat" pitchFamily="34" charset="-122"/>
                <a:cs typeface="Montserrat" pitchFamily="34" charset="-120"/>
              </a:rPr>
              <a:t>AI RECOMMENDATION</a:t>
            </a:r>
            <a:endParaRPr lang="en-US" sz="1000" dirty="0"/>
          </a:p>
        </p:txBody>
      </p:sp>
      <p:sp>
        <p:nvSpPr>
          <p:cNvPr id="34" name="Text 27"/>
          <p:cNvSpPr txBox="1"/>
          <p:nvPr/>
        </p:nvSpPr>
        <p:spPr>
          <a:xfrm>
            <a:off x="6492240" y="4480560"/>
            <a:ext cx="4937760" cy="640080"/>
          </a:xfrm>
          <a:prstGeom prst="rect">
            <a:avLst/>
          </a:prstGeom>
          <a:noFill/>
          <a:ln/>
        </p:spPr>
        <p:txBody>
          <a:bodyPr wrap="square" lIns="0" tIns="0" rIns="0" bIns="0" rtlCol="0" anchor="t"/>
          <a:lstStyle/>
          <a:p>
            <a:pPr indent="0" marL="0">
              <a:buNone/>
            </a:pPr>
            <a:r>
              <a:rPr lang="en-US" sz="1300" dirty="0">
                <a:solidFill>
                  <a:srgbClr val="FFFFFF"/>
                </a:solidFill>
                <a:latin typeface="Montserrat" pitchFamily="34" charset="0"/>
                <a:ea typeface="Montserrat" pitchFamily="34" charset="-122"/>
                <a:cs typeface="Montserrat" pitchFamily="34" charset="-120"/>
              </a:rPr>
              <a:t>Investigate excess stock in North and stockout risk in South before deciding on replenishment.</a:t>
            </a:r>
            <a:endParaRPr lang="en-US" sz="1300" dirty="0"/>
          </a:p>
        </p:txBody>
      </p:sp>
      <p:sp>
        <p:nvSpPr>
          <p:cNvPr id="35" name="Text 28"/>
          <p:cNvSpPr txBox="1"/>
          <p:nvPr/>
        </p:nvSpPr>
        <p:spPr>
          <a:xfrm>
            <a:off x="6492240" y="5212080"/>
            <a:ext cx="4937760" cy="320040"/>
          </a:xfrm>
          <a:prstGeom prst="rect">
            <a:avLst/>
          </a:prstGeom>
          <a:noFill/>
          <a:ln/>
        </p:spPr>
        <p:txBody>
          <a:bodyPr wrap="square" lIns="0" tIns="0" rIns="0" bIns="0" rtlCol="0" anchor="t"/>
          <a:lstStyle/>
          <a:p>
            <a:pPr indent="0" marL="0">
              <a:buNone/>
            </a:pPr>
            <a:r>
              <a:rPr lang="en-US" sz="1200" b="1" dirty="0">
                <a:solidFill>
                  <a:srgbClr val="C9D3E3"/>
                </a:solidFill>
                <a:latin typeface="Montserrat" pitchFamily="34" charset="0"/>
                <a:ea typeface="Montserrat" pitchFamily="34" charset="-122"/>
                <a:cs typeface="Montserrat" pitchFamily="34" charset="-120"/>
              </a:rPr>
              <a:t>1,300 shipped  ·  690 sold  ·  610 remaining</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Five AI engines along the value chain</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Each engine produces data for the customer intelligence layer — three kinds of evidence, one ledger</a:t>
            </a:r>
            <a:endParaRPr lang="en-US" sz="1300" dirty="0"/>
          </a:p>
        </p:txBody>
      </p:sp>
      <p:sp>
        <p:nvSpPr>
          <p:cNvPr id="5" name="Text 2"/>
          <p:cNvSpPr txBox="1"/>
          <p:nvPr/>
        </p:nvSpPr>
        <p:spPr>
          <a:xfrm>
            <a:off x="548640" y="1755648"/>
            <a:ext cx="3657600" cy="228600"/>
          </a:xfrm>
          <a:prstGeom prst="rect">
            <a:avLst/>
          </a:prstGeom>
          <a:noFill/>
          <a:ln/>
        </p:spPr>
        <p:txBody>
          <a:bodyPr wrap="square" lIns="0" tIns="0" rIns="0" bIns="0" rtlCol="0" anchor="t"/>
          <a:lstStyle/>
          <a:p>
            <a:pPr indent="0" marL="0">
              <a:buNone/>
            </a:pPr>
            <a:r>
              <a:rPr lang="en-US" sz="900" b="1" spc="100" kern="0" dirty="0">
                <a:solidFill>
                  <a:srgbClr val="8A93A3"/>
                </a:solidFill>
                <a:latin typeface="Montserrat" pitchFamily="34" charset="0"/>
                <a:ea typeface="Montserrat" pitchFamily="34" charset="-122"/>
                <a:cs typeface="Montserrat" pitchFamily="34" charset="-120"/>
              </a:rPr>
              <a:t>ENGINE  ·  AI MECHANISM</a:t>
            </a:r>
            <a:endParaRPr lang="en-US" sz="900" dirty="0"/>
          </a:p>
        </p:txBody>
      </p:sp>
      <p:sp>
        <p:nvSpPr>
          <p:cNvPr id="6" name="Text 3"/>
          <p:cNvSpPr txBox="1"/>
          <p:nvPr/>
        </p:nvSpPr>
        <p:spPr>
          <a:xfrm>
            <a:off x="4160520" y="1755648"/>
            <a:ext cx="3657600" cy="228600"/>
          </a:xfrm>
          <a:prstGeom prst="rect">
            <a:avLst/>
          </a:prstGeom>
          <a:noFill/>
          <a:ln/>
        </p:spPr>
        <p:txBody>
          <a:bodyPr wrap="square" lIns="0" tIns="0" rIns="0" bIns="0" rtlCol="0" anchor="t"/>
          <a:lstStyle/>
          <a:p>
            <a:pPr indent="0" marL="0">
              <a:buNone/>
            </a:pPr>
            <a:r>
              <a:rPr lang="en-US" sz="900" b="1" spc="100" kern="0" dirty="0">
                <a:solidFill>
                  <a:srgbClr val="8A93A3"/>
                </a:solidFill>
                <a:latin typeface="Montserrat" pitchFamily="34" charset="0"/>
                <a:ea typeface="Montserrat" pitchFamily="34" charset="-122"/>
                <a:cs typeface="Montserrat" pitchFamily="34" charset="-120"/>
              </a:rPr>
              <a:t>WHAT IT DOES</a:t>
            </a:r>
            <a:endParaRPr lang="en-US" sz="900" dirty="0"/>
          </a:p>
        </p:txBody>
      </p:sp>
      <p:sp>
        <p:nvSpPr>
          <p:cNvPr id="7" name="Text 4"/>
          <p:cNvSpPr txBox="1"/>
          <p:nvPr/>
        </p:nvSpPr>
        <p:spPr>
          <a:xfrm>
            <a:off x="8092440" y="1755648"/>
            <a:ext cx="356616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WHAT IT PRODUCES FOR THE CHAIN</a:t>
            </a:r>
            <a:endParaRPr lang="en-US" sz="900" dirty="0"/>
          </a:p>
        </p:txBody>
      </p:sp>
      <p:sp>
        <p:nvSpPr>
          <p:cNvPr id="8" name="Shape 5"/>
          <p:cNvSpPr/>
          <p:nvPr/>
        </p:nvSpPr>
        <p:spPr>
          <a:xfrm>
            <a:off x="548640" y="2029968"/>
            <a:ext cx="11091672" cy="676656"/>
          </a:xfrm>
          <a:prstGeom prst="roundRect">
            <a:avLst>
              <a:gd name="adj" fmla="val 10811"/>
            </a:avLst>
          </a:prstGeom>
          <a:solidFill>
            <a:srgbClr val="F3F7FC"/>
          </a:solidFill>
          <a:ln/>
        </p:spPr>
      </p:sp>
      <p:sp>
        <p:nvSpPr>
          <p:cNvPr id="9" name="Shape 6"/>
          <p:cNvSpPr/>
          <p:nvPr/>
        </p:nvSpPr>
        <p:spPr>
          <a:xfrm>
            <a:off x="685800" y="2157984"/>
            <a:ext cx="420624" cy="420624"/>
          </a:xfrm>
          <a:prstGeom prst="ellipse">
            <a:avLst/>
          </a:prstGeom>
          <a:solidFill>
            <a:srgbClr val="0F1341"/>
          </a:solidFill>
          <a:ln/>
        </p:spPr>
      </p:sp>
      <p:sp>
        <p:nvSpPr>
          <p:cNvPr id="10" name="Text 7"/>
          <p:cNvSpPr txBox="1"/>
          <p:nvPr/>
        </p:nvSpPr>
        <p:spPr>
          <a:xfrm>
            <a:off x="685800" y="2157984"/>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E4</a:t>
            </a:r>
            <a:endParaRPr lang="en-US" sz="1100" dirty="0"/>
          </a:p>
        </p:txBody>
      </p:sp>
      <p:sp>
        <p:nvSpPr>
          <p:cNvPr id="11" name="Text 8"/>
          <p:cNvSpPr txBox="1"/>
          <p:nvPr/>
        </p:nvSpPr>
        <p:spPr>
          <a:xfrm>
            <a:off x="1234440" y="2103120"/>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Context Engine</a:t>
            </a:r>
            <a:endParaRPr lang="en-US" sz="1300" dirty="0"/>
          </a:p>
        </p:txBody>
      </p:sp>
      <p:sp>
        <p:nvSpPr>
          <p:cNvPr id="12" name="Text 9"/>
          <p:cNvSpPr txBox="1"/>
          <p:nvPr/>
        </p:nvSpPr>
        <p:spPr>
          <a:xfrm>
            <a:off x="1234440" y="2414016"/>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LLM RESEARCH AGENT</a:t>
            </a:r>
            <a:endParaRPr lang="en-US" sz="900" dirty="0"/>
          </a:p>
        </p:txBody>
      </p:sp>
      <p:sp>
        <p:nvSpPr>
          <p:cNvPr id="13" name="Text 10"/>
          <p:cNvSpPr txBox="1"/>
          <p:nvPr/>
        </p:nvSpPr>
        <p:spPr>
          <a:xfrm>
            <a:off x="4160520" y="2029968"/>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Reads competitor sites, reviews, regulation and news — extracts only what sources state</a:t>
            </a:r>
            <a:endParaRPr lang="en-US" sz="1100" dirty="0"/>
          </a:p>
        </p:txBody>
      </p:sp>
      <p:sp>
        <p:nvSpPr>
          <p:cNvPr id="14" name="Text 11"/>
          <p:cNvSpPr txBox="1"/>
          <p:nvPr/>
        </p:nvSpPr>
        <p:spPr>
          <a:xfrm>
            <a:off x="8092440" y="2029968"/>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Competitor assortments, retail prices, reviews, regulation</a:t>
            </a:r>
            <a:endParaRPr lang="en-US" sz="1200" dirty="0"/>
          </a:p>
        </p:txBody>
      </p:sp>
      <p:sp>
        <p:nvSpPr>
          <p:cNvPr id="15" name="Shape 12"/>
          <p:cNvSpPr/>
          <p:nvPr/>
        </p:nvSpPr>
        <p:spPr>
          <a:xfrm>
            <a:off x="548640" y="2779776"/>
            <a:ext cx="11091672" cy="676656"/>
          </a:xfrm>
          <a:prstGeom prst="roundRect">
            <a:avLst>
              <a:gd name="adj" fmla="val 10811"/>
            </a:avLst>
          </a:prstGeom>
          <a:solidFill>
            <a:srgbClr val="F3F7FC"/>
          </a:solidFill>
          <a:ln/>
        </p:spPr>
      </p:sp>
      <p:sp>
        <p:nvSpPr>
          <p:cNvPr id="16" name="Shape 13"/>
          <p:cNvSpPr/>
          <p:nvPr/>
        </p:nvSpPr>
        <p:spPr>
          <a:xfrm>
            <a:off x="685800" y="2907792"/>
            <a:ext cx="420624" cy="420624"/>
          </a:xfrm>
          <a:prstGeom prst="ellipse">
            <a:avLst/>
          </a:prstGeom>
          <a:solidFill>
            <a:srgbClr val="0F1341"/>
          </a:solidFill>
          <a:ln/>
        </p:spPr>
      </p:sp>
      <p:sp>
        <p:nvSpPr>
          <p:cNvPr id="17" name="Text 14"/>
          <p:cNvSpPr txBox="1"/>
          <p:nvPr/>
        </p:nvSpPr>
        <p:spPr>
          <a:xfrm>
            <a:off x="685800" y="2907792"/>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E5</a:t>
            </a:r>
            <a:endParaRPr lang="en-US" sz="1100" dirty="0"/>
          </a:p>
        </p:txBody>
      </p:sp>
      <p:sp>
        <p:nvSpPr>
          <p:cNvPr id="18" name="Text 15"/>
          <p:cNvSpPr txBox="1"/>
          <p:nvPr/>
        </p:nvSpPr>
        <p:spPr>
          <a:xfrm>
            <a:off x="1234440" y="2852928"/>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Aggregate Research</a:t>
            </a:r>
            <a:endParaRPr lang="en-US" sz="1300" dirty="0"/>
          </a:p>
        </p:txBody>
      </p:sp>
      <p:sp>
        <p:nvSpPr>
          <p:cNvPr id="19" name="Text 16"/>
          <p:cNvSpPr txBox="1"/>
          <p:nvPr/>
        </p:nvSpPr>
        <p:spPr>
          <a:xfrm>
            <a:off x="1234440" y="3163824"/>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STATISTICAL AGENT</a:t>
            </a:r>
            <a:endParaRPr lang="en-US" sz="900" dirty="0"/>
          </a:p>
        </p:txBody>
      </p:sp>
      <p:sp>
        <p:nvSpPr>
          <p:cNvPr id="20" name="Text 17"/>
          <p:cNvSpPr txBox="1"/>
          <p:nvPr/>
        </p:nvSpPr>
        <p:spPr>
          <a:xfrm>
            <a:off x="4160520" y="2779776"/>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Official statistics, TAM / SAM / SOM — top-down and bottom-up</a:t>
            </a:r>
            <a:endParaRPr lang="en-US" sz="1100" dirty="0"/>
          </a:p>
        </p:txBody>
      </p:sp>
      <p:sp>
        <p:nvSpPr>
          <p:cNvPr id="21" name="Text 18"/>
          <p:cNvSpPr txBox="1"/>
          <p:nvPr/>
        </p:nvSpPr>
        <p:spPr>
          <a:xfrm>
            <a:off x="8092440" y="2779776"/>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Points of sale and consumers per region — the demand ceiling</a:t>
            </a:r>
            <a:endParaRPr lang="en-US" sz="1200" dirty="0"/>
          </a:p>
        </p:txBody>
      </p:sp>
      <p:sp>
        <p:nvSpPr>
          <p:cNvPr id="22" name="Shape 19"/>
          <p:cNvSpPr/>
          <p:nvPr/>
        </p:nvSpPr>
        <p:spPr>
          <a:xfrm>
            <a:off x="548640" y="3529584"/>
            <a:ext cx="11091672" cy="676656"/>
          </a:xfrm>
          <a:prstGeom prst="roundRect">
            <a:avLst>
              <a:gd name="adj" fmla="val 10811"/>
            </a:avLst>
          </a:prstGeom>
          <a:solidFill>
            <a:srgbClr val="F3F7FC"/>
          </a:solidFill>
          <a:ln/>
        </p:spPr>
      </p:sp>
      <p:sp>
        <p:nvSpPr>
          <p:cNvPr id="23" name="Shape 20"/>
          <p:cNvSpPr/>
          <p:nvPr/>
        </p:nvSpPr>
        <p:spPr>
          <a:xfrm>
            <a:off x="685800" y="3657600"/>
            <a:ext cx="420624" cy="420624"/>
          </a:xfrm>
          <a:prstGeom prst="ellipse">
            <a:avLst/>
          </a:prstGeom>
          <a:solidFill>
            <a:srgbClr val="0F1341"/>
          </a:solidFill>
          <a:ln/>
        </p:spPr>
      </p:sp>
      <p:sp>
        <p:nvSpPr>
          <p:cNvPr id="24" name="Text 21"/>
          <p:cNvSpPr txBox="1"/>
          <p:nvPr/>
        </p:nvSpPr>
        <p:spPr>
          <a:xfrm>
            <a:off x="685800" y="36576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E2</a:t>
            </a:r>
            <a:endParaRPr lang="en-US" sz="1100" dirty="0"/>
          </a:p>
        </p:txBody>
      </p:sp>
      <p:sp>
        <p:nvSpPr>
          <p:cNvPr id="25" name="Text 22"/>
          <p:cNvSpPr txBox="1"/>
          <p:nvPr/>
        </p:nvSpPr>
        <p:spPr>
          <a:xfrm>
            <a:off x="1234440" y="3602736"/>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Simulated Mind</a:t>
            </a:r>
            <a:endParaRPr lang="en-US" sz="1300" dirty="0"/>
          </a:p>
        </p:txBody>
      </p:sp>
      <p:sp>
        <p:nvSpPr>
          <p:cNvPr id="26" name="Text 23"/>
          <p:cNvSpPr txBox="1"/>
          <p:nvPr/>
        </p:nvSpPr>
        <p:spPr>
          <a:xfrm>
            <a:off x="1234440" y="3913632"/>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NEURO-AI MODEL</a:t>
            </a:r>
            <a:endParaRPr lang="en-US" sz="900" dirty="0"/>
          </a:p>
        </p:txBody>
      </p:sp>
      <p:sp>
        <p:nvSpPr>
          <p:cNvPr id="27" name="Text 24"/>
          <p:cNvSpPr txBox="1"/>
          <p:nvPr/>
        </p:nvSpPr>
        <p:spPr>
          <a:xfrm>
            <a:off x="4160520" y="3529584"/>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Predicts a segment's attention and valuation response to a message or price</a:t>
            </a:r>
            <a:endParaRPr lang="en-US" sz="1100" dirty="0"/>
          </a:p>
        </p:txBody>
      </p:sp>
      <p:sp>
        <p:nvSpPr>
          <p:cNvPr id="28" name="Text 25"/>
          <p:cNvSpPr txBox="1"/>
          <p:nvPr/>
        </p:nvSpPr>
        <p:spPr>
          <a:xfrm>
            <a:off x="8092440" y="3529584"/>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Consumer response to a pack, claim or price — before listing</a:t>
            </a:r>
            <a:endParaRPr lang="en-US" sz="1200" dirty="0"/>
          </a:p>
        </p:txBody>
      </p:sp>
      <p:sp>
        <p:nvSpPr>
          <p:cNvPr id="29" name="Shape 26"/>
          <p:cNvSpPr/>
          <p:nvPr/>
        </p:nvSpPr>
        <p:spPr>
          <a:xfrm>
            <a:off x="548640" y="4279392"/>
            <a:ext cx="11091672" cy="676656"/>
          </a:xfrm>
          <a:prstGeom prst="roundRect">
            <a:avLst>
              <a:gd name="adj" fmla="val 10811"/>
            </a:avLst>
          </a:prstGeom>
          <a:solidFill>
            <a:srgbClr val="F3F7FC"/>
          </a:solidFill>
          <a:ln/>
        </p:spPr>
      </p:sp>
      <p:sp>
        <p:nvSpPr>
          <p:cNvPr id="30" name="Shape 27"/>
          <p:cNvSpPr/>
          <p:nvPr/>
        </p:nvSpPr>
        <p:spPr>
          <a:xfrm>
            <a:off x="685800" y="4407408"/>
            <a:ext cx="420624" cy="420624"/>
          </a:xfrm>
          <a:prstGeom prst="ellipse">
            <a:avLst/>
          </a:prstGeom>
          <a:solidFill>
            <a:srgbClr val="0F1341"/>
          </a:solidFill>
          <a:ln/>
        </p:spPr>
      </p:sp>
      <p:sp>
        <p:nvSpPr>
          <p:cNvPr id="31" name="Text 28"/>
          <p:cNvSpPr txBox="1"/>
          <p:nvPr/>
        </p:nvSpPr>
        <p:spPr>
          <a:xfrm>
            <a:off x="685800" y="4407408"/>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E3</a:t>
            </a:r>
            <a:endParaRPr lang="en-US" sz="1100" dirty="0"/>
          </a:p>
        </p:txBody>
      </p:sp>
      <p:sp>
        <p:nvSpPr>
          <p:cNvPr id="32" name="Text 29"/>
          <p:cNvSpPr txBox="1"/>
          <p:nvPr/>
        </p:nvSpPr>
        <p:spPr>
          <a:xfrm>
            <a:off x="1234440" y="4352544"/>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Market World</a:t>
            </a:r>
            <a:endParaRPr lang="en-US" sz="1300" dirty="0"/>
          </a:p>
        </p:txBody>
      </p:sp>
      <p:sp>
        <p:nvSpPr>
          <p:cNvPr id="33" name="Text 30"/>
          <p:cNvSpPr txBox="1"/>
          <p:nvPr/>
        </p:nvSpPr>
        <p:spPr>
          <a:xfrm>
            <a:off x="1234440" y="4663440"/>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MULTI-AGENT SIMULATION</a:t>
            </a:r>
            <a:endParaRPr lang="en-US" sz="900" dirty="0"/>
          </a:p>
        </p:txBody>
      </p:sp>
      <p:sp>
        <p:nvSpPr>
          <p:cNvPr id="34" name="Text 31"/>
          <p:cNvSpPr txBox="1"/>
          <p:nvPr/>
        </p:nvSpPr>
        <p:spPr>
          <a:xfrm>
            <a:off x="4160520" y="4279392"/>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A synthetic market of buyer archetypes — trusted only once calibrated</a:t>
            </a:r>
            <a:endParaRPr lang="en-US" sz="1100" dirty="0"/>
          </a:p>
        </p:txBody>
      </p:sp>
      <p:sp>
        <p:nvSpPr>
          <p:cNvPr id="35" name="Text 32"/>
          <p:cNvSpPr txBox="1"/>
          <p:nvPr/>
        </p:nvSpPr>
        <p:spPr>
          <a:xfrm>
            <a:off x="8092440" y="4279392"/>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Simulated distributors, retailers, consumers — channel elasticity</a:t>
            </a:r>
            <a:endParaRPr lang="en-US" sz="1200" dirty="0"/>
          </a:p>
        </p:txBody>
      </p:sp>
      <p:sp>
        <p:nvSpPr>
          <p:cNvPr id="36" name="Shape 33"/>
          <p:cNvSpPr/>
          <p:nvPr/>
        </p:nvSpPr>
        <p:spPr>
          <a:xfrm>
            <a:off x="548640" y="5029200"/>
            <a:ext cx="11091672" cy="676656"/>
          </a:xfrm>
          <a:prstGeom prst="roundRect">
            <a:avLst>
              <a:gd name="adj" fmla="val 10811"/>
            </a:avLst>
          </a:prstGeom>
          <a:solidFill>
            <a:srgbClr val="D9E8F8"/>
          </a:solidFill>
          <a:ln/>
        </p:spPr>
      </p:sp>
      <p:sp>
        <p:nvSpPr>
          <p:cNvPr id="37" name="Shape 34"/>
          <p:cNvSpPr/>
          <p:nvPr/>
        </p:nvSpPr>
        <p:spPr>
          <a:xfrm>
            <a:off x="685800" y="5157216"/>
            <a:ext cx="420624" cy="420624"/>
          </a:xfrm>
          <a:prstGeom prst="ellipse">
            <a:avLst/>
          </a:prstGeom>
          <a:solidFill>
            <a:srgbClr val="2E6FBF"/>
          </a:solidFill>
          <a:ln/>
        </p:spPr>
      </p:sp>
      <p:sp>
        <p:nvSpPr>
          <p:cNvPr id="38" name="Text 35"/>
          <p:cNvSpPr txBox="1"/>
          <p:nvPr/>
        </p:nvSpPr>
        <p:spPr>
          <a:xfrm>
            <a:off x="685800" y="515721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E1</a:t>
            </a:r>
            <a:endParaRPr lang="en-US" sz="1100" dirty="0"/>
          </a:p>
        </p:txBody>
      </p:sp>
      <p:sp>
        <p:nvSpPr>
          <p:cNvPr id="39" name="Text 36"/>
          <p:cNvSpPr txBox="1"/>
          <p:nvPr/>
        </p:nvSpPr>
        <p:spPr>
          <a:xfrm>
            <a:off x="1234440" y="5102352"/>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Cold Email Engine</a:t>
            </a:r>
            <a:endParaRPr lang="en-US" sz="1300" dirty="0"/>
          </a:p>
        </p:txBody>
      </p:sp>
      <p:sp>
        <p:nvSpPr>
          <p:cNvPr id="40" name="Text 37"/>
          <p:cNvSpPr txBox="1"/>
          <p:nvPr/>
        </p:nvSpPr>
        <p:spPr>
          <a:xfrm>
            <a:off x="1234440" y="5413248"/>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AUTONOMOUS EXPERIMENT</a:t>
            </a:r>
            <a:endParaRPr lang="en-US" sz="900" dirty="0"/>
          </a:p>
        </p:txBody>
      </p:sp>
      <p:sp>
        <p:nvSpPr>
          <p:cNvPr id="41" name="Text 38"/>
          <p:cNvSpPr txBox="1"/>
          <p:nvPr/>
        </p:nvSpPr>
        <p:spPr>
          <a:xfrm>
            <a:off x="4160520" y="5029200"/>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Finds, writes, sends, classifies replies — real behaviour, measured</a:t>
            </a:r>
            <a:endParaRPr lang="en-US" sz="1100" dirty="0"/>
          </a:p>
        </p:txBody>
      </p:sp>
      <p:sp>
        <p:nvSpPr>
          <p:cNvPr id="42" name="Text 39"/>
          <p:cNvSpPr txBox="1"/>
          <p:nvPr/>
        </p:nvSpPr>
        <p:spPr>
          <a:xfrm>
            <a:off x="8092440" y="5029200"/>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Real reactions from trade partners to a new channel</a:t>
            </a:r>
            <a:endParaRPr lang="en-US" sz="1200" dirty="0"/>
          </a:p>
        </p:txBody>
      </p:sp>
      <p:sp>
        <p:nvSpPr>
          <p:cNvPr id="43" name="Shape 40"/>
          <p:cNvSpPr/>
          <p:nvPr/>
        </p:nvSpPr>
        <p:spPr>
          <a:xfrm>
            <a:off x="548640" y="5852160"/>
            <a:ext cx="11091672" cy="384048"/>
          </a:xfrm>
          <a:prstGeom prst="roundRect">
            <a:avLst>
              <a:gd name="adj" fmla="val 19048"/>
            </a:avLst>
          </a:prstGeom>
          <a:solidFill>
            <a:srgbClr val="0F1341"/>
          </a:solidFill>
          <a:ln/>
        </p:spPr>
      </p:sp>
      <p:sp>
        <p:nvSpPr>
          <p:cNvPr id="44" name="Text 41"/>
          <p:cNvSpPr txBox="1"/>
          <p:nvPr/>
        </p:nvSpPr>
        <p:spPr>
          <a:xfrm>
            <a:off x="777240" y="5852160"/>
            <a:ext cx="10698480" cy="384048"/>
          </a:xfrm>
          <a:prstGeom prst="rect">
            <a:avLst/>
          </a:prstGeom>
          <a:noFill/>
          <a:ln/>
        </p:spPr>
        <p:txBody>
          <a:bodyPr wrap="square" lIns="0" tIns="0" rIns="0" bIns="0" rtlCol="0" anchor="ctr"/>
          <a:lstStyle/>
          <a:p>
            <a:pPr indent="0" marL="0">
              <a:buNone/>
            </a:pPr>
            <a:r>
              <a:rPr lang="en-US" sz="1300" b="1" dirty="0">
                <a:solidFill>
                  <a:srgbClr val="4A8FDB"/>
                </a:solidFill>
                <a:latin typeface="Montserrat" pitchFamily="34" charset="0"/>
                <a:ea typeface="Montserrat" pitchFamily="34" charset="-122"/>
                <a:cs typeface="Montserrat" pitchFamily="34" charset="-120"/>
              </a:rPr>
              <a:t>Behaviour over opinion: </a:t>
            </a:r>
            <a:pPr indent="0" marL="0">
              <a:buNone/>
            </a:pPr>
            <a:r>
              <a:rPr lang="en-US" sz="1300" dirty="0">
                <a:solidFill>
                  <a:srgbClr val="FFFFFF"/>
                </a:solidFill>
                <a:latin typeface="Montserrat" pitchFamily="34" charset="0"/>
                <a:ea typeface="Montserrat" pitchFamily="34" charset="-122"/>
                <a:cs typeface="Montserrat" pitchFamily="34" charset="-120"/>
              </a:rPr>
              <a:t>a sell-out, a reorder or a partner's reply outweighs any forecast — and calibrates it.</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548640" y="502920"/>
            <a:ext cx="8412480" cy="777240"/>
          </a:xfrm>
          <a:prstGeom prst="rect">
            <a:avLst/>
          </a:prstGeom>
          <a:noFill/>
          <a:ln/>
        </p:spPr>
        <p:txBody>
          <a:bodyPr wrap="square" lIns="0" tIns="0" rIns="0" bIns="0" rtlCol="0" anchor="t"/>
          <a:lstStyle/>
          <a:p>
            <a:pPr algn="l" indent="0" marL="0">
              <a:buNone/>
            </a:pPr>
            <a:r>
              <a:rPr lang="en-US" sz="3000" b="1" dirty="0">
                <a:solidFill>
                  <a:srgbClr val="FFFFFF"/>
                </a:solidFill>
                <a:latin typeface="Montserrat" pitchFamily="34" charset="0"/>
                <a:ea typeface="Montserrat" pitchFamily="34" charset="-122"/>
                <a:cs typeface="Montserrat" pitchFamily="34" charset="-120"/>
              </a:rPr>
              <a:t>The AI CRM Challenge</a:t>
            </a:r>
            <a:endParaRPr lang="en-US" sz="3000" dirty="0"/>
          </a:p>
        </p:txBody>
      </p:sp>
      <p:sp>
        <p:nvSpPr>
          <p:cNvPr id="3" name="Text 0"/>
          <p:cNvSpPr/>
          <p:nvPr>
            <p:ph idx="102" type="body" hasCustomPrompt="1"/>
          </p:nvPr>
        </p:nvSpPr>
        <p:spPr>
          <a:xfrm>
            <a:off x="548640" y="1298448"/>
            <a:ext cx="9326880" cy="411480"/>
          </a:xfrm>
          <a:prstGeom prst="rect">
            <a:avLst/>
          </a:prstGeom>
          <a:noFill/>
          <a:ln/>
        </p:spPr>
        <p:txBody>
          <a:bodyPr wrap="square" lIns="0" tIns="0" rIns="0" bIns="0" rtlCol="0" anchor="t"/>
          <a:lstStyle/>
          <a:p>
            <a:pPr algn="l" indent="0" marL="0">
              <a:buNone/>
            </a:pPr>
            <a:r>
              <a:rPr lang="en-US" sz="1400" dirty="0">
                <a:solidFill>
                  <a:srgbClr val="C9D3E3"/>
                </a:solidFill>
                <a:latin typeface="Montserrat" pitchFamily="34" charset="0"/>
                <a:ea typeface="Montserrat" pitchFamily="34" charset="-122"/>
                <a:cs typeface="Montserrat" pitchFamily="34" charset="-120"/>
              </a:rPr>
              <a:t>Groups of 3–4, AI on your phone — find the gap, price it, recommend an action</a:t>
            </a:r>
            <a:endParaRPr lang="en-US" sz="1400" dirty="0"/>
          </a:p>
        </p:txBody>
      </p:sp>
      <p:sp>
        <p:nvSpPr>
          <p:cNvPr id="5" name="Shape 2"/>
          <p:cNvSpPr/>
          <p:nvPr/>
        </p:nvSpPr>
        <p:spPr>
          <a:xfrm>
            <a:off x="548640" y="2011680"/>
            <a:ext cx="2615184" cy="2331720"/>
          </a:xfrm>
          <a:prstGeom prst="roundRect">
            <a:avLst>
              <a:gd name="adj" fmla="val 3137"/>
            </a:avLst>
          </a:prstGeom>
          <a:solidFill>
            <a:srgbClr val="1B2156"/>
          </a:solidFill>
          <a:ln/>
        </p:spPr>
      </p:sp>
      <p:sp>
        <p:nvSpPr>
          <p:cNvPr id="6" name="Shape 3"/>
          <p:cNvSpPr/>
          <p:nvPr/>
        </p:nvSpPr>
        <p:spPr>
          <a:xfrm>
            <a:off x="731520" y="2194560"/>
            <a:ext cx="868680" cy="274320"/>
          </a:xfrm>
          <a:prstGeom prst="roundRect">
            <a:avLst>
              <a:gd name="adj" fmla="val 26667"/>
            </a:avLst>
          </a:prstGeom>
          <a:solidFill>
            <a:srgbClr val="4A8FDB"/>
          </a:solidFill>
          <a:ln/>
        </p:spPr>
      </p:sp>
      <p:sp>
        <p:nvSpPr>
          <p:cNvPr id="7" name="Text 4"/>
          <p:cNvSpPr txBox="1"/>
          <p:nvPr/>
        </p:nvSpPr>
        <p:spPr>
          <a:xfrm>
            <a:off x="731520" y="2194560"/>
            <a:ext cx="868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3 min</a:t>
            </a:r>
            <a:endParaRPr lang="en-US" sz="900" dirty="0"/>
          </a:p>
        </p:txBody>
      </p:sp>
      <p:sp>
        <p:nvSpPr>
          <p:cNvPr id="8" name="Text 5"/>
          <p:cNvSpPr txBox="1"/>
          <p:nvPr/>
        </p:nvSpPr>
        <p:spPr>
          <a:xfrm>
            <a:off x="731520" y="2606040"/>
            <a:ext cx="2249424"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Quantify</a:t>
            </a:r>
            <a:endParaRPr lang="en-US" sz="1800" dirty="0"/>
          </a:p>
        </p:txBody>
      </p:sp>
      <p:sp>
        <p:nvSpPr>
          <p:cNvPr id="9" name="Text 6"/>
          <p:cNvSpPr txBox="1"/>
          <p:nvPr/>
        </p:nvSpPr>
        <p:spPr>
          <a:xfrm>
            <a:off x="731520" y="3063240"/>
            <a:ext cx="2249424" cy="118872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The key information gap between manufacturer, distributor and consumer — the opportunity in €, tagged.</a:t>
            </a:r>
            <a:endParaRPr lang="en-US" sz="1200" dirty="0"/>
          </a:p>
        </p:txBody>
      </p:sp>
      <p:sp>
        <p:nvSpPr>
          <p:cNvPr id="10" name="Shape 7"/>
          <p:cNvSpPr/>
          <p:nvPr/>
        </p:nvSpPr>
        <p:spPr>
          <a:xfrm>
            <a:off x="3374136" y="2011680"/>
            <a:ext cx="2615184" cy="2331720"/>
          </a:xfrm>
          <a:prstGeom prst="roundRect">
            <a:avLst>
              <a:gd name="adj" fmla="val 3137"/>
            </a:avLst>
          </a:prstGeom>
          <a:solidFill>
            <a:srgbClr val="1B2156"/>
          </a:solidFill>
          <a:ln/>
        </p:spPr>
      </p:sp>
      <p:sp>
        <p:nvSpPr>
          <p:cNvPr id="11" name="Shape 8"/>
          <p:cNvSpPr/>
          <p:nvPr/>
        </p:nvSpPr>
        <p:spPr>
          <a:xfrm>
            <a:off x="3557016" y="2194560"/>
            <a:ext cx="868680" cy="274320"/>
          </a:xfrm>
          <a:prstGeom prst="roundRect">
            <a:avLst>
              <a:gd name="adj" fmla="val 26667"/>
            </a:avLst>
          </a:prstGeom>
          <a:solidFill>
            <a:srgbClr val="4A8FDB"/>
          </a:solidFill>
          <a:ln/>
        </p:spPr>
      </p:sp>
      <p:sp>
        <p:nvSpPr>
          <p:cNvPr id="12" name="Text 9"/>
          <p:cNvSpPr txBox="1"/>
          <p:nvPr/>
        </p:nvSpPr>
        <p:spPr>
          <a:xfrm>
            <a:off x="3557016" y="2194560"/>
            <a:ext cx="868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2 min</a:t>
            </a:r>
            <a:endParaRPr lang="en-US" sz="900" dirty="0"/>
          </a:p>
        </p:txBody>
      </p:sp>
      <p:sp>
        <p:nvSpPr>
          <p:cNvPr id="13" name="Text 10"/>
          <p:cNvSpPr txBox="1"/>
          <p:nvPr/>
        </p:nvSpPr>
        <p:spPr>
          <a:xfrm>
            <a:off x="3557016" y="2606040"/>
            <a:ext cx="2249424"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Develop</a:t>
            </a:r>
            <a:endParaRPr lang="en-US" sz="1800" dirty="0"/>
          </a:p>
        </p:txBody>
      </p:sp>
      <p:sp>
        <p:nvSpPr>
          <p:cNvPr id="14" name="Text 11"/>
          <p:cNvSpPr txBox="1"/>
          <p:nvPr/>
        </p:nvSpPr>
        <p:spPr>
          <a:xfrm>
            <a:off x="3557016" y="3063240"/>
            <a:ext cx="2249424" cy="118872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One operational or marketing action, with the actor who executes it.</a:t>
            </a:r>
            <a:endParaRPr lang="en-US" sz="1200" dirty="0"/>
          </a:p>
        </p:txBody>
      </p:sp>
      <p:sp>
        <p:nvSpPr>
          <p:cNvPr id="15" name="Shape 12"/>
          <p:cNvSpPr/>
          <p:nvPr/>
        </p:nvSpPr>
        <p:spPr>
          <a:xfrm>
            <a:off x="6199632" y="2011680"/>
            <a:ext cx="2615184" cy="2331720"/>
          </a:xfrm>
          <a:prstGeom prst="roundRect">
            <a:avLst>
              <a:gd name="adj" fmla="val 3137"/>
            </a:avLst>
          </a:prstGeom>
          <a:solidFill>
            <a:srgbClr val="1B2156"/>
          </a:solidFill>
          <a:ln/>
        </p:spPr>
      </p:sp>
      <p:sp>
        <p:nvSpPr>
          <p:cNvPr id="16" name="Shape 13"/>
          <p:cNvSpPr/>
          <p:nvPr/>
        </p:nvSpPr>
        <p:spPr>
          <a:xfrm>
            <a:off x="6382512" y="2194560"/>
            <a:ext cx="868680" cy="274320"/>
          </a:xfrm>
          <a:prstGeom prst="roundRect">
            <a:avLst>
              <a:gd name="adj" fmla="val 26667"/>
            </a:avLst>
          </a:prstGeom>
          <a:solidFill>
            <a:srgbClr val="4A8FDB"/>
          </a:solidFill>
          <a:ln/>
        </p:spPr>
      </p:sp>
      <p:sp>
        <p:nvSpPr>
          <p:cNvPr id="17" name="Text 14"/>
          <p:cNvSpPr txBox="1"/>
          <p:nvPr/>
        </p:nvSpPr>
        <p:spPr>
          <a:xfrm>
            <a:off x="6382512" y="2194560"/>
            <a:ext cx="868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2 min</a:t>
            </a:r>
            <a:endParaRPr lang="en-US" sz="900" dirty="0"/>
          </a:p>
        </p:txBody>
      </p:sp>
      <p:sp>
        <p:nvSpPr>
          <p:cNvPr id="18" name="Text 15"/>
          <p:cNvSpPr txBox="1"/>
          <p:nvPr/>
        </p:nvSpPr>
        <p:spPr>
          <a:xfrm>
            <a:off x="6382512" y="2606040"/>
            <a:ext cx="2249424"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Validate</a:t>
            </a:r>
            <a:endParaRPr lang="en-US" sz="1800" dirty="0"/>
          </a:p>
        </p:txBody>
      </p:sp>
      <p:sp>
        <p:nvSpPr>
          <p:cNvPr id="19" name="Text 16"/>
          <p:cNvSpPr txBox="1"/>
          <p:nvPr/>
        </p:nvSpPr>
        <p:spPr>
          <a:xfrm>
            <a:off x="6382512" y="3063240"/>
            <a:ext cx="2249424" cy="118872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We release next week's sell-out by region. Does your recommendation survive?</a:t>
            </a:r>
            <a:endParaRPr lang="en-US" sz="1200" dirty="0"/>
          </a:p>
        </p:txBody>
      </p:sp>
      <p:sp>
        <p:nvSpPr>
          <p:cNvPr id="20" name="Shape 17"/>
          <p:cNvSpPr/>
          <p:nvPr/>
        </p:nvSpPr>
        <p:spPr>
          <a:xfrm>
            <a:off x="9025128" y="2011680"/>
            <a:ext cx="2615184" cy="2331720"/>
          </a:xfrm>
          <a:prstGeom prst="roundRect">
            <a:avLst>
              <a:gd name="adj" fmla="val 3137"/>
            </a:avLst>
          </a:prstGeom>
          <a:solidFill>
            <a:srgbClr val="1B2156"/>
          </a:solidFill>
          <a:ln/>
        </p:spPr>
      </p:sp>
      <p:sp>
        <p:nvSpPr>
          <p:cNvPr id="21" name="Shape 18"/>
          <p:cNvSpPr/>
          <p:nvPr/>
        </p:nvSpPr>
        <p:spPr>
          <a:xfrm>
            <a:off x="9208008" y="2194560"/>
            <a:ext cx="868680" cy="274320"/>
          </a:xfrm>
          <a:prstGeom prst="roundRect">
            <a:avLst>
              <a:gd name="adj" fmla="val 26667"/>
            </a:avLst>
          </a:prstGeom>
          <a:solidFill>
            <a:srgbClr val="4A8FDB"/>
          </a:solidFill>
          <a:ln/>
        </p:spPr>
      </p:sp>
      <p:sp>
        <p:nvSpPr>
          <p:cNvPr id="22" name="Text 19"/>
          <p:cNvSpPr txBox="1"/>
          <p:nvPr/>
        </p:nvSpPr>
        <p:spPr>
          <a:xfrm>
            <a:off x="9208008" y="2194560"/>
            <a:ext cx="868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3 min</a:t>
            </a:r>
            <a:endParaRPr lang="en-US" sz="900" dirty="0"/>
          </a:p>
        </p:txBody>
      </p:sp>
      <p:sp>
        <p:nvSpPr>
          <p:cNvPr id="23" name="Text 20"/>
          <p:cNvSpPr txBox="1"/>
          <p:nvPr/>
        </p:nvSpPr>
        <p:spPr>
          <a:xfrm>
            <a:off x="9208008" y="2606040"/>
            <a:ext cx="2249424"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Pitch</a:t>
            </a:r>
            <a:endParaRPr lang="en-US" sz="1800" dirty="0"/>
          </a:p>
        </p:txBody>
      </p:sp>
      <p:sp>
        <p:nvSpPr>
          <p:cNvPr id="24" name="Text 21"/>
          <p:cNvSpPr txBox="1"/>
          <p:nvPr/>
        </p:nvSpPr>
        <p:spPr>
          <a:xfrm>
            <a:off x="9208008" y="3063240"/>
            <a:ext cx="2249424" cy="118872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45 seconds: gap, impact, action, did it survive, what you still need.</a:t>
            </a:r>
            <a:endParaRPr lang="en-US" sz="1200" dirty="0"/>
          </a:p>
        </p:txBody>
      </p:sp>
      <p:sp>
        <p:nvSpPr>
          <p:cNvPr id="25" name="Text 22"/>
          <p:cNvSpPr txBox="1"/>
          <p:nvPr/>
        </p:nvSpPr>
        <p:spPr>
          <a:xfrm>
            <a:off x="548640" y="4617720"/>
            <a:ext cx="5486400" cy="274320"/>
          </a:xfrm>
          <a:prstGeom prst="rect">
            <a:avLst/>
          </a:prstGeom>
          <a:noFill/>
          <a:ln/>
        </p:spPr>
        <p:txBody>
          <a:bodyPr wrap="square" lIns="0" tIns="0" rIns="0" bIns="0" rtlCol="0" anchor="t"/>
          <a:lstStyle/>
          <a:p>
            <a:pPr indent="0" marL="0">
              <a:buNone/>
            </a:pPr>
            <a:r>
              <a:rPr lang="en-US" sz="1000" b="1" spc="100" kern="0" dirty="0">
                <a:solidFill>
                  <a:srgbClr val="4A8FDB"/>
                </a:solidFill>
                <a:latin typeface="Montserrat" pitchFamily="34" charset="0"/>
                <a:ea typeface="Montserrat" pitchFamily="34" charset="-122"/>
                <a:cs typeface="Montserrat" pitchFamily="34" charset="-120"/>
              </a:rPr>
              <a:t>WHAT EVERY GROUP HANDS IN (MENTI)</a:t>
            </a:r>
            <a:endParaRPr lang="en-US" sz="1000" dirty="0"/>
          </a:p>
        </p:txBody>
      </p:sp>
      <p:sp>
        <p:nvSpPr>
          <p:cNvPr id="26" name="Shape 23"/>
          <p:cNvSpPr/>
          <p:nvPr/>
        </p:nvSpPr>
        <p:spPr>
          <a:xfrm>
            <a:off x="548640" y="4956048"/>
            <a:ext cx="1931670" cy="548640"/>
          </a:xfrm>
          <a:prstGeom prst="roundRect">
            <a:avLst>
              <a:gd name="adj" fmla="val 13333"/>
            </a:avLst>
          </a:prstGeom>
          <a:solidFill>
            <a:srgbClr val="0F1341"/>
          </a:solidFill>
          <a:ln w="12700">
            <a:solidFill>
              <a:srgbClr val="6A7FA8"/>
            </a:solidFill>
            <a:prstDash val="solid"/>
          </a:ln>
        </p:spPr>
      </p:sp>
      <p:sp>
        <p:nvSpPr>
          <p:cNvPr id="27" name="Text 24"/>
          <p:cNvSpPr txBox="1"/>
          <p:nvPr/>
        </p:nvSpPr>
        <p:spPr>
          <a:xfrm>
            <a:off x="548640" y="4956048"/>
            <a:ext cx="193167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Data gap</a:t>
            </a:r>
            <a:endParaRPr lang="en-US" sz="1200" dirty="0"/>
          </a:p>
        </p:txBody>
      </p:sp>
      <p:sp>
        <p:nvSpPr>
          <p:cNvPr id="28" name="Shape 25"/>
          <p:cNvSpPr/>
          <p:nvPr/>
        </p:nvSpPr>
        <p:spPr>
          <a:xfrm>
            <a:off x="2617470" y="4956048"/>
            <a:ext cx="1931670" cy="548640"/>
          </a:xfrm>
          <a:prstGeom prst="roundRect">
            <a:avLst>
              <a:gd name="adj" fmla="val 13333"/>
            </a:avLst>
          </a:prstGeom>
          <a:solidFill>
            <a:srgbClr val="0F1341"/>
          </a:solidFill>
          <a:ln w="12700">
            <a:solidFill>
              <a:srgbClr val="6A7FA8"/>
            </a:solidFill>
            <a:prstDash val="solid"/>
          </a:ln>
        </p:spPr>
      </p:sp>
      <p:sp>
        <p:nvSpPr>
          <p:cNvPr id="29" name="Text 26"/>
          <p:cNvSpPr txBox="1"/>
          <p:nvPr/>
        </p:nvSpPr>
        <p:spPr>
          <a:xfrm>
            <a:off x="2617470" y="4956048"/>
            <a:ext cx="193167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Financial impact</a:t>
            </a:r>
            <a:endParaRPr lang="en-US" sz="1200" dirty="0"/>
          </a:p>
        </p:txBody>
      </p:sp>
      <p:sp>
        <p:nvSpPr>
          <p:cNvPr id="30" name="Shape 27"/>
          <p:cNvSpPr/>
          <p:nvPr/>
        </p:nvSpPr>
        <p:spPr>
          <a:xfrm>
            <a:off x="4686300" y="4956048"/>
            <a:ext cx="1931670" cy="548640"/>
          </a:xfrm>
          <a:prstGeom prst="roundRect">
            <a:avLst>
              <a:gd name="adj" fmla="val 13333"/>
            </a:avLst>
          </a:prstGeom>
          <a:solidFill>
            <a:srgbClr val="0F1341"/>
          </a:solidFill>
          <a:ln w="12700">
            <a:solidFill>
              <a:srgbClr val="6A7FA8"/>
            </a:solidFill>
            <a:prstDash val="solid"/>
          </a:ln>
        </p:spPr>
      </p:sp>
      <p:sp>
        <p:nvSpPr>
          <p:cNvPr id="31" name="Text 28"/>
          <p:cNvSpPr txBox="1"/>
          <p:nvPr/>
        </p:nvSpPr>
        <p:spPr>
          <a:xfrm>
            <a:off x="4686300" y="4956048"/>
            <a:ext cx="193167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AI recommendation</a:t>
            </a:r>
            <a:endParaRPr lang="en-US" sz="1200" dirty="0"/>
          </a:p>
        </p:txBody>
      </p:sp>
      <p:sp>
        <p:nvSpPr>
          <p:cNvPr id="32" name="Shape 29"/>
          <p:cNvSpPr/>
          <p:nvPr/>
        </p:nvSpPr>
        <p:spPr>
          <a:xfrm>
            <a:off x="6755130" y="4956048"/>
            <a:ext cx="1931670" cy="548640"/>
          </a:xfrm>
          <a:prstGeom prst="roundRect">
            <a:avLst>
              <a:gd name="adj" fmla="val 13333"/>
            </a:avLst>
          </a:prstGeom>
          <a:solidFill>
            <a:srgbClr val="0F1341"/>
          </a:solidFill>
          <a:ln w="12700">
            <a:solidFill>
              <a:srgbClr val="6A7FA8"/>
            </a:solidFill>
            <a:prstDash val="solid"/>
          </a:ln>
        </p:spPr>
      </p:sp>
      <p:sp>
        <p:nvSpPr>
          <p:cNvPr id="33" name="Text 30"/>
          <p:cNvSpPr txBox="1"/>
          <p:nvPr/>
        </p:nvSpPr>
        <p:spPr>
          <a:xfrm>
            <a:off x="6755130" y="4956048"/>
            <a:ext cx="193167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Validation method</a:t>
            </a:r>
            <a:endParaRPr lang="en-US" sz="1200" dirty="0"/>
          </a:p>
        </p:txBody>
      </p:sp>
      <p:sp>
        <p:nvSpPr>
          <p:cNvPr id="34" name="Shape 31"/>
          <p:cNvSpPr/>
          <p:nvPr/>
        </p:nvSpPr>
        <p:spPr>
          <a:xfrm>
            <a:off x="9006840" y="4617720"/>
            <a:ext cx="2633472" cy="914400"/>
          </a:xfrm>
          <a:prstGeom prst="roundRect">
            <a:avLst>
              <a:gd name="adj" fmla="val 8000"/>
            </a:avLst>
          </a:prstGeom>
          <a:solidFill>
            <a:srgbClr val="2E6FBF"/>
          </a:solidFill>
          <a:ln/>
        </p:spPr>
      </p:sp>
      <p:pic>
        <p:nvPicPr>
          <p:cNvPr id="35" name="Image 0" descr="preencoded.png">    </p:cNvPr>
          <p:cNvPicPr>
            <a:picLocks noChangeAspect="1"/>
          </p:cNvPicPr>
          <p:nvPr/>
        </p:nvPicPr>
        <p:blipFill>
          <a:blip r:embed="rId1"/>
          <a:stretch>
            <a:fillRect/>
          </a:stretch>
        </p:blipFill>
        <p:spPr>
          <a:xfrm>
            <a:off x="9144000" y="4754880"/>
            <a:ext cx="640080" cy="640080"/>
          </a:xfrm>
          <a:prstGeom prst="rect">
            <a:avLst/>
          </a:prstGeom>
        </p:spPr>
      </p:pic>
      <p:sp>
        <p:nvSpPr>
          <p:cNvPr id="36" name="Text 32"/>
          <p:cNvSpPr txBox="1"/>
          <p:nvPr/>
        </p:nvSpPr>
        <p:spPr>
          <a:xfrm>
            <a:off x="9875520" y="4663440"/>
            <a:ext cx="1691640" cy="822960"/>
          </a:xfrm>
          <a:prstGeom prst="rect">
            <a:avLst/>
          </a:prstGeom>
          <a:noFill/>
          <a:ln/>
        </p:spPr>
        <p:txBody>
          <a:bodyPr wrap="square" lIns="0" tIns="0" rIns="0" bIns="0" rtlCol="0" anchor="ctr"/>
          <a:lstStyle/>
          <a:p>
            <a:pPr indent="0" marL="0">
              <a:buNone/>
            </a:pPr>
            <a:r>
              <a:rPr lang="en-US" sz="1000" dirty="0">
                <a:solidFill>
                  <a:srgbClr val="FFFFFF"/>
                </a:solidFill>
                <a:latin typeface="Montserrat" pitchFamily="34" charset="0"/>
                <a:ea typeface="Montserrat" pitchFamily="34" charset="-122"/>
                <a:cs typeface="Montserrat" pitchFamily="34" charset="-120"/>
              </a:rPr>
              <a:t>QR → data sheet + prompt</a:t>
            </a:r>
            <a:endParaRPr lang="en-US" sz="1000" dirty="0"/>
          </a:p>
          <a:p>
            <a:pPr indent="0" marL="0">
              <a:buNone/>
            </a:pPr>
            <a:r>
              <a:rPr lang="en-US" sz="1000" dirty="0">
                <a:solidFill>
                  <a:srgbClr val="FFFFFF"/>
                </a:solidFill>
                <a:latin typeface="Montserrat" pitchFamily="34" charset="0"/>
                <a:ea typeface="Montserrat" pitchFamily="34" charset="-122"/>
                <a:cs typeface="Montserrat" pitchFamily="34" charset="-120"/>
              </a:rPr>
              <a:t>Week 5 sell-out released at minute 5</a:t>
            </a:r>
            <a:endParaRPr lang="en-US" sz="1000" dirty="0"/>
          </a:p>
        </p:txBody>
      </p:sp>
      <p:sp>
        <p:nvSpPr>
          <p:cNvPr id="37" name="Text 33"/>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200" i="1" dirty="0">
                <a:solidFill>
                  <a:srgbClr val="C9D3E3"/>
                </a:solidFill>
                <a:latin typeface="Montserrat" pitchFamily="34" charset="0"/>
                <a:ea typeface="Montserrat" pitchFamily="34" charset="-122"/>
                <a:cs typeface="Montserrat" pitchFamily="34" charset="-120"/>
              </a:rPr>
              <a:t>Repeat of Menti question 3 at the end: as CEO, what would you invest in first — and did your answer change?</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How AI-native will change CRM</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From a system of records to a system that acts — and learns</a:t>
            </a:r>
            <a:endParaRPr lang="en-US" sz="1300" dirty="0"/>
          </a:p>
        </p:txBody>
      </p:sp>
      <p:sp>
        <p:nvSpPr>
          <p:cNvPr id="5" name="Shape 2"/>
          <p:cNvSpPr/>
          <p:nvPr/>
        </p:nvSpPr>
        <p:spPr>
          <a:xfrm>
            <a:off x="548640" y="1783080"/>
            <a:ext cx="5440680" cy="1783080"/>
          </a:xfrm>
          <a:prstGeom prst="roundRect">
            <a:avLst>
              <a:gd name="adj" fmla="val 4103"/>
            </a:avLst>
          </a:prstGeom>
          <a:solidFill>
            <a:srgbClr val="F3F7FC"/>
          </a:solidFill>
          <a:ln/>
        </p:spPr>
      </p:sp>
      <p:sp>
        <p:nvSpPr>
          <p:cNvPr id="6" name="Shape 3"/>
          <p:cNvSpPr/>
          <p:nvPr/>
        </p:nvSpPr>
        <p:spPr>
          <a:xfrm>
            <a:off x="777240" y="2039112"/>
            <a:ext cx="603504" cy="603504"/>
          </a:xfrm>
          <a:prstGeom prst="ellipse">
            <a:avLst/>
          </a:prstGeom>
          <a:solidFill>
            <a:srgbClr val="D9E8F8"/>
          </a:solidFill>
          <a:ln/>
        </p:spPr>
      </p:sp>
      <p:pic>
        <p:nvPicPr>
          <p:cNvPr id="7" name="Image 0" descr="preencoded.png">    </p:cNvPr>
          <p:cNvPicPr>
            <a:picLocks noChangeAspect="1"/>
          </p:cNvPicPr>
          <p:nvPr/>
        </p:nvPicPr>
        <p:blipFill>
          <a:blip r:embed="rId1"/>
          <a:stretch>
            <a:fillRect/>
          </a:stretch>
        </p:blipFill>
        <p:spPr>
          <a:xfrm>
            <a:off x="923544" y="2185416"/>
            <a:ext cx="310896" cy="310896"/>
          </a:xfrm>
          <a:prstGeom prst="rect">
            <a:avLst/>
          </a:prstGeom>
        </p:spPr>
      </p:pic>
      <p:sp>
        <p:nvSpPr>
          <p:cNvPr id="8" name="Text 4"/>
          <p:cNvSpPr txBox="1"/>
          <p:nvPr/>
        </p:nvSpPr>
        <p:spPr>
          <a:xfrm>
            <a:off x="1600200" y="2011680"/>
            <a:ext cx="4160520" cy="457200"/>
          </a:xfrm>
          <a:prstGeom prst="rect">
            <a:avLst/>
          </a:prstGeom>
          <a:noFill/>
          <a:ln/>
        </p:spPr>
        <p:txBody>
          <a:bodyPr wrap="square" lIns="0" tIns="0" rIns="0" bIns="0" rtlCol="0" anchor="ctr"/>
          <a:lstStyle/>
          <a:p>
            <a:pPr indent="0" marL="0">
              <a:buNone/>
            </a:pPr>
            <a:r>
              <a:rPr lang="en-US" sz="1500" b="1" dirty="0">
                <a:solidFill>
                  <a:srgbClr val="0F1341"/>
                </a:solidFill>
                <a:latin typeface="Montserrat" pitchFamily="34" charset="0"/>
                <a:ea typeface="Montserrat" pitchFamily="34" charset="-122"/>
                <a:cs typeface="Montserrat" pitchFamily="34" charset="-120"/>
              </a:rPr>
              <a:t>From records to agents</a:t>
            </a:r>
            <a:endParaRPr lang="en-US" sz="1500" dirty="0"/>
          </a:p>
        </p:txBody>
      </p:sp>
      <p:sp>
        <p:nvSpPr>
          <p:cNvPr id="9" name="Text 5"/>
          <p:cNvSpPr txBox="1"/>
          <p:nvPr/>
        </p:nvSpPr>
        <p:spPr>
          <a:xfrm>
            <a:off x="1600200" y="2514600"/>
            <a:ext cx="4160520" cy="960120"/>
          </a:xfrm>
          <a:prstGeom prst="rect">
            <a:avLst/>
          </a:prstGeom>
          <a:noFill/>
          <a:ln/>
        </p:spPr>
        <p:txBody>
          <a:bodyPr wrap="square" lIns="0" tIns="0" rIns="0" bIns="0" rtlCol="0" anchor="t"/>
          <a:lstStyle/>
          <a:p>
            <a:pPr indent="0" marL="0">
              <a:buNone/>
            </a:pPr>
            <a:r>
              <a:rPr lang="en-US" sz="1250" dirty="0">
                <a:solidFill>
                  <a:srgbClr val="5B6270"/>
                </a:solidFill>
                <a:latin typeface="Montserrat" pitchFamily="34" charset="0"/>
                <a:ea typeface="Montserrat" pitchFamily="34" charset="-122"/>
                <a:cs typeface="Montserrat" pitchFamily="34" charset="-120"/>
              </a:rPr>
              <a:t>The CRM no longer waits for input: agents forecast, detect gaps and propose the next action — humans approve.</a:t>
            </a:r>
            <a:endParaRPr lang="en-US" sz="1250" dirty="0"/>
          </a:p>
        </p:txBody>
      </p:sp>
      <p:sp>
        <p:nvSpPr>
          <p:cNvPr id="10" name="Shape 6"/>
          <p:cNvSpPr/>
          <p:nvPr/>
        </p:nvSpPr>
        <p:spPr>
          <a:xfrm>
            <a:off x="6199632" y="1783080"/>
            <a:ext cx="5440680" cy="1783080"/>
          </a:xfrm>
          <a:prstGeom prst="roundRect">
            <a:avLst>
              <a:gd name="adj" fmla="val 4103"/>
            </a:avLst>
          </a:prstGeom>
          <a:solidFill>
            <a:srgbClr val="F3F7FC"/>
          </a:solidFill>
          <a:ln/>
        </p:spPr>
      </p:sp>
      <p:sp>
        <p:nvSpPr>
          <p:cNvPr id="11" name="Shape 7"/>
          <p:cNvSpPr/>
          <p:nvPr/>
        </p:nvSpPr>
        <p:spPr>
          <a:xfrm>
            <a:off x="6428232" y="2039112"/>
            <a:ext cx="603504" cy="603504"/>
          </a:xfrm>
          <a:prstGeom prst="ellipse">
            <a:avLst/>
          </a:prstGeom>
          <a:solidFill>
            <a:srgbClr val="D9E8F8"/>
          </a:solidFill>
          <a:ln/>
        </p:spPr>
      </p:sp>
      <p:pic>
        <p:nvPicPr>
          <p:cNvPr id="12" name="Image 1" descr="preencoded.png">    </p:cNvPr>
          <p:cNvPicPr>
            <a:picLocks noChangeAspect="1"/>
          </p:cNvPicPr>
          <p:nvPr/>
        </p:nvPicPr>
        <p:blipFill>
          <a:blip r:embed="rId2"/>
          <a:stretch>
            <a:fillRect/>
          </a:stretch>
        </p:blipFill>
        <p:spPr>
          <a:xfrm>
            <a:off x="6574536" y="2185416"/>
            <a:ext cx="310896" cy="310896"/>
          </a:xfrm>
          <a:prstGeom prst="rect">
            <a:avLst/>
          </a:prstGeom>
        </p:spPr>
      </p:pic>
      <p:sp>
        <p:nvSpPr>
          <p:cNvPr id="13" name="Text 8"/>
          <p:cNvSpPr txBox="1"/>
          <p:nvPr/>
        </p:nvSpPr>
        <p:spPr>
          <a:xfrm>
            <a:off x="7251192" y="2011680"/>
            <a:ext cx="4160520" cy="457200"/>
          </a:xfrm>
          <a:prstGeom prst="rect">
            <a:avLst/>
          </a:prstGeom>
          <a:noFill/>
          <a:ln/>
        </p:spPr>
        <p:txBody>
          <a:bodyPr wrap="square" lIns="0" tIns="0" rIns="0" bIns="0" rtlCol="0" anchor="ctr"/>
          <a:lstStyle/>
          <a:p>
            <a:pPr indent="0" marL="0">
              <a:buNone/>
            </a:pPr>
            <a:r>
              <a:rPr lang="en-US" sz="1500" b="1" dirty="0">
                <a:solidFill>
                  <a:srgbClr val="0F1341"/>
                </a:solidFill>
                <a:latin typeface="Montserrat" pitchFamily="34" charset="0"/>
                <a:ea typeface="Montserrat" pitchFamily="34" charset="-122"/>
                <a:cs typeface="Montserrat" pitchFamily="34" charset="-120"/>
              </a:rPr>
              <a:t>The consumer's AI is a new channel</a:t>
            </a:r>
            <a:endParaRPr lang="en-US" sz="1500" dirty="0"/>
          </a:p>
        </p:txBody>
      </p:sp>
      <p:sp>
        <p:nvSpPr>
          <p:cNvPr id="14" name="Text 9"/>
          <p:cNvSpPr txBox="1"/>
          <p:nvPr/>
        </p:nvSpPr>
        <p:spPr>
          <a:xfrm>
            <a:off x="7251192" y="2514600"/>
            <a:ext cx="4160520" cy="960120"/>
          </a:xfrm>
          <a:prstGeom prst="rect">
            <a:avLst/>
          </a:prstGeom>
          <a:noFill/>
          <a:ln/>
        </p:spPr>
        <p:txBody>
          <a:bodyPr wrap="square" lIns="0" tIns="0" rIns="0" bIns="0" rtlCol="0" anchor="t"/>
          <a:lstStyle/>
          <a:p>
            <a:pPr indent="0" marL="0">
              <a:buNone/>
            </a:pPr>
            <a:r>
              <a:rPr lang="en-US" sz="1250" dirty="0">
                <a:solidFill>
                  <a:srgbClr val="5B6270"/>
                </a:solidFill>
                <a:latin typeface="Montserrat" pitchFamily="34" charset="0"/>
                <a:ea typeface="Montserrat" pitchFamily="34" charset="-122"/>
                <a:cs typeface="Montserrat" pitchFamily="34" charset="-120"/>
              </a:rPr>
              <a:t>Customers ask their AI assistant what to buy. Brands must be understandable to machines, not only to people.</a:t>
            </a:r>
            <a:endParaRPr lang="en-US" sz="1250" dirty="0"/>
          </a:p>
        </p:txBody>
      </p:sp>
      <p:sp>
        <p:nvSpPr>
          <p:cNvPr id="15" name="Shape 10"/>
          <p:cNvSpPr/>
          <p:nvPr/>
        </p:nvSpPr>
        <p:spPr>
          <a:xfrm>
            <a:off x="548640" y="3749040"/>
            <a:ext cx="5440680" cy="1783080"/>
          </a:xfrm>
          <a:prstGeom prst="roundRect">
            <a:avLst>
              <a:gd name="adj" fmla="val 4103"/>
            </a:avLst>
          </a:prstGeom>
          <a:solidFill>
            <a:srgbClr val="F3F7FC"/>
          </a:solidFill>
          <a:ln/>
        </p:spPr>
      </p:sp>
      <p:sp>
        <p:nvSpPr>
          <p:cNvPr id="16" name="Shape 11"/>
          <p:cNvSpPr/>
          <p:nvPr/>
        </p:nvSpPr>
        <p:spPr>
          <a:xfrm>
            <a:off x="777240" y="4005072"/>
            <a:ext cx="603504" cy="603504"/>
          </a:xfrm>
          <a:prstGeom prst="ellipse">
            <a:avLst/>
          </a:prstGeom>
          <a:solidFill>
            <a:srgbClr val="D9E8F8"/>
          </a:solidFill>
          <a:ln/>
        </p:spPr>
      </p:sp>
      <p:pic>
        <p:nvPicPr>
          <p:cNvPr id="17" name="Image 2" descr="preencoded.png">    </p:cNvPr>
          <p:cNvPicPr>
            <a:picLocks noChangeAspect="1"/>
          </p:cNvPicPr>
          <p:nvPr/>
        </p:nvPicPr>
        <p:blipFill>
          <a:blip r:embed="rId3"/>
          <a:stretch>
            <a:fillRect/>
          </a:stretch>
        </p:blipFill>
        <p:spPr>
          <a:xfrm>
            <a:off x="923544" y="4151376"/>
            <a:ext cx="310896" cy="310896"/>
          </a:xfrm>
          <a:prstGeom prst="rect">
            <a:avLst/>
          </a:prstGeom>
        </p:spPr>
      </p:pic>
      <p:sp>
        <p:nvSpPr>
          <p:cNvPr id="18" name="Text 12"/>
          <p:cNvSpPr txBox="1"/>
          <p:nvPr/>
        </p:nvSpPr>
        <p:spPr>
          <a:xfrm>
            <a:off x="1600200" y="3977640"/>
            <a:ext cx="4160520" cy="457200"/>
          </a:xfrm>
          <a:prstGeom prst="rect">
            <a:avLst/>
          </a:prstGeom>
          <a:noFill/>
          <a:ln/>
        </p:spPr>
        <p:txBody>
          <a:bodyPr wrap="square" lIns="0" tIns="0" rIns="0" bIns="0" rtlCol="0" anchor="ctr"/>
          <a:lstStyle/>
          <a:p>
            <a:pPr indent="0" marL="0">
              <a:buNone/>
            </a:pPr>
            <a:r>
              <a:rPr lang="en-US" sz="1500" b="1" dirty="0">
                <a:solidFill>
                  <a:srgbClr val="0F1341"/>
                </a:solidFill>
                <a:latin typeface="Montserrat" pitchFamily="34" charset="0"/>
                <a:ea typeface="Montserrat" pitchFamily="34" charset="-122"/>
                <a:cs typeface="Montserrat" pitchFamily="34" charset="-120"/>
              </a:rPr>
              <a:t>Shared data, clear governance</a:t>
            </a:r>
            <a:endParaRPr lang="en-US" sz="1500" dirty="0"/>
          </a:p>
        </p:txBody>
      </p:sp>
      <p:sp>
        <p:nvSpPr>
          <p:cNvPr id="19" name="Text 13"/>
          <p:cNvSpPr txBox="1"/>
          <p:nvPr/>
        </p:nvSpPr>
        <p:spPr>
          <a:xfrm>
            <a:off x="1600200" y="4480560"/>
            <a:ext cx="4160520" cy="960120"/>
          </a:xfrm>
          <a:prstGeom prst="rect">
            <a:avLst/>
          </a:prstGeom>
          <a:noFill/>
          <a:ln/>
        </p:spPr>
        <p:txBody>
          <a:bodyPr wrap="square" lIns="0" tIns="0" rIns="0" bIns="0" rtlCol="0" anchor="t"/>
          <a:lstStyle/>
          <a:p>
            <a:pPr indent="0" marL="0">
              <a:buNone/>
            </a:pPr>
            <a:r>
              <a:rPr lang="en-US" sz="1250" dirty="0">
                <a:solidFill>
                  <a:srgbClr val="5B6270"/>
                </a:solidFill>
                <a:latin typeface="Montserrat" pitchFamily="34" charset="0"/>
                <a:ea typeface="Montserrat" pitchFamily="34" charset="-122"/>
                <a:cs typeface="Montserrat" pitchFamily="34" charset="-120"/>
              </a:rPr>
              <a:t>Value comes from what the chain shares — permitted access and aggregates, not pooling every personal detail.</a:t>
            </a:r>
            <a:endParaRPr lang="en-US" sz="1250" dirty="0"/>
          </a:p>
        </p:txBody>
      </p:sp>
      <p:sp>
        <p:nvSpPr>
          <p:cNvPr id="20" name="Shape 14"/>
          <p:cNvSpPr/>
          <p:nvPr/>
        </p:nvSpPr>
        <p:spPr>
          <a:xfrm>
            <a:off x="6199632" y="3749040"/>
            <a:ext cx="5440680" cy="1783080"/>
          </a:xfrm>
          <a:prstGeom prst="roundRect">
            <a:avLst>
              <a:gd name="adj" fmla="val 4103"/>
            </a:avLst>
          </a:prstGeom>
          <a:solidFill>
            <a:srgbClr val="0F1341"/>
          </a:solidFill>
          <a:ln/>
        </p:spPr>
      </p:sp>
      <p:sp>
        <p:nvSpPr>
          <p:cNvPr id="21" name="Shape 15"/>
          <p:cNvSpPr/>
          <p:nvPr/>
        </p:nvSpPr>
        <p:spPr>
          <a:xfrm>
            <a:off x="6428232" y="4005072"/>
            <a:ext cx="603504" cy="603504"/>
          </a:xfrm>
          <a:prstGeom prst="ellipse">
            <a:avLst/>
          </a:prstGeom>
          <a:solidFill>
            <a:srgbClr val="2E6FBF"/>
          </a:solidFill>
          <a:ln/>
        </p:spPr>
      </p:sp>
      <p:pic>
        <p:nvPicPr>
          <p:cNvPr id="22" name="Image 3" descr="preencoded.png">    </p:cNvPr>
          <p:cNvPicPr>
            <a:picLocks noChangeAspect="1"/>
          </p:cNvPicPr>
          <p:nvPr/>
        </p:nvPicPr>
        <p:blipFill>
          <a:blip r:embed="rId4"/>
          <a:stretch>
            <a:fillRect/>
          </a:stretch>
        </p:blipFill>
        <p:spPr>
          <a:xfrm>
            <a:off x="6574536" y="4151376"/>
            <a:ext cx="310896" cy="310896"/>
          </a:xfrm>
          <a:prstGeom prst="rect">
            <a:avLst/>
          </a:prstGeom>
        </p:spPr>
      </p:pic>
      <p:sp>
        <p:nvSpPr>
          <p:cNvPr id="23" name="Text 16"/>
          <p:cNvSpPr txBox="1"/>
          <p:nvPr/>
        </p:nvSpPr>
        <p:spPr>
          <a:xfrm>
            <a:off x="7251192" y="3977640"/>
            <a:ext cx="4160520" cy="457200"/>
          </a:xfrm>
          <a:prstGeom prst="rect">
            <a:avLst/>
          </a:prstGeom>
          <a:noFill/>
          <a:ln/>
        </p:spPr>
        <p:txBody>
          <a:bodyPr wrap="square" lIns="0" tIns="0" rIns="0" bIns="0" rtlCol="0" anchor="ctr"/>
          <a:lstStyle/>
          <a:p>
            <a:pPr indent="0" marL="0">
              <a:buNone/>
            </a:pPr>
            <a:r>
              <a:rPr lang="en-US" sz="1500" b="1" dirty="0">
                <a:solidFill>
                  <a:srgbClr val="FFFFFF"/>
                </a:solidFill>
                <a:latin typeface="Montserrat" pitchFamily="34" charset="0"/>
                <a:ea typeface="Montserrat" pitchFamily="34" charset="-122"/>
                <a:cs typeface="Montserrat" pitchFamily="34" charset="-120"/>
              </a:rPr>
              <a:t>New KPIs: calibration</a:t>
            </a:r>
            <a:endParaRPr lang="en-US" sz="1500" dirty="0"/>
          </a:p>
        </p:txBody>
      </p:sp>
      <p:sp>
        <p:nvSpPr>
          <p:cNvPr id="24" name="Text 17"/>
          <p:cNvSpPr txBox="1"/>
          <p:nvPr/>
        </p:nvSpPr>
        <p:spPr>
          <a:xfrm>
            <a:off x="7251192" y="4480560"/>
            <a:ext cx="4160520" cy="960120"/>
          </a:xfrm>
          <a:prstGeom prst="rect">
            <a:avLst/>
          </a:prstGeom>
          <a:noFill/>
          <a:ln/>
        </p:spPr>
        <p:txBody>
          <a:bodyPr wrap="square" lIns="0" tIns="0" rIns="0" bIns="0" rtlCol="0" anchor="t"/>
          <a:lstStyle/>
          <a:p>
            <a:pPr indent="0" marL="0">
              <a:buNone/>
            </a:pPr>
            <a:r>
              <a:rPr lang="en-US" sz="1250" dirty="0">
                <a:solidFill>
                  <a:srgbClr val="C9D3E3"/>
                </a:solidFill>
                <a:latin typeface="Montserrat" pitchFamily="34" charset="0"/>
                <a:ea typeface="Montserrat" pitchFamily="34" charset="-122"/>
                <a:cs typeface="Montserrat" pitchFamily="34" charset="-120"/>
              </a:rPr>
              <a:t>Not just revenue per customer — forecast error, stockout rate and how fast the model learns from reality.</a:t>
            </a:r>
            <a:endParaRPr lang="en-US" sz="1250" dirty="0"/>
          </a:p>
        </p:txBody>
      </p:sp>
      <p:sp>
        <p:nvSpPr>
          <p:cNvPr id="25" name="Text 18"/>
          <p:cNvSpPr txBox="1"/>
          <p:nvPr/>
        </p:nvSpPr>
        <p:spPr>
          <a:xfrm>
            <a:off x="548640" y="5779008"/>
            <a:ext cx="11064240" cy="365760"/>
          </a:xfrm>
          <a:prstGeom prst="rect">
            <a:avLst/>
          </a:prstGeom>
          <a:noFill/>
          <a:ln/>
        </p:spPr>
        <p:txBody>
          <a:bodyPr wrap="square" lIns="0" tIns="0" rIns="0" bIns="0" rtlCol="0" anchor="t"/>
          <a:lstStyle/>
          <a:p>
            <a:pPr indent="0" marL="0">
              <a:buNone/>
            </a:pPr>
            <a:r>
              <a:rPr lang="en-US" sz="1200" b="1" dirty="0">
                <a:solidFill>
                  <a:srgbClr val="2E6FBF"/>
                </a:solidFill>
                <a:latin typeface="Montserrat" pitchFamily="34" charset="0"/>
                <a:ea typeface="Montserrat" pitchFamily="34" charset="-122"/>
                <a:cs typeface="Montserrat" pitchFamily="34" charset="-120"/>
              </a:rPr>
              <a:t>Three statements: connect behaviour with supply decisions · make every interaction a learning loop · turn fragmented data into action.</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548640" y="685800"/>
            <a:ext cx="9509760" cy="1280160"/>
          </a:xfrm>
          <a:prstGeom prst="rect">
            <a:avLst/>
          </a:prstGeom>
          <a:noFill/>
          <a:ln/>
        </p:spPr>
        <p:txBody>
          <a:bodyPr wrap="square" lIns="0" tIns="0" rIns="0" bIns="0" rtlCol="0" anchor="t"/>
          <a:lstStyle/>
          <a:p>
            <a:pPr algn="l" indent="0" marL="0">
              <a:buNone/>
            </a:pPr>
            <a:r>
              <a:rPr lang="en-US" sz="3400" b="1" dirty="0">
                <a:solidFill>
                  <a:srgbClr val="FFFFFF"/>
                </a:solidFill>
                <a:latin typeface="Montserrat" pitchFamily="34" charset="0"/>
                <a:ea typeface="Montserrat" pitchFamily="34" charset="-122"/>
                <a:cs typeface="Montserrat" pitchFamily="34" charset="-120"/>
              </a:rPr>
              <a:t>AI can generate a strategy. Evidence tells you whether it works.</a:t>
            </a:r>
            <a:endParaRPr lang="en-US" sz="3400" dirty="0"/>
          </a:p>
        </p:txBody>
      </p:sp>
      <p:sp>
        <p:nvSpPr>
          <p:cNvPr id="3" name="Text 0"/>
          <p:cNvSpPr/>
          <p:nvPr>
            <p:ph idx="102" type="body" hasCustomPrompt="1"/>
          </p:nvPr>
        </p:nvSpPr>
        <p:spPr>
          <a:xfrm>
            <a:off x="548640" y="2057400"/>
            <a:ext cx="9509760" cy="411480"/>
          </a:xfrm>
          <a:prstGeom prst="rect">
            <a:avLst/>
          </a:prstGeom>
          <a:noFill/>
          <a:ln/>
        </p:spPr>
        <p:txBody>
          <a:bodyPr wrap="square" lIns="0" tIns="0" rIns="0" bIns="0" rtlCol="0" anchor="t"/>
          <a:lstStyle/>
          <a:p>
            <a:pPr algn="l" indent="0" marL="0">
              <a:buNone/>
            </a:pPr>
            <a:r>
              <a:rPr lang="en-US" sz="1600" dirty="0">
                <a:solidFill>
                  <a:srgbClr val="4A8FDB"/>
                </a:solidFill>
                <a:latin typeface="Montserrat" pitchFamily="34" charset="0"/>
                <a:ea typeface="Montserrat" pitchFamily="34" charset="-122"/>
                <a:cs typeface="Montserrat" pitchFamily="34" charset="-120"/>
              </a:rPr>
              <a:t>The advantage is not generating answers faster — it is testing assumptions faster.</a:t>
            </a:r>
            <a:endParaRPr lang="en-US" sz="1600" dirty="0"/>
          </a:p>
        </p:txBody>
      </p:sp>
      <p:sp>
        <p:nvSpPr>
          <p:cNvPr id="5" name="Shape 2"/>
          <p:cNvSpPr/>
          <p:nvPr/>
        </p:nvSpPr>
        <p:spPr>
          <a:xfrm>
            <a:off x="548640" y="2834640"/>
            <a:ext cx="2615184" cy="1325880"/>
          </a:xfrm>
          <a:prstGeom prst="roundRect">
            <a:avLst>
              <a:gd name="adj" fmla="val 5517"/>
            </a:avLst>
          </a:prstGeom>
          <a:solidFill>
            <a:srgbClr val="1B2156"/>
          </a:solidFill>
          <a:ln/>
        </p:spPr>
      </p:sp>
      <p:sp>
        <p:nvSpPr>
          <p:cNvPr id="6" name="Text 3"/>
          <p:cNvSpPr txBox="1"/>
          <p:nvPr/>
        </p:nvSpPr>
        <p:spPr>
          <a:xfrm>
            <a:off x="749808" y="2953512"/>
            <a:ext cx="914400" cy="365760"/>
          </a:xfrm>
          <a:prstGeom prst="rect">
            <a:avLst/>
          </a:prstGeom>
          <a:noFill/>
          <a:ln/>
        </p:spPr>
        <p:txBody>
          <a:bodyPr wrap="square" lIns="0" tIns="0" rIns="0" bIns="0" rtlCol="0" anchor="t"/>
          <a:lstStyle/>
          <a:p>
            <a:pPr indent="0" marL="0">
              <a:buNone/>
            </a:pPr>
            <a:r>
              <a:rPr lang="en-US" sz="1400" b="1" dirty="0">
                <a:solidFill>
                  <a:srgbClr val="4A8FDB"/>
                </a:solidFill>
                <a:latin typeface="Montserrat" pitchFamily="34" charset="0"/>
                <a:ea typeface="Montserrat" pitchFamily="34" charset="-122"/>
                <a:cs typeface="Montserrat" pitchFamily="34" charset="-120"/>
              </a:rPr>
              <a:t>01</a:t>
            </a:r>
            <a:endParaRPr lang="en-US" sz="1400" dirty="0"/>
          </a:p>
        </p:txBody>
      </p:sp>
      <p:sp>
        <p:nvSpPr>
          <p:cNvPr id="7" name="Text 4"/>
          <p:cNvSpPr txBox="1"/>
          <p:nvPr/>
        </p:nvSpPr>
        <p:spPr>
          <a:xfrm>
            <a:off x="749808" y="3319272"/>
            <a:ext cx="2249424" cy="365760"/>
          </a:xfrm>
          <a:prstGeom prst="rect">
            <a:avLst/>
          </a:prstGeom>
          <a:noFill/>
          <a:ln/>
        </p:spPr>
        <p:txBody>
          <a:bodyPr wrap="square" lIns="0" tIns="0" rIns="0" bIns="0" rtlCol="0" anchor="t"/>
          <a:lstStyle/>
          <a:p>
            <a:pPr indent="0" marL="0">
              <a:buNone/>
            </a:pPr>
            <a:r>
              <a:rPr lang="en-US" sz="1700" b="1" dirty="0">
                <a:solidFill>
                  <a:srgbClr val="FFFFFF"/>
                </a:solidFill>
                <a:latin typeface="Montserrat" pitchFamily="34" charset="0"/>
                <a:ea typeface="Montserrat" pitchFamily="34" charset="-122"/>
                <a:cs typeface="Montserrat" pitchFamily="34" charset="-120"/>
              </a:rPr>
              <a:t>Identify</a:t>
            </a:r>
            <a:endParaRPr lang="en-US" sz="1700" dirty="0"/>
          </a:p>
        </p:txBody>
      </p:sp>
      <p:sp>
        <p:nvSpPr>
          <p:cNvPr id="8" name="Text 5"/>
          <p:cNvSpPr txBox="1"/>
          <p:nvPr/>
        </p:nvSpPr>
        <p:spPr>
          <a:xfrm>
            <a:off x="749808" y="3703320"/>
            <a:ext cx="2249424"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Find the opportunity</a:t>
            </a:r>
            <a:endParaRPr lang="en-US" sz="1200" dirty="0"/>
          </a:p>
        </p:txBody>
      </p:sp>
      <p:sp>
        <p:nvSpPr>
          <p:cNvPr id="9" name="Shape 6"/>
          <p:cNvSpPr/>
          <p:nvPr/>
        </p:nvSpPr>
        <p:spPr>
          <a:xfrm>
            <a:off x="3374136" y="2834640"/>
            <a:ext cx="2615184" cy="1325880"/>
          </a:xfrm>
          <a:prstGeom prst="roundRect">
            <a:avLst>
              <a:gd name="adj" fmla="val 5517"/>
            </a:avLst>
          </a:prstGeom>
          <a:solidFill>
            <a:srgbClr val="1B2156"/>
          </a:solidFill>
          <a:ln/>
        </p:spPr>
      </p:sp>
      <p:sp>
        <p:nvSpPr>
          <p:cNvPr id="10" name="Text 7"/>
          <p:cNvSpPr txBox="1"/>
          <p:nvPr/>
        </p:nvSpPr>
        <p:spPr>
          <a:xfrm>
            <a:off x="3575304" y="2953512"/>
            <a:ext cx="914400" cy="365760"/>
          </a:xfrm>
          <a:prstGeom prst="rect">
            <a:avLst/>
          </a:prstGeom>
          <a:noFill/>
          <a:ln/>
        </p:spPr>
        <p:txBody>
          <a:bodyPr wrap="square" lIns="0" tIns="0" rIns="0" bIns="0" rtlCol="0" anchor="t"/>
          <a:lstStyle/>
          <a:p>
            <a:pPr indent="0" marL="0">
              <a:buNone/>
            </a:pPr>
            <a:r>
              <a:rPr lang="en-US" sz="1400" b="1" dirty="0">
                <a:solidFill>
                  <a:srgbClr val="4A8FDB"/>
                </a:solidFill>
                <a:latin typeface="Montserrat" pitchFamily="34" charset="0"/>
                <a:ea typeface="Montserrat" pitchFamily="34" charset="-122"/>
                <a:cs typeface="Montserrat" pitchFamily="34" charset="-120"/>
              </a:rPr>
              <a:t>02</a:t>
            </a:r>
            <a:endParaRPr lang="en-US" sz="1400" dirty="0"/>
          </a:p>
        </p:txBody>
      </p:sp>
      <p:sp>
        <p:nvSpPr>
          <p:cNvPr id="11" name="Text 8"/>
          <p:cNvSpPr txBox="1"/>
          <p:nvPr/>
        </p:nvSpPr>
        <p:spPr>
          <a:xfrm>
            <a:off x="3575304" y="3319272"/>
            <a:ext cx="2249424" cy="365760"/>
          </a:xfrm>
          <a:prstGeom prst="rect">
            <a:avLst/>
          </a:prstGeom>
          <a:noFill/>
          <a:ln/>
        </p:spPr>
        <p:txBody>
          <a:bodyPr wrap="square" lIns="0" tIns="0" rIns="0" bIns="0" rtlCol="0" anchor="t"/>
          <a:lstStyle/>
          <a:p>
            <a:pPr indent="0" marL="0">
              <a:buNone/>
            </a:pPr>
            <a:r>
              <a:rPr lang="en-US" sz="1700" b="1" dirty="0">
                <a:solidFill>
                  <a:srgbClr val="FFFFFF"/>
                </a:solidFill>
                <a:latin typeface="Montserrat" pitchFamily="34" charset="0"/>
                <a:ea typeface="Montserrat" pitchFamily="34" charset="-122"/>
                <a:cs typeface="Montserrat" pitchFamily="34" charset="-120"/>
              </a:rPr>
              <a:t>Quantify</a:t>
            </a:r>
            <a:endParaRPr lang="en-US" sz="1700" dirty="0"/>
          </a:p>
        </p:txBody>
      </p:sp>
      <p:sp>
        <p:nvSpPr>
          <p:cNvPr id="12" name="Text 9"/>
          <p:cNvSpPr txBox="1"/>
          <p:nvPr/>
        </p:nvSpPr>
        <p:spPr>
          <a:xfrm>
            <a:off x="3575304" y="3703320"/>
            <a:ext cx="2249424"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Build the business case</a:t>
            </a:r>
            <a:endParaRPr lang="en-US" sz="1200" dirty="0"/>
          </a:p>
        </p:txBody>
      </p:sp>
      <p:sp>
        <p:nvSpPr>
          <p:cNvPr id="13" name="Shape 10"/>
          <p:cNvSpPr/>
          <p:nvPr/>
        </p:nvSpPr>
        <p:spPr>
          <a:xfrm>
            <a:off x="6199632" y="2834640"/>
            <a:ext cx="2615184" cy="1325880"/>
          </a:xfrm>
          <a:prstGeom prst="roundRect">
            <a:avLst>
              <a:gd name="adj" fmla="val 5517"/>
            </a:avLst>
          </a:prstGeom>
          <a:solidFill>
            <a:srgbClr val="1B2156"/>
          </a:solidFill>
          <a:ln/>
        </p:spPr>
      </p:sp>
      <p:sp>
        <p:nvSpPr>
          <p:cNvPr id="14" name="Text 11"/>
          <p:cNvSpPr txBox="1"/>
          <p:nvPr/>
        </p:nvSpPr>
        <p:spPr>
          <a:xfrm>
            <a:off x="6400800" y="2953512"/>
            <a:ext cx="914400" cy="365760"/>
          </a:xfrm>
          <a:prstGeom prst="rect">
            <a:avLst/>
          </a:prstGeom>
          <a:noFill/>
          <a:ln/>
        </p:spPr>
        <p:txBody>
          <a:bodyPr wrap="square" lIns="0" tIns="0" rIns="0" bIns="0" rtlCol="0" anchor="t"/>
          <a:lstStyle/>
          <a:p>
            <a:pPr indent="0" marL="0">
              <a:buNone/>
            </a:pPr>
            <a:r>
              <a:rPr lang="en-US" sz="1400" b="1" dirty="0">
                <a:solidFill>
                  <a:srgbClr val="4A8FDB"/>
                </a:solidFill>
                <a:latin typeface="Montserrat" pitchFamily="34" charset="0"/>
                <a:ea typeface="Montserrat" pitchFamily="34" charset="-122"/>
                <a:cs typeface="Montserrat" pitchFamily="34" charset="-120"/>
              </a:rPr>
              <a:t>03</a:t>
            </a:r>
            <a:endParaRPr lang="en-US" sz="1400" dirty="0"/>
          </a:p>
        </p:txBody>
      </p:sp>
      <p:sp>
        <p:nvSpPr>
          <p:cNvPr id="15" name="Text 12"/>
          <p:cNvSpPr txBox="1"/>
          <p:nvPr/>
        </p:nvSpPr>
        <p:spPr>
          <a:xfrm>
            <a:off x="6400800" y="3319272"/>
            <a:ext cx="2249424" cy="365760"/>
          </a:xfrm>
          <a:prstGeom prst="rect">
            <a:avLst/>
          </a:prstGeom>
          <a:noFill/>
          <a:ln/>
        </p:spPr>
        <p:txBody>
          <a:bodyPr wrap="square" lIns="0" tIns="0" rIns="0" bIns="0" rtlCol="0" anchor="t"/>
          <a:lstStyle/>
          <a:p>
            <a:pPr indent="0" marL="0">
              <a:buNone/>
            </a:pPr>
            <a:r>
              <a:rPr lang="en-US" sz="1700" b="1" dirty="0">
                <a:solidFill>
                  <a:srgbClr val="FFFFFF"/>
                </a:solidFill>
                <a:latin typeface="Montserrat" pitchFamily="34" charset="0"/>
                <a:ea typeface="Montserrat" pitchFamily="34" charset="-122"/>
                <a:cs typeface="Montserrat" pitchFamily="34" charset="-120"/>
              </a:rPr>
              <a:t>Experiment</a:t>
            </a:r>
            <a:endParaRPr lang="en-US" sz="1700" dirty="0"/>
          </a:p>
        </p:txBody>
      </p:sp>
      <p:sp>
        <p:nvSpPr>
          <p:cNvPr id="16" name="Text 13"/>
          <p:cNvSpPr txBox="1"/>
          <p:nvPr/>
        </p:nvSpPr>
        <p:spPr>
          <a:xfrm>
            <a:off x="6400800" y="3703320"/>
            <a:ext cx="2249424"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Collect real evidence</a:t>
            </a:r>
            <a:endParaRPr lang="en-US" sz="1200" dirty="0"/>
          </a:p>
        </p:txBody>
      </p:sp>
      <p:sp>
        <p:nvSpPr>
          <p:cNvPr id="17" name="Shape 14"/>
          <p:cNvSpPr/>
          <p:nvPr/>
        </p:nvSpPr>
        <p:spPr>
          <a:xfrm>
            <a:off x="9025128" y="2834640"/>
            <a:ext cx="2615184" cy="1325880"/>
          </a:xfrm>
          <a:prstGeom prst="roundRect">
            <a:avLst>
              <a:gd name="adj" fmla="val 5517"/>
            </a:avLst>
          </a:prstGeom>
          <a:solidFill>
            <a:srgbClr val="1B2156"/>
          </a:solidFill>
          <a:ln/>
        </p:spPr>
      </p:sp>
      <p:sp>
        <p:nvSpPr>
          <p:cNvPr id="18" name="Text 15"/>
          <p:cNvSpPr txBox="1"/>
          <p:nvPr/>
        </p:nvSpPr>
        <p:spPr>
          <a:xfrm>
            <a:off x="9226296" y="2953512"/>
            <a:ext cx="914400" cy="365760"/>
          </a:xfrm>
          <a:prstGeom prst="rect">
            <a:avLst/>
          </a:prstGeom>
          <a:noFill/>
          <a:ln/>
        </p:spPr>
        <p:txBody>
          <a:bodyPr wrap="square" lIns="0" tIns="0" rIns="0" bIns="0" rtlCol="0" anchor="t"/>
          <a:lstStyle/>
          <a:p>
            <a:pPr indent="0" marL="0">
              <a:buNone/>
            </a:pPr>
            <a:r>
              <a:rPr lang="en-US" sz="1400" b="1" dirty="0">
                <a:solidFill>
                  <a:srgbClr val="4A8FDB"/>
                </a:solidFill>
                <a:latin typeface="Montserrat" pitchFamily="34" charset="0"/>
                <a:ea typeface="Montserrat" pitchFamily="34" charset="-122"/>
                <a:cs typeface="Montserrat" pitchFamily="34" charset="-120"/>
              </a:rPr>
              <a:t>04</a:t>
            </a:r>
            <a:endParaRPr lang="en-US" sz="1400" dirty="0"/>
          </a:p>
        </p:txBody>
      </p:sp>
      <p:sp>
        <p:nvSpPr>
          <p:cNvPr id="19" name="Text 16"/>
          <p:cNvSpPr txBox="1"/>
          <p:nvPr/>
        </p:nvSpPr>
        <p:spPr>
          <a:xfrm>
            <a:off x="9226296" y="3319272"/>
            <a:ext cx="2249424" cy="365760"/>
          </a:xfrm>
          <a:prstGeom prst="rect">
            <a:avLst/>
          </a:prstGeom>
          <a:noFill/>
          <a:ln/>
        </p:spPr>
        <p:txBody>
          <a:bodyPr wrap="square" lIns="0" tIns="0" rIns="0" bIns="0" rtlCol="0" anchor="t"/>
          <a:lstStyle/>
          <a:p>
            <a:pPr indent="0" marL="0">
              <a:buNone/>
            </a:pPr>
            <a:r>
              <a:rPr lang="en-US" sz="1700" b="1" dirty="0">
                <a:solidFill>
                  <a:srgbClr val="FFFFFF"/>
                </a:solidFill>
                <a:latin typeface="Montserrat" pitchFamily="34" charset="0"/>
                <a:ea typeface="Montserrat" pitchFamily="34" charset="-122"/>
                <a:cs typeface="Montserrat" pitchFamily="34" charset="-120"/>
              </a:rPr>
              <a:t>Decide</a:t>
            </a:r>
            <a:endParaRPr lang="en-US" sz="1700" dirty="0"/>
          </a:p>
        </p:txBody>
      </p:sp>
      <p:sp>
        <p:nvSpPr>
          <p:cNvPr id="20" name="Text 17"/>
          <p:cNvSpPr txBox="1"/>
          <p:nvPr/>
        </p:nvSpPr>
        <p:spPr>
          <a:xfrm>
            <a:off x="9226296" y="3703320"/>
            <a:ext cx="2249424"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Go, iterate or stop</a:t>
            </a:r>
            <a:endParaRPr lang="en-US" sz="1200" dirty="0"/>
          </a:p>
        </p:txBody>
      </p:sp>
      <p:sp>
        <p:nvSpPr>
          <p:cNvPr id="21" name="Text 18"/>
          <p:cNvSpPr txBox="1"/>
          <p:nvPr/>
        </p:nvSpPr>
        <p:spPr>
          <a:xfrm>
            <a:off x="548640" y="4526280"/>
            <a:ext cx="4572000" cy="274320"/>
          </a:xfrm>
          <a:prstGeom prst="rect">
            <a:avLst/>
          </a:prstGeom>
          <a:noFill/>
          <a:ln/>
        </p:spPr>
        <p:txBody>
          <a:bodyPr wrap="square" lIns="0" tIns="0" rIns="0" bIns="0" rtlCol="0" anchor="t"/>
          <a:lstStyle/>
          <a:p>
            <a:pPr indent="0" marL="0">
              <a:buNone/>
            </a:pPr>
            <a:r>
              <a:rPr lang="en-US" sz="1000" b="1" spc="100" kern="0" dirty="0">
                <a:solidFill>
                  <a:srgbClr val="4A8FDB"/>
                </a:solidFill>
                <a:latin typeface="Montserrat" pitchFamily="34" charset="0"/>
                <a:ea typeface="Montserrat" pitchFamily="34" charset="-122"/>
                <a:cs typeface="Montserrat" pitchFamily="34" charset="-120"/>
              </a:rPr>
              <a:t>WHO WE ARE</a:t>
            </a:r>
            <a:endParaRPr lang="en-US" sz="1000" dirty="0"/>
          </a:p>
        </p:txBody>
      </p:sp>
      <p:sp>
        <p:nvSpPr>
          <p:cNvPr id="22" name="Text 19"/>
          <p:cNvSpPr txBox="1"/>
          <p:nvPr/>
        </p:nvSpPr>
        <p:spPr>
          <a:xfrm>
            <a:off x="548640" y="4846320"/>
            <a:ext cx="5394960" cy="109728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EE-Partner (Milan) and asuno (Singapore) build AI-native systems for B2B companies — process automation for the DACH Mittelstand, and the Business Model Validator: an AI validation layer between idea and investment.</a:t>
            </a:r>
            <a:endParaRPr lang="en-US" sz="1200" dirty="0"/>
          </a:p>
        </p:txBody>
      </p:sp>
      <p:sp>
        <p:nvSpPr>
          <p:cNvPr id="23" name="Text 20"/>
          <p:cNvSpPr txBox="1"/>
          <p:nvPr/>
        </p:nvSpPr>
        <p:spPr>
          <a:xfrm>
            <a:off x="6263640" y="4526280"/>
            <a:ext cx="4572000" cy="274320"/>
          </a:xfrm>
          <a:prstGeom prst="rect">
            <a:avLst/>
          </a:prstGeom>
          <a:noFill/>
          <a:ln/>
        </p:spPr>
        <p:txBody>
          <a:bodyPr wrap="square" lIns="0" tIns="0" rIns="0" bIns="0" rtlCol="0" anchor="t"/>
          <a:lstStyle/>
          <a:p>
            <a:pPr indent="0" marL="0">
              <a:buNone/>
            </a:pPr>
            <a:r>
              <a:rPr lang="en-US" sz="1000" b="1" spc="100" kern="0" dirty="0">
                <a:solidFill>
                  <a:srgbClr val="4A8FDB"/>
                </a:solidFill>
                <a:latin typeface="Montserrat" pitchFamily="34" charset="0"/>
                <a:ea typeface="Montserrat" pitchFamily="34" charset="-122"/>
                <a:cs typeface="Montserrat" pitchFamily="34" charset="-120"/>
              </a:rPr>
              <a:t>WORK WITH US</a:t>
            </a:r>
            <a:endParaRPr lang="en-US" sz="1000" dirty="0"/>
          </a:p>
        </p:txBody>
      </p:sp>
      <p:sp>
        <p:nvSpPr>
          <p:cNvPr id="24" name="Text 21"/>
          <p:cNvSpPr txBox="1"/>
          <p:nvPr/>
        </p:nvSpPr>
        <p:spPr>
          <a:xfrm>
            <a:off x="6263640" y="4846320"/>
            <a:ext cx="5376672" cy="64008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Thesis topics on channel intelligence and validation, pilot participation.</a:t>
            </a:r>
            <a:endParaRPr lang="en-US" sz="1200" dirty="0"/>
          </a:p>
        </p:txBody>
      </p:sp>
      <p:sp>
        <p:nvSpPr>
          <p:cNvPr id="25" name="Text 22"/>
          <p:cNvSpPr txBox="1"/>
          <p:nvPr/>
        </p:nvSpPr>
        <p:spPr>
          <a:xfrm>
            <a:off x="6263640" y="5532120"/>
            <a:ext cx="5376672" cy="320040"/>
          </a:xfrm>
          <a:prstGeom prst="rect">
            <a:avLst/>
          </a:prstGeom>
          <a:noFill/>
          <a:ln/>
        </p:spPr>
        <p:txBody>
          <a:bodyPr wrap="square" lIns="0" tIns="0" rIns="0" bIns="0" rtlCol="0" anchor="t"/>
          <a:lstStyle/>
          <a:p>
            <a:pPr indent="0" marL="0">
              <a:buNone/>
            </a:pPr>
            <a:r>
              <a:rPr lang="en-US" sz="1200" b="1" dirty="0">
                <a:solidFill>
                  <a:srgbClr val="FFFFFF"/>
                </a:solidFill>
                <a:latin typeface="Montserrat" pitchFamily="34" charset="0"/>
                <a:ea typeface="Montserrat" pitchFamily="34" charset="-122"/>
                <a:cs typeface="Montserrat" pitchFamily="34" charset="-120"/>
              </a:rPr>
              <a:t>Contact: [e-mail / LinkedIn]</a:t>
            </a:r>
            <a:endParaRPr lang="en-US" sz="1200" dirty="0"/>
          </a:p>
        </p:txBody>
      </p:sp>
      <p:pic>
        <p:nvPicPr>
          <p:cNvPr id="26" name="Image 0" descr="/home/user/work/assets/logo_w.png">    </p:cNvPr>
          <p:cNvPicPr>
            <a:picLocks noChangeAspect="1"/>
          </p:cNvPicPr>
          <p:nvPr/>
        </p:nvPicPr>
        <p:blipFill>
          <a:blip r:embed="rId1"/>
          <a:stretch>
            <a:fillRect/>
          </a:stretch>
        </p:blipFill>
        <p:spPr>
          <a:xfrm>
            <a:off x="566928" y="6053328"/>
            <a:ext cx="1143000" cy="420624"/>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EE-Partner Lecture">
  <a:themeElements>
    <a:clrScheme name="EE-Partner Lecture">
      <a:dk1>
        <a:srgbClr val="0F1341"/>
      </a:dk1>
      <a:lt1>
        <a:srgbClr val="FFFFFF"/>
      </a:lt1>
      <a:dk2>
        <a:srgbClr val="5B6270"/>
      </a:dk2>
      <a:lt2>
        <a:srgbClr val="F3F7FC"/>
      </a:lt2>
      <a:accent1>
        <a:srgbClr val="2E6FBF"/>
      </a:accent1>
      <a:accent2>
        <a:srgbClr val="4A8FDB"/>
      </a:accent2>
      <a:accent3>
        <a:srgbClr val="8A93A3"/>
      </a:accent3>
      <a:accent4>
        <a:srgbClr val="D9E8F8"/>
      </a:accent4>
      <a:accent5>
        <a:srgbClr val="C9D3E3"/>
      </a:accent5>
      <a:accent6>
        <a:srgbClr val="6A7FA8"/>
      </a:accent6>
      <a:hlink>
        <a:srgbClr val="2E6FBF"/>
      </a:hlink>
      <a:folHlink>
        <a:srgbClr val="6A7FA8"/>
      </a:folHlink>
    </a:clrScheme>
    <a:fontScheme name="EE-Partner Lectur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EE-Partner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AI-Powered Customer Ecosystem</dc:title>
  <dc:subject>PptxGenJS Presentation</dc:subject>
  <dc:creator>EE-Partner</dc:creator>
  <cp:lastModifiedBy>EE-Partner</cp:lastModifiedBy>
  <cp:revision>1</cp:revision>
  <dcterms:created xsi:type="dcterms:W3CDTF">2026-10-03T22:02:35Z</dcterms:created>
  <dcterms:modified xsi:type="dcterms:W3CDTF">2026-10-03T22:02:35Z</dcterms:modified>
</cp:coreProperties>
</file>