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4.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Least messy</c:v>
                </c:pt>
              </c:strCache>
            </c:strRef>
          </c:tx>
          <c:spPr>
            <a:solidFill>
              <a:srgbClr val="D9E8F8"/>
            </a:solidFill>
            <a:ln>
              <a:noFill/>
            </a:ln>
            <a:effectLst/>
          </c:spPr>
          <c:marker>
            <c:symbol val="circle"/>
            <c:size val="9"/>
            <c:spPr>
              <a:solidFill>
                <a:srgbClr val="D9E8F8"/>
              </a:solidFill>
              <a:ln w="9525" cap="flat">
                <a:solidFill>
                  <a:srgbClr val="D9E8F8"/>
                </a:solidFill>
                <a:prstDash val="solid"/>
                <a:round/>
              </a:ln>
              <a:effectLst/>
            </c:spPr>
          </c:marker>
          <c:xVal>
            <c:numRef>
              <c:f>Sheet1!$A$2:$A$10</c:f>
              <c:numCache>
                <c:formatCode>General</c:formatCode>
                <c:ptCount val="9"/>
                <c:pt idx="0">
                  <c:v>2022.15</c:v>
                </c:pt>
                <c:pt idx="1">
                  <c:v>2023.05</c:v>
                </c:pt>
                <c:pt idx="2">
                  <c:v>2023.65</c:v>
                </c:pt>
                <c:pt idx="3">
                  <c:v>2024.1</c:v>
                </c:pt>
                <c:pt idx="4">
                  <c:v>2024.2</c:v>
                </c:pt>
                <c:pt idx="5">
                  <c:v>2024.42</c:v>
                </c:pt>
                <c:pt idx="6">
                  <c:v>2024.52</c:v>
                </c:pt>
                <c:pt idx="7">
                  <c:v>2024.62</c:v>
                </c:pt>
                <c:pt idx="8">
                  <c:v>2024.83</c:v>
                </c:pt>
              </c:numCache>
            </c:numRef>
          </c:xVal>
          <c:yVal>
            <c:numRef>
              <c:f>Sheet1!$B$2:$B$10</c:f>
              <c:numCache>
                <c:formatCode>General</c:formatCode>
                <c:ptCount val="9"/>
                <c:pt idx="0">
                  <c:v>1</c:v>
                </c:pt>
                <c:pt idx="1">
                  <c:v>47</c:v>
                </c:pt>
                <c:pt idx="2">
                  <c:v>64</c:v>
                </c:pt>
                <c:pt idx="3">
                  <c:v>64</c:v>
                </c:pt>
                <c:pt idx="4">
                  <c:v>71</c:v>
                </c:pt>
                <c:pt idx="5">
                  <c:v>73</c:v>
                </c:pt>
                <c:pt idx="6">
                  <c:v>84</c:v>
                </c:pt>
                <c:pt idx="7">
                  <c:v>81</c:v>
                </c:pt>
                <c:pt idx="8">
                  <c:v>95</c:v>
                </c:pt>
              </c:numCache>
            </c:numRef>
          </c:yVal>
          <c:smooth val="0"/>
        </c:ser>
        <c:ser>
          <c:idx val="1"/>
          <c:order val="1"/>
          <c:tx>
            <c:strRef>
              <c:f>Sheet1!$C$1</c:f>
              <c:strCache>
                <c:ptCount val="1"/>
                <c:pt idx="0">
                  <c:v>Messiest</c:v>
                </c:pt>
              </c:strCache>
            </c:strRef>
          </c:tx>
          <c:spPr>
            <a:solidFill>
              <a:srgbClr val="4A8FDB"/>
            </a:solidFill>
            <a:ln>
              <a:noFill/>
            </a:ln>
            <a:effectLst/>
          </c:spPr>
          <c:marker>
            <c:symbol val="circle"/>
            <c:size val="9"/>
            <c:spPr>
              <a:solidFill>
                <a:srgbClr val="4A8FDB"/>
              </a:solidFill>
              <a:ln w="9525" cap="flat">
                <a:solidFill>
                  <a:srgbClr val="4A8FDB"/>
                </a:solidFill>
                <a:prstDash val="solid"/>
                <a:round/>
              </a:ln>
              <a:effectLst/>
            </c:spPr>
          </c:marker>
          <c:xVal>
            <c:numRef>
              <c:f>Sheet1!$A$2:$A$10</c:f>
              <c:numCache>
                <c:formatCode>General</c:formatCode>
                <c:ptCount val="9"/>
                <c:pt idx="0">
                  <c:v>2022.15</c:v>
                </c:pt>
                <c:pt idx="1">
                  <c:v>2023.05</c:v>
                </c:pt>
                <c:pt idx="2">
                  <c:v>2023.65</c:v>
                </c:pt>
                <c:pt idx="3">
                  <c:v>2024.1</c:v>
                </c:pt>
                <c:pt idx="4">
                  <c:v>2024.2</c:v>
                </c:pt>
                <c:pt idx="5">
                  <c:v>2024.42</c:v>
                </c:pt>
                <c:pt idx="6">
                  <c:v>2024.52</c:v>
                </c:pt>
                <c:pt idx="7">
                  <c:v>2024.62</c:v>
                </c:pt>
                <c:pt idx="8">
                  <c:v>2024.83</c:v>
                </c:pt>
              </c:numCache>
            </c:numRef>
          </c:xVal>
          <c:yVal>
            <c:numRef>
              <c:f>Sheet1!$C$2:$C$10</c:f>
              <c:numCache>
                <c:formatCode>General</c:formatCode>
                <c:ptCount val="9"/>
                <c:pt idx="0">
                  <c:v>0.5</c:v>
                </c:pt>
                <c:pt idx="1">
                  <c:v>21</c:v>
                </c:pt>
                <c:pt idx="2">
                  <c:v>22</c:v>
                </c:pt>
                <c:pt idx="3">
                  <c:v>17</c:v>
                </c:pt>
                <c:pt idx="4">
                  <c:v>36</c:v>
                </c:pt>
                <c:pt idx="5">
                  <c:v>42</c:v>
                </c:pt>
                <c:pt idx="6">
                  <c:v>40</c:v>
                </c:pt>
                <c:pt idx="7">
                  <c:v>50</c:v>
                </c:pt>
                <c:pt idx="8">
                  <c:v>62</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2025.5"/>
          <c:min val="2022"/>
        </c:scaling>
        <c:delete val="0"/>
        <c:axPos val="b"/>
        <c:majorGridlines>
          <c:spPr>
            <a:ln w="9525" cap="flat">
              <a:solidFill>
                <a:srgbClr val="2A3170"/>
              </a:solidFill>
              <a:prstDash val="solid"/>
              <a:round/>
            </a:ln>
          </c:spPr>
        </c:majorGridlines>
        <c:numFmt formatCode="General" sourceLinked="1"/>
        <c:majorTickMark val="none"/>
        <c:minorTickMark val="none"/>
        <c:tickLblPos val="nextTo"/>
        <c:spPr>
          <a:ln w="12700" cap="flat">
            <a:solidFill>
              <a:srgbClr val="888888"/>
            </a:solidFill>
            <a:prstDash val="solid"/>
            <a:round/>
          </a:ln>
        </c:spPr>
        <c:txPr>
          <a:bodyPr/>
          <a:lstStyle/>
          <a:p>
            <a:pPr>
              <a:defRPr sz="1000" b="0" i="0" u="none" strike="noStrike">
                <a:solidFill>
                  <a:srgbClr val="C9D3E3"/>
                </a:solidFill>
                <a:latin typeface="+mn-lt"/>
              </a:defRPr>
            </a:pPr>
            <a:endParaRPr lang="en-US"/>
          </a:p>
        </c:txPr>
        <c:crossAx val="2094734552"/>
        <c:crosses val="autoZero"/>
        <c:auto val="1"/>
        <c:lblAlgn val="ctr"/>
        <c:noMultiLvlLbl val="1"/>
        <c:majorUnit val="1"/>
      </c:valAx>
      <c:valAx>
        <c:axId val="2094734552"/>
        <c:scaling>
          <c:orientation val="minMax"/>
          <c:max val="100"/>
          <c:min val="0"/>
        </c:scaling>
        <c:delete val="0"/>
        <c:axPos val="l"/>
        <c:majorGridlines>
          <c:spPr>
            <a:ln w="9525" cap="flat">
              <a:solidFill>
                <a:srgbClr val="2A3170"/>
              </a:solidFill>
              <a:prstDash val="solid"/>
              <a:round/>
            </a:ln>
          </c:spPr>
        </c:majorGridlines>
        <c:numFmt formatCode="General" sourceLinked="0"/>
        <c:majorTickMark val="none"/>
        <c:minorTickMark val="none"/>
        <c:tickLblPos val="nextTo"/>
        <c:spPr>
          <a:ln w="12700" cap="flat">
            <a:solidFill>
              <a:srgbClr val="888888"/>
            </a:solidFill>
            <a:prstDash val="solid"/>
            <a:round/>
          </a:ln>
        </c:spPr>
        <c:txPr>
          <a:bodyPr/>
          <a:lstStyle/>
          <a:p>
            <a:pPr>
              <a:defRPr sz="1000" b="0" i="0" u="none" strike="noStrike">
                <a:solidFill>
                  <a:srgbClr val="C9D3E3"/>
                </a:solidFill>
                <a:latin typeface="+mn-lt"/>
              </a:defRPr>
            </a:pPr>
            <a:endParaRPr lang="en-US"/>
          </a:p>
        </c:txPr>
        <c:crossAx val="2094734554"/>
        <c:crosses val="autoZero"/>
        <c:crossBetween val="midCat"/>
        <c:majorUnit val="20"/>
      </c:valAx>
      <c:spPr>
        <a:solidFill>
          <a:srgbClr val="0F1341"/>
        </a:solidFill>
        <a:ln>
          <a:noFill/>
        </a:ln>
        <a:effectLst/>
      </c:spPr>
    </c:plotArea>
    <c:legend>
      <c:legendPos val="b"/>
      <c:overlay val="0"/>
      <c:txPr>
        <a:bodyPr/>
        <a:lstStyle/>
        <a:p>
          <a:pPr>
            <a:defRPr sz="1000">
              <a:solidFill>
                <a:srgbClr val="FFFFFF"/>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Contacts</c:v>
                </c:pt>
              </c:strCache>
            </c:strRef>
          </c:tx>
          <c:spPr>
            <a:solidFill>
              <a:srgbClr val="2E6FBF"/>
            </a:solidFill>
            <a:effectLst/>
          </c:spPr>
          <c:invertIfNegative val="0"/>
          <c:dLbls>
            <c:numFmt formatCode="#,##0" sourceLinked="0"/>
            <c:txPr>
              <a:bodyPr/>
              <a:lstStyle/>
              <a:p>
                <a:pPr>
                  <a:defRPr b="0" i="0" strike="noStrike" sz="1100" u="none">
                    <a:solidFill>
                      <a:srgbClr val="0F1341"/>
                    </a:solidFill>
                    <a:latin typeface="+mn-lt"/>
                  </a:defRPr>
                </a:pPr>
              </a:p>
            </c:txPr>
            <c:showLegendKey val="0"/>
            <c:showVal val="1"/>
            <c:showCatName val="0"/>
            <c:showSerName val="0"/>
            <c:showPercent val="0"/>
            <c:showBubbleSize val="0"/>
            <c:showLeaderLines val="0"/>
          </c:dLbls>
          <c:cat>
            <c:multiLvlStrRef>
              <c:f>Sheet1!$A$2:$A$6</c:f>
              <c:multiLvlStrCache>
                <c:ptCount val="5"/>
                <c:lvl>
                  <c:pt idx="0">
                    <c:v>Sent</c:v>
                  </c:pt>
                  <c:pt idx="1">
                    <c:v>Delivered</c:v>
                  </c:pt>
                  <c:pt idx="2">
                    <c:v>Replied</c:v>
                  </c:pt>
                  <c:pt idx="3">
                    <c:v>Positive</c:v>
                  </c:pt>
                  <c:pt idx="4">
                    <c:v>Meeting</c:v>
                  </c:pt>
                </c:lvl>
              </c:multiLvlStrCache>
            </c:multiLvlStrRef>
          </c:cat>
          <c:val>
            <c:numRef>
              <c:f>Sheet1!$B$2:$B$6</c:f>
              <c:numCache>
                <c:formatCode>General</c:formatCode>
                <c:ptCount val="5"/>
                <c:pt idx="0">
                  <c:v>5000</c:v>
                </c:pt>
                <c:pt idx="1">
                  <c:v>4800</c:v>
                </c:pt>
                <c:pt idx="2">
                  <c:v>200</c:v>
                </c:pt>
                <c:pt idx="3">
                  <c:v>60</c:v>
                </c:pt>
                <c:pt idx="4">
                  <c:v>30</c:v>
                </c:pt>
              </c:numCache>
            </c:numRef>
          </c:val>
        </c:ser>
        <c:dLbls>
          <c:numFmt formatCode="#,##0" sourceLinked="0"/>
          <c:txPr>
            <a:bodyPr/>
            <a:lstStyle/>
            <a:p>
              <a:pPr>
                <a:defRPr b="0" i="0" strike="noStrike" sz="1100" u="none">
                  <a:solidFill>
                    <a:srgbClr val="0F1341"/>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F1341"/>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Interactive Menti survey (placeholder — insert join code and QR). Run the five questions back to back, about 60 seconds each. Read out one surprising answer per question. Save the results: questions marked “repeat” are asked again at the end.
1. What is the hardest part of selling today?
2. How many cold emails does a B2B seller need for one qualified meeting?  Options: 20 · 50 · 100 · 200+
3. Which sales task should AI take over first?  Options: Research · first message · follow-ups · forecasting
4. Which part of selling should AI never take over?
5. By 2030, will companies employ more or fewer salespeople?  Options: More · same · fewer · different profile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PLACEHOLDER — live demo by Emidio (approx. 5–7 minutes). The workflow connects millions of data points from many sources into one decision. Frame it with the lecture's lens: applied to sales: which companies have the pain, who to contact, with which message.
Afterwards ask the room: what would this have taken a team ten years ago? Bridge to the title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Running case: an AI sales assistant for small businesses. Live case: one real, anonymised cold-email campaign.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impulse 1 — adoption speed. Netflix needed 3.5 years, Airbnb 2.5, Twitter 2. ChatGPT needed five days (launch Nov 30, 2022). The bar for ChatGPT is barely visible — that is the point. For sales: buyers adopt AI this fast too — your next buyer researches you with an AI before you ever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impulse 2 — capability speed. In 2024 the best model scored around 96 on an offline IQ test (not in any training data). In 2025 the best model (o3) reached 136 on the Mensa Norway test — roughly the top 1% of people. Caveat to say out loud: IQ tests measure pattern reasoning, not judgement or experience. Ask: if AI can reason this well, which part of a sales conversation still needs a human?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impulse 3 — reality check. METR measured AI success on tasks that take a human professional one hour or less. On clean, well-defined tasks success went from ~0 to ~95% within three years; on messy tasks — unclear goals, many tools, changing context — it is around 60%. Most real jobs are messy. For sales: research and first drafts are clean tasks; negotiation and trust are messy. That is where sellers stay.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impulse 4 — what becomes valuable. Top right quadrant = core now and growing: AI and big data leads by far, followed by technological literacy, creative and analytical thinking, resilience, curiosity and lifelong learning. Programming sits lower than people expect — AI writes code. Sales profile shifts to analytical thinking + empathy + AI literacy.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impulse 5 — the bridge to today's topic. Human intelligence brings judgement, context, trust and responsibility. Artificial intelligence brings speed, scale and pattern recognition. Augmented intelligence is the overlap — and that is where the rest of this lecture lives. 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rows. The middle column is most sales teams in 2026: same funnel, AI-generated emails at scale — which mainly produces more spam. The right column is the rethink: diagnosis first, every campaign an experiment.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for the session. AI-enabled: same funnel, more volume. AI-native: the funnel is redesigned — research and simulation decide whom to contact and with what; the seller approves the hypothesis and owns the 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or screenshot of the Context Engine. Groups of 3–4 (4 min): three pain hypotheses for small-business owners — and for each, the evidence you would need before writing a single email. Inferred lines are the ones that cost sales teams the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Cold Email Engine explained as a sales process. Live demo with Claude Code: students give the ICP and two pain angles; the prospecting tool generates both campaign variants and a qualification checklist. Rehearse the live change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Sales students see only E1 in most tools. The point: E4/E5 decide the list, E2/E3 decide the message and price, E1 proves it. All five write into one ledger.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explicitly: the vote is declarative evidence (weight 0.7), not behaviour. Two or three pitches; the rest submit via Menti.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the illustrative funnel with the real anonymised campaign (sample sizes!). Resolve Menti question 2 with the real emails-per-meeting figure. The pipeline is a learning system: it feeds product, pricing and strategy.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Sales force organisation and motivation: pay for documented learning per contact, not only for meetings. Recruit for curiosity and structure. Optional exercise (4 min): objection role play in pairs with real objections from the campaign dashboard. Then Menti question 2 resolved and closing.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Q&amp;A. Hypothesis format and reply taxonomy as a handout for project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image" Target="../media/image-1005-2.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pic>
        <p:nvPicPr>
          <p:cNvPr id="2" name="Image 0" descr="/home/user/work/assets/wave_content.png">    </p:cNvPr>
          <p:cNvPicPr>
            <a:picLocks noChangeAspect="1"/>
          </p:cNvPicPr>
          <p:nvPr/>
        </p:nvPicPr>
        <p:blipFill>
          <a:blip r:embed="rId1"/>
          <a:stretch>
            <a:fillRect/>
          </a:stretch>
        </p:blipFill>
        <p:spPr>
          <a:xfrm>
            <a:off x="6339535" y="0"/>
            <a:ext cx="5852160" cy="2011680"/>
          </a:xfrm>
          <a:prstGeom prst="rect">
            <a:avLst/>
          </a:prstGeom>
        </p:spPr>
      </p:pic>
      <p:pic>
        <p:nvPicPr>
          <p:cNvPr id="3" name="Image 1" descr="/home/user/work/assets/logo_t.png">    </p:cNvPr>
          <p:cNvPicPr>
            <a:picLocks noChangeAspect="1"/>
          </p:cNvPicPr>
          <p:nvPr/>
        </p:nvPicPr>
        <p:blipFill>
          <a:blip r:embed="rId2"/>
          <a:stretch>
            <a:fillRect/>
          </a:stretch>
        </p:blipFill>
        <p:spPr>
          <a:xfrm>
            <a:off x="566928" y="6291072"/>
            <a:ext cx="1143000" cy="420624"/>
          </a:xfrm>
          <a:prstGeom prst="rect">
            <a:avLst/>
          </a:prstGeom>
        </p:spPr>
      </p:pic>
      <p:sp>
        <p:nvSpPr>
          <p:cNvPr id="4" name="Text 0"/>
          <p:cNvSpPr/>
          <p:nvPr>
            <p:ph idx="102" type="title" hasCustomPrompt="1"/>
          </p:nvPr>
        </p:nvSpPr>
        <p:spPr>
          <a:xfrm>
            <a:off x="548640" y="502920"/>
            <a:ext cx="7863840" cy="685800"/>
          </a:xfrm>
          <a:prstGeom prst="rect">
            <a:avLst/>
          </a:prstGeom>
          <a:noFill/>
          <a:ln/>
        </p:spPr>
        <p:txBody>
          <a:bodyPr wrap="square" rtlCol="0"/>
          <a:lstStyle>
            <a:lvl1pPr algn="l" indent="0" marL="0">
              <a:buNone/>
              <a:defRPr lang="en-US" sz="2800" b="1" dirty="0">
                <a:solidFill>
                  <a:srgbClr val="0F1341"/>
                </a:solidFill>
                <a:latin typeface="Montserrat" pitchFamily="34" charset="0"/>
                <a:ea typeface="Montserrat" pitchFamily="34" charset="-122"/>
                <a:cs typeface="Montserrat" pitchFamily="34" charset="-120"/>
              </a:defRPr>
            </a:lvl1pPr>
          </a:lstStyle>
          <a:p>
            <a:pPr algn="l" indent="0" marL="0">
              <a:buNone/>
            </a:pPr>
            <a:r>
              <a:rPr lang="en-US" sz="2800" b="1" dirty="0">
                <a:solidFill>
                  <a:srgbClr val="0F1341"/>
                </a:solidFill>
                <a:latin typeface="Montserrat" pitchFamily="34" charset="0"/>
                <a:ea typeface="Montserrat" pitchFamily="34" charset="-122"/>
                <a:cs typeface="Montserrat" pitchFamily="34" charset="-120"/>
              </a:rPr>
              <a:t>Title</a:t>
            </a:r>
            <a:endParaRPr lang="en-US" sz="2800" dirty="0"/>
          </a:p>
        </p:txBody>
      </p:sp>
      <p:sp>
        <p:nvSpPr>
          <p:cNvPr id="5" name="Text 0"/>
          <p:cNvSpPr/>
          <p:nvPr>
            <p:ph idx="103" type="body" hasCustomPrompt="1"/>
          </p:nvPr>
        </p:nvSpPr>
        <p:spPr>
          <a:xfrm>
            <a:off x="548640" y="1207008"/>
            <a:ext cx="8778240" cy="365760"/>
          </a:xfrm>
          <a:prstGeom prst="rect">
            <a:avLst/>
          </a:prstGeom>
          <a:noFill/>
          <a:ln/>
        </p:spPr>
        <p:txBody>
          <a:bodyPr wrap="square" rtlCol="0"/>
          <a:lstStyle>
            <a:lvl1pPr algn="l" indent="0" marL="0">
              <a:buNone/>
              <a:defRPr lang="en-US" sz="1300" dirty="0">
                <a:solidFill>
                  <a:srgbClr val="5B6270"/>
                </a:solidFill>
                <a:latin typeface="Montserrat" pitchFamily="34" charset="0"/>
                <a:ea typeface="Montserrat" pitchFamily="34" charset="-122"/>
                <a:cs typeface="Montserrat" pitchFamily="34" charset="-120"/>
              </a:defRPr>
            </a:lvl1pPr>
          </a:lstStyle>
          <a:p>
            <a:pPr algn="l" indent="0" marL="0">
              <a:buNone/>
            </a:pPr>
            <a:r>
              <a:rPr lang="en-US" sz="1300" dirty="0">
                <a:solidFill>
                  <a:srgbClr val="5B6270"/>
                </a:solidFill>
                <a:latin typeface="Montserrat" pitchFamily="34" charset="0"/>
                <a:ea typeface="Montserrat" pitchFamily="34" charset="-122"/>
                <a:cs typeface="Montserrat" pitchFamily="34" charset="-120"/>
              </a:rPr>
              <a:t>Subtitle</a:t>
            </a:r>
            <a:endParaRPr lang="en-US" sz="13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3A3"/>
                </a:solidFill>
                <a:latin typeface="Montserrat"/>
                <a:ea typeface="Montserrat"/>
                <a:cs typeface="Montserrat"/>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F1341"/>
        </a:solidFill>
      </p:bgPr>
    </p:bg>
    <p:spTree>
      <p:nvGrpSpPr>
        <p:cNvPr id="1" name=""/>
        <p:cNvGrpSpPr/>
        <p:nvPr/>
      </p:nvGrpSpPr>
      <p:grpSpPr>
        <a:xfrm>
          <a:off x="0" y="0"/>
          <a:ext cx="0" cy="0"/>
          <a:chOff x="0" y="0"/>
          <a:chExt cx="0" cy="0"/>
        </a:xfrm>
      </p:grpSpPr>
      <p:pic>
        <p:nvPicPr>
          <p:cNvPr id="2" name="Image 0" descr="/home/user/work/assets/wave_content_dark.png">    </p:cNvPr>
          <p:cNvPicPr>
            <a:picLocks noChangeAspect="1"/>
          </p:cNvPicPr>
          <p:nvPr/>
        </p:nvPicPr>
        <p:blipFill>
          <a:blip r:embed="rId1"/>
          <a:stretch>
            <a:fillRect/>
          </a:stretch>
        </p:blipFill>
        <p:spPr>
          <a:xfrm>
            <a:off x="6339535" y="0"/>
            <a:ext cx="5852160" cy="2011680"/>
          </a:xfrm>
          <a:prstGeom prst="rect">
            <a:avLst/>
          </a:prstGeom>
        </p:spPr>
      </p:pic>
      <p:sp>
        <p:nvSpPr>
          <p:cNvPr id="3" name="Text 0"/>
          <p:cNvSpPr/>
          <p:nvPr>
            <p:ph idx="101" type="title" hasCustomPrompt="1"/>
          </p:nvPr>
        </p:nvSpPr>
        <p:spPr>
          <a:xfrm>
            <a:off x="548640" y="502920"/>
            <a:ext cx="8412480" cy="777240"/>
          </a:xfrm>
          <a:prstGeom prst="rect">
            <a:avLst/>
          </a:prstGeom>
          <a:noFill/>
          <a:ln/>
        </p:spPr>
        <p:txBody>
          <a:bodyPr wrap="square" rtlCol="0"/>
          <a:lstStyle>
            <a:lvl1pPr algn="l" indent="0" marL="0">
              <a:buNone/>
              <a:defRPr lang="en-US" sz="3000" b="1" dirty="0">
                <a:solidFill>
                  <a:srgbClr val="FFFFFF"/>
                </a:solidFill>
                <a:latin typeface="Montserrat" pitchFamily="34" charset="0"/>
                <a:ea typeface="Montserrat" pitchFamily="34" charset="-122"/>
                <a:cs typeface="Montserrat" pitchFamily="34" charset="-120"/>
              </a:defRPr>
            </a:lvl1pPr>
          </a:lstStyle>
          <a:p>
            <a:pPr algn="l" indent="0" marL="0">
              <a:buNone/>
            </a:pPr>
            <a:r>
              <a:rPr lang="en-US" sz="3000" b="1" dirty="0">
                <a:solidFill>
                  <a:srgbClr val="FFFFFF"/>
                </a:solidFill>
                <a:latin typeface="Montserrat" pitchFamily="34" charset="0"/>
                <a:ea typeface="Montserrat" pitchFamily="34" charset="-122"/>
                <a:cs typeface="Montserrat" pitchFamily="34" charset="-120"/>
              </a:rPr>
              <a:t>Title</a:t>
            </a:r>
            <a:endParaRPr lang="en-US" sz="3000" dirty="0"/>
          </a:p>
        </p:txBody>
      </p:sp>
      <p:sp>
        <p:nvSpPr>
          <p:cNvPr id="4" name="Text 0"/>
          <p:cNvSpPr/>
          <p:nvPr>
            <p:ph idx="102" type="body" hasCustomPrompt="1"/>
          </p:nvPr>
        </p:nvSpPr>
        <p:spPr>
          <a:xfrm>
            <a:off x="548640" y="1298448"/>
            <a:ext cx="9326880" cy="411480"/>
          </a:xfrm>
          <a:prstGeom prst="rect">
            <a:avLst/>
          </a:prstGeom>
          <a:noFill/>
          <a:ln/>
        </p:spPr>
        <p:txBody>
          <a:bodyPr wrap="square" rtlCol="0"/>
          <a:lstStyle>
            <a:lvl1pPr algn="l" indent="0" marL="0">
              <a:buNone/>
              <a:defRPr lang="en-US" sz="1400" dirty="0">
                <a:solidFill>
                  <a:srgbClr val="C9D3E3"/>
                </a:solidFill>
                <a:latin typeface="Montserrat" pitchFamily="34" charset="0"/>
                <a:ea typeface="Montserrat" pitchFamily="34" charset="-122"/>
                <a:cs typeface="Montserrat" pitchFamily="34" charset="-120"/>
              </a:defRPr>
            </a:lvl1pPr>
          </a:lstStyle>
          <a:p>
            <a:pPr algn="l" indent="0" marL="0">
              <a:buNone/>
            </a:pPr>
            <a:r>
              <a:rPr lang="en-US" sz="1400" dirty="0">
                <a:solidFill>
                  <a:srgbClr val="C9D3E3"/>
                </a:solidFill>
                <a:latin typeface="Montserrat" pitchFamily="34" charset="0"/>
                <a:ea typeface="Montserrat" pitchFamily="34" charset="-122"/>
                <a:cs typeface="Montserrat" pitchFamily="34" charset="-120"/>
              </a:rPr>
              <a:t>Subtitle</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A7FA8"/>
                </a:solidFill>
                <a:latin typeface="Montserrat"/>
                <a:ea typeface="Montserrat"/>
                <a:cs typeface="Montserrat"/>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TATEMENT">
    <p:bg>
      <p:bgPr>
        <a:solidFill>
          <a:srgbClr val="0F1341"/>
        </a:solidFill>
      </p:bgPr>
    </p:bg>
    <p:spTree>
      <p:nvGrpSpPr>
        <p:cNvPr id="1" name=""/>
        <p:cNvGrpSpPr/>
        <p:nvPr/>
      </p:nvGrpSpPr>
      <p:grpSpPr>
        <a:xfrm>
          <a:off x="0" y="0"/>
          <a:ext cx="0" cy="0"/>
          <a:chOff x="0" y="0"/>
          <a:chExt cx="0" cy="0"/>
        </a:xfrm>
      </p:grpSpPr>
      <p:pic>
        <p:nvPicPr>
          <p:cNvPr id="2" name="Image 0" descr="/home/user/work/assets/wave_content_dark.png">    </p:cNvPr>
          <p:cNvPicPr>
            <a:picLocks noChangeAspect="1"/>
          </p:cNvPicPr>
          <p:nvPr/>
        </p:nvPicPr>
        <p:blipFill>
          <a:blip r:embed="rId1"/>
          <a:stretch>
            <a:fillRect/>
          </a:stretch>
        </p:blipFill>
        <p:spPr>
          <a:xfrm>
            <a:off x="6339535" y="0"/>
            <a:ext cx="5852160" cy="2011680"/>
          </a:xfrm>
          <a:prstGeom prst="rect">
            <a:avLst/>
          </a:prstGeom>
        </p:spPr>
      </p:pic>
      <p:sp>
        <p:nvSpPr>
          <p:cNvPr id="3" name="Text 0"/>
          <p:cNvSpPr/>
          <p:nvPr>
            <p:ph idx="101" type="title" hasCustomPrompt="1"/>
          </p:nvPr>
        </p:nvSpPr>
        <p:spPr>
          <a:xfrm>
            <a:off x="548640" y="685800"/>
            <a:ext cx="9509760" cy="1280160"/>
          </a:xfrm>
          <a:prstGeom prst="rect">
            <a:avLst/>
          </a:prstGeom>
          <a:noFill/>
          <a:ln/>
        </p:spPr>
        <p:txBody>
          <a:bodyPr wrap="square" rtlCol="0"/>
          <a:lstStyle>
            <a:lvl1pPr algn="l" indent="0" marL="0">
              <a:buNone/>
              <a:defRPr lang="en-US" sz="3400" b="1" dirty="0">
                <a:solidFill>
                  <a:srgbClr val="FFFFFF"/>
                </a:solidFill>
                <a:latin typeface="Montserrat" pitchFamily="34" charset="0"/>
                <a:ea typeface="Montserrat" pitchFamily="34" charset="-122"/>
                <a:cs typeface="Montserrat" pitchFamily="34" charset="-120"/>
              </a:defRPr>
            </a:lvl1pPr>
          </a:lstStyle>
          <a:p>
            <a:pPr algn="l" indent="0" marL="0">
              <a:buNone/>
            </a:pPr>
            <a:r>
              <a:rPr lang="en-US" sz="3400" b="1" dirty="0">
                <a:solidFill>
                  <a:srgbClr val="FFFFFF"/>
                </a:solidFill>
                <a:latin typeface="Montserrat" pitchFamily="34" charset="0"/>
                <a:ea typeface="Montserrat" pitchFamily="34" charset="-122"/>
                <a:cs typeface="Montserrat" pitchFamily="34" charset="-120"/>
              </a:rPr>
              <a:t>Title</a:t>
            </a:r>
            <a:endParaRPr lang="en-US" sz="3400" dirty="0"/>
          </a:p>
        </p:txBody>
      </p:sp>
      <p:sp>
        <p:nvSpPr>
          <p:cNvPr id="4" name="Text 0"/>
          <p:cNvSpPr/>
          <p:nvPr>
            <p:ph idx="102" type="body" hasCustomPrompt="1"/>
          </p:nvPr>
        </p:nvSpPr>
        <p:spPr>
          <a:xfrm>
            <a:off x="548640" y="2057400"/>
            <a:ext cx="9509760" cy="411480"/>
          </a:xfrm>
          <a:prstGeom prst="rect">
            <a:avLst/>
          </a:prstGeom>
          <a:noFill/>
          <a:ln/>
        </p:spPr>
        <p:txBody>
          <a:bodyPr wrap="square" rtlCol="0"/>
          <a:lstStyle>
            <a:lvl1pPr algn="l" indent="0" marL="0">
              <a:buNone/>
              <a:defRPr lang="en-US" sz="1600" dirty="0">
                <a:solidFill>
                  <a:srgbClr val="4A8FDB"/>
                </a:solidFill>
                <a:latin typeface="Montserrat" pitchFamily="34" charset="0"/>
                <a:ea typeface="Montserrat" pitchFamily="34" charset="-122"/>
                <a:cs typeface="Montserrat" pitchFamily="34" charset="-120"/>
              </a:defRPr>
            </a:lvl1pPr>
          </a:lstStyle>
          <a:p>
            <a:pPr algn="l" indent="0" marL="0">
              <a:buNone/>
            </a:pPr>
            <a:r>
              <a:rPr lang="en-US" sz="1600" dirty="0">
                <a:solidFill>
                  <a:srgbClr val="4A8FDB"/>
                </a:solidFill>
                <a:latin typeface="Montserrat" pitchFamily="34" charset="0"/>
                <a:ea typeface="Montserrat" pitchFamily="34" charset="-122"/>
                <a:cs typeface="Montserrat" pitchFamily="34" charset="-120"/>
              </a:rPr>
              <a:t>Subtitle</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A7FA8"/>
                </a:solidFill>
                <a:latin typeface="Montserrat"/>
                <a:ea typeface="Montserrat"/>
                <a:cs typeface="Montserrat"/>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p:bg>
      <p:bgPr>
        <a:solidFill>
          <a:srgbClr val="FFFFFF"/>
        </a:solidFill>
      </p:bgPr>
    </p:bg>
    <p:spTree>
      <p:nvGrpSpPr>
        <p:cNvPr id="1" name=""/>
        <p:cNvGrpSpPr/>
        <p:nvPr/>
      </p:nvGrpSpPr>
      <p:grpSpPr>
        <a:xfrm>
          <a:off x="0" y="0"/>
          <a:ext cx="0" cy="0"/>
          <a:chOff x="0" y="0"/>
          <a:chExt cx="0" cy="0"/>
        </a:xfrm>
      </p:grpSpPr>
      <p:pic>
        <p:nvPicPr>
          <p:cNvPr id="2" name="Image 0" descr="/home/user/work/assets/wave_title.png">    </p:cNvPr>
          <p:cNvPicPr>
            <a:picLocks noChangeAspect="1"/>
          </p:cNvPicPr>
          <p:nvPr/>
        </p:nvPicPr>
        <p:blipFill>
          <a:blip r:embed="rId1"/>
          <a:stretch>
            <a:fillRect/>
          </a:stretch>
        </p:blipFill>
        <p:spPr>
          <a:xfrm>
            <a:off x="5333695" y="0"/>
            <a:ext cx="6858000" cy="6858000"/>
          </a:xfrm>
          <a:prstGeom prst="rect">
            <a:avLst/>
          </a:prstGeom>
        </p:spPr>
      </p:pic>
      <p:pic>
        <p:nvPicPr>
          <p:cNvPr id="3" name="Image 1" descr="/home/user/work/assets/logo_t.png">    </p:cNvPr>
          <p:cNvPicPr>
            <a:picLocks noChangeAspect="1"/>
          </p:cNvPicPr>
          <p:nvPr/>
        </p:nvPicPr>
        <p:blipFill>
          <a:blip r:embed="rId2"/>
          <a:stretch>
            <a:fillRect/>
          </a:stretch>
        </p:blipFill>
        <p:spPr>
          <a:xfrm>
            <a:off x="566928" y="292608"/>
            <a:ext cx="1792224" cy="658368"/>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3A3"/>
                </a:solidFill>
                <a:latin typeface="Montserrat"/>
                <a:ea typeface="Montserrat"/>
                <a:cs typeface="Montserrat"/>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image" Target="../media/image-6-1.png"/><Relationship Id="rId3" Type="http://schemas.openxmlformats.org/officeDocument/2006/relationships/image" Target="../media/image-6-2.png"/><Relationship Id="rId4" Type="http://schemas.openxmlformats.org/officeDocument/2006/relationships/image" Target="../media/image-6-3.png"/><Relationship Id="rId5" Type="http://schemas.openxmlformats.org/officeDocument/2006/relationships/image" Target="../media/image-6-4.png"/><Relationship Id="rId6" Type="http://schemas.openxmlformats.org/officeDocument/2006/relationships/slideLayout" Target="../slideLayouts/slideLayout2.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2.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2.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2.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1" type="title" hasCustomPrompt="1"/>
          </p:nvPr>
        </p:nvSpPr>
        <p:spPr>
          <a:xfrm>
            <a:off x="548640" y="502920"/>
            <a:ext cx="8412480" cy="777240"/>
          </a:xfrm>
          <a:prstGeom prst="rect">
            <a:avLst/>
          </a:prstGeom>
          <a:noFill/>
          <a:ln/>
        </p:spPr>
        <p:txBody>
          <a:bodyPr wrap="square" lIns="0" tIns="0" rIns="0" bIns="0" rtlCol="0" anchor="t"/>
          <a:lstStyle/>
          <a:p>
            <a:pPr algn="l" indent="0" marL="0">
              <a:buNone/>
            </a:pPr>
            <a:r>
              <a:rPr lang="en-US" sz="3000" b="1" dirty="0">
                <a:solidFill>
                  <a:srgbClr val="FFFFFF"/>
                </a:solidFill>
                <a:latin typeface="Montserrat" pitchFamily="34" charset="0"/>
                <a:ea typeface="Montserrat" pitchFamily="34" charset="-122"/>
                <a:cs typeface="Montserrat" pitchFamily="34" charset="-120"/>
              </a:rPr>
              <a:t>Before we start: your view on AI</a:t>
            </a:r>
            <a:endParaRPr lang="en-US" sz="3000" dirty="0"/>
          </a:p>
        </p:txBody>
      </p:sp>
      <p:sp>
        <p:nvSpPr>
          <p:cNvPr id="3" name="Text 0"/>
          <p:cNvSpPr/>
          <p:nvPr>
            <p:ph idx="102" type="body" hasCustomPrompt="1"/>
          </p:nvPr>
        </p:nvSpPr>
        <p:spPr>
          <a:xfrm>
            <a:off x="548640" y="1298448"/>
            <a:ext cx="9326880" cy="411480"/>
          </a:xfrm>
          <a:prstGeom prst="rect">
            <a:avLst/>
          </a:prstGeom>
          <a:noFill/>
          <a:ln/>
        </p:spPr>
        <p:txBody>
          <a:bodyPr wrap="square" lIns="0" tIns="0" rIns="0" bIns="0" rtlCol="0" anchor="t"/>
          <a:lstStyle/>
          <a:p>
            <a:pPr algn="l" indent="0" marL="0">
              <a:buNone/>
            </a:pPr>
            <a:r>
              <a:rPr lang="en-US" sz="1400" dirty="0">
                <a:solidFill>
                  <a:srgbClr val="C9D3E3"/>
                </a:solidFill>
                <a:latin typeface="Montserrat" pitchFamily="34" charset="0"/>
                <a:ea typeface="Montserrat" pitchFamily="34" charset="-122"/>
                <a:cs typeface="Montserrat" pitchFamily="34" charset="-120"/>
              </a:rPr>
              <a:t>Five quick questions on Menti — answers stay on screen and we come back to them at the end.</a:t>
            </a:r>
            <a:endParaRPr lang="en-US" sz="1400" dirty="0"/>
          </a:p>
        </p:txBody>
      </p:sp>
      <p:sp>
        <p:nvSpPr>
          <p:cNvPr id="5" name="Shape 2"/>
          <p:cNvSpPr/>
          <p:nvPr/>
        </p:nvSpPr>
        <p:spPr>
          <a:xfrm>
            <a:off x="548640" y="2011680"/>
            <a:ext cx="3017520" cy="4160520"/>
          </a:xfrm>
          <a:prstGeom prst="roundRect">
            <a:avLst>
              <a:gd name="adj" fmla="val 2424"/>
            </a:avLst>
          </a:prstGeom>
          <a:solidFill>
            <a:srgbClr val="1B2156"/>
          </a:solidFill>
          <a:ln w="15875">
            <a:solidFill>
              <a:srgbClr val="4A8FDB"/>
            </a:solidFill>
            <a:prstDash val="dash"/>
          </a:ln>
        </p:spPr>
      </p:sp>
      <p:pic>
        <p:nvPicPr>
          <p:cNvPr id="6" name="Image 0" descr="preencoded.png">    </p:cNvPr>
          <p:cNvPicPr>
            <a:picLocks noChangeAspect="1"/>
          </p:cNvPicPr>
          <p:nvPr/>
        </p:nvPicPr>
        <p:blipFill>
          <a:blip r:embed="rId1"/>
          <a:stretch>
            <a:fillRect/>
          </a:stretch>
        </p:blipFill>
        <p:spPr>
          <a:xfrm>
            <a:off x="1371600" y="2423160"/>
            <a:ext cx="1371600" cy="1371600"/>
          </a:xfrm>
          <a:prstGeom prst="rect">
            <a:avLst/>
          </a:prstGeom>
        </p:spPr>
      </p:pic>
      <p:sp>
        <p:nvSpPr>
          <p:cNvPr id="7" name="Shape 3"/>
          <p:cNvSpPr/>
          <p:nvPr/>
        </p:nvSpPr>
        <p:spPr>
          <a:xfrm>
            <a:off x="1188720" y="4023360"/>
            <a:ext cx="1737360" cy="274320"/>
          </a:xfrm>
          <a:prstGeom prst="roundRect">
            <a:avLst>
              <a:gd name="adj" fmla="val 26667"/>
            </a:avLst>
          </a:prstGeom>
          <a:solidFill>
            <a:srgbClr val="4A8FDB"/>
          </a:solidFill>
          <a:ln/>
        </p:spPr>
      </p:sp>
      <p:sp>
        <p:nvSpPr>
          <p:cNvPr id="8" name="Text 4"/>
          <p:cNvSpPr txBox="1"/>
          <p:nvPr/>
        </p:nvSpPr>
        <p:spPr>
          <a:xfrm>
            <a:off x="1188720" y="4023360"/>
            <a:ext cx="1737360" cy="274320"/>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Montserrat" pitchFamily="34" charset="0"/>
                <a:ea typeface="Montserrat" pitchFamily="34" charset="-122"/>
                <a:cs typeface="Montserrat" pitchFamily="34" charset="-120"/>
              </a:rPr>
              <a:t>PLACEHOLDER</a:t>
            </a:r>
            <a:endParaRPr lang="en-US" sz="900" dirty="0"/>
          </a:p>
        </p:txBody>
      </p:sp>
      <p:sp>
        <p:nvSpPr>
          <p:cNvPr id="9" name="Text 5"/>
          <p:cNvSpPr txBox="1"/>
          <p:nvPr/>
        </p:nvSpPr>
        <p:spPr>
          <a:xfrm>
            <a:off x="731520" y="4480560"/>
            <a:ext cx="2651760" cy="320040"/>
          </a:xfrm>
          <a:prstGeom prst="rect">
            <a:avLst/>
          </a:prstGeom>
          <a:noFill/>
          <a:ln/>
        </p:spPr>
        <p:txBody>
          <a:bodyPr wrap="square" lIns="0" tIns="0" rIns="0" bIns="0" rtlCol="0" anchor="t"/>
          <a:lstStyle/>
          <a:p>
            <a:pPr algn="ctr" indent="0" marL="0">
              <a:buNone/>
            </a:pPr>
            <a:r>
              <a:rPr lang="en-US" sz="1400" b="1" dirty="0">
                <a:solidFill>
                  <a:srgbClr val="FFFFFF"/>
                </a:solidFill>
                <a:latin typeface="Montserrat" pitchFamily="34" charset="0"/>
                <a:ea typeface="Montserrat" pitchFamily="34" charset="-122"/>
                <a:cs typeface="Montserrat" pitchFamily="34" charset="-120"/>
              </a:rPr>
              <a:t>Interactive Menti survey</a:t>
            </a:r>
            <a:endParaRPr lang="en-US" sz="1400" dirty="0"/>
          </a:p>
        </p:txBody>
      </p:sp>
      <p:sp>
        <p:nvSpPr>
          <p:cNvPr id="10" name="Text 6"/>
          <p:cNvSpPr txBox="1"/>
          <p:nvPr/>
        </p:nvSpPr>
        <p:spPr>
          <a:xfrm>
            <a:off x="731520" y="4846320"/>
            <a:ext cx="2651760" cy="731520"/>
          </a:xfrm>
          <a:prstGeom prst="rect">
            <a:avLst/>
          </a:prstGeom>
          <a:noFill/>
          <a:ln/>
        </p:spPr>
        <p:txBody>
          <a:bodyPr wrap="square" lIns="0" tIns="0" rIns="0" bIns="0" rtlCol="0" anchor="t"/>
          <a:lstStyle/>
          <a:p>
            <a:pPr algn="ctr" indent="0" marL="0">
              <a:buNone/>
            </a:pPr>
            <a:r>
              <a:rPr lang="en-US" sz="1200" dirty="0">
                <a:solidFill>
                  <a:srgbClr val="C9D3E3"/>
                </a:solidFill>
                <a:latin typeface="Montserrat" pitchFamily="34" charset="0"/>
                <a:ea typeface="Montserrat" pitchFamily="34" charset="-122"/>
                <a:cs typeface="Montserrat" pitchFamily="34" charset="-120"/>
              </a:rPr>
              <a:t>menti.com  ·  code [ ____ ]</a:t>
            </a:r>
            <a:endParaRPr lang="en-US" sz="1200" dirty="0"/>
          </a:p>
          <a:p>
            <a:pPr algn="ctr" indent="0" marL="0">
              <a:buNone/>
            </a:pPr>
            <a:r>
              <a:rPr lang="en-US" sz="1200" dirty="0">
                <a:solidFill>
                  <a:srgbClr val="C9D3E3"/>
                </a:solidFill>
                <a:latin typeface="Montserrat" pitchFamily="34" charset="0"/>
                <a:ea typeface="Montserrat" pitchFamily="34" charset="-122"/>
                <a:cs typeface="Montserrat" pitchFamily="34" charset="-120"/>
              </a:rPr>
              <a:t>QR code + live results</a:t>
            </a:r>
            <a:endParaRPr lang="en-US" sz="1200" dirty="0"/>
          </a:p>
        </p:txBody>
      </p:sp>
      <p:sp>
        <p:nvSpPr>
          <p:cNvPr id="11" name="Shape 7"/>
          <p:cNvSpPr/>
          <p:nvPr/>
        </p:nvSpPr>
        <p:spPr>
          <a:xfrm>
            <a:off x="3840480" y="2011680"/>
            <a:ext cx="7799832" cy="758952"/>
          </a:xfrm>
          <a:prstGeom prst="roundRect">
            <a:avLst>
              <a:gd name="adj" fmla="val 9639"/>
            </a:avLst>
          </a:prstGeom>
          <a:solidFill>
            <a:srgbClr val="1B2156"/>
          </a:solidFill>
          <a:ln/>
        </p:spPr>
      </p:sp>
      <p:sp>
        <p:nvSpPr>
          <p:cNvPr id="12" name="Shape 8"/>
          <p:cNvSpPr/>
          <p:nvPr/>
        </p:nvSpPr>
        <p:spPr>
          <a:xfrm>
            <a:off x="4005072" y="2185416"/>
            <a:ext cx="411480" cy="411480"/>
          </a:xfrm>
          <a:prstGeom prst="ellipse">
            <a:avLst/>
          </a:prstGeom>
          <a:solidFill>
            <a:srgbClr val="4A8FDB"/>
          </a:solidFill>
          <a:ln/>
        </p:spPr>
      </p:sp>
      <p:sp>
        <p:nvSpPr>
          <p:cNvPr id="13" name="Text 9"/>
          <p:cNvSpPr txBox="1"/>
          <p:nvPr/>
        </p:nvSpPr>
        <p:spPr>
          <a:xfrm>
            <a:off x="4005072" y="2185416"/>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1</a:t>
            </a:r>
            <a:endParaRPr lang="en-US" sz="1300" dirty="0"/>
          </a:p>
        </p:txBody>
      </p:sp>
      <p:sp>
        <p:nvSpPr>
          <p:cNvPr id="14" name="Text 10"/>
          <p:cNvSpPr txBox="1"/>
          <p:nvPr/>
        </p:nvSpPr>
        <p:spPr>
          <a:xfrm>
            <a:off x="4572000" y="2084832"/>
            <a:ext cx="4846320" cy="612648"/>
          </a:xfrm>
          <a:prstGeom prst="rect">
            <a:avLst/>
          </a:prstGeom>
          <a:noFill/>
          <a:ln/>
        </p:spPr>
        <p:txBody>
          <a:bodyPr wrap="square" lIns="0" tIns="0" rIns="0" bIns="0" rtlCol="0" anchor="ctr"/>
          <a:lstStyle/>
          <a:p>
            <a:pPr indent="0" marL="0">
              <a:buNone/>
            </a:pPr>
            <a:r>
              <a:rPr lang="en-US" sz="1300" b="1" dirty="0">
                <a:solidFill>
                  <a:srgbClr val="FFFFFF"/>
                </a:solidFill>
                <a:latin typeface="Montserrat" pitchFamily="34" charset="0"/>
                <a:ea typeface="Montserrat" pitchFamily="34" charset="-122"/>
                <a:cs typeface="Montserrat" pitchFamily="34" charset="-120"/>
              </a:rPr>
              <a:t>What is the hardest part of selling today?</a:t>
            </a:r>
            <a:endParaRPr lang="en-US" sz="1300" dirty="0"/>
          </a:p>
        </p:txBody>
      </p:sp>
      <p:sp>
        <p:nvSpPr>
          <p:cNvPr id="15" name="Shape 11"/>
          <p:cNvSpPr/>
          <p:nvPr/>
        </p:nvSpPr>
        <p:spPr>
          <a:xfrm>
            <a:off x="9601200" y="2103120"/>
            <a:ext cx="1874520" cy="219456"/>
          </a:xfrm>
          <a:prstGeom prst="roundRect">
            <a:avLst>
              <a:gd name="adj" fmla="val 33333"/>
            </a:avLst>
          </a:prstGeom>
          <a:solidFill>
            <a:srgbClr val="2E6FBF"/>
          </a:solidFill>
          <a:ln/>
        </p:spPr>
      </p:sp>
      <p:sp>
        <p:nvSpPr>
          <p:cNvPr id="16" name="Text 12"/>
          <p:cNvSpPr txBox="1"/>
          <p:nvPr/>
        </p:nvSpPr>
        <p:spPr>
          <a:xfrm>
            <a:off x="9601200" y="2103120"/>
            <a:ext cx="1874520" cy="219456"/>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Montserrat" pitchFamily="34" charset="0"/>
                <a:ea typeface="Montserrat" pitchFamily="34" charset="-122"/>
                <a:cs typeface="Montserrat" pitchFamily="34" charset="-120"/>
              </a:rPr>
              <a:t>WORD CLOUD</a:t>
            </a:r>
            <a:endParaRPr lang="en-US" sz="800" dirty="0"/>
          </a:p>
        </p:txBody>
      </p:sp>
      <p:sp>
        <p:nvSpPr>
          <p:cNvPr id="17" name="Text 13"/>
          <p:cNvSpPr txBox="1"/>
          <p:nvPr/>
        </p:nvSpPr>
        <p:spPr>
          <a:xfrm>
            <a:off x="9601200" y="2359152"/>
            <a:ext cx="1874520" cy="365760"/>
          </a:xfrm>
          <a:prstGeom prst="rect">
            <a:avLst/>
          </a:prstGeom>
          <a:noFill/>
          <a:ln/>
        </p:spPr>
        <p:txBody>
          <a:bodyPr wrap="square" lIns="0" tIns="0" rIns="0" bIns="0" rtlCol="0" anchor="t"/>
          <a:lstStyle/>
          <a:p>
            <a:pPr algn="l" indent="0" marL="0">
              <a:buNone/>
            </a:pPr>
            <a:endParaRPr lang="en-US" sz="900" dirty="0"/>
          </a:p>
        </p:txBody>
      </p:sp>
      <p:sp>
        <p:nvSpPr>
          <p:cNvPr id="18" name="Shape 14"/>
          <p:cNvSpPr/>
          <p:nvPr/>
        </p:nvSpPr>
        <p:spPr>
          <a:xfrm>
            <a:off x="3840480" y="2862072"/>
            <a:ext cx="7799832" cy="758952"/>
          </a:xfrm>
          <a:prstGeom prst="roundRect">
            <a:avLst>
              <a:gd name="adj" fmla="val 9639"/>
            </a:avLst>
          </a:prstGeom>
          <a:solidFill>
            <a:srgbClr val="1B2156"/>
          </a:solidFill>
          <a:ln/>
        </p:spPr>
      </p:sp>
      <p:sp>
        <p:nvSpPr>
          <p:cNvPr id="19" name="Shape 15"/>
          <p:cNvSpPr/>
          <p:nvPr/>
        </p:nvSpPr>
        <p:spPr>
          <a:xfrm>
            <a:off x="4005072" y="3035808"/>
            <a:ext cx="411480" cy="411480"/>
          </a:xfrm>
          <a:prstGeom prst="ellipse">
            <a:avLst/>
          </a:prstGeom>
          <a:solidFill>
            <a:srgbClr val="4A8FDB"/>
          </a:solidFill>
          <a:ln/>
        </p:spPr>
      </p:sp>
      <p:sp>
        <p:nvSpPr>
          <p:cNvPr id="20" name="Text 16"/>
          <p:cNvSpPr txBox="1"/>
          <p:nvPr/>
        </p:nvSpPr>
        <p:spPr>
          <a:xfrm>
            <a:off x="4005072" y="3035808"/>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2</a:t>
            </a:r>
            <a:endParaRPr lang="en-US" sz="1300" dirty="0"/>
          </a:p>
        </p:txBody>
      </p:sp>
      <p:sp>
        <p:nvSpPr>
          <p:cNvPr id="21" name="Text 17"/>
          <p:cNvSpPr txBox="1"/>
          <p:nvPr/>
        </p:nvSpPr>
        <p:spPr>
          <a:xfrm>
            <a:off x="4572000" y="2935224"/>
            <a:ext cx="4846320" cy="612648"/>
          </a:xfrm>
          <a:prstGeom prst="rect">
            <a:avLst/>
          </a:prstGeom>
          <a:noFill/>
          <a:ln/>
        </p:spPr>
        <p:txBody>
          <a:bodyPr wrap="square" lIns="0" tIns="0" rIns="0" bIns="0" rtlCol="0" anchor="ctr"/>
          <a:lstStyle/>
          <a:p>
            <a:pPr indent="0" marL="0">
              <a:buNone/>
            </a:pPr>
            <a:r>
              <a:rPr lang="en-US" sz="1300" b="1" dirty="0">
                <a:solidFill>
                  <a:srgbClr val="FFFFFF"/>
                </a:solidFill>
                <a:latin typeface="Montserrat" pitchFamily="34" charset="0"/>
                <a:ea typeface="Montserrat" pitchFamily="34" charset="-122"/>
                <a:cs typeface="Montserrat" pitchFamily="34" charset="-120"/>
              </a:rPr>
              <a:t>How many cold emails does a B2B seller need for one qualified meeting?</a:t>
            </a:r>
            <a:endParaRPr lang="en-US" sz="1300" dirty="0"/>
          </a:p>
        </p:txBody>
      </p:sp>
      <p:sp>
        <p:nvSpPr>
          <p:cNvPr id="22" name="Shape 18"/>
          <p:cNvSpPr/>
          <p:nvPr/>
        </p:nvSpPr>
        <p:spPr>
          <a:xfrm>
            <a:off x="9601200" y="2953512"/>
            <a:ext cx="1874520" cy="219456"/>
          </a:xfrm>
          <a:prstGeom prst="roundRect">
            <a:avLst>
              <a:gd name="adj" fmla="val 33333"/>
            </a:avLst>
          </a:prstGeom>
          <a:solidFill>
            <a:srgbClr val="2E6FBF"/>
          </a:solidFill>
          <a:ln/>
        </p:spPr>
      </p:sp>
      <p:sp>
        <p:nvSpPr>
          <p:cNvPr id="23" name="Text 19"/>
          <p:cNvSpPr txBox="1"/>
          <p:nvPr/>
        </p:nvSpPr>
        <p:spPr>
          <a:xfrm>
            <a:off x="9601200" y="2953512"/>
            <a:ext cx="1874520" cy="219456"/>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Montserrat" pitchFamily="34" charset="0"/>
                <a:ea typeface="Montserrat" pitchFamily="34" charset="-122"/>
                <a:cs typeface="Montserrat" pitchFamily="34" charset="-120"/>
              </a:rPr>
              <a:t>POLL · REPEAT</a:t>
            </a:r>
            <a:endParaRPr lang="en-US" sz="800" dirty="0"/>
          </a:p>
        </p:txBody>
      </p:sp>
      <p:sp>
        <p:nvSpPr>
          <p:cNvPr id="24" name="Text 20"/>
          <p:cNvSpPr txBox="1"/>
          <p:nvPr/>
        </p:nvSpPr>
        <p:spPr>
          <a:xfrm>
            <a:off x="9601200" y="3209544"/>
            <a:ext cx="1874520" cy="365760"/>
          </a:xfrm>
          <a:prstGeom prst="rect">
            <a:avLst/>
          </a:prstGeom>
          <a:noFill/>
          <a:ln/>
        </p:spPr>
        <p:txBody>
          <a:bodyPr wrap="square" lIns="0" tIns="0" rIns="0" bIns="0" rtlCol="0" anchor="t"/>
          <a:lstStyle/>
          <a:p>
            <a:pPr algn="l" indent="0" marL="0">
              <a:buNone/>
            </a:pPr>
            <a:r>
              <a:rPr lang="en-US" sz="900" dirty="0">
                <a:solidFill>
                  <a:srgbClr val="C9D3E3"/>
                </a:solidFill>
                <a:latin typeface="Montserrat" pitchFamily="34" charset="0"/>
                <a:ea typeface="Montserrat" pitchFamily="34" charset="-122"/>
                <a:cs typeface="Montserrat" pitchFamily="34" charset="-120"/>
              </a:rPr>
              <a:t>20 · 50 · 100 · 200+</a:t>
            </a:r>
            <a:endParaRPr lang="en-US" sz="900" dirty="0"/>
          </a:p>
        </p:txBody>
      </p:sp>
      <p:sp>
        <p:nvSpPr>
          <p:cNvPr id="25" name="Shape 21"/>
          <p:cNvSpPr/>
          <p:nvPr/>
        </p:nvSpPr>
        <p:spPr>
          <a:xfrm>
            <a:off x="3840480" y="3712464"/>
            <a:ext cx="7799832" cy="758952"/>
          </a:xfrm>
          <a:prstGeom prst="roundRect">
            <a:avLst>
              <a:gd name="adj" fmla="val 9639"/>
            </a:avLst>
          </a:prstGeom>
          <a:solidFill>
            <a:srgbClr val="1B2156"/>
          </a:solidFill>
          <a:ln/>
        </p:spPr>
      </p:sp>
      <p:sp>
        <p:nvSpPr>
          <p:cNvPr id="26" name="Shape 22"/>
          <p:cNvSpPr/>
          <p:nvPr/>
        </p:nvSpPr>
        <p:spPr>
          <a:xfrm>
            <a:off x="4005072" y="3886200"/>
            <a:ext cx="411480" cy="411480"/>
          </a:xfrm>
          <a:prstGeom prst="ellipse">
            <a:avLst/>
          </a:prstGeom>
          <a:solidFill>
            <a:srgbClr val="4A8FDB"/>
          </a:solidFill>
          <a:ln/>
        </p:spPr>
      </p:sp>
      <p:sp>
        <p:nvSpPr>
          <p:cNvPr id="27" name="Text 23"/>
          <p:cNvSpPr txBox="1"/>
          <p:nvPr/>
        </p:nvSpPr>
        <p:spPr>
          <a:xfrm>
            <a:off x="4005072" y="388620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3</a:t>
            </a:r>
            <a:endParaRPr lang="en-US" sz="1300" dirty="0"/>
          </a:p>
        </p:txBody>
      </p:sp>
      <p:sp>
        <p:nvSpPr>
          <p:cNvPr id="28" name="Text 24"/>
          <p:cNvSpPr txBox="1"/>
          <p:nvPr/>
        </p:nvSpPr>
        <p:spPr>
          <a:xfrm>
            <a:off x="4572000" y="3785616"/>
            <a:ext cx="4846320" cy="612648"/>
          </a:xfrm>
          <a:prstGeom prst="rect">
            <a:avLst/>
          </a:prstGeom>
          <a:noFill/>
          <a:ln/>
        </p:spPr>
        <p:txBody>
          <a:bodyPr wrap="square" lIns="0" tIns="0" rIns="0" bIns="0" rtlCol="0" anchor="ctr"/>
          <a:lstStyle/>
          <a:p>
            <a:pPr indent="0" marL="0">
              <a:buNone/>
            </a:pPr>
            <a:r>
              <a:rPr lang="en-US" sz="1300" b="1" dirty="0">
                <a:solidFill>
                  <a:srgbClr val="FFFFFF"/>
                </a:solidFill>
                <a:latin typeface="Montserrat" pitchFamily="34" charset="0"/>
                <a:ea typeface="Montserrat" pitchFamily="34" charset="-122"/>
                <a:cs typeface="Montserrat" pitchFamily="34" charset="-120"/>
              </a:rPr>
              <a:t>Which sales task should AI take over first?</a:t>
            </a:r>
            <a:endParaRPr lang="en-US" sz="1300" dirty="0"/>
          </a:p>
        </p:txBody>
      </p:sp>
      <p:sp>
        <p:nvSpPr>
          <p:cNvPr id="29" name="Shape 25"/>
          <p:cNvSpPr/>
          <p:nvPr/>
        </p:nvSpPr>
        <p:spPr>
          <a:xfrm>
            <a:off x="9601200" y="3803904"/>
            <a:ext cx="1874520" cy="219456"/>
          </a:xfrm>
          <a:prstGeom prst="roundRect">
            <a:avLst>
              <a:gd name="adj" fmla="val 33333"/>
            </a:avLst>
          </a:prstGeom>
          <a:solidFill>
            <a:srgbClr val="2E6FBF"/>
          </a:solidFill>
          <a:ln/>
        </p:spPr>
      </p:sp>
      <p:sp>
        <p:nvSpPr>
          <p:cNvPr id="30" name="Text 26"/>
          <p:cNvSpPr txBox="1"/>
          <p:nvPr/>
        </p:nvSpPr>
        <p:spPr>
          <a:xfrm>
            <a:off x="9601200" y="3803904"/>
            <a:ext cx="1874520" cy="219456"/>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Montserrat" pitchFamily="34" charset="0"/>
                <a:ea typeface="Montserrat" pitchFamily="34" charset="-122"/>
                <a:cs typeface="Montserrat" pitchFamily="34" charset="-120"/>
              </a:rPr>
              <a:t>POLL</a:t>
            </a:r>
            <a:endParaRPr lang="en-US" sz="800" dirty="0"/>
          </a:p>
        </p:txBody>
      </p:sp>
      <p:sp>
        <p:nvSpPr>
          <p:cNvPr id="31" name="Text 27"/>
          <p:cNvSpPr txBox="1"/>
          <p:nvPr/>
        </p:nvSpPr>
        <p:spPr>
          <a:xfrm>
            <a:off x="9601200" y="4059936"/>
            <a:ext cx="1874520" cy="365760"/>
          </a:xfrm>
          <a:prstGeom prst="rect">
            <a:avLst/>
          </a:prstGeom>
          <a:noFill/>
          <a:ln/>
        </p:spPr>
        <p:txBody>
          <a:bodyPr wrap="square" lIns="0" tIns="0" rIns="0" bIns="0" rtlCol="0" anchor="t"/>
          <a:lstStyle/>
          <a:p>
            <a:pPr algn="l" indent="0" marL="0">
              <a:buNone/>
            </a:pPr>
            <a:r>
              <a:rPr lang="en-US" sz="900" dirty="0">
                <a:solidFill>
                  <a:srgbClr val="C9D3E3"/>
                </a:solidFill>
                <a:latin typeface="Montserrat" pitchFamily="34" charset="0"/>
                <a:ea typeface="Montserrat" pitchFamily="34" charset="-122"/>
                <a:cs typeface="Montserrat" pitchFamily="34" charset="-120"/>
              </a:rPr>
              <a:t>Research · first message · follow-ups · forecasting</a:t>
            </a:r>
            <a:endParaRPr lang="en-US" sz="900" dirty="0"/>
          </a:p>
        </p:txBody>
      </p:sp>
      <p:sp>
        <p:nvSpPr>
          <p:cNvPr id="32" name="Shape 28"/>
          <p:cNvSpPr/>
          <p:nvPr/>
        </p:nvSpPr>
        <p:spPr>
          <a:xfrm>
            <a:off x="3840480" y="4562856"/>
            <a:ext cx="7799832" cy="758952"/>
          </a:xfrm>
          <a:prstGeom prst="roundRect">
            <a:avLst>
              <a:gd name="adj" fmla="val 9639"/>
            </a:avLst>
          </a:prstGeom>
          <a:solidFill>
            <a:srgbClr val="1B2156"/>
          </a:solidFill>
          <a:ln/>
        </p:spPr>
      </p:sp>
      <p:sp>
        <p:nvSpPr>
          <p:cNvPr id="33" name="Shape 29"/>
          <p:cNvSpPr/>
          <p:nvPr/>
        </p:nvSpPr>
        <p:spPr>
          <a:xfrm>
            <a:off x="4005072" y="4736592"/>
            <a:ext cx="411480" cy="411480"/>
          </a:xfrm>
          <a:prstGeom prst="ellipse">
            <a:avLst/>
          </a:prstGeom>
          <a:solidFill>
            <a:srgbClr val="4A8FDB"/>
          </a:solidFill>
          <a:ln/>
        </p:spPr>
      </p:sp>
      <p:sp>
        <p:nvSpPr>
          <p:cNvPr id="34" name="Text 30"/>
          <p:cNvSpPr txBox="1"/>
          <p:nvPr/>
        </p:nvSpPr>
        <p:spPr>
          <a:xfrm>
            <a:off x="4005072" y="4736592"/>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4</a:t>
            </a:r>
            <a:endParaRPr lang="en-US" sz="1300" dirty="0"/>
          </a:p>
        </p:txBody>
      </p:sp>
      <p:sp>
        <p:nvSpPr>
          <p:cNvPr id="35" name="Text 31"/>
          <p:cNvSpPr txBox="1"/>
          <p:nvPr/>
        </p:nvSpPr>
        <p:spPr>
          <a:xfrm>
            <a:off x="4572000" y="4636008"/>
            <a:ext cx="4846320" cy="612648"/>
          </a:xfrm>
          <a:prstGeom prst="rect">
            <a:avLst/>
          </a:prstGeom>
          <a:noFill/>
          <a:ln/>
        </p:spPr>
        <p:txBody>
          <a:bodyPr wrap="square" lIns="0" tIns="0" rIns="0" bIns="0" rtlCol="0" anchor="ctr"/>
          <a:lstStyle/>
          <a:p>
            <a:pPr indent="0" marL="0">
              <a:buNone/>
            </a:pPr>
            <a:r>
              <a:rPr lang="en-US" sz="1300" b="1" dirty="0">
                <a:solidFill>
                  <a:srgbClr val="FFFFFF"/>
                </a:solidFill>
                <a:latin typeface="Montserrat" pitchFamily="34" charset="0"/>
                <a:ea typeface="Montserrat" pitchFamily="34" charset="-122"/>
                <a:cs typeface="Montserrat" pitchFamily="34" charset="-120"/>
              </a:rPr>
              <a:t>Which part of selling should AI never take over?</a:t>
            </a:r>
            <a:endParaRPr lang="en-US" sz="1300" dirty="0"/>
          </a:p>
        </p:txBody>
      </p:sp>
      <p:sp>
        <p:nvSpPr>
          <p:cNvPr id="36" name="Shape 32"/>
          <p:cNvSpPr/>
          <p:nvPr/>
        </p:nvSpPr>
        <p:spPr>
          <a:xfrm>
            <a:off x="9601200" y="4654296"/>
            <a:ext cx="1874520" cy="219456"/>
          </a:xfrm>
          <a:prstGeom prst="roundRect">
            <a:avLst>
              <a:gd name="adj" fmla="val 33333"/>
            </a:avLst>
          </a:prstGeom>
          <a:solidFill>
            <a:srgbClr val="2E6FBF"/>
          </a:solidFill>
          <a:ln/>
        </p:spPr>
      </p:sp>
      <p:sp>
        <p:nvSpPr>
          <p:cNvPr id="37" name="Text 33"/>
          <p:cNvSpPr txBox="1"/>
          <p:nvPr/>
        </p:nvSpPr>
        <p:spPr>
          <a:xfrm>
            <a:off x="9601200" y="4654296"/>
            <a:ext cx="1874520" cy="219456"/>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Montserrat" pitchFamily="34" charset="0"/>
                <a:ea typeface="Montserrat" pitchFamily="34" charset="-122"/>
                <a:cs typeface="Montserrat" pitchFamily="34" charset="-120"/>
              </a:rPr>
              <a:t>OPEN TEXT</a:t>
            </a:r>
            <a:endParaRPr lang="en-US" sz="800" dirty="0"/>
          </a:p>
        </p:txBody>
      </p:sp>
      <p:sp>
        <p:nvSpPr>
          <p:cNvPr id="38" name="Text 34"/>
          <p:cNvSpPr txBox="1"/>
          <p:nvPr/>
        </p:nvSpPr>
        <p:spPr>
          <a:xfrm>
            <a:off x="9601200" y="4910328"/>
            <a:ext cx="1874520" cy="365760"/>
          </a:xfrm>
          <a:prstGeom prst="rect">
            <a:avLst/>
          </a:prstGeom>
          <a:noFill/>
          <a:ln/>
        </p:spPr>
        <p:txBody>
          <a:bodyPr wrap="square" lIns="0" tIns="0" rIns="0" bIns="0" rtlCol="0" anchor="t"/>
          <a:lstStyle/>
          <a:p>
            <a:pPr algn="l" indent="0" marL="0">
              <a:buNone/>
            </a:pPr>
            <a:endParaRPr lang="en-US" sz="900" dirty="0"/>
          </a:p>
        </p:txBody>
      </p:sp>
      <p:sp>
        <p:nvSpPr>
          <p:cNvPr id="39" name="Shape 35"/>
          <p:cNvSpPr/>
          <p:nvPr/>
        </p:nvSpPr>
        <p:spPr>
          <a:xfrm>
            <a:off x="3840480" y="5413248"/>
            <a:ext cx="7799832" cy="758952"/>
          </a:xfrm>
          <a:prstGeom prst="roundRect">
            <a:avLst>
              <a:gd name="adj" fmla="val 9639"/>
            </a:avLst>
          </a:prstGeom>
          <a:solidFill>
            <a:srgbClr val="1B2156"/>
          </a:solidFill>
          <a:ln/>
        </p:spPr>
      </p:sp>
      <p:sp>
        <p:nvSpPr>
          <p:cNvPr id="40" name="Shape 36"/>
          <p:cNvSpPr/>
          <p:nvPr/>
        </p:nvSpPr>
        <p:spPr>
          <a:xfrm>
            <a:off x="4005072" y="5586984"/>
            <a:ext cx="411480" cy="411480"/>
          </a:xfrm>
          <a:prstGeom prst="ellipse">
            <a:avLst/>
          </a:prstGeom>
          <a:solidFill>
            <a:srgbClr val="4A8FDB"/>
          </a:solidFill>
          <a:ln/>
        </p:spPr>
      </p:sp>
      <p:sp>
        <p:nvSpPr>
          <p:cNvPr id="41" name="Text 37"/>
          <p:cNvSpPr txBox="1"/>
          <p:nvPr/>
        </p:nvSpPr>
        <p:spPr>
          <a:xfrm>
            <a:off x="4005072" y="5586984"/>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Montserrat" pitchFamily="34" charset="0"/>
                <a:ea typeface="Montserrat" pitchFamily="34" charset="-122"/>
                <a:cs typeface="Montserrat" pitchFamily="34" charset="-120"/>
              </a:rPr>
              <a:t>5</a:t>
            </a:r>
            <a:endParaRPr lang="en-US" sz="1300" dirty="0"/>
          </a:p>
        </p:txBody>
      </p:sp>
      <p:sp>
        <p:nvSpPr>
          <p:cNvPr id="42" name="Text 38"/>
          <p:cNvSpPr txBox="1"/>
          <p:nvPr/>
        </p:nvSpPr>
        <p:spPr>
          <a:xfrm>
            <a:off x="4572000" y="5486400"/>
            <a:ext cx="4846320" cy="612648"/>
          </a:xfrm>
          <a:prstGeom prst="rect">
            <a:avLst/>
          </a:prstGeom>
          <a:noFill/>
          <a:ln/>
        </p:spPr>
        <p:txBody>
          <a:bodyPr wrap="square" lIns="0" tIns="0" rIns="0" bIns="0" rtlCol="0" anchor="ctr"/>
          <a:lstStyle/>
          <a:p>
            <a:pPr indent="0" marL="0">
              <a:buNone/>
            </a:pPr>
            <a:r>
              <a:rPr lang="en-US" sz="1300" b="1" dirty="0">
                <a:solidFill>
                  <a:srgbClr val="FFFFFF"/>
                </a:solidFill>
                <a:latin typeface="Montserrat" pitchFamily="34" charset="0"/>
                <a:ea typeface="Montserrat" pitchFamily="34" charset="-122"/>
                <a:cs typeface="Montserrat" pitchFamily="34" charset="-120"/>
              </a:rPr>
              <a:t>By 2030, will companies employ more or fewer salespeople?</a:t>
            </a:r>
            <a:endParaRPr lang="en-US" sz="1300" dirty="0"/>
          </a:p>
        </p:txBody>
      </p:sp>
      <p:sp>
        <p:nvSpPr>
          <p:cNvPr id="43" name="Shape 39"/>
          <p:cNvSpPr/>
          <p:nvPr/>
        </p:nvSpPr>
        <p:spPr>
          <a:xfrm>
            <a:off x="9601200" y="5504688"/>
            <a:ext cx="1874520" cy="219456"/>
          </a:xfrm>
          <a:prstGeom prst="roundRect">
            <a:avLst>
              <a:gd name="adj" fmla="val 33333"/>
            </a:avLst>
          </a:prstGeom>
          <a:solidFill>
            <a:srgbClr val="2E6FBF"/>
          </a:solidFill>
          <a:ln/>
        </p:spPr>
      </p:sp>
      <p:sp>
        <p:nvSpPr>
          <p:cNvPr id="44" name="Text 40"/>
          <p:cNvSpPr txBox="1"/>
          <p:nvPr/>
        </p:nvSpPr>
        <p:spPr>
          <a:xfrm>
            <a:off x="9601200" y="5504688"/>
            <a:ext cx="1874520" cy="219456"/>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Montserrat" pitchFamily="34" charset="0"/>
                <a:ea typeface="Montserrat" pitchFamily="34" charset="-122"/>
                <a:cs typeface="Montserrat" pitchFamily="34" charset="-120"/>
              </a:rPr>
              <a:t>POLL</a:t>
            </a:r>
            <a:endParaRPr lang="en-US" sz="800" dirty="0"/>
          </a:p>
        </p:txBody>
      </p:sp>
      <p:sp>
        <p:nvSpPr>
          <p:cNvPr id="45" name="Text 41"/>
          <p:cNvSpPr txBox="1"/>
          <p:nvPr/>
        </p:nvSpPr>
        <p:spPr>
          <a:xfrm>
            <a:off x="9601200" y="5760720"/>
            <a:ext cx="1874520" cy="365760"/>
          </a:xfrm>
          <a:prstGeom prst="rect">
            <a:avLst/>
          </a:prstGeom>
          <a:noFill/>
          <a:ln/>
        </p:spPr>
        <p:txBody>
          <a:bodyPr wrap="square" lIns="0" tIns="0" rIns="0" bIns="0" rtlCol="0" anchor="t"/>
          <a:lstStyle/>
          <a:p>
            <a:pPr algn="l" indent="0" marL="0">
              <a:buNone/>
            </a:pPr>
            <a:r>
              <a:rPr lang="en-US" sz="900" dirty="0">
                <a:solidFill>
                  <a:srgbClr val="C9D3E3"/>
                </a:solidFill>
                <a:latin typeface="Montserrat" pitchFamily="34" charset="0"/>
                <a:ea typeface="Montserrat" pitchFamily="34" charset="-122"/>
                <a:cs typeface="Montserrat" pitchFamily="34" charset="-120"/>
              </a:rPr>
              <a:t>More · same · fewer · different profile</a:t>
            </a:r>
            <a:endParaRPr lang="en-US" sz="9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A7FA8"/>
                </a:solidFill>
                <a:latin typeface="Montserrat"/>
                <a:ea typeface="Montserrat"/>
                <a:cs typeface="Montserrat"/>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548640" y="502920"/>
            <a:ext cx="8412480" cy="777240"/>
          </a:xfrm>
          <a:prstGeom prst="rect">
            <a:avLst/>
          </a:prstGeom>
          <a:noFill/>
          <a:ln/>
        </p:spPr>
        <p:txBody>
          <a:bodyPr wrap="square" lIns="0" tIns="0" rIns="0" bIns="0" rtlCol="0" anchor="t"/>
          <a:lstStyle/>
          <a:p>
            <a:pPr algn="l" indent="0" marL="0">
              <a:buNone/>
            </a:pPr>
            <a:r>
              <a:rPr lang="en-US" sz="3000" b="1" dirty="0">
                <a:solidFill>
                  <a:srgbClr val="FFFFFF"/>
                </a:solidFill>
                <a:latin typeface="Montserrat" pitchFamily="34" charset="0"/>
                <a:ea typeface="Montserrat" pitchFamily="34" charset="-122"/>
                <a:cs typeface="Montserrat" pitchFamily="34" charset="-120"/>
              </a:rPr>
              <a:t>Live: AI linking millions of data points</a:t>
            </a:r>
            <a:endParaRPr lang="en-US" sz="3000" dirty="0"/>
          </a:p>
        </p:txBody>
      </p:sp>
      <p:sp>
        <p:nvSpPr>
          <p:cNvPr id="3" name="Text 0"/>
          <p:cNvSpPr/>
          <p:nvPr>
            <p:ph idx="102" type="body" hasCustomPrompt="1"/>
          </p:nvPr>
        </p:nvSpPr>
        <p:spPr>
          <a:xfrm>
            <a:off x="548640" y="1298448"/>
            <a:ext cx="9326880" cy="411480"/>
          </a:xfrm>
          <a:prstGeom prst="rect">
            <a:avLst/>
          </a:prstGeom>
          <a:noFill/>
          <a:ln/>
        </p:spPr>
        <p:txBody>
          <a:bodyPr wrap="square" lIns="0" tIns="0" rIns="0" bIns="0" rtlCol="0" anchor="t"/>
          <a:lstStyle/>
          <a:p>
            <a:pPr algn="l" indent="0" marL="0">
              <a:buNone/>
            </a:pPr>
            <a:r>
              <a:rPr lang="en-US" sz="1400" dirty="0">
                <a:solidFill>
                  <a:srgbClr val="C9D3E3"/>
                </a:solidFill>
                <a:latin typeface="Montserrat" pitchFamily="34" charset="0"/>
                <a:ea typeface="Montserrat" pitchFamily="34" charset="-122"/>
                <a:cs typeface="Montserrat" pitchFamily="34" charset="-120"/>
              </a:rPr>
              <a:t>Emidio demonstrates a highly complex AI workflow we developed — applied to sales: which companies have the pain, who to contact, with which message.</a:t>
            </a:r>
            <a:endParaRPr lang="en-US" sz="1400" dirty="0"/>
          </a:p>
        </p:txBody>
      </p:sp>
      <p:sp>
        <p:nvSpPr>
          <p:cNvPr id="5" name="Shape 2"/>
          <p:cNvSpPr/>
          <p:nvPr/>
        </p:nvSpPr>
        <p:spPr>
          <a:xfrm>
            <a:off x="548640" y="2057400"/>
            <a:ext cx="7406640" cy="4114800"/>
          </a:xfrm>
          <a:prstGeom prst="roundRect">
            <a:avLst>
              <a:gd name="adj" fmla="val 1778"/>
            </a:avLst>
          </a:prstGeom>
          <a:solidFill>
            <a:srgbClr val="1B2156"/>
          </a:solidFill>
          <a:ln w="15875">
            <a:solidFill>
              <a:srgbClr val="4A8FDB"/>
            </a:solidFill>
            <a:prstDash val="dash"/>
          </a:ln>
        </p:spPr>
      </p:sp>
      <p:pic>
        <p:nvPicPr>
          <p:cNvPr id="6" name="Image 0" descr="/home/user/work/assets/network.png">    </p:cNvPr>
          <p:cNvPicPr>
            <a:picLocks noChangeAspect="1"/>
          </p:cNvPicPr>
          <p:nvPr/>
        </p:nvPicPr>
        <p:blipFill>
          <a:blip r:embed="rId1">
            <a:alphaModFix amt="75000"/>
          </a:blip>
          <a:stretch>
            <a:fillRect/>
          </a:stretch>
        </p:blipFill>
        <p:spPr>
          <a:xfrm>
            <a:off x="731520" y="2194560"/>
            <a:ext cx="7040880" cy="3840480"/>
          </a:xfrm>
          <a:prstGeom prst="rect">
            <a:avLst/>
          </a:prstGeom>
        </p:spPr>
      </p:pic>
      <p:sp>
        <p:nvSpPr>
          <p:cNvPr id="7" name="Shape 3"/>
          <p:cNvSpPr/>
          <p:nvPr/>
        </p:nvSpPr>
        <p:spPr>
          <a:xfrm>
            <a:off x="2331720" y="3566160"/>
            <a:ext cx="3840480" cy="1051560"/>
          </a:xfrm>
          <a:prstGeom prst="roundRect">
            <a:avLst>
              <a:gd name="adj" fmla="val 6957"/>
            </a:avLst>
          </a:prstGeom>
          <a:solidFill>
            <a:srgbClr val="0F1341"/>
          </a:solidFill>
          <a:ln w="12700">
            <a:solidFill>
              <a:srgbClr val="4A8FDB"/>
            </a:solidFill>
            <a:prstDash val="solid"/>
          </a:ln>
        </p:spPr>
      </p:sp>
      <p:sp>
        <p:nvSpPr>
          <p:cNvPr id="8" name="Shape 4"/>
          <p:cNvSpPr/>
          <p:nvPr/>
        </p:nvSpPr>
        <p:spPr>
          <a:xfrm>
            <a:off x="2971800" y="3685032"/>
            <a:ext cx="2560320" cy="274320"/>
          </a:xfrm>
          <a:prstGeom prst="roundRect">
            <a:avLst>
              <a:gd name="adj" fmla="val 26667"/>
            </a:avLst>
          </a:prstGeom>
          <a:solidFill>
            <a:srgbClr val="4A8FDB"/>
          </a:solidFill>
          <a:ln/>
        </p:spPr>
      </p:sp>
      <p:sp>
        <p:nvSpPr>
          <p:cNvPr id="9" name="Text 5"/>
          <p:cNvSpPr txBox="1"/>
          <p:nvPr/>
        </p:nvSpPr>
        <p:spPr>
          <a:xfrm>
            <a:off x="2971800" y="3685032"/>
            <a:ext cx="2560320" cy="274320"/>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Montserrat" pitchFamily="34" charset="0"/>
                <a:ea typeface="Montserrat" pitchFamily="34" charset="-122"/>
                <a:cs typeface="Montserrat" pitchFamily="34" charset="-120"/>
              </a:rPr>
              <a:t>PLACEHOLDER  ·  LIVE DEMO</a:t>
            </a:r>
            <a:endParaRPr lang="en-US" sz="900" dirty="0"/>
          </a:p>
        </p:txBody>
      </p:sp>
      <p:sp>
        <p:nvSpPr>
          <p:cNvPr id="10" name="Text 6"/>
          <p:cNvSpPr txBox="1"/>
          <p:nvPr/>
        </p:nvSpPr>
        <p:spPr>
          <a:xfrm>
            <a:off x="2377440" y="4069080"/>
            <a:ext cx="374904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Montserrat" pitchFamily="34" charset="0"/>
                <a:ea typeface="Montserrat" pitchFamily="34" charset="-122"/>
                <a:cs typeface="Montserrat" pitchFamily="34" charset="-120"/>
              </a:rPr>
              <a:t>Emidio · AI workflow on screen</a:t>
            </a:r>
            <a:endParaRPr lang="en-US" sz="1400" dirty="0"/>
          </a:p>
        </p:txBody>
      </p:sp>
      <p:sp>
        <p:nvSpPr>
          <p:cNvPr id="11" name="Shape 7"/>
          <p:cNvSpPr/>
          <p:nvPr/>
        </p:nvSpPr>
        <p:spPr>
          <a:xfrm>
            <a:off x="8229600" y="2057400"/>
            <a:ext cx="3410712" cy="1261872"/>
          </a:xfrm>
          <a:prstGeom prst="roundRect">
            <a:avLst>
              <a:gd name="adj" fmla="val 5797"/>
            </a:avLst>
          </a:prstGeom>
          <a:solidFill>
            <a:srgbClr val="1B2156"/>
          </a:solidFill>
          <a:ln/>
        </p:spPr>
      </p:sp>
      <p:sp>
        <p:nvSpPr>
          <p:cNvPr id="12" name="Shape 8"/>
          <p:cNvSpPr/>
          <p:nvPr/>
        </p:nvSpPr>
        <p:spPr>
          <a:xfrm>
            <a:off x="8412480" y="2441448"/>
            <a:ext cx="502920" cy="502920"/>
          </a:xfrm>
          <a:prstGeom prst="ellipse">
            <a:avLst/>
          </a:prstGeom>
          <a:solidFill>
            <a:srgbClr val="2E6FBF"/>
          </a:solidFill>
          <a:ln/>
        </p:spPr>
      </p:sp>
      <p:pic>
        <p:nvPicPr>
          <p:cNvPr id="13" name="Image 1" descr="preencoded.png">    </p:cNvPr>
          <p:cNvPicPr>
            <a:picLocks noChangeAspect="1"/>
          </p:cNvPicPr>
          <p:nvPr/>
        </p:nvPicPr>
        <p:blipFill>
          <a:blip r:embed="rId2"/>
          <a:stretch>
            <a:fillRect/>
          </a:stretch>
        </p:blipFill>
        <p:spPr>
          <a:xfrm>
            <a:off x="8522208" y="2551176"/>
            <a:ext cx="283464" cy="283464"/>
          </a:xfrm>
          <a:prstGeom prst="rect">
            <a:avLst/>
          </a:prstGeom>
        </p:spPr>
      </p:pic>
      <p:sp>
        <p:nvSpPr>
          <p:cNvPr id="14" name="Text 9"/>
          <p:cNvSpPr txBox="1"/>
          <p:nvPr/>
        </p:nvSpPr>
        <p:spPr>
          <a:xfrm>
            <a:off x="9098280" y="2258568"/>
            <a:ext cx="2423160" cy="365760"/>
          </a:xfrm>
          <a:prstGeom prst="rect">
            <a:avLst/>
          </a:prstGeom>
          <a:noFill/>
          <a:ln/>
        </p:spPr>
        <p:txBody>
          <a:bodyPr wrap="square" lIns="0" tIns="0" rIns="0" bIns="0" rtlCol="0" anchor="t"/>
          <a:lstStyle/>
          <a:p>
            <a:pPr indent="0" marL="0">
              <a:buNone/>
            </a:pPr>
            <a:r>
              <a:rPr lang="en-US" sz="1300" b="1" dirty="0">
                <a:solidFill>
                  <a:srgbClr val="FFFFFF"/>
                </a:solidFill>
                <a:latin typeface="Montserrat" pitchFamily="34" charset="0"/>
                <a:ea typeface="Montserrat" pitchFamily="34" charset="-122"/>
                <a:cs typeface="Montserrat" pitchFamily="34" charset="-120"/>
              </a:rPr>
              <a:t>Millions of data points</a:t>
            </a:r>
            <a:endParaRPr lang="en-US" sz="1300" dirty="0"/>
          </a:p>
        </p:txBody>
      </p:sp>
      <p:sp>
        <p:nvSpPr>
          <p:cNvPr id="15" name="Text 10"/>
          <p:cNvSpPr txBox="1"/>
          <p:nvPr/>
        </p:nvSpPr>
        <p:spPr>
          <a:xfrm>
            <a:off x="9098280" y="2624328"/>
            <a:ext cx="2423160" cy="566928"/>
          </a:xfrm>
          <a:prstGeom prst="rect">
            <a:avLst/>
          </a:prstGeom>
          <a:noFill/>
          <a:ln/>
        </p:spPr>
        <p:txBody>
          <a:bodyPr wrap="square" lIns="0" tIns="0" rIns="0" bIns="0" rtlCol="0" anchor="t"/>
          <a:lstStyle/>
          <a:p>
            <a:pPr indent="0" marL="0">
              <a:buNone/>
            </a:pPr>
            <a:r>
              <a:rPr lang="en-US" sz="1100" dirty="0">
                <a:solidFill>
                  <a:srgbClr val="C9D3E3"/>
                </a:solidFill>
                <a:latin typeface="Montserrat" pitchFamily="34" charset="0"/>
                <a:ea typeface="Montserrat" pitchFamily="34" charset="-122"/>
                <a:cs typeface="Montserrat" pitchFamily="34" charset="-120"/>
              </a:rPr>
              <a:t>Many sources linked in one model</a:t>
            </a:r>
            <a:endParaRPr lang="en-US" sz="1100" dirty="0"/>
          </a:p>
        </p:txBody>
      </p:sp>
      <p:sp>
        <p:nvSpPr>
          <p:cNvPr id="16" name="Shape 11"/>
          <p:cNvSpPr/>
          <p:nvPr/>
        </p:nvSpPr>
        <p:spPr>
          <a:xfrm>
            <a:off x="8229600" y="3456432"/>
            <a:ext cx="3410712" cy="1261872"/>
          </a:xfrm>
          <a:prstGeom prst="roundRect">
            <a:avLst>
              <a:gd name="adj" fmla="val 5797"/>
            </a:avLst>
          </a:prstGeom>
          <a:solidFill>
            <a:srgbClr val="1B2156"/>
          </a:solidFill>
          <a:ln/>
        </p:spPr>
      </p:sp>
      <p:sp>
        <p:nvSpPr>
          <p:cNvPr id="17" name="Shape 12"/>
          <p:cNvSpPr/>
          <p:nvPr/>
        </p:nvSpPr>
        <p:spPr>
          <a:xfrm>
            <a:off x="8412480" y="3840480"/>
            <a:ext cx="502920" cy="502920"/>
          </a:xfrm>
          <a:prstGeom prst="ellipse">
            <a:avLst/>
          </a:prstGeom>
          <a:solidFill>
            <a:srgbClr val="2E6FBF"/>
          </a:solidFill>
          <a:ln/>
        </p:spPr>
      </p:sp>
      <p:pic>
        <p:nvPicPr>
          <p:cNvPr id="18" name="Image 2" descr="preencoded.png">    </p:cNvPr>
          <p:cNvPicPr>
            <a:picLocks noChangeAspect="1"/>
          </p:cNvPicPr>
          <p:nvPr/>
        </p:nvPicPr>
        <p:blipFill>
          <a:blip r:embed="rId3"/>
          <a:stretch>
            <a:fillRect/>
          </a:stretch>
        </p:blipFill>
        <p:spPr>
          <a:xfrm>
            <a:off x="8522208" y="3950208"/>
            <a:ext cx="283464" cy="283464"/>
          </a:xfrm>
          <a:prstGeom prst="rect">
            <a:avLst/>
          </a:prstGeom>
        </p:spPr>
      </p:pic>
      <p:sp>
        <p:nvSpPr>
          <p:cNvPr id="19" name="Text 13"/>
          <p:cNvSpPr txBox="1"/>
          <p:nvPr/>
        </p:nvSpPr>
        <p:spPr>
          <a:xfrm>
            <a:off x="9098280" y="3657600"/>
            <a:ext cx="2423160" cy="365760"/>
          </a:xfrm>
          <a:prstGeom prst="rect">
            <a:avLst/>
          </a:prstGeom>
          <a:noFill/>
          <a:ln/>
        </p:spPr>
        <p:txBody>
          <a:bodyPr wrap="square" lIns="0" tIns="0" rIns="0" bIns="0" rtlCol="0" anchor="t"/>
          <a:lstStyle/>
          <a:p>
            <a:pPr indent="0" marL="0">
              <a:buNone/>
            </a:pPr>
            <a:r>
              <a:rPr lang="en-US" sz="1300" b="1" dirty="0">
                <a:solidFill>
                  <a:srgbClr val="FFFFFF"/>
                </a:solidFill>
                <a:latin typeface="Montserrat" pitchFamily="34" charset="0"/>
                <a:ea typeface="Montserrat" pitchFamily="34" charset="-122"/>
                <a:cs typeface="Montserrat" pitchFamily="34" charset="-120"/>
              </a:rPr>
              <a:t>Multiple AI agents</a:t>
            </a:r>
            <a:endParaRPr lang="en-US" sz="1300" dirty="0"/>
          </a:p>
        </p:txBody>
      </p:sp>
      <p:sp>
        <p:nvSpPr>
          <p:cNvPr id="20" name="Text 14"/>
          <p:cNvSpPr txBox="1"/>
          <p:nvPr/>
        </p:nvSpPr>
        <p:spPr>
          <a:xfrm>
            <a:off x="9098280" y="4023360"/>
            <a:ext cx="2423160" cy="566928"/>
          </a:xfrm>
          <a:prstGeom prst="rect">
            <a:avLst/>
          </a:prstGeom>
          <a:noFill/>
          <a:ln/>
        </p:spPr>
        <p:txBody>
          <a:bodyPr wrap="square" lIns="0" tIns="0" rIns="0" bIns="0" rtlCol="0" anchor="t"/>
          <a:lstStyle/>
          <a:p>
            <a:pPr indent="0" marL="0">
              <a:buNone/>
            </a:pPr>
            <a:r>
              <a:rPr lang="en-US" sz="1100" dirty="0">
                <a:solidFill>
                  <a:srgbClr val="C9D3E3"/>
                </a:solidFill>
                <a:latin typeface="Montserrat" pitchFamily="34" charset="0"/>
                <a:ea typeface="Montserrat" pitchFamily="34" charset="-122"/>
                <a:cs typeface="Montserrat" pitchFamily="34" charset="-120"/>
              </a:rPr>
              <a:t>Research, matching and scoring in one flow</a:t>
            </a:r>
            <a:endParaRPr lang="en-US" sz="1100" dirty="0"/>
          </a:p>
        </p:txBody>
      </p:sp>
      <p:sp>
        <p:nvSpPr>
          <p:cNvPr id="21" name="Shape 15"/>
          <p:cNvSpPr/>
          <p:nvPr/>
        </p:nvSpPr>
        <p:spPr>
          <a:xfrm>
            <a:off x="8229600" y="4855464"/>
            <a:ext cx="3410712" cy="1261872"/>
          </a:xfrm>
          <a:prstGeom prst="roundRect">
            <a:avLst>
              <a:gd name="adj" fmla="val 5797"/>
            </a:avLst>
          </a:prstGeom>
          <a:solidFill>
            <a:srgbClr val="1B2156"/>
          </a:solidFill>
          <a:ln/>
        </p:spPr>
      </p:sp>
      <p:sp>
        <p:nvSpPr>
          <p:cNvPr id="22" name="Shape 16"/>
          <p:cNvSpPr/>
          <p:nvPr/>
        </p:nvSpPr>
        <p:spPr>
          <a:xfrm>
            <a:off x="8412480" y="5239512"/>
            <a:ext cx="502920" cy="502920"/>
          </a:xfrm>
          <a:prstGeom prst="ellipse">
            <a:avLst/>
          </a:prstGeom>
          <a:solidFill>
            <a:srgbClr val="2E6FBF"/>
          </a:solidFill>
          <a:ln/>
        </p:spPr>
      </p:sp>
      <p:pic>
        <p:nvPicPr>
          <p:cNvPr id="23" name="Image 3" descr="preencoded.png">    </p:cNvPr>
          <p:cNvPicPr>
            <a:picLocks noChangeAspect="1"/>
          </p:cNvPicPr>
          <p:nvPr/>
        </p:nvPicPr>
        <p:blipFill>
          <a:blip r:embed="rId4"/>
          <a:stretch>
            <a:fillRect/>
          </a:stretch>
        </p:blipFill>
        <p:spPr>
          <a:xfrm>
            <a:off x="8522208" y="5349240"/>
            <a:ext cx="283464" cy="283464"/>
          </a:xfrm>
          <a:prstGeom prst="rect">
            <a:avLst/>
          </a:prstGeom>
        </p:spPr>
      </p:pic>
      <p:sp>
        <p:nvSpPr>
          <p:cNvPr id="24" name="Text 17"/>
          <p:cNvSpPr txBox="1"/>
          <p:nvPr/>
        </p:nvSpPr>
        <p:spPr>
          <a:xfrm>
            <a:off x="9098280" y="5056632"/>
            <a:ext cx="2423160" cy="365760"/>
          </a:xfrm>
          <a:prstGeom prst="rect">
            <a:avLst/>
          </a:prstGeom>
          <a:noFill/>
          <a:ln/>
        </p:spPr>
        <p:txBody>
          <a:bodyPr wrap="square" lIns="0" tIns="0" rIns="0" bIns="0" rtlCol="0" anchor="t"/>
          <a:lstStyle/>
          <a:p>
            <a:pPr indent="0" marL="0">
              <a:buNone/>
            </a:pPr>
            <a:r>
              <a:rPr lang="en-US" sz="1300" b="1" dirty="0">
                <a:solidFill>
                  <a:srgbClr val="FFFFFF"/>
                </a:solidFill>
                <a:latin typeface="Montserrat" pitchFamily="34" charset="0"/>
                <a:ea typeface="Montserrat" pitchFamily="34" charset="-122"/>
                <a:cs typeface="Montserrat" pitchFamily="34" charset="-120"/>
              </a:rPr>
              <a:t>From data to decision</a:t>
            </a:r>
            <a:endParaRPr lang="en-US" sz="1300" dirty="0"/>
          </a:p>
        </p:txBody>
      </p:sp>
      <p:sp>
        <p:nvSpPr>
          <p:cNvPr id="25" name="Text 18"/>
          <p:cNvSpPr txBox="1"/>
          <p:nvPr/>
        </p:nvSpPr>
        <p:spPr>
          <a:xfrm>
            <a:off x="9098280" y="5422392"/>
            <a:ext cx="2423160" cy="566928"/>
          </a:xfrm>
          <a:prstGeom prst="rect">
            <a:avLst/>
          </a:prstGeom>
          <a:noFill/>
          <a:ln/>
        </p:spPr>
        <p:txBody>
          <a:bodyPr wrap="square" lIns="0" tIns="0" rIns="0" bIns="0" rtlCol="0" anchor="t"/>
          <a:lstStyle/>
          <a:p>
            <a:pPr indent="0" marL="0">
              <a:buNone/>
            </a:pPr>
            <a:r>
              <a:rPr lang="en-US" sz="1100" dirty="0">
                <a:solidFill>
                  <a:srgbClr val="C9D3E3"/>
                </a:solidFill>
                <a:latin typeface="Montserrat" pitchFamily="34" charset="0"/>
                <a:ea typeface="Montserrat" pitchFamily="34" charset="-122"/>
                <a:cs typeface="Montserrat" pitchFamily="34" charset="-120"/>
              </a:rPr>
              <a:t>The output is a recommendation, not a dashboard</a:t>
            </a:r>
            <a:endParaRPr lang="en-US" sz="11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A7FA8"/>
                </a:solidFill>
                <a:latin typeface="Montserrat"/>
                <a:ea typeface="Montserrat"/>
                <a:cs typeface="Montserrat"/>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66928" y="2057400"/>
            <a:ext cx="6583680" cy="1737360"/>
          </a:xfrm>
          <a:prstGeom prst="rect">
            <a:avLst/>
          </a:prstGeom>
          <a:noFill/>
          <a:ln/>
        </p:spPr>
        <p:txBody>
          <a:bodyPr wrap="square" lIns="0" tIns="0" rIns="0" bIns="0" rtlCol="0" anchor="b"/>
          <a:lstStyle/>
          <a:p>
            <a:pPr indent="0" marL="0">
              <a:buNone/>
            </a:pPr>
            <a:r>
              <a:rPr lang="en-US" sz="4000" b="1" dirty="0">
                <a:solidFill>
                  <a:srgbClr val="0F1341"/>
                </a:solidFill>
                <a:latin typeface="Montserrat" pitchFamily="34" charset="0"/>
                <a:ea typeface="Montserrat" pitchFamily="34" charset="-122"/>
                <a:cs typeface="Montserrat" pitchFamily="34" charset="-120"/>
              </a:rPr>
              <a:t>The AI-Native Sales Organization</a:t>
            </a:r>
            <a:endParaRPr lang="en-US" sz="4000" dirty="0"/>
          </a:p>
        </p:txBody>
      </p:sp>
      <p:sp>
        <p:nvSpPr>
          <p:cNvPr id="3" name="Text 1"/>
          <p:cNvSpPr txBox="1"/>
          <p:nvPr/>
        </p:nvSpPr>
        <p:spPr>
          <a:xfrm>
            <a:off x="566928" y="3977640"/>
            <a:ext cx="6035040" cy="914400"/>
          </a:xfrm>
          <a:prstGeom prst="rect">
            <a:avLst/>
          </a:prstGeom>
          <a:noFill/>
          <a:ln/>
        </p:spPr>
        <p:txBody>
          <a:bodyPr wrap="square" lIns="0" tIns="0" rIns="0" bIns="0" rtlCol="0" anchor="t"/>
          <a:lstStyle/>
          <a:p>
            <a:pPr indent="0" marL="0">
              <a:buNone/>
            </a:pPr>
            <a:r>
              <a:rPr lang="en-US" sz="1600" dirty="0">
                <a:solidFill>
                  <a:srgbClr val="5B6270"/>
                </a:solidFill>
                <a:latin typeface="Montserrat" pitchFamily="34" charset="0"/>
                <a:ea typeface="Montserrat" pitchFamily="34" charset="-122"/>
                <a:cs typeface="Montserrat" pitchFamily="34" charset="-120"/>
              </a:rPr>
              <a:t>How to identify customers, quantify their problems, build a sales engine and validate real demand with AI.</a:t>
            </a:r>
            <a:endParaRPr lang="en-US" sz="1600" dirty="0"/>
          </a:p>
        </p:txBody>
      </p:sp>
      <p:sp>
        <p:nvSpPr>
          <p:cNvPr id="4" name="Text 2"/>
          <p:cNvSpPr txBox="1"/>
          <p:nvPr/>
        </p:nvSpPr>
        <p:spPr>
          <a:xfrm>
            <a:off x="566928" y="6080760"/>
            <a:ext cx="3657600" cy="320040"/>
          </a:xfrm>
          <a:prstGeom prst="rect">
            <a:avLst/>
          </a:prstGeom>
          <a:noFill/>
          <a:ln/>
        </p:spPr>
        <p:txBody>
          <a:bodyPr wrap="square" lIns="0" tIns="0" rIns="0" bIns="0" rtlCol="0" anchor="t"/>
          <a:lstStyle/>
          <a:p>
            <a:pPr indent="0" marL="0">
              <a:buNone/>
            </a:pPr>
            <a:r>
              <a:rPr lang="en-US" sz="1200" dirty="0">
                <a:solidFill>
                  <a:srgbClr val="8A93A3"/>
                </a:solidFill>
                <a:latin typeface="Montserrat" pitchFamily="34" charset="0"/>
                <a:ea typeface="Montserrat" pitchFamily="34" charset="-122"/>
                <a:cs typeface="Montserrat" pitchFamily="34" charset="-120"/>
              </a:rPr>
              <a:t>Rome, October 2026</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2" type="title" hasCustomPrompt="1"/>
          </p:nvPr>
        </p:nvSpPr>
        <p:spPr>
          <a:xfrm>
            <a:off x="548640" y="502920"/>
            <a:ext cx="7863840" cy="685800"/>
          </a:xfrm>
          <a:prstGeom prst="rect">
            <a:avLst/>
          </a:prstGeom>
          <a:noFill/>
          <a:ln/>
        </p:spPr>
        <p:txBody>
          <a:bodyPr wrap="square" lIns="0" tIns="0" rIns="0" bIns="0" rtlCol="0" anchor="t"/>
          <a:lstStyle/>
          <a:p>
            <a:pPr algn="l" indent="0" marL="0">
              <a:buNone/>
            </a:pPr>
            <a:r>
              <a:rPr lang="en-US" sz="2800" b="1" dirty="0">
                <a:solidFill>
                  <a:srgbClr val="0F1341"/>
                </a:solidFill>
                <a:latin typeface="Montserrat" pitchFamily="34" charset="0"/>
                <a:ea typeface="Montserrat" pitchFamily="34" charset="-122"/>
                <a:cs typeface="Montserrat" pitchFamily="34" charset="-120"/>
              </a:rPr>
              <a:t>ChatGPT: 1 million users in just 5 days</a:t>
            </a:r>
            <a:endParaRPr lang="en-US" sz="2800" dirty="0"/>
          </a:p>
        </p:txBody>
      </p:sp>
      <p:sp>
        <p:nvSpPr>
          <p:cNvPr id="3" name="Text 0"/>
          <p:cNvSpPr/>
          <p:nvPr>
            <p:ph idx="103" type="body" hasCustomPrompt="1"/>
          </p:nvPr>
        </p:nvSpPr>
        <p:spPr>
          <a:xfrm>
            <a:off x="548640" y="1207008"/>
            <a:ext cx="8778240" cy="365760"/>
          </a:xfrm>
          <a:prstGeom prst="rect">
            <a:avLst/>
          </a:prstGeom>
          <a:noFill/>
          <a:ln/>
        </p:spPr>
        <p:txBody>
          <a:bodyPr wrap="square" lIns="0" tIns="0" rIns="0" bIns="0" rtlCol="0" anchor="t"/>
          <a:lstStyle/>
          <a:p>
            <a:pPr algn="l" indent="0" marL="0">
              <a:buNone/>
            </a:pPr>
            <a:r>
              <a:rPr lang="en-US" sz="1300" dirty="0">
                <a:solidFill>
                  <a:srgbClr val="5B6270"/>
                </a:solidFill>
                <a:latin typeface="Montserrat" pitchFamily="34" charset="0"/>
                <a:ea typeface="Montserrat" pitchFamily="34" charset="-122"/>
                <a:cs typeface="Montserrat" pitchFamily="34" charset="-120"/>
              </a:rPr>
              <a:t>Time it took to reach 1 million users</a:t>
            </a:r>
            <a:endParaRPr lang="en-US" sz="1300" dirty="0"/>
          </a:p>
        </p:txBody>
      </p:sp>
      <p:sp>
        <p:nvSpPr>
          <p:cNvPr id="5" name="Shape 2"/>
          <p:cNvSpPr/>
          <p:nvPr/>
        </p:nvSpPr>
        <p:spPr>
          <a:xfrm>
            <a:off x="2103120" y="1828800"/>
            <a:ext cx="0" cy="3730752"/>
          </a:xfrm>
          <a:prstGeom prst="line">
            <a:avLst/>
          </a:prstGeom>
          <a:noFill/>
          <a:ln w="12700">
            <a:solidFill>
              <a:srgbClr val="C9D3E3"/>
            </a:solidFill>
            <a:prstDash val="solid"/>
          </a:ln>
        </p:spPr>
      </p:sp>
      <p:sp>
        <p:nvSpPr>
          <p:cNvPr id="6" name="Text 3"/>
          <p:cNvSpPr txBox="1"/>
          <p:nvPr/>
        </p:nvSpPr>
        <p:spPr>
          <a:xfrm>
            <a:off x="548640" y="2011680"/>
            <a:ext cx="1371600" cy="566928"/>
          </a:xfrm>
          <a:prstGeom prst="rect">
            <a:avLst/>
          </a:prstGeom>
          <a:noFill/>
          <a:ln/>
        </p:spPr>
        <p:txBody>
          <a:bodyPr wrap="square" lIns="0" tIns="0" rIns="0" bIns="0" rtlCol="0" anchor="ctr"/>
          <a:lstStyle/>
          <a:p>
            <a:pPr algn="r" indent="0" marL="0">
              <a:buNone/>
            </a:pPr>
            <a:r>
              <a:rPr lang="en-US" sz="1500" dirty="0">
                <a:solidFill>
                  <a:srgbClr val="0F1341"/>
                </a:solidFill>
                <a:latin typeface="Montserrat" pitchFamily="34" charset="0"/>
                <a:ea typeface="Montserrat" pitchFamily="34" charset="-122"/>
                <a:cs typeface="Montserrat" pitchFamily="34" charset="-120"/>
              </a:rPr>
              <a:t>Netflix</a:t>
            </a:r>
            <a:endParaRPr lang="en-US" sz="1500" dirty="0"/>
          </a:p>
        </p:txBody>
      </p:sp>
      <p:sp>
        <p:nvSpPr>
          <p:cNvPr id="7" name="Shape 4"/>
          <p:cNvSpPr/>
          <p:nvPr/>
        </p:nvSpPr>
        <p:spPr>
          <a:xfrm>
            <a:off x="2103120" y="2011680"/>
            <a:ext cx="5120640" cy="566928"/>
          </a:xfrm>
          <a:prstGeom prst="rect">
            <a:avLst/>
          </a:prstGeom>
          <a:solidFill>
            <a:srgbClr val="0F1341"/>
          </a:solidFill>
          <a:ln/>
        </p:spPr>
      </p:sp>
      <p:sp>
        <p:nvSpPr>
          <p:cNvPr id="8" name="Text 5"/>
          <p:cNvSpPr txBox="1"/>
          <p:nvPr/>
        </p:nvSpPr>
        <p:spPr>
          <a:xfrm>
            <a:off x="2103120" y="2011680"/>
            <a:ext cx="5120640" cy="566928"/>
          </a:xfrm>
          <a:prstGeom prst="rect">
            <a:avLst/>
          </a:prstGeom>
          <a:noFill/>
          <a:ln/>
        </p:spPr>
        <p:txBody>
          <a:bodyPr wrap="square" lIns="0" tIns="0" rIns="0" bIns="0" rtlCol="0" anchor="ctr"/>
          <a:lstStyle/>
          <a:p>
            <a:pPr algn="ctr" indent="0" marL="0">
              <a:buNone/>
            </a:pPr>
            <a:r>
              <a:rPr lang="en-US" sz="1400" dirty="0">
                <a:solidFill>
                  <a:srgbClr val="FFFFFF"/>
                </a:solidFill>
                <a:latin typeface="Montserrat" pitchFamily="34" charset="0"/>
                <a:ea typeface="Montserrat" pitchFamily="34" charset="-122"/>
                <a:cs typeface="Montserrat" pitchFamily="34" charset="-120"/>
              </a:rPr>
              <a:t>3.5 years</a:t>
            </a:r>
            <a:endParaRPr lang="en-US" sz="1400" dirty="0"/>
          </a:p>
        </p:txBody>
      </p:sp>
      <p:sp>
        <p:nvSpPr>
          <p:cNvPr id="9" name="Text 6"/>
          <p:cNvSpPr txBox="1"/>
          <p:nvPr/>
        </p:nvSpPr>
        <p:spPr>
          <a:xfrm>
            <a:off x="548640" y="2944368"/>
            <a:ext cx="1371600" cy="566928"/>
          </a:xfrm>
          <a:prstGeom prst="rect">
            <a:avLst/>
          </a:prstGeom>
          <a:noFill/>
          <a:ln/>
        </p:spPr>
        <p:txBody>
          <a:bodyPr wrap="square" lIns="0" tIns="0" rIns="0" bIns="0" rtlCol="0" anchor="ctr"/>
          <a:lstStyle/>
          <a:p>
            <a:pPr algn="r" indent="0" marL="0">
              <a:buNone/>
            </a:pPr>
            <a:r>
              <a:rPr lang="en-US" sz="1500" dirty="0">
                <a:solidFill>
                  <a:srgbClr val="0F1341"/>
                </a:solidFill>
                <a:latin typeface="Montserrat" pitchFamily="34" charset="0"/>
                <a:ea typeface="Montserrat" pitchFamily="34" charset="-122"/>
                <a:cs typeface="Montserrat" pitchFamily="34" charset="-120"/>
              </a:rPr>
              <a:t>Airbnb</a:t>
            </a:r>
            <a:endParaRPr lang="en-US" sz="1500" dirty="0"/>
          </a:p>
        </p:txBody>
      </p:sp>
      <p:sp>
        <p:nvSpPr>
          <p:cNvPr id="10" name="Shape 7"/>
          <p:cNvSpPr/>
          <p:nvPr/>
        </p:nvSpPr>
        <p:spPr>
          <a:xfrm>
            <a:off x="2103120" y="2944368"/>
            <a:ext cx="3657600" cy="566928"/>
          </a:xfrm>
          <a:prstGeom prst="rect">
            <a:avLst/>
          </a:prstGeom>
          <a:solidFill>
            <a:srgbClr val="283070"/>
          </a:solidFill>
          <a:ln/>
        </p:spPr>
      </p:sp>
      <p:sp>
        <p:nvSpPr>
          <p:cNvPr id="11" name="Text 8"/>
          <p:cNvSpPr txBox="1"/>
          <p:nvPr/>
        </p:nvSpPr>
        <p:spPr>
          <a:xfrm>
            <a:off x="2103120" y="2944368"/>
            <a:ext cx="3657600" cy="566928"/>
          </a:xfrm>
          <a:prstGeom prst="rect">
            <a:avLst/>
          </a:prstGeom>
          <a:noFill/>
          <a:ln/>
        </p:spPr>
        <p:txBody>
          <a:bodyPr wrap="square" lIns="0" tIns="0" rIns="0" bIns="0" rtlCol="0" anchor="ctr"/>
          <a:lstStyle/>
          <a:p>
            <a:pPr algn="ctr" indent="0" marL="0">
              <a:buNone/>
            </a:pPr>
            <a:r>
              <a:rPr lang="en-US" sz="1400" dirty="0">
                <a:solidFill>
                  <a:srgbClr val="FFFFFF"/>
                </a:solidFill>
                <a:latin typeface="Montserrat" pitchFamily="34" charset="0"/>
                <a:ea typeface="Montserrat" pitchFamily="34" charset="-122"/>
                <a:cs typeface="Montserrat" pitchFamily="34" charset="-120"/>
              </a:rPr>
              <a:t>2.5 years</a:t>
            </a:r>
            <a:endParaRPr lang="en-US" sz="1400" dirty="0"/>
          </a:p>
        </p:txBody>
      </p:sp>
      <p:sp>
        <p:nvSpPr>
          <p:cNvPr id="12" name="Text 9"/>
          <p:cNvSpPr txBox="1"/>
          <p:nvPr/>
        </p:nvSpPr>
        <p:spPr>
          <a:xfrm>
            <a:off x="548640" y="3877056"/>
            <a:ext cx="1371600" cy="566928"/>
          </a:xfrm>
          <a:prstGeom prst="rect">
            <a:avLst/>
          </a:prstGeom>
          <a:noFill/>
          <a:ln/>
        </p:spPr>
        <p:txBody>
          <a:bodyPr wrap="square" lIns="0" tIns="0" rIns="0" bIns="0" rtlCol="0" anchor="ctr"/>
          <a:lstStyle/>
          <a:p>
            <a:pPr algn="r" indent="0" marL="0">
              <a:buNone/>
            </a:pPr>
            <a:r>
              <a:rPr lang="en-US" sz="1500" dirty="0">
                <a:solidFill>
                  <a:srgbClr val="0F1341"/>
                </a:solidFill>
                <a:latin typeface="Montserrat" pitchFamily="34" charset="0"/>
                <a:ea typeface="Montserrat" pitchFamily="34" charset="-122"/>
                <a:cs typeface="Montserrat" pitchFamily="34" charset="-120"/>
              </a:rPr>
              <a:t>Twitter</a:t>
            </a:r>
            <a:endParaRPr lang="en-US" sz="1500" dirty="0"/>
          </a:p>
        </p:txBody>
      </p:sp>
      <p:sp>
        <p:nvSpPr>
          <p:cNvPr id="13" name="Shape 10"/>
          <p:cNvSpPr/>
          <p:nvPr/>
        </p:nvSpPr>
        <p:spPr>
          <a:xfrm>
            <a:off x="2103120" y="3877056"/>
            <a:ext cx="2926080" cy="566928"/>
          </a:xfrm>
          <a:prstGeom prst="rect">
            <a:avLst/>
          </a:prstGeom>
          <a:solidFill>
            <a:srgbClr val="6A7FA8"/>
          </a:solidFill>
          <a:ln/>
        </p:spPr>
      </p:sp>
      <p:sp>
        <p:nvSpPr>
          <p:cNvPr id="14" name="Text 11"/>
          <p:cNvSpPr txBox="1"/>
          <p:nvPr/>
        </p:nvSpPr>
        <p:spPr>
          <a:xfrm>
            <a:off x="2103120" y="3877056"/>
            <a:ext cx="2926080" cy="566928"/>
          </a:xfrm>
          <a:prstGeom prst="rect">
            <a:avLst/>
          </a:prstGeom>
          <a:noFill/>
          <a:ln/>
        </p:spPr>
        <p:txBody>
          <a:bodyPr wrap="square" lIns="0" tIns="0" rIns="0" bIns="0" rtlCol="0" anchor="ctr"/>
          <a:lstStyle/>
          <a:p>
            <a:pPr algn="ctr" indent="0" marL="0">
              <a:buNone/>
            </a:pPr>
            <a:r>
              <a:rPr lang="en-US" sz="1400" dirty="0">
                <a:solidFill>
                  <a:srgbClr val="FFFFFF"/>
                </a:solidFill>
                <a:latin typeface="Montserrat" pitchFamily="34" charset="0"/>
                <a:ea typeface="Montserrat" pitchFamily="34" charset="-122"/>
                <a:cs typeface="Montserrat" pitchFamily="34" charset="-120"/>
              </a:rPr>
              <a:t>2 years</a:t>
            </a:r>
            <a:endParaRPr lang="en-US" sz="1400" dirty="0"/>
          </a:p>
        </p:txBody>
      </p:sp>
      <p:sp>
        <p:nvSpPr>
          <p:cNvPr id="15" name="Text 12"/>
          <p:cNvSpPr txBox="1"/>
          <p:nvPr/>
        </p:nvSpPr>
        <p:spPr>
          <a:xfrm>
            <a:off x="548640" y="4809744"/>
            <a:ext cx="1371600" cy="566928"/>
          </a:xfrm>
          <a:prstGeom prst="rect">
            <a:avLst/>
          </a:prstGeom>
          <a:noFill/>
          <a:ln/>
        </p:spPr>
        <p:txBody>
          <a:bodyPr wrap="square" lIns="0" tIns="0" rIns="0" bIns="0" rtlCol="0" anchor="ctr"/>
          <a:lstStyle/>
          <a:p>
            <a:pPr algn="r" indent="0" marL="0">
              <a:buNone/>
            </a:pPr>
            <a:r>
              <a:rPr lang="en-US" sz="1500" b="1" dirty="0">
                <a:solidFill>
                  <a:srgbClr val="2E6FBF"/>
                </a:solidFill>
                <a:latin typeface="Montserrat" pitchFamily="34" charset="0"/>
                <a:ea typeface="Montserrat" pitchFamily="34" charset="-122"/>
                <a:cs typeface="Montserrat" pitchFamily="34" charset="-120"/>
              </a:rPr>
              <a:t>ChatGPT</a:t>
            </a:r>
            <a:endParaRPr lang="en-US" sz="1500" dirty="0"/>
          </a:p>
        </p:txBody>
      </p:sp>
      <p:sp>
        <p:nvSpPr>
          <p:cNvPr id="16" name="Shape 13"/>
          <p:cNvSpPr/>
          <p:nvPr/>
        </p:nvSpPr>
        <p:spPr>
          <a:xfrm>
            <a:off x="2103120" y="4809744"/>
            <a:ext cx="82296" cy="566928"/>
          </a:xfrm>
          <a:prstGeom prst="rect">
            <a:avLst/>
          </a:prstGeom>
          <a:solidFill>
            <a:srgbClr val="2E6FBF"/>
          </a:solidFill>
          <a:ln/>
        </p:spPr>
      </p:sp>
      <p:sp>
        <p:nvSpPr>
          <p:cNvPr id="17" name="Text 14"/>
          <p:cNvSpPr txBox="1"/>
          <p:nvPr/>
        </p:nvSpPr>
        <p:spPr>
          <a:xfrm>
            <a:off x="2331720" y="4809744"/>
            <a:ext cx="1828800" cy="566928"/>
          </a:xfrm>
          <a:prstGeom prst="rect">
            <a:avLst/>
          </a:prstGeom>
          <a:noFill/>
          <a:ln/>
        </p:spPr>
        <p:txBody>
          <a:bodyPr wrap="square" lIns="0" tIns="0" rIns="0" bIns="0" rtlCol="0" anchor="ctr"/>
          <a:lstStyle/>
          <a:p>
            <a:pPr indent="0" marL="0">
              <a:buNone/>
            </a:pPr>
            <a:r>
              <a:rPr lang="en-US" sz="1500" b="1" dirty="0">
                <a:solidFill>
                  <a:srgbClr val="2E6FBF"/>
                </a:solidFill>
                <a:latin typeface="Montserrat" pitchFamily="34" charset="0"/>
                <a:ea typeface="Montserrat" pitchFamily="34" charset="-122"/>
                <a:cs typeface="Montserrat" pitchFamily="34" charset="-120"/>
              </a:rPr>
              <a:t>5 days</a:t>
            </a:r>
            <a:endParaRPr lang="en-US" sz="1500" dirty="0"/>
          </a:p>
        </p:txBody>
      </p:sp>
      <p:sp>
        <p:nvSpPr>
          <p:cNvPr id="18" name="Shape 15"/>
          <p:cNvSpPr/>
          <p:nvPr/>
        </p:nvSpPr>
        <p:spPr>
          <a:xfrm>
            <a:off x="7955280" y="1828800"/>
            <a:ext cx="3685032" cy="3520440"/>
          </a:xfrm>
          <a:prstGeom prst="roundRect">
            <a:avLst>
              <a:gd name="adj" fmla="val 2078"/>
            </a:avLst>
          </a:prstGeom>
          <a:solidFill>
            <a:srgbClr val="0F1341"/>
          </a:solidFill>
          <a:ln/>
        </p:spPr>
      </p:sp>
      <p:sp>
        <p:nvSpPr>
          <p:cNvPr id="19" name="Text 16"/>
          <p:cNvSpPr txBox="1"/>
          <p:nvPr/>
        </p:nvSpPr>
        <p:spPr>
          <a:xfrm>
            <a:off x="8183880" y="2011680"/>
            <a:ext cx="3291840" cy="1280160"/>
          </a:xfrm>
          <a:prstGeom prst="rect">
            <a:avLst/>
          </a:prstGeom>
          <a:noFill/>
          <a:ln/>
        </p:spPr>
        <p:txBody>
          <a:bodyPr wrap="square" lIns="0" tIns="0" rIns="0" bIns="0" rtlCol="0" anchor="t"/>
          <a:lstStyle/>
          <a:p>
            <a:pPr indent="0" marL="0">
              <a:buNone/>
            </a:pPr>
            <a:r>
              <a:rPr lang="en-US" sz="8800" b="1" dirty="0">
                <a:solidFill>
                  <a:srgbClr val="FFFFFF"/>
                </a:solidFill>
                <a:latin typeface="Montserrat" pitchFamily="34" charset="0"/>
                <a:ea typeface="Montserrat" pitchFamily="34" charset="-122"/>
                <a:cs typeface="Montserrat" pitchFamily="34" charset="-120"/>
              </a:rPr>
              <a:t>5</a:t>
            </a:r>
            <a:endParaRPr lang="en-US" sz="8800" dirty="0"/>
          </a:p>
        </p:txBody>
      </p:sp>
      <p:sp>
        <p:nvSpPr>
          <p:cNvPr id="20" name="Text 17"/>
          <p:cNvSpPr txBox="1"/>
          <p:nvPr/>
        </p:nvSpPr>
        <p:spPr>
          <a:xfrm>
            <a:off x="9144000" y="2606040"/>
            <a:ext cx="2194560" cy="548640"/>
          </a:xfrm>
          <a:prstGeom prst="rect">
            <a:avLst/>
          </a:prstGeom>
          <a:noFill/>
          <a:ln/>
        </p:spPr>
        <p:txBody>
          <a:bodyPr wrap="square" lIns="0" tIns="0" rIns="0" bIns="0" rtlCol="0" anchor="t"/>
          <a:lstStyle/>
          <a:p>
            <a:pPr indent="0" marL="0">
              <a:buNone/>
            </a:pPr>
            <a:r>
              <a:rPr lang="en-US" sz="2800" b="1" dirty="0">
                <a:solidFill>
                  <a:srgbClr val="4A8FDB"/>
                </a:solidFill>
                <a:latin typeface="Montserrat" pitchFamily="34" charset="0"/>
                <a:ea typeface="Montserrat" pitchFamily="34" charset="-122"/>
                <a:cs typeface="Montserrat" pitchFamily="34" charset="-120"/>
              </a:rPr>
              <a:t>days</a:t>
            </a:r>
            <a:endParaRPr lang="en-US" sz="2800" dirty="0"/>
          </a:p>
        </p:txBody>
      </p:sp>
      <p:sp>
        <p:nvSpPr>
          <p:cNvPr id="21" name="Text 18"/>
          <p:cNvSpPr txBox="1"/>
          <p:nvPr/>
        </p:nvSpPr>
        <p:spPr>
          <a:xfrm>
            <a:off x="8183880" y="3429000"/>
            <a:ext cx="3246120" cy="914400"/>
          </a:xfrm>
          <a:prstGeom prst="rect">
            <a:avLst/>
          </a:prstGeom>
          <a:noFill/>
          <a:ln/>
        </p:spPr>
        <p:txBody>
          <a:bodyPr wrap="square" lIns="0" tIns="0" rIns="0" bIns="0" rtlCol="0" anchor="t"/>
          <a:lstStyle/>
          <a:p>
            <a:pPr indent="0" marL="0">
              <a:buNone/>
            </a:pPr>
            <a:r>
              <a:rPr lang="en-US" sz="1400" dirty="0">
                <a:solidFill>
                  <a:srgbClr val="FFFFFF"/>
                </a:solidFill>
                <a:latin typeface="Montserrat" pitchFamily="34" charset="0"/>
                <a:ea typeface="Montserrat" pitchFamily="34" charset="-122"/>
                <a:cs typeface="Montserrat" pitchFamily="34" charset="-120"/>
              </a:rPr>
              <a:t>from launch to one million users — faster than any consumer product before it.</a:t>
            </a:r>
            <a:endParaRPr lang="en-US" sz="1400" dirty="0"/>
          </a:p>
        </p:txBody>
      </p:sp>
      <p:sp>
        <p:nvSpPr>
          <p:cNvPr id="22" name="Text 19"/>
          <p:cNvSpPr txBox="1"/>
          <p:nvPr/>
        </p:nvSpPr>
        <p:spPr>
          <a:xfrm>
            <a:off x="8183880" y="4434840"/>
            <a:ext cx="3246120" cy="777240"/>
          </a:xfrm>
          <a:prstGeom prst="rect">
            <a:avLst/>
          </a:prstGeom>
          <a:noFill/>
          <a:ln/>
        </p:spPr>
        <p:txBody>
          <a:bodyPr wrap="square" lIns="0" tIns="0" rIns="0" bIns="0" rtlCol="0" anchor="t"/>
          <a:lstStyle/>
          <a:p>
            <a:pPr indent="0" marL="0">
              <a:buNone/>
            </a:pPr>
            <a:r>
              <a:rPr lang="en-US" sz="1200" i="1" dirty="0">
                <a:solidFill>
                  <a:srgbClr val="C9D3E3"/>
                </a:solidFill>
                <a:latin typeface="Montserrat" pitchFamily="34" charset="0"/>
                <a:ea typeface="Montserrat" pitchFamily="34" charset="-122"/>
                <a:cs typeface="Montserrat" pitchFamily="34" charset="-120"/>
              </a:rPr>
              <a:t>For sales: your buyers adopted AI this fast too — they research you before you call them.</a:t>
            </a:r>
            <a:endParaRPr lang="en-US" sz="1200" dirty="0"/>
          </a:p>
        </p:txBody>
      </p:sp>
      <p:sp>
        <p:nvSpPr>
          <p:cNvPr id="23" name="Text 20"/>
          <p:cNvSpPr txBox="1"/>
          <p:nvPr/>
        </p:nvSpPr>
        <p:spPr>
          <a:xfrm>
            <a:off x="548640" y="5806440"/>
            <a:ext cx="6949440" cy="228600"/>
          </a:xfrm>
          <a:prstGeom prst="rect">
            <a:avLst/>
          </a:prstGeom>
          <a:noFill/>
          <a:ln/>
        </p:spPr>
        <p:txBody>
          <a:bodyPr wrap="square" lIns="0" tIns="0" rIns="0" bIns="0" rtlCol="0" anchor="t"/>
          <a:lstStyle/>
          <a:p>
            <a:pPr indent="0" marL="0">
              <a:buNone/>
            </a:pPr>
            <a:r>
              <a:rPr lang="en-US" sz="900" i="1" dirty="0">
                <a:solidFill>
                  <a:srgbClr val="8A93A3"/>
                </a:solidFill>
                <a:latin typeface="Montserrat" pitchFamily="34" charset="0"/>
                <a:ea typeface="Montserrat" pitchFamily="34" charset="-122"/>
                <a:cs typeface="Montserrat" pitchFamily="34" charset="-120"/>
              </a:rPr>
              <a:t>Source: Statista, based on company announcements. ChatGPT launched on 30 November 2022.</a:t>
            </a:r>
            <a:endParaRPr lang="en-US" sz="9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3A3"/>
                </a:solidFill>
                <a:latin typeface="Montserrat"/>
                <a:ea typeface="Montserrat"/>
                <a:cs typeface="Montserrat"/>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2" type="title" hasCustomPrompt="1"/>
          </p:nvPr>
        </p:nvSpPr>
        <p:spPr>
          <a:xfrm>
            <a:off x="548640" y="502920"/>
            <a:ext cx="7863840" cy="685800"/>
          </a:xfrm>
          <a:prstGeom prst="rect">
            <a:avLst/>
          </a:prstGeom>
          <a:noFill/>
          <a:ln/>
        </p:spPr>
        <p:txBody>
          <a:bodyPr wrap="square" lIns="0" tIns="0" rIns="0" bIns="0" rtlCol="0" anchor="t"/>
          <a:lstStyle/>
          <a:p>
            <a:pPr algn="l" indent="0" marL="0">
              <a:buNone/>
            </a:pPr>
            <a:r>
              <a:rPr lang="en-US" sz="2800" b="1" dirty="0">
                <a:solidFill>
                  <a:srgbClr val="0F1341"/>
                </a:solidFill>
                <a:latin typeface="Montserrat" pitchFamily="34" charset="0"/>
                <a:ea typeface="Montserrat" pitchFamily="34" charset="-122"/>
                <a:cs typeface="Montserrat" pitchFamily="34" charset="-120"/>
              </a:rPr>
              <a:t>AI's IQ: from 96 to 136 in one year</a:t>
            </a:r>
            <a:endParaRPr lang="en-US" sz="2800" dirty="0"/>
          </a:p>
        </p:txBody>
      </p:sp>
      <p:sp>
        <p:nvSpPr>
          <p:cNvPr id="3" name="Text 0"/>
          <p:cNvSpPr/>
          <p:nvPr>
            <p:ph idx="103" type="body" hasCustomPrompt="1"/>
          </p:nvPr>
        </p:nvSpPr>
        <p:spPr>
          <a:xfrm>
            <a:off x="548640" y="1207008"/>
            <a:ext cx="8778240" cy="365760"/>
          </a:xfrm>
          <a:prstGeom prst="rect">
            <a:avLst/>
          </a:prstGeom>
          <a:noFill/>
          <a:ln/>
        </p:spPr>
        <p:txBody>
          <a:bodyPr wrap="square" lIns="0" tIns="0" rIns="0" bIns="0" rtlCol="0" anchor="t"/>
          <a:lstStyle/>
          <a:p>
            <a:pPr algn="l" indent="0" marL="0">
              <a:buNone/>
            </a:pPr>
            <a:r>
              <a:rPr lang="en-US" sz="1300" dirty="0">
                <a:solidFill>
                  <a:srgbClr val="5B6270"/>
                </a:solidFill>
                <a:latin typeface="Montserrat" pitchFamily="34" charset="0"/>
                <a:ea typeface="Montserrat" pitchFamily="34" charset="-122"/>
                <a:cs typeface="Montserrat" pitchFamily="34" charset="-120"/>
              </a:rPr>
              <a:t>Best AI model on standardised IQ tests — one year apart</a:t>
            </a:r>
            <a:endParaRPr lang="en-US" sz="1300" dirty="0"/>
          </a:p>
        </p:txBody>
      </p:sp>
      <p:sp>
        <p:nvSpPr>
          <p:cNvPr id="5" name="Shape 2"/>
          <p:cNvSpPr/>
          <p:nvPr/>
        </p:nvSpPr>
        <p:spPr>
          <a:xfrm>
            <a:off x="548640" y="1828800"/>
            <a:ext cx="3291840" cy="1828800"/>
          </a:xfrm>
          <a:prstGeom prst="roundRect">
            <a:avLst>
              <a:gd name="adj" fmla="val 4000"/>
            </a:avLst>
          </a:prstGeom>
          <a:solidFill>
            <a:srgbClr val="F3F7FC"/>
          </a:solidFill>
          <a:ln/>
        </p:spPr>
      </p:sp>
      <p:sp>
        <p:nvSpPr>
          <p:cNvPr id="6" name="Text 3"/>
          <p:cNvSpPr txBox="1"/>
          <p:nvPr/>
        </p:nvSpPr>
        <p:spPr>
          <a:xfrm>
            <a:off x="777240" y="1965960"/>
            <a:ext cx="2743200" cy="320040"/>
          </a:xfrm>
          <a:prstGeom prst="rect">
            <a:avLst/>
          </a:prstGeom>
          <a:noFill/>
          <a:ln/>
        </p:spPr>
        <p:txBody>
          <a:bodyPr wrap="square" lIns="0" tIns="0" rIns="0" bIns="0" rtlCol="0" anchor="t"/>
          <a:lstStyle/>
          <a:p>
            <a:pPr indent="0" marL="0">
              <a:buNone/>
            </a:pPr>
            <a:r>
              <a:rPr lang="en-US" sz="1300" b="1" dirty="0">
                <a:solidFill>
                  <a:srgbClr val="8A93A3"/>
                </a:solidFill>
                <a:latin typeface="Montserrat" pitchFamily="34" charset="0"/>
                <a:ea typeface="Montserrat" pitchFamily="34" charset="-122"/>
                <a:cs typeface="Montserrat" pitchFamily="34" charset="-120"/>
              </a:rPr>
              <a:t>2024</a:t>
            </a:r>
            <a:endParaRPr lang="en-US" sz="1300" dirty="0"/>
          </a:p>
        </p:txBody>
      </p:sp>
      <p:sp>
        <p:nvSpPr>
          <p:cNvPr id="7" name="Text 4"/>
          <p:cNvSpPr txBox="1"/>
          <p:nvPr/>
        </p:nvSpPr>
        <p:spPr>
          <a:xfrm>
            <a:off x="777240" y="2286000"/>
            <a:ext cx="2926080" cy="822960"/>
          </a:xfrm>
          <a:prstGeom prst="rect">
            <a:avLst/>
          </a:prstGeom>
          <a:noFill/>
          <a:ln/>
        </p:spPr>
        <p:txBody>
          <a:bodyPr wrap="square" lIns="0" tIns="0" rIns="0" bIns="0" rtlCol="0" anchor="t"/>
          <a:lstStyle/>
          <a:p>
            <a:pPr indent="0" marL="0">
              <a:buNone/>
            </a:pPr>
            <a:r>
              <a:rPr lang="en-US" sz="4400" b="1" dirty="0">
                <a:solidFill>
                  <a:srgbClr val="6A7FA8"/>
                </a:solidFill>
                <a:latin typeface="Montserrat" pitchFamily="34" charset="0"/>
                <a:ea typeface="Montserrat" pitchFamily="34" charset="-122"/>
                <a:cs typeface="Montserrat" pitchFamily="34" charset="-120"/>
              </a:rPr>
              <a:t>IQ 96</a:t>
            </a:r>
            <a:endParaRPr lang="en-US" sz="4400" dirty="0"/>
          </a:p>
        </p:txBody>
      </p:sp>
      <p:sp>
        <p:nvSpPr>
          <p:cNvPr id="8" name="Text 5"/>
          <p:cNvSpPr txBox="1"/>
          <p:nvPr/>
        </p:nvSpPr>
        <p:spPr>
          <a:xfrm>
            <a:off x="777240" y="3154680"/>
            <a:ext cx="2926080" cy="320040"/>
          </a:xfrm>
          <a:prstGeom prst="rect">
            <a:avLst/>
          </a:prstGeom>
          <a:noFill/>
          <a:ln/>
        </p:spPr>
        <p:txBody>
          <a:bodyPr wrap="square" lIns="0" tIns="0" rIns="0" bIns="0" rtlCol="0" anchor="t"/>
          <a:lstStyle/>
          <a:p>
            <a:pPr indent="0" marL="0">
              <a:buNone/>
            </a:pPr>
            <a:r>
              <a:rPr lang="en-US" sz="1200" dirty="0">
                <a:solidFill>
                  <a:srgbClr val="5B6270"/>
                </a:solidFill>
                <a:latin typeface="Montserrat" pitchFamily="34" charset="0"/>
                <a:ea typeface="Montserrat" pitchFamily="34" charset="-122"/>
                <a:cs typeface="Montserrat" pitchFamily="34" charset="-120"/>
              </a:rPr>
              <a:t>Best model, offline test</a:t>
            </a:r>
            <a:endParaRPr lang="en-US" sz="1200" dirty="0"/>
          </a:p>
        </p:txBody>
      </p:sp>
      <p:sp>
        <p:nvSpPr>
          <p:cNvPr id="9" name="Shape 6"/>
          <p:cNvSpPr/>
          <p:nvPr/>
        </p:nvSpPr>
        <p:spPr>
          <a:xfrm>
            <a:off x="548640" y="3840480"/>
            <a:ext cx="3291840" cy="1828800"/>
          </a:xfrm>
          <a:prstGeom prst="roundRect">
            <a:avLst>
              <a:gd name="adj" fmla="val 4000"/>
            </a:avLst>
          </a:prstGeom>
          <a:solidFill>
            <a:srgbClr val="0F1341"/>
          </a:solidFill>
          <a:ln/>
        </p:spPr>
      </p:sp>
      <p:sp>
        <p:nvSpPr>
          <p:cNvPr id="10" name="Text 7"/>
          <p:cNvSpPr txBox="1"/>
          <p:nvPr/>
        </p:nvSpPr>
        <p:spPr>
          <a:xfrm>
            <a:off x="777240" y="3977640"/>
            <a:ext cx="2743200" cy="320040"/>
          </a:xfrm>
          <a:prstGeom prst="rect">
            <a:avLst/>
          </a:prstGeom>
          <a:noFill/>
          <a:ln/>
        </p:spPr>
        <p:txBody>
          <a:bodyPr wrap="square" lIns="0" tIns="0" rIns="0" bIns="0" rtlCol="0" anchor="t"/>
          <a:lstStyle/>
          <a:p>
            <a:pPr indent="0" marL="0">
              <a:buNone/>
            </a:pPr>
            <a:r>
              <a:rPr lang="en-US" sz="1300" b="1" dirty="0">
                <a:solidFill>
                  <a:srgbClr val="4A8FDB"/>
                </a:solidFill>
                <a:latin typeface="Montserrat" pitchFamily="34" charset="0"/>
                <a:ea typeface="Montserrat" pitchFamily="34" charset="-122"/>
                <a:cs typeface="Montserrat" pitchFamily="34" charset="-120"/>
              </a:rPr>
              <a:t>2025</a:t>
            </a:r>
            <a:endParaRPr lang="en-US" sz="1300" dirty="0"/>
          </a:p>
        </p:txBody>
      </p:sp>
      <p:sp>
        <p:nvSpPr>
          <p:cNvPr id="11" name="Text 8"/>
          <p:cNvSpPr txBox="1"/>
          <p:nvPr/>
        </p:nvSpPr>
        <p:spPr>
          <a:xfrm>
            <a:off x="777240" y="4297680"/>
            <a:ext cx="2926080" cy="822960"/>
          </a:xfrm>
          <a:prstGeom prst="rect">
            <a:avLst/>
          </a:prstGeom>
          <a:noFill/>
          <a:ln/>
        </p:spPr>
        <p:txBody>
          <a:bodyPr wrap="square" lIns="0" tIns="0" rIns="0" bIns="0" rtlCol="0" anchor="t"/>
          <a:lstStyle/>
          <a:p>
            <a:pPr indent="0" marL="0">
              <a:buNone/>
            </a:pPr>
            <a:r>
              <a:rPr lang="en-US" sz="4400" b="1" dirty="0">
                <a:solidFill>
                  <a:srgbClr val="FFFFFF"/>
                </a:solidFill>
                <a:latin typeface="Montserrat" pitchFamily="34" charset="0"/>
                <a:ea typeface="Montserrat" pitchFamily="34" charset="-122"/>
                <a:cs typeface="Montserrat" pitchFamily="34" charset="-120"/>
              </a:rPr>
              <a:t>IQ 136</a:t>
            </a:r>
            <a:endParaRPr lang="en-US" sz="4400" dirty="0"/>
          </a:p>
        </p:txBody>
      </p:sp>
      <p:sp>
        <p:nvSpPr>
          <p:cNvPr id="12" name="Text 9"/>
          <p:cNvSpPr txBox="1"/>
          <p:nvPr/>
        </p:nvSpPr>
        <p:spPr>
          <a:xfrm>
            <a:off x="777240" y="5166360"/>
            <a:ext cx="2926080" cy="320040"/>
          </a:xfrm>
          <a:prstGeom prst="rect">
            <a:avLst/>
          </a:prstGeom>
          <a:noFill/>
          <a:ln/>
        </p:spPr>
        <p:txBody>
          <a:bodyPr wrap="square" lIns="0" tIns="0" rIns="0" bIns="0" rtlCol="0" anchor="t"/>
          <a:lstStyle/>
          <a:p>
            <a:pPr indent="0" marL="0">
              <a:buNone/>
            </a:pPr>
            <a:r>
              <a:rPr lang="en-US" sz="1200" dirty="0">
                <a:solidFill>
                  <a:srgbClr val="C9D3E3"/>
                </a:solidFill>
                <a:latin typeface="Montserrat" pitchFamily="34" charset="0"/>
                <a:ea typeface="Montserrat" pitchFamily="34" charset="-122"/>
                <a:cs typeface="Montserrat" pitchFamily="34" charset="-120"/>
              </a:rPr>
              <a:t>Best model, Mensa Norway test</a:t>
            </a:r>
            <a:endParaRPr lang="en-US" sz="1200" dirty="0"/>
          </a:p>
        </p:txBody>
      </p:sp>
      <p:sp>
        <p:nvSpPr>
          <p:cNvPr id="13" name="Shape 10"/>
          <p:cNvSpPr/>
          <p:nvPr/>
        </p:nvSpPr>
        <p:spPr>
          <a:xfrm>
            <a:off x="4160520" y="1828800"/>
            <a:ext cx="7479792" cy="1828800"/>
          </a:xfrm>
          <a:prstGeom prst="roundRect">
            <a:avLst>
              <a:gd name="adj" fmla="val 4000"/>
            </a:avLst>
          </a:prstGeom>
          <a:solidFill>
            <a:srgbClr val="FFFFFF"/>
          </a:solidFill>
          <a:ln w="12700">
            <a:solidFill>
              <a:srgbClr val="C9D3E3"/>
            </a:solidFill>
            <a:prstDash val="solid"/>
          </a:ln>
        </p:spPr>
      </p:sp>
      <p:pic>
        <p:nvPicPr>
          <p:cNvPr id="14" name="Image 0" descr="/home/user/work/assets/iq2024.png">    </p:cNvPr>
          <p:cNvPicPr>
            <a:picLocks noChangeAspect="1"/>
          </p:cNvPicPr>
          <p:nvPr/>
        </p:nvPicPr>
        <p:blipFill>
          <a:blip r:embed="rId1"/>
          <a:stretch>
            <a:fillRect/>
          </a:stretch>
        </p:blipFill>
        <p:spPr>
          <a:xfrm>
            <a:off x="4343400" y="2057400"/>
            <a:ext cx="5897880" cy="1499616"/>
          </a:xfrm>
          <a:prstGeom prst="rect">
            <a:avLst/>
          </a:prstGeom>
        </p:spPr>
      </p:pic>
      <p:sp>
        <p:nvSpPr>
          <p:cNvPr id="15" name="Text 11"/>
          <p:cNvSpPr txBox="1"/>
          <p:nvPr/>
        </p:nvSpPr>
        <p:spPr>
          <a:xfrm>
            <a:off x="10332720" y="2011680"/>
            <a:ext cx="1188720" cy="365760"/>
          </a:xfrm>
          <a:prstGeom prst="rect">
            <a:avLst/>
          </a:prstGeom>
          <a:noFill/>
          <a:ln/>
        </p:spPr>
        <p:txBody>
          <a:bodyPr wrap="square" lIns="0" tIns="0" rIns="0" bIns="0" rtlCol="0" anchor="t"/>
          <a:lstStyle/>
          <a:p>
            <a:pPr algn="r" indent="0" marL="0">
              <a:buNone/>
            </a:pPr>
            <a:r>
              <a:rPr lang="en-US" sz="1600" b="1" dirty="0">
                <a:solidFill>
                  <a:srgbClr val="6A7FA8"/>
                </a:solidFill>
                <a:latin typeface="Montserrat" pitchFamily="34" charset="0"/>
                <a:ea typeface="Montserrat" pitchFamily="34" charset="-122"/>
                <a:cs typeface="Montserrat" pitchFamily="34" charset="-120"/>
              </a:rPr>
              <a:t>2024</a:t>
            </a:r>
            <a:endParaRPr lang="en-US" sz="1600" dirty="0"/>
          </a:p>
        </p:txBody>
      </p:sp>
      <p:sp>
        <p:nvSpPr>
          <p:cNvPr id="16" name="Shape 12"/>
          <p:cNvSpPr/>
          <p:nvPr/>
        </p:nvSpPr>
        <p:spPr>
          <a:xfrm>
            <a:off x="4160520" y="3840480"/>
            <a:ext cx="7479792" cy="1828800"/>
          </a:xfrm>
          <a:prstGeom prst="roundRect">
            <a:avLst>
              <a:gd name="adj" fmla="val 4000"/>
            </a:avLst>
          </a:prstGeom>
          <a:solidFill>
            <a:srgbClr val="FFFFFF"/>
          </a:solidFill>
          <a:ln w="12700">
            <a:solidFill>
              <a:srgbClr val="C9D3E3"/>
            </a:solidFill>
            <a:prstDash val="solid"/>
          </a:ln>
        </p:spPr>
      </p:sp>
      <p:pic>
        <p:nvPicPr>
          <p:cNvPr id="17" name="Image 1" descr="/home/user/work/assets/iq2025.png">    </p:cNvPr>
          <p:cNvPicPr>
            <a:picLocks noChangeAspect="1"/>
          </p:cNvPicPr>
          <p:nvPr/>
        </p:nvPicPr>
        <p:blipFill>
          <a:blip r:embed="rId2"/>
          <a:stretch>
            <a:fillRect/>
          </a:stretch>
        </p:blipFill>
        <p:spPr>
          <a:xfrm>
            <a:off x="4800600" y="3913632"/>
            <a:ext cx="4690872" cy="1700784"/>
          </a:xfrm>
          <a:prstGeom prst="rect">
            <a:avLst/>
          </a:prstGeom>
        </p:spPr>
      </p:pic>
      <p:sp>
        <p:nvSpPr>
          <p:cNvPr id="18" name="Text 13"/>
          <p:cNvSpPr txBox="1"/>
          <p:nvPr/>
        </p:nvSpPr>
        <p:spPr>
          <a:xfrm>
            <a:off x="10332720" y="4023360"/>
            <a:ext cx="1188720" cy="365760"/>
          </a:xfrm>
          <a:prstGeom prst="rect">
            <a:avLst/>
          </a:prstGeom>
          <a:noFill/>
          <a:ln/>
        </p:spPr>
        <p:txBody>
          <a:bodyPr wrap="square" lIns="0" tIns="0" rIns="0" bIns="0" rtlCol="0" anchor="t"/>
          <a:lstStyle/>
          <a:p>
            <a:pPr algn="r" indent="0" marL="0">
              <a:buNone/>
            </a:pPr>
            <a:r>
              <a:rPr lang="en-US" sz="1600" b="1" dirty="0">
                <a:solidFill>
                  <a:srgbClr val="2E6FBF"/>
                </a:solidFill>
                <a:latin typeface="Montserrat" pitchFamily="34" charset="0"/>
                <a:ea typeface="Montserrat" pitchFamily="34" charset="-122"/>
                <a:cs typeface="Montserrat" pitchFamily="34" charset="-120"/>
              </a:rPr>
              <a:t>2025</a:t>
            </a:r>
            <a:endParaRPr lang="en-US" sz="1600" dirty="0"/>
          </a:p>
        </p:txBody>
      </p:sp>
      <p:sp>
        <p:nvSpPr>
          <p:cNvPr id="19" name="Text 14"/>
          <p:cNvSpPr txBox="1"/>
          <p:nvPr/>
        </p:nvSpPr>
        <p:spPr>
          <a:xfrm>
            <a:off x="548640" y="5806440"/>
            <a:ext cx="10972800" cy="228600"/>
          </a:xfrm>
          <a:prstGeom prst="rect">
            <a:avLst/>
          </a:prstGeom>
          <a:noFill/>
          <a:ln/>
        </p:spPr>
        <p:txBody>
          <a:bodyPr wrap="square" lIns="0" tIns="0" rIns="0" bIns="0" rtlCol="0" anchor="t"/>
          <a:lstStyle/>
          <a:p>
            <a:pPr indent="0" marL="0">
              <a:buNone/>
            </a:pPr>
            <a:r>
              <a:rPr lang="en-US" sz="900" i="1" dirty="0">
                <a:solidFill>
                  <a:srgbClr val="8A93A3"/>
                </a:solidFill>
                <a:latin typeface="Montserrat" pitchFamily="34" charset="0"/>
                <a:ea typeface="Montserrat" pitchFamily="34" charset="-122"/>
                <a:cs typeface="Montserrat" pitchFamily="34" charset="-120"/>
              </a:rPr>
              <a:t>Source: TrackingAI.org (MaximumTruth.org) — IQ scores, average of last 7 tests. Average human = 100.</a:t>
            </a:r>
            <a:endParaRPr lang="en-US" sz="9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3A3"/>
                </a:solidFill>
                <a:latin typeface="Montserrat"/>
                <a:ea typeface="Montserrat"/>
                <a:cs typeface="Montserrat"/>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2" type="title" hasCustomPrompt="1"/>
          </p:nvPr>
        </p:nvSpPr>
        <p:spPr>
          <a:xfrm>
            <a:off x="548640" y="502920"/>
            <a:ext cx="7863840" cy="685800"/>
          </a:xfrm>
          <a:prstGeom prst="rect">
            <a:avLst/>
          </a:prstGeom>
          <a:noFill/>
          <a:ln/>
        </p:spPr>
        <p:txBody>
          <a:bodyPr wrap="square" lIns="0" tIns="0" rIns="0" bIns="0" rtlCol="0" anchor="t"/>
          <a:lstStyle/>
          <a:p>
            <a:pPr algn="l" indent="0" marL="0">
              <a:buNone/>
            </a:pPr>
            <a:r>
              <a:rPr lang="en-US" sz="2800" b="1" dirty="0">
                <a:solidFill>
                  <a:srgbClr val="0F1341"/>
                </a:solidFill>
                <a:latin typeface="Montserrat" pitchFamily="34" charset="0"/>
                <a:ea typeface="Montserrat" pitchFamily="34" charset="-122"/>
                <a:cs typeface="Montserrat" pitchFamily="34" charset="-120"/>
              </a:rPr>
              <a:t>Why AI is (still) hardly replacing jobs</a:t>
            </a:r>
            <a:endParaRPr lang="en-US" sz="2800" dirty="0"/>
          </a:p>
        </p:txBody>
      </p:sp>
      <p:sp>
        <p:nvSpPr>
          <p:cNvPr id="3" name="Text 0"/>
          <p:cNvSpPr/>
          <p:nvPr>
            <p:ph idx="103" type="body" hasCustomPrompt="1"/>
          </p:nvPr>
        </p:nvSpPr>
        <p:spPr>
          <a:xfrm>
            <a:off x="548640" y="1207008"/>
            <a:ext cx="8778240" cy="365760"/>
          </a:xfrm>
          <a:prstGeom prst="rect">
            <a:avLst/>
          </a:prstGeom>
          <a:noFill/>
          <a:ln/>
        </p:spPr>
        <p:txBody>
          <a:bodyPr wrap="square" lIns="0" tIns="0" rIns="0" bIns="0" rtlCol="0" anchor="t"/>
          <a:lstStyle/>
          <a:p>
            <a:pPr algn="l" indent="0" marL="0">
              <a:buNone/>
            </a:pPr>
            <a:r>
              <a:rPr lang="en-US" sz="1300" dirty="0">
                <a:solidFill>
                  <a:srgbClr val="5B6270"/>
                </a:solidFill>
                <a:latin typeface="Montserrat" pitchFamily="34" charset="0"/>
                <a:ea typeface="Montserrat" pitchFamily="34" charset="-122"/>
                <a:cs typeface="Montserrat" pitchFamily="34" charset="-120"/>
              </a:rPr>
              <a:t>Capability is rising fast — but real work is messy</a:t>
            </a:r>
            <a:endParaRPr lang="en-US" sz="1300" dirty="0"/>
          </a:p>
        </p:txBody>
      </p:sp>
      <p:sp>
        <p:nvSpPr>
          <p:cNvPr id="5" name="Shape 2"/>
          <p:cNvSpPr/>
          <p:nvPr/>
        </p:nvSpPr>
        <p:spPr>
          <a:xfrm>
            <a:off x="548640" y="1874520"/>
            <a:ext cx="566928" cy="566928"/>
          </a:xfrm>
          <a:prstGeom prst="ellipse">
            <a:avLst/>
          </a:prstGeom>
          <a:solidFill>
            <a:srgbClr val="D9E8F8"/>
          </a:solidFill>
          <a:ln/>
        </p:spPr>
      </p:sp>
      <p:sp>
        <p:nvSpPr>
          <p:cNvPr id="6" name="Text 3"/>
          <p:cNvSpPr txBox="1"/>
          <p:nvPr/>
        </p:nvSpPr>
        <p:spPr>
          <a:xfrm>
            <a:off x="1325880" y="1874520"/>
            <a:ext cx="5120640" cy="566928"/>
          </a:xfrm>
          <a:prstGeom prst="rect">
            <a:avLst/>
          </a:prstGeom>
          <a:noFill/>
          <a:ln/>
        </p:spPr>
        <p:txBody>
          <a:bodyPr wrap="square" lIns="0" tIns="0" rIns="0" bIns="0" rtlCol="0" anchor="ctr"/>
          <a:lstStyle/>
          <a:p>
            <a:pPr indent="0" marL="0">
              <a:buNone/>
            </a:pPr>
            <a:r>
              <a:rPr lang="en-US" sz="1600" dirty="0">
                <a:solidFill>
                  <a:srgbClr val="0F1341"/>
                </a:solidFill>
                <a:latin typeface="Montserrat" pitchFamily="34" charset="0"/>
                <a:ea typeface="Montserrat" pitchFamily="34" charset="-122"/>
                <a:cs typeface="Montserrat" pitchFamily="34" charset="-120"/>
              </a:rPr>
              <a:t>So far, hardly any job losses from AI</a:t>
            </a:r>
            <a:endParaRPr lang="en-US" sz="1600" dirty="0"/>
          </a:p>
        </p:txBody>
      </p:sp>
      <p:sp>
        <p:nvSpPr>
          <p:cNvPr id="7" name="Shape 4"/>
          <p:cNvSpPr/>
          <p:nvPr/>
        </p:nvSpPr>
        <p:spPr>
          <a:xfrm>
            <a:off x="548640" y="2770632"/>
            <a:ext cx="566928" cy="566928"/>
          </a:xfrm>
          <a:prstGeom prst="ellipse">
            <a:avLst/>
          </a:prstGeom>
          <a:solidFill>
            <a:srgbClr val="D9E8F8"/>
          </a:solidFill>
          <a:ln/>
        </p:spPr>
      </p:sp>
      <p:sp>
        <p:nvSpPr>
          <p:cNvPr id="8" name="Text 5"/>
          <p:cNvSpPr txBox="1"/>
          <p:nvPr/>
        </p:nvSpPr>
        <p:spPr>
          <a:xfrm>
            <a:off x="1325880" y="2770632"/>
            <a:ext cx="5120640" cy="566928"/>
          </a:xfrm>
          <a:prstGeom prst="rect">
            <a:avLst/>
          </a:prstGeom>
          <a:noFill/>
          <a:ln/>
        </p:spPr>
        <p:txBody>
          <a:bodyPr wrap="square" lIns="0" tIns="0" rIns="0" bIns="0" rtlCol="0" anchor="ctr"/>
          <a:lstStyle/>
          <a:p>
            <a:pPr indent="0" marL="0">
              <a:buNone/>
            </a:pPr>
            <a:r>
              <a:rPr lang="en-US" sz="1600" dirty="0">
                <a:solidFill>
                  <a:srgbClr val="0F1341"/>
                </a:solidFill>
                <a:latin typeface="Montserrat" pitchFamily="34" charset="0"/>
                <a:ea typeface="Montserrat" pitchFamily="34" charset="-122"/>
                <a:cs typeface="Montserrat" pitchFamily="34" charset="-120"/>
              </a:rPr>
              <a:t>AI hits its limits in complex, dynamic workflows</a:t>
            </a:r>
            <a:endParaRPr lang="en-US" sz="1600" dirty="0"/>
          </a:p>
        </p:txBody>
      </p:sp>
      <p:sp>
        <p:nvSpPr>
          <p:cNvPr id="9" name="Shape 6"/>
          <p:cNvSpPr/>
          <p:nvPr/>
        </p:nvSpPr>
        <p:spPr>
          <a:xfrm>
            <a:off x="548640" y="3666744"/>
            <a:ext cx="566928" cy="566928"/>
          </a:xfrm>
          <a:prstGeom prst="ellipse">
            <a:avLst/>
          </a:prstGeom>
          <a:solidFill>
            <a:srgbClr val="D9E8F8"/>
          </a:solidFill>
          <a:ln/>
        </p:spPr>
      </p:sp>
      <p:sp>
        <p:nvSpPr>
          <p:cNvPr id="10" name="Text 7"/>
          <p:cNvSpPr txBox="1"/>
          <p:nvPr/>
        </p:nvSpPr>
        <p:spPr>
          <a:xfrm>
            <a:off x="1325880" y="3666744"/>
            <a:ext cx="5120640" cy="566928"/>
          </a:xfrm>
          <a:prstGeom prst="rect">
            <a:avLst/>
          </a:prstGeom>
          <a:noFill/>
          <a:ln/>
        </p:spPr>
        <p:txBody>
          <a:bodyPr wrap="square" lIns="0" tIns="0" rIns="0" bIns="0" rtlCol="0" anchor="ctr"/>
          <a:lstStyle/>
          <a:p>
            <a:pPr indent="0" marL="0">
              <a:buNone/>
            </a:pPr>
            <a:r>
              <a:rPr lang="en-US" sz="1600" dirty="0">
                <a:solidFill>
                  <a:srgbClr val="0F1341"/>
                </a:solidFill>
                <a:latin typeface="Montserrat" pitchFamily="34" charset="0"/>
                <a:ea typeface="Montserrat" pitchFamily="34" charset="-122"/>
                <a:cs typeface="Montserrat" pitchFamily="34" charset="-120"/>
              </a:rPr>
              <a:t>Office and routine work stable so far — despite automation risk</a:t>
            </a:r>
            <a:endParaRPr lang="en-US" sz="1600" dirty="0"/>
          </a:p>
        </p:txBody>
      </p:sp>
      <p:sp>
        <p:nvSpPr>
          <p:cNvPr id="11" name="Shape 8"/>
          <p:cNvSpPr/>
          <p:nvPr/>
        </p:nvSpPr>
        <p:spPr>
          <a:xfrm>
            <a:off x="548640" y="4562856"/>
            <a:ext cx="566928" cy="566928"/>
          </a:xfrm>
          <a:prstGeom prst="ellipse">
            <a:avLst/>
          </a:prstGeom>
          <a:solidFill>
            <a:srgbClr val="D9E8F8"/>
          </a:solidFill>
          <a:ln/>
        </p:spPr>
      </p:sp>
      <p:sp>
        <p:nvSpPr>
          <p:cNvPr id="12" name="Text 9"/>
          <p:cNvSpPr txBox="1"/>
          <p:nvPr/>
        </p:nvSpPr>
        <p:spPr>
          <a:xfrm>
            <a:off x="1325880" y="4562856"/>
            <a:ext cx="5120640" cy="566928"/>
          </a:xfrm>
          <a:prstGeom prst="rect">
            <a:avLst/>
          </a:prstGeom>
          <a:noFill/>
          <a:ln/>
        </p:spPr>
        <p:txBody>
          <a:bodyPr wrap="square" lIns="0" tIns="0" rIns="0" bIns="0" rtlCol="0" anchor="ctr"/>
          <a:lstStyle/>
          <a:p>
            <a:pPr indent="0" marL="0">
              <a:buNone/>
            </a:pPr>
            <a:r>
              <a:rPr lang="en-US" sz="1600" dirty="0">
                <a:solidFill>
                  <a:srgbClr val="0F1341"/>
                </a:solidFill>
                <a:latin typeface="Montserrat" pitchFamily="34" charset="0"/>
                <a:ea typeface="Montserrat" pitchFamily="34" charset="-122"/>
                <a:cs typeface="Montserrat" pitchFamily="34" charset="-120"/>
              </a:rPr>
              <a:t>Demand for AI skills is growing sharply</a:t>
            </a:r>
            <a:endParaRPr lang="en-US" sz="1600" dirty="0"/>
          </a:p>
        </p:txBody>
      </p:sp>
      <p:sp>
        <p:nvSpPr>
          <p:cNvPr id="13" name="Shape 10"/>
          <p:cNvSpPr/>
          <p:nvPr/>
        </p:nvSpPr>
        <p:spPr>
          <a:xfrm>
            <a:off x="548640" y="5486400"/>
            <a:ext cx="5897880" cy="566928"/>
          </a:xfrm>
          <a:prstGeom prst="roundRect">
            <a:avLst>
              <a:gd name="adj" fmla="val 12903"/>
            </a:avLst>
          </a:prstGeom>
          <a:solidFill>
            <a:srgbClr val="F3F7FC"/>
          </a:solidFill>
          <a:ln/>
        </p:spPr>
      </p:sp>
      <p:sp>
        <p:nvSpPr>
          <p:cNvPr id="14" name="Text 11"/>
          <p:cNvSpPr txBox="1"/>
          <p:nvPr/>
        </p:nvSpPr>
        <p:spPr>
          <a:xfrm>
            <a:off x="731520" y="5486400"/>
            <a:ext cx="5577840" cy="566928"/>
          </a:xfrm>
          <a:prstGeom prst="rect">
            <a:avLst/>
          </a:prstGeom>
          <a:noFill/>
          <a:ln/>
        </p:spPr>
        <p:txBody>
          <a:bodyPr wrap="square" lIns="0" tIns="0" rIns="0" bIns="0" rtlCol="0" anchor="ctr"/>
          <a:lstStyle/>
          <a:p>
            <a:pPr indent="0" marL="0">
              <a:buNone/>
            </a:pPr>
            <a:r>
              <a:rPr lang="en-US" sz="1200" b="1" dirty="0">
                <a:solidFill>
                  <a:srgbClr val="0F1341"/>
                </a:solidFill>
                <a:latin typeface="Montserrat" pitchFamily="34" charset="0"/>
                <a:ea typeface="Montserrat" pitchFamily="34" charset="-122"/>
                <a:cs typeface="Montserrat" pitchFamily="34" charset="-120"/>
              </a:rPr>
              <a:t>For you: </a:t>
            </a:r>
            <a:pPr indent="0" marL="0">
              <a:buNone/>
            </a:pPr>
            <a:r>
              <a:rPr lang="en-US" sz="1200" dirty="0">
                <a:solidFill>
                  <a:srgbClr val="0F1341"/>
                </a:solidFill>
                <a:latin typeface="Montserrat" pitchFamily="34" charset="0"/>
                <a:ea typeface="Montserrat" pitchFamily="34" charset="-122"/>
                <a:cs typeface="Montserrat" pitchFamily="34" charset="-120"/>
              </a:rPr>
              <a:t>Research and first drafts are clean tasks. Trust, negotiation and judgement are messy — the seller's territory.</a:t>
            </a:r>
            <a:endParaRPr lang="en-US" sz="1200" dirty="0"/>
          </a:p>
        </p:txBody>
      </p:sp>
      <p:sp>
        <p:nvSpPr>
          <p:cNvPr id="15" name="Shape 12"/>
          <p:cNvSpPr/>
          <p:nvPr/>
        </p:nvSpPr>
        <p:spPr>
          <a:xfrm>
            <a:off x="6766560" y="1737360"/>
            <a:ext cx="4873752" cy="4526280"/>
          </a:xfrm>
          <a:prstGeom prst="roundRect">
            <a:avLst>
              <a:gd name="adj" fmla="val 1616"/>
            </a:avLst>
          </a:prstGeom>
          <a:solidFill>
            <a:srgbClr val="0F1341"/>
          </a:solidFill>
          <a:ln/>
        </p:spPr>
      </p:sp>
      <p:sp>
        <p:nvSpPr>
          <p:cNvPr id="16" name="Text 13"/>
          <p:cNvSpPr txBox="1"/>
          <p:nvPr/>
        </p:nvSpPr>
        <p:spPr>
          <a:xfrm>
            <a:off x="6995160" y="1874520"/>
            <a:ext cx="4480560" cy="548640"/>
          </a:xfrm>
          <a:prstGeom prst="rect">
            <a:avLst/>
          </a:prstGeom>
          <a:noFill/>
          <a:ln/>
        </p:spPr>
        <p:txBody>
          <a:bodyPr wrap="square" lIns="0" tIns="0" rIns="0" bIns="0" rtlCol="0" anchor="t"/>
          <a:lstStyle/>
          <a:p>
            <a:pPr indent="0" marL="0">
              <a:buNone/>
            </a:pPr>
            <a:r>
              <a:rPr lang="en-US" sz="1300" b="1" dirty="0">
                <a:solidFill>
                  <a:srgbClr val="FFFFFF"/>
                </a:solidFill>
                <a:latin typeface="Montserrat" pitchFamily="34" charset="0"/>
                <a:ea typeface="Montserrat" pitchFamily="34" charset="-122"/>
                <a:cs typeface="Montserrat" pitchFamily="34" charset="-120"/>
              </a:rPr>
              <a:t>AI's ability to automate jobs is constrained by task “messiness”</a:t>
            </a:r>
            <a:endParaRPr lang="en-US" sz="1300" dirty="0"/>
          </a:p>
        </p:txBody>
      </p:sp>
      <p:sp>
        <p:nvSpPr>
          <p:cNvPr id="17" name="Text 14"/>
          <p:cNvSpPr txBox="1"/>
          <p:nvPr/>
        </p:nvSpPr>
        <p:spPr>
          <a:xfrm>
            <a:off x="6995160" y="2423160"/>
            <a:ext cx="4480560" cy="274320"/>
          </a:xfrm>
          <a:prstGeom prst="rect">
            <a:avLst/>
          </a:prstGeom>
          <a:noFill/>
          <a:ln/>
        </p:spPr>
        <p:txBody>
          <a:bodyPr wrap="square" lIns="0" tIns="0" rIns="0" bIns="0" rtlCol="0" anchor="t"/>
          <a:lstStyle/>
          <a:p>
            <a:pPr indent="0" marL="0">
              <a:buNone/>
            </a:pPr>
            <a:r>
              <a:rPr lang="en-US" sz="1000" dirty="0">
                <a:solidFill>
                  <a:srgbClr val="C9D3E3"/>
                </a:solidFill>
                <a:latin typeface="Montserrat" pitchFamily="34" charset="0"/>
                <a:ea typeface="Montserrat" pitchFamily="34" charset="-122"/>
                <a:cs typeface="Montserrat" pitchFamily="34" charset="-120"/>
              </a:rPr>
              <a:t>AI task success rate by messiness of the task (%)</a:t>
            </a:r>
            <a:endParaRPr lang="en-US" sz="1000" dirty="0"/>
          </a:p>
        </p:txBody>
      </p:sp>
      <p:graphicFrame>
        <p:nvGraphicFramePr>
          <p:cNvPr id="18" name="Chart 0" descr=""/>
          <p:cNvGraphicFramePr/>
          <p:nvPr/>
        </p:nvGraphicFramePr>
        <p:xfrm>
          <a:off x="6858000" y="2697480"/>
          <a:ext cx="4663440" cy="3063240"/>
        </p:xfrm>
        <a:graphic xmlns:a="http://schemas.openxmlformats.org/drawingml/2006/main">
          <a:graphicData uri="http://schemas.openxmlformats.org/drawingml/2006/chart">
            <c:chart xmlns:c="http://schemas.openxmlformats.org/drawingml/2006/chart" r:id="rId1"/>
          </a:graphicData>
        </a:graphic>
      </p:graphicFrame>
      <p:sp>
        <p:nvSpPr>
          <p:cNvPr id="19" name="Text 15"/>
          <p:cNvSpPr txBox="1"/>
          <p:nvPr/>
        </p:nvSpPr>
        <p:spPr>
          <a:xfrm>
            <a:off x="6995160" y="5760720"/>
            <a:ext cx="4480560" cy="411480"/>
          </a:xfrm>
          <a:prstGeom prst="rect">
            <a:avLst/>
          </a:prstGeom>
          <a:noFill/>
          <a:ln/>
        </p:spPr>
        <p:txBody>
          <a:bodyPr wrap="square" lIns="0" tIns="0" rIns="0" bIns="0" rtlCol="0" anchor="t"/>
          <a:lstStyle/>
          <a:p>
            <a:pPr indent="0" marL="0">
              <a:buNone/>
            </a:pPr>
            <a:r>
              <a:rPr lang="en-US" sz="900" i="1" dirty="0">
                <a:solidFill>
                  <a:srgbClr val="C9D3E3"/>
                </a:solidFill>
                <a:latin typeface="Montserrat" pitchFamily="34" charset="0"/>
                <a:ea typeface="Montserrat" pitchFamily="34" charset="-122"/>
                <a:cs typeface="Montserrat" pitchFamily="34" charset="-120"/>
              </a:rPr>
              <a:t>Tasks taking a human professional ≤ 1 hour. Source: METR / Measuring AI Ability (values read from published chart).</a:t>
            </a:r>
            <a:endParaRPr lang="en-US" sz="900" dirty="0"/>
          </a:p>
        </p:txBody>
      </p:sp>
      <p:pic>
        <p:nvPicPr>
          <p:cNvPr id="20" name="Image 0" descr="preencoded.png">    </p:cNvPr>
          <p:cNvPicPr>
            <a:picLocks noChangeAspect="1"/>
          </p:cNvPicPr>
          <p:nvPr/>
        </p:nvPicPr>
        <p:blipFill>
          <a:blip r:embed="rId2"/>
          <a:stretch>
            <a:fillRect/>
          </a:stretch>
        </p:blipFill>
        <p:spPr>
          <a:xfrm>
            <a:off x="676656" y="2002536"/>
            <a:ext cx="310896" cy="310896"/>
          </a:xfrm>
          <a:prstGeom prst="rect">
            <a:avLst/>
          </a:prstGeom>
        </p:spPr>
      </p:pic>
      <p:pic>
        <p:nvPicPr>
          <p:cNvPr id="21" name="Image 1" descr="preencoded.png">    </p:cNvPr>
          <p:cNvPicPr>
            <a:picLocks noChangeAspect="1"/>
          </p:cNvPicPr>
          <p:nvPr/>
        </p:nvPicPr>
        <p:blipFill>
          <a:blip r:embed="rId3"/>
          <a:stretch>
            <a:fillRect/>
          </a:stretch>
        </p:blipFill>
        <p:spPr>
          <a:xfrm>
            <a:off x="676656" y="2898648"/>
            <a:ext cx="310896" cy="310896"/>
          </a:xfrm>
          <a:prstGeom prst="rect">
            <a:avLst/>
          </a:prstGeom>
        </p:spPr>
      </p:pic>
      <p:pic>
        <p:nvPicPr>
          <p:cNvPr id="22" name="Image 2" descr="preencoded.png">    </p:cNvPr>
          <p:cNvPicPr>
            <a:picLocks noChangeAspect="1"/>
          </p:cNvPicPr>
          <p:nvPr/>
        </p:nvPicPr>
        <p:blipFill>
          <a:blip r:embed="rId4"/>
          <a:stretch>
            <a:fillRect/>
          </a:stretch>
        </p:blipFill>
        <p:spPr>
          <a:xfrm>
            <a:off x="676656" y="3794760"/>
            <a:ext cx="310896" cy="310896"/>
          </a:xfrm>
          <a:prstGeom prst="rect">
            <a:avLst/>
          </a:prstGeom>
        </p:spPr>
      </p:pic>
      <p:pic>
        <p:nvPicPr>
          <p:cNvPr id="23" name="Image 3" descr="preencoded.png">    </p:cNvPr>
          <p:cNvPicPr>
            <a:picLocks noChangeAspect="1"/>
          </p:cNvPicPr>
          <p:nvPr/>
        </p:nvPicPr>
        <p:blipFill>
          <a:blip r:embed="rId5"/>
          <a:stretch>
            <a:fillRect/>
          </a:stretch>
        </p:blipFill>
        <p:spPr>
          <a:xfrm>
            <a:off x="676656" y="4690872"/>
            <a:ext cx="310896" cy="310896"/>
          </a:xfrm>
          <a:prstGeom prst="rect">
            <a:avLst/>
          </a:prstGeom>
        </p:spPr>
      </p:pic>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3A3"/>
                </a:solidFill>
                <a:latin typeface="Montserrat"/>
                <a:ea typeface="Montserrat"/>
                <a:cs typeface="Montserrat"/>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2" type="title" hasCustomPrompt="1"/>
          </p:nvPr>
        </p:nvSpPr>
        <p:spPr>
          <a:xfrm>
            <a:off x="548640" y="502920"/>
            <a:ext cx="7863840" cy="685800"/>
          </a:xfrm>
          <a:prstGeom prst="rect">
            <a:avLst/>
          </a:prstGeom>
          <a:noFill/>
          <a:ln/>
        </p:spPr>
        <p:txBody>
          <a:bodyPr wrap="square" lIns="0" tIns="0" rIns="0" bIns="0" rtlCol="0" anchor="t"/>
          <a:lstStyle/>
          <a:p>
            <a:pPr algn="l" indent="0" marL="0">
              <a:buNone/>
            </a:pPr>
            <a:r>
              <a:rPr lang="en-US" sz="2800" b="1" dirty="0">
                <a:solidFill>
                  <a:srgbClr val="0F1341"/>
                </a:solidFill>
                <a:latin typeface="Montserrat" pitchFamily="34" charset="0"/>
                <a:ea typeface="Montserrat" pitchFamily="34" charset="-122"/>
                <a:cs typeface="Montserrat" pitchFamily="34" charset="-120"/>
              </a:rPr>
              <a:t>Core skills in 2030</a:t>
            </a:r>
            <a:endParaRPr lang="en-US" sz="2800" dirty="0"/>
          </a:p>
        </p:txBody>
      </p:sp>
      <p:sp>
        <p:nvSpPr>
          <p:cNvPr id="3" name="Text 0"/>
          <p:cNvSpPr/>
          <p:nvPr>
            <p:ph idx="103" type="body" hasCustomPrompt="1"/>
          </p:nvPr>
        </p:nvSpPr>
        <p:spPr>
          <a:xfrm>
            <a:off x="548640" y="1207008"/>
            <a:ext cx="8778240" cy="365760"/>
          </a:xfrm>
          <a:prstGeom prst="rect">
            <a:avLst/>
          </a:prstGeom>
          <a:noFill/>
          <a:ln/>
        </p:spPr>
        <p:txBody>
          <a:bodyPr wrap="square" lIns="0" tIns="0" rIns="0" bIns="0" rtlCol="0" anchor="t"/>
          <a:lstStyle/>
          <a:p>
            <a:pPr algn="l" indent="0" marL="0">
              <a:buNone/>
            </a:pPr>
            <a:r>
              <a:rPr lang="en-US" sz="1300" dirty="0">
                <a:solidFill>
                  <a:srgbClr val="5B6270"/>
                </a:solidFill>
                <a:latin typeface="Montserrat" pitchFamily="34" charset="0"/>
                <a:ea typeface="Montserrat" pitchFamily="34" charset="-122"/>
                <a:cs typeface="Montserrat" pitchFamily="34" charset="-120"/>
              </a:rPr>
              <a:t>Share of employers calling a skill core today (x) vs expecting it to grow by 2030 (y)</a:t>
            </a:r>
            <a:endParaRPr lang="en-US" sz="1300" dirty="0"/>
          </a:p>
        </p:txBody>
      </p:sp>
      <p:sp>
        <p:nvSpPr>
          <p:cNvPr id="5" name="Shape 2"/>
          <p:cNvSpPr/>
          <p:nvPr/>
        </p:nvSpPr>
        <p:spPr>
          <a:xfrm>
            <a:off x="548640" y="1719072"/>
            <a:ext cx="5897880" cy="4315968"/>
          </a:xfrm>
          <a:prstGeom prst="roundRect">
            <a:avLst>
              <a:gd name="adj" fmla="val 1695"/>
            </a:avLst>
          </a:prstGeom>
          <a:solidFill>
            <a:srgbClr val="FFFFFF"/>
          </a:solidFill>
          <a:ln w="12700">
            <a:solidFill>
              <a:srgbClr val="C9D3E3"/>
            </a:solidFill>
            <a:prstDash val="solid"/>
          </a:ln>
        </p:spPr>
      </p:sp>
      <p:pic>
        <p:nvPicPr>
          <p:cNvPr id="6" name="Image 0" descr="/home/user/work/assets/wef.png">    </p:cNvPr>
          <p:cNvPicPr>
            <a:picLocks noChangeAspect="1"/>
          </p:cNvPicPr>
          <p:nvPr/>
        </p:nvPicPr>
        <p:blipFill>
          <a:blip r:embed="rId1"/>
          <a:stretch>
            <a:fillRect/>
          </a:stretch>
        </p:blipFill>
        <p:spPr>
          <a:xfrm>
            <a:off x="640080" y="1783080"/>
            <a:ext cx="5715000" cy="4187952"/>
          </a:xfrm>
          <a:prstGeom prst="rect">
            <a:avLst/>
          </a:prstGeom>
        </p:spPr>
      </p:pic>
      <p:sp>
        <p:nvSpPr>
          <p:cNvPr id="7" name="Shape 3"/>
          <p:cNvSpPr/>
          <p:nvPr/>
        </p:nvSpPr>
        <p:spPr>
          <a:xfrm>
            <a:off x="6812280" y="1783080"/>
            <a:ext cx="384048" cy="384048"/>
          </a:xfrm>
          <a:prstGeom prst="ellipse">
            <a:avLst/>
          </a:prstGeom>
          <a:solidFill>
            <a:srgbClr val="2E6FBF"/>
          </a:solidFill>
          <a:ln/>
        </p:spPr>
      </p:sp>
      <p:sp>
        <p:nvSpPr>
          <p:cNvPr id="8" name="Text 4"/>
          <p:cNvSpPr txBox="1"/>
          <p:nvPr/>
        </p:nvSpPr>
        <p:spPr>
          <a:xfrm>
            <a:off x="6812280" y="178308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1</a:t>
            </a:r>
            <a:endParaRPr lang="en-US" sz="1200" dirty="0"/>
          </a:p>
        </p:txBody>
      </p:sp>
      <p:sp>
        <p:nvSpPr>
          <p:cNvPr id="9" name="Text 5"/>
          <p:cNvSpPr txBox="1"/>
          <p:nvPr/>
        </p:nvSpPr>
        <p:spPr>
          <a:xfrm>
            <a:off x="7360920" y="1737360"/>
            <a:ext cx="4279392" cy="347472"/>
          </a:xfrm>
          <a:prstGeom prst="rect">
            <a:avLst/>
          </a:prstGeom>
          <a:noFill/>
          <a:ln/>
        </p:spPr>
        <p:txBody>
          <a:bodyPr wrap="square" lIns="0" tIns="0" rIns="0" bIns="0" rtlCol="0" anchor="t"/>
          <a:lstStyle/>
          <a:p>
            <a:pPr indent="0" marL="0">
              <a:buNone/>
            </a:pPr>
            <a:r>
              <a:rPr lang="en-US" sz="1400" b="1" dirty="0">
                <a:solidFill>
                  <a:srgbClr val="0F1341"/>
                </a:solidFill>
                <a:latin typeface="Montserrat" pitchFamily="34" charset="0"/>
                <a:ea typeface="Montserrat" pitchFamily="34" charset="-122"/>
                <a:cs typeface="Montserrat" pitchFamily="34" charset="-120"/>
              </a:rPr>
              <a:t>AI and big data</a:t>
            </a:r>
            <a:endParaRPr lang="en-US" sz="1400" dirty="0"/>
          </a:p>
        </p:txBody>
      </p:sp>
      <p:sp>
        <p:nvSpPr>
          <p:cNvPr id="10" name="Text 6"/>
          <p:cNvSpPr txBox="1"/>
          <p:nvPr/>
        </p:nvSpPr>
        <p:spPr>
          <a:xfrm>
            <a:off x="7360920" y="2084832"/>
            <a:ext cx="4279392" cy="594360"/>
          </a:xfrm>
          <a:prstGeom prst="rect">
            <a:avLst/>
          </a:prstGeom>
          <a:noFill/>
          <a:ln/>
        </p:spPr>
        <p:txBody>
          <a:bodyPr wrap="square" lIns="0" tIns="0" rIns="0" bIns="0" rtlCol="0" anchor="t"/>
          <a:lstStyle/>
          <a:p>
            <a:pPr indent="0" marL="0">
              <a:buNone/>
            </a:pPr>
            <a:r>
              <a:rPr lang="en-US" sz="1200" dirty="0">
                <a:solidFill>
                  <a:srgbClr val="5B6270"/>
                </a:solidFill>
                <a:latin typeface="Montserrat" pitchFamily="34" charset="0"/>
                <a:ea typeface="Montserrat" pitchFamily="34" charset="-122"/>
                <a:cs typeface="Montserrat" pitchFamily="34" charset="-120"/>
              </a:rPr>
              <a:t>the fastest-growing skill of all — almost 9 in 10 employers expect it to grow</a:t>
            </a:r>
            <a:endParaRPr lang="en-US" sz="1200" dirty="0"/>
          </a:p>
        </p:txBody>
      </p:sp>
      <p:sp>
        <p:nvSpPr>
          <p:cNvPr id="11" name="Shape 7"/>
          <p:cNvSpPr/>
          <p:nvPr/>
        </p:nvSpPr>
        <p:spPr>
          <a:xfrm>
            <a:off x="6812280" y="2807208"/>
            <a:ext cx="384048" cy="384048"/>
          </a:xfrm>
          <a:prstGeom prst="ellipse">
            <a:avLst/>
          </a:prstGeom>
          <a:solidFill>
            <a:srgbClr val="2E6FBF"/>
          </a:solidFill>
          <a:ln/>
        </p:spPr>
      </p:sp>
      <p:sp>
        <p:nvSpPr>
          <p:cNvPr id="12" name="Text 8"/>
          <p:cNvSpPr txBox="1"/>
          <p:nvPr/>
        </p:nvSpPr>
        <p:spPr>
          <a:xfrm>
            <a:off x="6812280" y="280720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2</a:t>
            </a:r>
            <a:endParaRPr lang="en-US" sz="1200" dirty="0"/>
          </a:p>
        </p:txBody>
      </p:sp>
      <p:sp>
        <p:nvSpPr>
          <p:cNvPr id="13" name="Text 9"/>
          <p:cNvSpPr txBox="1"/>
          <p:nvPr/>
        </p:nvSpPr>
        <p:spPr>
          <a:xfrm>
            <a:off x="7360920" y="2761488"/>
            <a:ext cx="4279392" cy="347472"/>
          </a:xfrm>
          <a:prstGeom prst="rect">
            <a:avLst/>
          </a:prstGeom>
          <a:noFill/>
          <a:ln/>
        </p:spPr>
        <p:txBody>
          <a:bodyPr wrap="square" lIns="0" tIns="0" rIns="0" bIns="0" rtlCol="0" anchor="t"/>
          <a:lstStyle/>
          <a:p>
            <a:pPr indent="0" marL="0">
              <a:buNone/>
            </a:pPr>
            <a:r>
              <a:rPr lang="en-US" sz="1400" b="1" dirty="0">
                <a:solidFill>
                  <a:srgbClr val="0F1341"/>
                </a:solidFill>
                <a:latin typeface="Montserrat" pitchFamily="34" charset="0"/>
                <a:ea typeface="Montserrat" pitchFamily="34" charset="-122"/>
                <a:cs typeface="Montserrat" pitchFamily="34" charset="-120"/>
              </a:rPr>
              <a:t>Thinking skills stay core</a:t>
            </a:r>
            <a:endParaRPr lang="en-US" sz="1400" dirty="0"/>
          </a:p>
        </p:txBody>
      </p:sp>
      <p:sp>
        <p:nvSpPr>
          <p:cNvPr id="14" name="Text 10"/>
          <p:cNvSpPr txBox="1"/>
          <p:nvPr/>
        </p:nvSpPr>
        <p:spPr>
          <a:xfrm>
            <a:off x="7360920" y="3108960"/>
            <a:ext cx="4279392" cy="594360"/>
          </a:xfrm>
          <a:prstGeom prst="rect">
            <a:avLst/>
          </a:prstGeom>
          <a:noFill/>
          <a:ln/>
        </p:spPr>
        <p:txBody>
          <a:bodyPr wrap="square" lIns="0" tIns="0" rIns="0" bIns="0" rtlCol="0" anchor="t"/>
          <a:lstStyle/>
          <a:p>
            <a:pPr indent="0" marL="0">
              <a:buNone/>
            </a:pPr>
            <a:r>
              <a:rPr lang="en-US" sz="1200" dirty="0">
                <a:solidFill>
                  <a:srgbClr val="5B6270"/>
                </a:solidFill>
                <a:latin typeface="Montserrat" pitchFamily="34" charset="0"/>
                <a:ea typeface="Montserrat" pitchFamily="34" charset="-122"/>
                <a:cs typeface="Montserrat" pitchFamily="34" charset="-120"/>
              </a:rPr>
              <a:t>analytical thinking, creative thinking, systems thinking</a:t>
            </a:r>
            <a:endParaRPr lang="en-US" sz="1200" dirty="0"/>
          </a:p>
        </p:txBody>
      </p:sp>
      <p:sp>
        <p:nvSpPr>
          <p:cNvPr id="15" name="Shape 11"/>
          <p:cNvSpPr/>
          <p:nvPr/>
        </p:nvSpPr>
        <p:spPr>
          <a:xfrm>
            <a:off x="6812280" y="3831336"/>
            <a:ext cx="384048" cy="384048"/>
          </a:xfrm>
          <a:prstGeom prst="ellipse">
            <a:avLst/>
          </a:prstGeom>
          <a:solidFill>
            <a:srgbClr val="2E6FBF"/>
          </a:solidFill>
          <a:ln/>
        </p:spPr>
      </p:sp>
      <p:sp>
        <p:nvSpPr>
          <p:cNvPr id="16" name="Text 12"/>
          <p:cNvSpPr txBox="1"/>
          <p:nvPr/>
        </p:nvSpPr>
        <p:spPr>
          <a:xfrm>
            <a:off x="6812280" y="383133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3</a:t>
            </a:r>
            <a:endParaRPr lang="en-US" sz="1200" dirty="0"/>
          </a:p>
        </p:txBody>
      </p:sp>
      <p:sp>
        <p:nvSpPr>
          <p:cNvPr id="17" name="Text 13"/>
          <p:cNvSpPr txBox="1"/>
          <p:nvPr/>
        </p:nvSpPr>
        <p:spPr>
          <a:xfrm>
            <a:off x="7360920" y="3785616"/>
            <a:ext cx="4279392" cy="347472"/>
          </a:xfrm>
          <a:prstGeom prst="rect">
            <a:avLst/>
          </a:prstGeom>
          <a:noFill/>
          <a:ln/>
        </p:spPr>
        <p:txBody>
          <a:bodyPr wrap="square" lIns="0" tIns="0" rIns="0" bIns="0" rtlCol="0" anchor="t"/>
          <a:lstStyle/>
          <a:p>
            <a:pPr indent="0" marL="0">
              <a:buNone/>
            </a:pPr>
            <a:r>
              <a:rPr lang="en-US" sz="1400" b="1" dirty="0">
                <a:solidFill>
                  <a:srgbClr val="0F1341"/>
                </a:solidFill>
                <a:latin typeface="Montserrat" pitchFamily="34" charset="0"/>
                <a:ea typeface="Montserrat" pitchFamily="34" charset="-122"/>
                <a:cs typeface="Montserrat" pitchFamily="34" charset="-120"/>
              </a:rPr>
              <a:t>Human skills rise with AI</a:t>
            </a:r>
            <a:endParaRPr lang="en-US" sz="1400" dirty="0"/>
          </a:p>
        </p:txBody>
      </p:sp>
      <p:sp>
        <p:nvSpPr>
          <p:cNvPr id="18" name="Text 14"/>
          <p:cNvSpPr txBox="1"/>
          <p:nvPr/>
        </p:nvSpPr>
        <p:spPr>
          <a:xfrm>
            <a:off x="7360920" y="4133088"/>
            <a:ext cx="4279392" cy="594360"/>
          </a:xfrm>
          <a:prstGeom prst="rect">
            <a:avLst/>
          </a:prstGeom>
          <a:noFill/>
          <a:ln/>
        </p:spPr>
        <p:txBody>
          <a:bodyPr wrap="square" lIns="0" tIns="0" rIns="0" bIns="0" rtlCol="0" anchor="t"/>
          <a:lstStyle/>
          <a:p>
            <a:pPr indent="0" marL="0">
              <a:buNone/>
            </a:pPr>
            <a:r>
              <a:rPr lang="en-US" sz="1200" dirty="0">
                <a:solidFill>
                  <a:srgbClr val="5B6270"/>
                </a:solidFill>
                <a:latin typeface="Montserrat" pitchFamily="34" charset="0"/>
                <a:ea typeface="Montserrat" pitchFamily="34" charset="-122"/>
                <a:cs typeface="Montserrat" pitchFamily="34" charset="-120"/>
              </a:rPr>
              <a:t>resilience, curiosity and lifelong learning, leadership</a:t>
            </a:r>
            <a:endParaRPr lang="en-US" sz="1200" dirty="0"/>
          </a:p>
        </p:txBody>
      </p:sp>
      <p:sp>
        <p:nvSpPr>
          <p:cNvPr id="19" name="Shape 15"/>
          <p:cNvSpPr/>
          <p:nvPr/>
        </p:nvSpPr>
        <p:spPr>
          <a:xfrm>
            <a:off x="6812280" y="4846320"/>
            <a:ext cx="4828032" cy="1188720"/>
          </a:xfrm>
          <a:prstGeom prst="roundRect">
            <a:avLst>
              <a:gd name="adj" fmla="val 6154"/>
            </a:avLst>
          </a:prstGeom>
          <a:solidFill>
            <a:srgbClr val="0F1341"/>
          </a:solidFill>
          <a:ln/>
        </p:spPr>
      </p:sp>
      <p:sp>
        <p:nvSpPr>
          <p:cNvPr id="20" name="Text 16"/>
          <p:cNvSpPr txBox="1"/>
          <p:nvPr/>
        </p:nvSpPr>
        <p:spPr>
          <a:xfrm>
            <a:off x="7040880" y="4846320"/>
            <a:ext cx="4434840" cy="1188720"/>
          </a:xfrm>
          <a:prstGeom prst="rect">
            <a:avLst/>
          </a:prstGeom>
          <a:noFill/>
          <a:ln/>
        </p:spPr>
        <p:txBody>
          <a:bodyPr wrap="square" lIns="0" tIns="0" rIns="0" bIns="0" rtlCol="0" anchor="ctr"/>
          <a:lstStyle/>
          <a:p>
            <a:pPr indent="0" marL="0">
              <a:buNone/>
            </a:pPr>
            <a:r>
              <a:rPr lang="en-US" sz="1300" dirty="0">
                <a:solidFill>
                  <a:srgbClr val="FFFFFF"/>
                </a:solidFill>
                <a:latin typeface="Montserrat" pitchFamily="34" charset="0"/>
                <a:ea typeface="Montserrat" pitchFamily="34" charset="-122"/>
                <a:cs typeface="Montserrat" pitchFamily="34" charset="-120"/>
              </a:rPr>
              <a:t>The seller of 2030: AI-literate and analytical — with empathy and active listening as the differentiator.</a:t>
            </a:r>
            <a:endParaRPr lang="en-US" sz="1300" dirty="0"/>
          </a:p>
        </p:txBody>
      </p:sp>
      <p:sp>
        <p:nvSpPr>
          <p:cNvPr id="21" name="Text 17"/>
          <p:cNvSpPr txBox="1"/>
          <p:nvPr/>
        </p:nvSpPr>
        <p:spPr>
          <a:xfrm>
            <a:off x="1920240" y="6080760"/>
            <a:ext cx="5486400" cy="228600"/>
          </a:xfrm>
          <a:prstGeom prst="rect">
            <a:avLst/>
          </a:prstGeom>
          <a:noFill/>
          <a:ln/>
        </p:spPr>
        <p:txBody>
          <a:bodyPr wrap="square" lIns="0" tIns="0" rIns="0" bIns="0" rtlCol="0" anchor="t"/>
          <a:lstStyle/>
          <a:p>
            <a:pPr indent="0" marL="0">
              <a:buNone/>
            </a:pPr>
            <a:r>
              <a:rPr lang="en-US" sz="900" i="1" dirty="0">
                <a:solidFill>
                  <a:srgbClr val="8A93A3"/>
                </a:solidFill>
                <a:latin typeface="Montserrat" pitchFamily="34" charset="0"/>
                <a:ea typeface="Montserrat" pitchFamily="34" charset="-122"/>
                <a:cs typeface="Montserrat" pitchFamily="34" charset="-120"/>
              </a:rPr>
              <a:t>Source: World Economic Forum, Future of Jobs Report 2025, Figure 3.6.</a:t>
            </a:r>
            <a:endParaRPr lang="en-US" sz="9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3A3"/>
                </a:solidFill>
                <a:latin typeface="Montserrat"/>
                <a:ea typeface="Montserrat"/>
                <a:cs typeface="Montserrat"/>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2" type="title" hasCustomPrompt="1"/>
          </p:nvPr>
        </p:nvSpPr>
        <p:spPr>
          <a:xfrm>
            <a:off x="548640" y="502920"/>
            <a:ext cx="7863840" cy="685800"/>
          </a:xfrm>
          <a:prstGeom prst="rect">
            <a:avLst/>
          </a:prstGeom>
          <a:noFill/>
          <a:ln/>
        </p:spPr>
        <p:txBody>
          <a:bodyPr wrap="square" lIns="0" tIns="0" rIns="0" bIns="0" rtlCol="0" anchor="t"/>
          <a:lstStyle/>
          <a:p>
            <a:pPr algn="l" indent="0" marL="0">
              <a:buNone/>
            </a:pPr>
            <a:r>
              <a:rPr lang="en-US" sz="2800" b="1" dirty="0">
                <a:solidFill>
                  <a:srgbClr val="0F1341"/>
                </a:solidFill>
                <a:latin typeface="Montserrat" pitchFamily="34" charset="0"/>
                <a:ea typeface="Montserrat" pitchFamily="34" charset="-122"/>
                <a:cs typeface="Montserrat" pitchFamily="34" charset="-120"/>
              </a:rPr>
              <a:t>“Augmented Intelligence”</a:t>
            </a:r>
            <a:endParaRPr lang="en-US" sz="2800" dirty="0"/>
          </a:p>
        </p:txBody>
      </p:sp>
      <p:sp>
        <p:nvSpPr>
          <p:cNvPr id="3" name="Text 0"/>
          <p:cNvSpPr/>
          <p:nvPr>
            <p:ph idx="103" type="body" hasCustomPrompt="1"/>
          </p:nvPr>
        </p:nvSpPr>
        <p:spPr>
          <a:xfrm>
            <a:off x="548640" y="1207008"/>
            <a:ext cx="8778240" cy="365760"/>
          </a:xfrm>
          <a:prstGeom prst="rect">
            <a:avLst/>
          </a:prstGeom>
          <a:noFill/>
          <a:ln/>
        </p:spPr>
        <p:txBody>
          <a:bodyPr wrap="square" lIns="0" tIns="0" rIns="0" bIns="0" rtlCol="0" anchor="t"/>
          <a:lstStyle/>
          <a:p>
            <a:pPr algn="l" indent="0" marL="0">
              <a:buNone/>
            </a:pPr>
            <a:r>
              <a:rPr lang="en-US" sz="1300" dirty="0">
                <a:solidFill>
                  <a:srgbClr val="5B6270"/>
                </a:solidFill>
                <a:latin typeface="Montserrat" pitchFamily="34" charset="0"/>
                <a:ea typeface="Montserrat" pitchFamily="34" charset="-122"/>
                <a:cs typeface="Montserrat" pitchFamily="34" charset="-120"/>
              </a:rPr>
              <a:t>Not human or machine — the value sits in the overlap</a:t>
            </a:r>
            <a:endParaRPr lang="en-US" sz="1300" dirty="0"/>
          </a:p>
        </p:txBody>
      </p:sp>
      <p:sp>
        <p:nvSpPr>
          <p:cNvPr id="5" name="Shape 2"/>
          <p:cNvSpPr/>
          <p:nvPr/>
        </p:nvSpPr>
        <p:spPr>
          <a:xfrm>
            <a:off x="822960" y="1783080"/>
            <a:ext cx="4572000" cy="4343400"/>
          </a:xfrm>
          <a:prstGeom prst="ellipse">
            <a:avLst/>
          </a:prstGeom>
          <a:solidFill>
            <a:srgbClr val="D9E8F8">
              <a:alpha val="85000"/>
            </a:srgbClr>
          </a:solidFill>
          <a:ln w="38100">
            <a:solidFill>
              <a:srgbClr val="4A8FDB"/>
            </a:solidFill>
            <a:prstDash val="solid"/>
          </a:ln>
        </p:spPr>
      </p:sp>
      <p:sp>
        <p:nvSpPr>
          <p:cNvPr id="6" name="Shape 3"/>
          <p:cNvSpPr/>
          <p:nvPr/>
        </p:nvSpPr>
        <p:spPr>
          <a:xfrm>
            <a:off x="3566160" y="1783080"/>
            <a:ext cx="4572000" cy="4343400"/>
          </a:xfrm>
          <a:prstGeom prst="ellipse">
            <a:avLst/>
          </a:prstGeom>
          <a:solidFill>
            <a:srgbClr val="6A7FA8">
              <a:alpha val="55000"/>
            </a:srgbClr>
          </a:solidFill>
          <a:ln w="38100">
            <a:solidFill>
              <a:srgbClr val="0F1341"/>
            </a:solidFill>
            <a:prstDash val="solid"/>
          </a:ln>
        </p:spPr>
      </p:sp>
      <p:sp>
        <p:nvSpPr>
          <p:cNvPr id="7" name="Text 4"/>
          <p:cNvSpPr txBox="1"/>
          <p:nvPr/>
        </p:nvSpPr>
        <p:spPr>
          <a:xfrm>
            <a:off x="1097280" y="3520440"/>
            <a:ext cx="2377440" cy="822960"/>
          </a:xfrm>
          <a:prstGeom prst="rect">
            <a:avLst/>
          </a:prstGeom>
          <a:noFill/>
          <a:ln/>
        </p:spPr>
        <p:txBody>
          <a:bodyPr wrap="square" lIns="0" tIns="0" rIns="0" bIns="0" rtlCol="0" anchor="ctr"/>
          <a:lstStyle/>
          <a:p>
            <a:pPr algn="ctr" indent="0" marL="0">
              <a:buNone/>
            </a:pPr>
            <a:r>
              <a:rPr lang="en-US" sz="1800" b="1" dirty="0">
                <a:solidFill>
                  <a:srgbClr val="2E6FBF"/>
                </a:solidFill>
                <a:latin typeface="Montserrat" pitchFamily="34" charset="0"/>
                <a:ea typeface="Montserrat" pitchFamily="34" charset="-122"/>
                <a:cs typeface="Montserrat" pitchFamily="34" charset="-120"/>
              </a:rPr>
              <a:t>Human</a:t>
            </a:r>
            <a:endParaRPr lang="en-US" sz="1800" dirty="0"/>
          </a:p>
          <a:p>
            <a:pPr algn="ctr" indent="0" marL="0">
              <a:buNone/>
            </a:pPr>
            <a:r>
              <a:rPr lang="en-US" sz="1800" b="1" dirty="0">
                <a:solidFill>
                  <a:srgbClr val="2E6FBF"/>
                </a:solidFill>
                <a:latin typeface="Montserrat" pitchFamily="34" charset="0"/>
                <a:ea typeface="Montserrat" pitchFamily="34" charset="-122"/>
                <a:cs typeface="Montserrat" pitchFamily="34" charset="-120"/>
              </a:rPr>
              <a:t>Intelligence</a:t>
            </a:r>
            <a:endParaRPr lang="en-US" sz="1800" dirty="0"/>
          </a:p>
        </p:txBody>
      </p:sp>
      <p:sp>
        <p:nvSpPr>
          <p:cNvPr id="8" name="Text 5"/>
          <p:cNvSpPr txBox="1"/>
          <p:nvPr/>
        </p:nvSpPr>
        <p:spPr>
          <a:xfrm>
            <a:off x="3611880" y="3520440"/>
            <a:ext cx="1737360" cy="822960"/>
          </a:xfrm>
          <a:prstGeom prst="rect">
            <a:avLst/>
          </a:prstGeom>
          <a:noFill/>
          <a:ln/>
        </p:spPr>
        <p:txBody>
          <a:bodyPr wrap="square" lIns="0" tIns="0" rIns="0" bIns="0" rtlCol="0" anchor="ctr"/>
          <a:lstStyle/>
          <a:p>
            <a:pPr algn="ctr" indent="0" marL="0">
              <a:buNone/>
            </a:pPr>
            <a:r>
              <a:rPr lang="en-US" sz="1600" b="1" dirty="0">
                <a:solidFill>
                  <a:srgbClr val="FFFFFF"/>
                </a:solidFill>
                <a:latin typeface="Montserrat" pitchFamily="34" charset="0"/>
                <a:ea typeface="Montserrat" pitchFamily="34" charset="-122"/>
                <a:cs typeface="Montserrat" pitchFamily="34" charset="-120"/>
              </a:rPr>
              <a:t>Augmented</a:t>
            </a:r>
            <a:endParaRPr lang="en-US" sz="1600" dirty="0"/>
          </a:p>
          <a:p>
            <a:pPr algn="ctr" indent="0" marL="0">
              <a:buNone/>
            </a:pPr>
            <a:r>
              <a:rPr lang="en-US" sz="1600" b="1" dirty="0">
                <a:solidFill>
                  <a:srgbClr val="FFFFFF"/>
                </a:solidFill>
                <a:latin typeface="Montserrat" pitchFamily="34" charset="0"/>
                <a:ea typeface="Montserrat" pitchFamily="34" charset="-122"/>
                <a:cs typeface="Montserrat" pitchFamily="34" charset="-120"/>
              </a:rPr>
              <a:t>Intelligence</a:t>
            </a:r>
            <a:endParaRPr lang="en-US" sz="1600" dirty="0"/>
          </a:p>
        </p:txBody>
      </p:sp>
      <p:sp>
        <p:nvSpPr>
          <p:cNvPr id="9" name="Text 6"/>
          <p:cNvSpPr txBox="1"/>
          <p:nvPr/>
        </p:nvSpPr>
        <p:spPr>
          <a:xfrm>
            <a:off x="5486400" y="3520440"/>
            <a:ext cx="2377440" cy="822960"/>
          </a:xfrm>
          <a:prstGeom prst="rect">
            <a:avLst/>
          </a:prstGeom>
          <a:noFill/>
          <a:ln/>
        </p:spPr>
        <p:txBody>
          <a:bodyPr wrap="square" lIns="0" tIns="0" rIns="0" bIns="0" rtlCol="0" anchor="ctr"/>
          <a:lstStyle/>
          <a:p>
            <a:pPr algn="ctr" indent="0" marL="0">
              <a:buNone/>
            </a:pPr>
            <a:r>
              <a:rPr lang="en-US" sz="1800" b="1" dirty="0">
                <a:solidFill>
                  <a:srgbClr val="0F1341"/>
                </a:solidFill>
                <a:latin typeface="Montserrat" pitchFamily="34" charset="0"/>
                <a:ea typeface="Montserrat" pitchFamily="34" charset="-122"/>
                <a:cs typeface="Montserrat" pitchFamily="34" charset="-120"/>
              </a:rPr>
              <a:t>Artificial</a:t>
            </a:r>
            <a:endParaRPr lang="en-US" sz="1800" dirty="0"/>
          </a:p>
          <a:p>
            <a:pPr algn="ctr" indent="0" marL="0">
              <a:buNone/>
            </a:pPr>
            <a:r>
              <a:rPr lang="en-US" sz="1800" b="1" dirty="0">
                <a:solidFill>
                  <a:srgbClr val="0F1341"/>
                </a:solidFill>
                <a:latin typeface="Montserrat" pitchFamily="34" charset="0"/>
                <a:ea typeface="Montserrat" pitchFamily="34" charset="-122"/>
                <a:cs typeface="Montserrat" pitchFamily="34" charset="-120"/>
              </a:rPr>
              <a:t>Intelligence</a:t>
            </a:r>
            <a:endParaRPr lang="en-US" sz="1800" dirty="0"/>
          </a:p>
        </p:txBody>
      </p:sp>
      <p:sp>
        <p:nvSpPr>
          <p:cNvPr id="10" name="Shape 7"/>
          <p:cNvSpPr/>
          <p:nvPr/>
        </p:nvSpPr>
        <p:spPr>
          <a:xfrm>
            <a:off x="8595360" y="1874520"/>
            <a:ext cx="1280160" cy="274320"/>
          </a:xfrm>
          <a:prstGeom prst="roundRect">
            <a:avLst>
              <a:gd name="adj" fmla="val 26667"/>
            </a:avLst>
          </a:prstGeom>
          <a:solidFill>
            <a:srgbClr val="2E6FBF"/>
          </a:solidFill>
          <a:ln/>
        </p:spPr>
      </p:sp>
      <p:sp>
        <p:nvSpPr>
          <p:cNvPr id="11" name="Text 8"/>
          <p:cNvSpPr txBox="1"/>
          <p:nvPr/>
        </p:nvSpPr>
        <p:spPr>
          <a:xfrm>
            <a:off x="8595360" y="1874520"/>
            <a:ext cx="1280160" cy="274320"/>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Montserrat" pitchFamily="34" charset="0"/>
                <a:ea typeface="Montserrat" pitchFamily="34" charset="-122"/>
                <a:cs typeface="Montserrat" pitchFamily="34" charset="-120"/>
              </a:rPr>
              <a:t>HUMAN</a:t>
            </a:r>
            <a:endParaRPr lang="en-US" sz="900" dirty="0"/>
          </a:p>
        </p:txBody>
      </p:sp>
      <p:sp>
        <p:nvSpPr>
          <p:cNvPr id="12" name="Text 9"/>
          <p:cNvSpPr txBox="1"/>
          <p:nvPr/>
        </p:nvSpPr>
        <p:spPr>
          <a:xfrm>
            <a:off x="8595360" y="2258568"/>
            <a:ext cx="3044952" cy="868680"/>
          </a:xfrm>
          <a:prstGeom prst="rect">
            <a:avLst/>
          </a:prstGeom>
          <a:noFill/>
          <a:ln/>
        </p:spPr>
        <p:txBody>
          <a:bodyPr wrap="square" lIns="0" tIns="0" rIns="0" bIns="0" rtlCol="0" anchor="t"/>
          <a:lstStyle/>
          <a:p>
            <a:pPr indent="0" marL="0">
              <a:buNone/>
            </a:pPr>
            <a:r>
              <a:rPr lang="en-US" sz="1300" dirty="0">
                <a:solidFill>
                  <a:srgbClr val="0F1341"/>
                </a:solidFill>
                <a:latin typeface="Montserrat" pitchFamily="34" charset="0"/>
                <a:ea typeface="Montserrat" pitchFamily="34" charset="-122"/>
                <a:cs typeface="Montserrat" pitchFamily="34" charset="-120"/>
              </a:rPr>
              <a:t>Judgement, context, trust, responsibility</a:t>
            </a:r>
            <a:endParaRPr lang="en-US" sz="1300" dirty="0"/>
          </a:p>
        </p:txBody>
      </p:sp>
      <p:sp>
        <p:nvSpPr>
          <p:cNvPr id="13" name="Shape 10"/>
          <p:cNvSpPr/>
          <p:nvPr/>
        </p:nvSpPr>
        <p:spPr>
          <a:xfrm>
            <a:off x="8595360" y="3246120"/>
            <a:ext cx="1280160" cy="274320"/>
          </a:xfrm>
          <a:prstGeom prst="roundRect">
            <a:avLst>
              <a:gd name="adj" fmla="val 26667"/>
            </a:avLst>
          </a:prstGeom>
          <a:solidFill>
            <a:srgbClr val="0F1341"/>
          </a:solidFill>
          <a:ln/>
        </p:spPr>
      </p:sp>
      <p:sp>
        <p:nvSpPr>
          <p:cNvPr id="14" name="Text 11"/>
          <p:cNvSpPr txBox="1"/>
          <p:nvPr/>
        </p:nvSpPr>
        <p:spPr>
          <a:xfrm>
            <a:off x="8595360" y="3246120"/>
            <a:ext cx="1280160" cy="274320"/>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Montserrat" pitchFamily="34" charset="0"/>
                <a:ea typeface="Montserrat" pitchFamily="34" charset="-122"/>
                <a:cs typeface="Montserrat" pitchFamily="34" charset="-120"/>
              </a:rPr>
              <a:t>AI</a:t>
            </a:r>
            <a:endParaRPr lang="en-US" sz="900" dirty="0"/>
          </a:p>
        </p:txBody>
      </p:sp>
      <p:sp>
        <p:nvSpPr>
          <p:cNvPr id="15" name="Text 12"/>
          <p:cNvSpPr txBox="1"/>
          <p:nvPr/>
        </p:nvSpPr>
        <p:spPr>
          <a:xfrm>
            <a:off x="8595360" y="3630168"/>
            <a:ext cx="3044952" cy="868680"/>
          </a:xfrm>
          <a:prstGeom prst="rect">
            <a:avLst/>
          </a:prstGeom>
          <a:noFill/>
          <a:ln/>
        </p:spPr>
        <p:txBody>
          <a:bodyPr wrap="square" lIns="0" tIns="0" rIns="0" bIns="0" rtlCol="0" anchor="t"/>
          <a:lstStyle/>
          <a:p>
            <a:pPr indent="0" marL="0">
              <a:buNone/>
            </a:pPr>
            <a:r>
              <a:rPr lang="en-US" sz="1300" dirty="0">
                <a:solidFill>
                  <a:srgbClr val="0F1341"/>
                </a:solidFill>
                <a:latin typeface="Montserrat" pitchFamily="34" charset="0"/>
                <a:ea typeface="Montserrat" pitchFamily="34" charset="-122"/>
                <a:cs typeface="Montserrat" pitchFamily="34" charset="-120"/>
              </a:rPr>
              <a:t>Speed, scale, pattern recognition, tireless testing</a:t>
            </a:r>
            <a:endParaRPr lang="en-US" sz="1300" dirty="0"/>
          </a:p>
        </p:txBody>
      </p:sp>
      <p:sp>
        <p:nvSpPr>
          <p:cNvPr id="16" name="Shape 13"/>
          <p:cNvSpPr/>
          <p:nvPr/>
        </p:nvSpPr>
        <p:spPr>
          <a:xfrm>
            <a:off x="8595360" y="4617720"/>
            <a:ext cx="3044952" cy="274320"/>
          </a:xfrm>
          <a:prstGeom prst="roundRect">
            <a:avLst>
              <a:gd name="adj" fmla="val 26667"/>
            </a:avLst>
          </a:prstGeom>
          <a:solidFill>
            <a:srgbClr val="6A7FA8"/>
          </a:solidFill>
          <a:ln/>
        </p:spPr>
      </p:sp>
      <p:sp>
        <p:nvSpPr>
          <p:cNvPr id="17" name="Text 14"/>
          <p:cNvSpPr txBox="1"/>
          <p:nvPr/>
        </p:nvSpPr>
        <p:spPr>
          <a:xfrm>
            <a:off x="8595360" y="4617720"/>
            <a:ext cx="3044952" cy="274320"/>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Montserrat" pitchFamily="34" charset="0"/>
                <a:ea typeface="Montserrat" pitchFamily="34" charset="-122"/>
                <a:cs typeface="Montserrat" pitchFamily="34" charset="-120"/>
              </a:rPr>
              <a:t>AUGMENTED — SALES</a:t>
            </a:r>
            <a:endParaRPr lang="en-US" sz="900" dirty="0"/>
          </a:p>
        </p:txBody>
      </p:sp>
      <p:sp>
        <p:nvSpPr>
          <p:cNvPr id="18" name="Text 15"/>
          <p:cNvSpPr txBox="1"/>
          <p:nvPr/>
        </p:nvSpPr>
        <p:spPr>
          <a:xfrm>
            <a:off x="8595360" y="5001768"/>
            <a:ext cx="3044952" cy="868680"/>
          </a:xfrm>
          <a:prstGeom prst="rect">
            <a:avLst/>
          </a:prstGeom>
          <a:noFill/>
          <a:ln/>
        </p:spPr>
        <p:txBody>
          <a:bodyPr wrap="square" lIns="0" tIns="0" rIns="0" bIns="0" rtlCol="0" anchor="t"/>
          <a:lstStyle/>
          <a:p>
            <a:pPr indent="0" marL="0">
              <a:buNone/>
            </a:pPr>
            <a:r>
              <a:rPr lang="en-US" sz="1300" dirty="0">
                <a:solidFill>
                  <a:srgbClr val="0F1341"/>
                </a:solidFill>
                <a:latin typeface="Montserrat" pitchFamily="34" charset="0"/>
                <a:ea typeface="Montserrat" pitchFamily="34" charset="-122"/>
                <a:cs typeface="Montserrat" pitchFamily="34" charset="-120"/>
              </a:rPr>
              <a:t>A seller who lets AI research, write and classify — and spends the time on diagnosis, trust and the deal.</a:t>
            </a:r>
            <a:endParaRPr lang="en-US" sz="13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3A3"/>
                </a:solidFill>
                <a:latin typeface="Montserrat"/>
                <a:ea typeface="Montserrat"/>
                <a:cs typeface="Montserrat"/>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2" type="title" hasCustomPrompt="1"/>
          </p:nvPr>
        </p:nvSpPr>
        <p:spPr>
          <a:xfrm>
            <a:off x="548640" y="502920"/>
            <a:ext cx="7863840" cy="685800"/>
          </a:xfrm>
          <a:prstGeom prst="rect">
            <a:avLst/>
          </a:prstGeom>
          <a:noFill/>
          <a:ln/>
        </p:spPr>
        <p:txBody>
          <a:bodyPr wrap="square" lIns="0" tIns="0" rIns="0" bIns="0" rtlCol="0" anchor="t"/>
          <a:lstStyle/>
          <a:p>
            <a:pPr algn="l" indent="0" marL="0">
              <a:buNone/>
            </a:pPr>
            <a:r>
              <a:rPr lang="en-US" sz="2800" b="1" dirty="0">
                <a:solidFill>
                  <a:srgbClr val="0F1341"/>
                </a:solidFill>
                <a:latin typeface="Montserrat" pitchFamily="34" charset="0"/>
                <a:ea typeface="Montserrat" pitchFamily="34" charset="-122"/>
                <a:cs typeface="Montserrat" pitchFamily="34" charset="-120"/>
              </a:rPr>
              <a:t>Rethinking sales</a:t>
            </a:r>
            <a:endParaRPr lang="en-US" sz="2800" dirty="0"/>
          </a:p>
        </p:txBody>
      </p:sp>
      <p:sp>
        <p:nvSpPr>
          <p:cNvPr id="3" name="Text 0"/>
          <p:cNvSpPr/>
          <p:nvPr>
            <p:ph idx="103" type="body" hasCustomPrompt="1"/>
          </p:nvPr>
        </p:nvSpPr>
        <p:spPr>
          <a:xfrm>
            <a:off x="548640" y="1207008"/>
            <a:ext cx="8778240" cy="365760"/>
          </a:xfrm>
          <a:prstGeom prst="rect">
            <a:avLst/>
          </a:prstGeom>
          <a:noFill/>
          <a:ln/>
        </p:spPr>
        <p:txBody>
          <a:bodyPr wrap="square" lIns="0" tIns="0" rIns="0" bIns="0" rtlCol="0" anchor="t"/>
          <a:lstStyle/>
          <a:p>
            <a:pPr algn="l" indent="0" marL="0">
              <a:buNone/>
            </a:pPr>
            <a:r>
              <a:rPr lang="en-US" sz="1300" dirty="0">
                <a:solidFill>
                  <a:srgbClr val="5B6270"/>
                </a:solidFill>
                <a:latin typeface="Montserrat" pitchFamily="34" charset="0"/>
                <a:ea typeface="Montserrat" pitchFamily="34" charset="-122"/>
                <a:cs typeface="Montserrat" pitchFamily="34" charset="-120"/>
              </a:rPr>
              <a:t>How selling worked, what AI enables today — and what AI-native sales means</a:t>
            </a:r>
            <a:endParaRPr lang="en-US" sz="1300" dirty="0"/>
          </a:p>
        </p:txBody>
      </p:sp>
      <p:sp>
        <p:nvSpPr>
          <p:cNvPr id="5" name="Shape 2"/>
          <p:cNvSpPr/>
          <p:nvPr/>
        </p:nvSpPr>
        <p:spPr>
          <a:xfrm>
            <a:off x="2560320" y="1783080"/>
            <a:ext cx="2953512" cy="347472"/>
          </a:xfrm>
          <a:prstGeom prst="roundRect">
            <a:avLst>
              <a:gd name="adj" fmla="val 21053"/>
            </a:avLst>
          </a:prstGeom>
          <a:solidFill>
            <a:srgbClr val="C9D3E3"/>
          </a:solidFill>
          <a:ln/>
        </p:spPr>
      </p:sp>
      <p:sp>
        <p:nvSpPr>
          <p:cNvPr id="6" name="Text 3"/>
          <p:cNvSpPr txBox="1"/>
          <p:nvPr/>
        </p:nvSpPr>
        <p:spPr>
          <a:xfrm>
            <a:off x="2560320" y="1783080"/>
            <a:ext cx="2953512" cy="347472"/>
          </a:xfrm>
          <a:prstGeom prst="rect">
            <a:avLst/>
          </a:prstGeom>
          <a:noFill/>
          <a:ln/>
        </p:spPr>
        <p:txBody>
          <a:bodyPr wrap="square" lIns="0" tIns="0" rIns="0" bIns="0" rtlCol="0" anchor="ctr"/>
          <a:lstStyle/>
          <a:p>
            <a:pPr algn="ctr" indent="0" marL="0">
              <a:buNone/>
            </a:pPr>
            <a:r>
              <a:rPr lang="en-US" sz="1100" b="1" spc="100" kern="0" dirty="0">
                <a:solidFill>
                  <a:srgbClr val="0F1341"/>
                </a:solidFill>
                <a:latin typeface="Montserrat" pitchFamily="34" charset="0"/>
                <a:ea typeface="Montserrat" pitchFamily="34" charset="-122"/>
                <a:cs typeface="Montserrat" pitchFamily="34" charset="-120"/>
              </a:rPr>
              <a:t>BEFORE</a:t>
            </a:r>
            <a:endParaRPr lang="en-US" sz="1100" dirty="0"/>
          </a:p>
        </p:txBody>
      </p:sp>
      <p:sp>
        <p:nvSpPr>
          <p:cNvPr id="7" name="Shape 4"/>
          <p:cNvSpPr/>
          <p:nvPr/>
        </p:nvSpPr>
        <p:spPr>
          <a:xfrm>
            <a:off x="5623560" y="1783080"/>
            <a:ext cx="2953512" cy="347472"/>
          </a:xfrm>
          <a:prstGeom prst="roundRect">
            <a:avLst>
              <a:gd name="adj" fmla="val 21053"/>
            </a:avLst>
          </a:prstGeom>
          <a:solidFill>
            <a:srgbClr val="4A8FDB"/>
          </a:solidFill>
          <a:ln/>
        </p:spPr>
      </p:sp>
      <p:sp>
        <p:nvSpPr>
          <p:cNvPr id="8" name="Text 5"/>
          <p:cNvSpPr txBox="1"/>
          <p:nvPr/>
        </p:nvSpPr>
        <p:spPr>
          <a:xfrm>
            <a:off x="5623560" y="1783080"/>
            <a:ext cx="2953512" cy="347472"/>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Montserrat" pitchFamily="34" charset="0"/>
                <a:ea typeface="Montserrat" pitchFamily="34" charset="-122"/>
                <a:cs typeface="Montserrat" pitchFamily="34" charset="-120"/>
              </a:rPr>
              <a:t>NOW, WITH AI</a:t>
            </a:r>
            <a:endParaRPr lang="en-US" sz="1100" dirty="0"/>
          </a:p>
        </p:txBody>
      </p:sp>
      <p:sp>
        <p:nvSpPr>
          <p:cNvPr id="9" name="Shape 6"/>
          <p:cNvSpPr/>
          <p:nvPr/>
        </p:nvSpPr>
        <p:spPr>
          <a:xfrm>
            <a:off x="8686800" y="1783080"/>
            <a:ext cx="2953512" cy="347472"/>
          </a:xfrm>
          <a:prstGeom prst="roundRect">
            <a:avLst>
              <a:gd name="adj" fmla="val 21053"/>
            </a:avLst>
          </a:prstGeom>
          <a:solidFill>
            <a:srgbClr val="0F1341"/>
          </a:solidFill>
          <a:ln/>
        </p:spPr>
      </p:sp>
      <p:sp>
        <p:nvSpPr>
          <p:cNvPr id="10" name="Text 7"/>
          <p:cNvSpPr txBox="1"/>
          <p:nvPr/>
        </p:nvSpPr>
        <p:spPr>
          <a:xfrm>
            <a:off x="8686800" y="1783080"/>
            <a:ext cx="2953512" cy="347472"/>
          </a:xfrm>
          <a:prstGeom prst="rect">
            <a:avLst/>
          </a:prstGeom>
          <a:noFill/>
          <a:ln/>
        </p:spPr>
        <p:txBody>
          <a:bodyPr wrap="square" lIns="0" tIns="0" rIns="0" bIns="0" rtlCol="0" anchor="ctr"/>
          <a:lstStyle/>
          <a:p>
            <a:pPr algn="ctr" indent="0" marL="0">
              <a:buNone/>
            </a:pPr>
            <a:r>
              <a:rPr lang="en-US" sz="1100" b="1" spc="100" kern="0" dirty="0">
                <a:solidFill>
                  <a:srgbClr val="FFFFFF"/>
                </a:solidFill>
                <a:latin typeface="Montserrat" pitchFamily="34" charset="0"/>
                <a:ea typeface="Montserrat" pitchFamily="34" charset="-122"/>
                <a:cs typeface="Montserrat" pitchFamily="34" charset="-120"/>
              </a:rPr>
              <a:t>AI-NATIVE</a:t>
            </a:r>
            <a:endParaRPr lang="en-US" sz="1100" dirty="0"/>
          </a:p>
        </p:txBody>
      </p:sp>
      <p:sp>
        <p:nvSpPr>
          <p:cNvPr id="11" name="Text 8"/>
          <p:cNvSpPr txBox="1"/>
          <p:nvPr/>
        </p:nvSpPr>
        <p:spPr>
          <a:xfrm>
            <a:off x="548640" y="2286000"/>
            <a:ext cx="1828800" cy="786384"/>
          </a:xfrm>
          <a:prstGeom prst="rect">
            <a:avLst/>
          </a:prstGeom>
          <a:noFill/>
          <a:ln/>
        </p:spPr>
        <p:txBody>
          <a:bodyPr wrap="square" lIns="0" tIns="0" rIns="0" bIns="0" rtlCol="0" anchor="ctr"/>
          <a:lstStyle/>
          <a:p>
            <a:pPr indent="0" marL="0">
              <a:buNone/>
            </a:pPr>
            <a:r>
              <a:rPr lang="en-US" sz="1400" b="1" dirty="0">
                <a:solidFill>
                  <a:srgbClr val="0F1341"/>
                </a:solidFill>
                <a:latin typeface="Montserrat" pitchFamily="34" charset="0"/>
                <a:ea typeface="Montserrat" pitchFamily="34" charset="-122"/>
                <a:cs typeface="Montserrat" pitchFamily="34" charset="-120"/>
              </a:rPr>
              <a:t>Prospecting</a:t>
            </a:r>
            <a:endParaRPr lang="en-US" sz="1400" dirty="0"/>
          </a:p>
        </p:txBody>
      </p:sp>
      <p:sp>
        <p:nvSpPr>
          <p:cNvPr id="12" name="Shape 9"/>
          <p:cNvSpPr/>
          <p:nvPr/>
        </p:nvSpPr>
        <p:spPr>
          <a:xfrm>
            <a:off x="2560320" y="2286000"/>
            <a:ext cx="2953512" cy="786384"/>
          </a:xfrm>
          <a:prstGeom prst="roundRect">
            <a:avLst>
              <a:gd name="adj" fmla="val 9302"/>
            </a:avLst>
          </a:prstGeom>
          <a:solidFill>
            <a:srgbClr val="F3F7FC"/>
          </a:solidFill>
          <a:ln/>
        </p:spPr>
      </p:sp>
      <p:sp>
        <p:nvSpPr>
          <p:cNvPr id="13" name="Text 10"/>
          <p:cNvSpPr txBox="1"/>
          <p:nvPr/>
        </p:nvSpPr>
        <p:spPr>
          <a:xfrm>
            <a:off x="2724912" y="2286000"/>
            <a:ext cx="2624328" cy="786384"/>
          </a:xfrm>
          <a:prstGeom prst="rect">
            <a:avLst/>
          </a:prstGeom>
          <a:noFill/>
          <a:ln/>
        </p:spPr>
        <p:txBody>
          <a:bodyPr wrap="square" lIns="0" tIns="0" rIns="0" bIns="0" rtlCol="0" anchor="ctr"/>
          <a:lstStyle/>
          <a:p>
            <a:pPr indent="0" marL="0">
              <a:buNone/>
            </a:pPr>
            <a:r>
              <a:rPr lang="en-US" sz="1250" dirty="0">
                <a:solidFill>
                  <a:srgbClr val="0F1341"/>
                </a:solidFill>
                <a:latin typeface="Montserrat" pitchFamily="34" charset="0"/>
                <a:ea typeface="Montserrat" pitchFamily="34" charset="-122"/>
                <a:cs typeface="Montserrat" pitchFamily="34" charset="-120"/>
              </a:rPr>
              <a:t>Bought lead lists and cold calling</a:t>
            </a:r>
            <a:endParaRPr lang="en-US" sz="1250" dirty="0"/>
          </a:p>
        </p:txBody>
      </p:sp>
      <p:sp>
        <p:nvSpPr>
          <p:cNvPr id="14" name="Shape 11"/>
          <p:cNvSpPr/>
          <p:nvPr/>
        </p:nvSpPr>
        <p:spPr>
          <a:xfrm>
            <a:off x="5623560" y="2286000"/>
            <a:ext cx="2953512" cy="786384"/>
          </a:xfrm>
          <a:prstGeom prst="roundRect">
            <a:avLst>
              <a:gd name="adj" fmla="val 9302"/>
            </a:avLst>
          </a:prstGeom>
          <a:solidFill>
            <a:srgbClr val="D9E8F8"/>
          </a:solidFill>
          <a:ln/>
        </p:spPr>
      </p:sp>
      <p:sp>
        <p:nvSpPr>
          <p:cNvPr id="15" name="Text 12"/>
          <p:cNvSpPr txBox="1"/>
          <p:nvPr/>
        </p:nvSpPr>
        <p:spPr>
          <a:xfrm>
            <a:off x="5788152" y="2286000"/>
            <a:ext cx="2624328" cy="786384"/>
          </a:xfrm>
          <a:prstGeom prst="rect">
            <a:avLst/>
          </a:prstGeom>
          <a:noFill/>
          <a:ln/>
        </p:spPr>
        <p:txBody>
          <a:bodyPr wrap="square" lIns="0" tIns="0" rIns="0" bIns="0" rtlCol="0" anchor="ctr"/>
          <a:lstStyle/>
          <a:p>
            <a:pPr indent="0" marL="0">
              <a:buNone/>
            </a:pPr>
            <a:r>
              <a:rPr lang="en-US" sz="1250" dirty="0">
                <a:solidFill>
                  <a:srgbClr val="0F1341"/>
                </a:solidFill>
                <a:latin typeface="Montserrat" pitchFamily="34" charset="0"/>
                <a:ea typeface="Montserrat" pitchFamily="34" charset="-122"/>
                <a:cs typeface="Montserrat" pitchFamily="34" charset="-120"/>
              </a:rPr>
              <a:t>AI research on every account</a:t>
            </a:r>
            <a:endParaRPr lang="en-US" sz="1250" dirty="0"/>
          </a:p>
        </p:txBody>
      </p:sp>
      <p:sp>
        <p:nvSpPr>
          <p:cNvPr id="16" name="Shape 13"/>
          <p:cNvSpPr/>
          <p:nvPr/>
        </p:nvSpPr>
        <p:spPr>
          <a:xfrm>
            <a:off x="8686800" y="2286000"/>
            <a:ext cx="2953512" cy="786384"/>
          </a:xfrm>
          <a:prstGeom prst="roundRect">
            <a:avLst>
              <a:gd name="adj" fmla="val 9302"/>
            </a:avLst>
          </a:prstGeom>
          <a:solidFill>
            <a:srgbClr val="0F1341"/>
          </a:solidFill>
          <a:ln/>
        </p:spPr>
      </p:sp>
      <p:sp>
        <p:nvSpPr>
          <p:cNvPr id="17" name="Text 14"/>
          <p:cNvSpPr txBox="1"/>
          <p:nvPr/>
        </p:nvSpPr>
        <p:spPr>
          <a:xfrm>
            <a:off x="8851392" y="2286000"/>
            <a:ext cx="2624328" cy="786384"/>
          </a:xfrm>
          <a:prstGeom prst="rect">
            <a:avLst/>
          </a:prstGeom>
          <a:noFill/>
          <a:ln/>
        </p:spPr>
        <p:txBody>
          <a:bodyPr wrap="square" lIns="0" tIns="0" rIns="0" bIns="0" rtlCol="0" anchor="ctr"/>
          <a:lstStyle/>
          <a:p>
            <a:pPr indent="0" marL="0">
              <a:buNone/>
            </a:pPr>
            <a:r>
              <a:rPr lang="en-US" sz="1250" b="1" dirty="0">
                <a:solidFill>
                  <a:srgbClr val="FFFFFF"/>
                </a:solidFill>
                <a:latin typeface="Montserrat" pitchFamily="34" charset="0"/>
                <a:ea typeface="Montserrat" pitchFamily="34" charset="-122"/>
                <a:cs typeface="Montserrat" pitchFamily="34" charset="-120"/>
              </a:rPr>
              <a:t>Agents find who has the pain — before anyone is contacted</a:t>
            </a:r>
            <a:endParaRPr lang="en-US" sz="1250" dirty="0"/>
          </a:p>
        </p:txBody>
      </p:sp>
      <p:sp>
        <p:nvSpPr>
          <p:cNvPr id="18" name="Text 15"/>
          <p:cNvSpPr txBox="1"/>
          <p:nvPr/>
        </p:nvSpPr>
        <p:spPr>
          <a:xfrm>
            <a:off x="548640" y="3182112"/>
            <a:ext cx="1828800" cy="786384"/>
          </a:xfrm>
          <a:prstGeom prst="rect">
            <a:avLst/>
          </a:prstGeom>
          <a:noFill/>
          <a:ln/>
        </p:spPr>
        <p:txBody>
          <a:bodyPr wrap="square" lIns="0" tIns="0" rIns="0" bIns="0" rtlCol="0" anchor="ctr"/>
          <a:lstStyle/>
          <a:p>
            <a:pPr indent="0" marL="0">
              <a:buNone/>
            </a:pPr>
            <a:r>
              <a:rPr lang="en-US" sz="1400" b="1" dirty="0">
                <a:solidFill>
                  <a:srgbClr val="0F1341"/>
                </a:solidFill>
                <a:latin typeface="Montserrat" pitchFamily="34" charset="0"/>
                <a:ea typeface="Montserrat" pitchFamily="34" charset="-122"/>
                <a:cs typeface="Montserrat" pitchFamily="34" charset="-120"/>
              </a:rPr>
              <a:t>Messaging</a:t>
            </a:r>
            <a:endParaRPr lang="en-US" sz="1400" dirty="0"/>
          </a:p>
        </p:txBody>
      </p:sp>
      <p:sp>
        <p:nvSpPr>
          <p:cNvPr id="19" name="Shape 16"/>
          <p:cNvSpPr/>
          <p:nvPr/>
        </p:nvSpPr>
        <p:spPr>
          <a:xfrm>
            <a:off x="2560320" y="3182112"/>
            <a:ext cx="2953512" cy="786384"/>
          </a:xfrm>
          <a:prstGeom prst="roundRect">
            <a:avLst>
              <a:gd name="adj" fmla="val 9302"/>
            </a:avLst>
          </a:prstGeom>
          <a:solidFill>
            <a:srgbClr val="F3F7FC"/>
          </a:solidFill>
          <a:ln/>
        </p:spPr>
      </p:sp>
      <p:sp>
        <p:nvSpPr>
          <p:cNvPr id="20" name="Text 17"/>
          <p:cNvSpPr txBox="1"/>
          <p:nvPr/>
        </p:nvSpPr>
        <p:spPr>
          <a:xfrm>
            <a:off x="2724912" y="3182112"/>
            <a:ext cx="2624328" cy="786384"/>
          </a:xfrm>
          <a:prstGeom prst="rect">
            <a:avLst/>
          </a:prstGeom>
          <a:noFill/>
          <a:ln/>
        </p:spPr>
        <p:txBody>
          <a:bodyPr wrap="square" lIns="0" tIns="0" rIns="0" bIns="0" rtlCol="0" anchor="ctr"/>
          <a:lstStyle/>
          <a:p>
            <a:pPr indent="0" marL="0">
              <a:buNone/>
            </a:pPr>
            <a:r>
              <a:rPr lang="en-US" sz="1250" dirty="0">
                <a:solidFill>
                  <a:srgbClr val="0F1341"/>
                </a:solidFill>
                <a:latin typeface="Montserrat" pitchFamily="34" charset="0"/>
                <a:ea typeface="Montserrat" pitchFamily="34" charset="-122"/>
                <a:cs typeface="Montserrat" pitchFamily="34" charset="-120"/>
              </a:rPr>
              <a:t>One pitch for everyone</a:t>
            </a:r>
            <a:endParaRPr lang="en-US" sz="1250" dirty="0"/>
          </a:p>
        </p:txBody>
      </p:sp>
      <p:sp>
        <p:nvSpPr>
          <p:cNvPr id="21" name="Shape 18"/>
          <p:cNvSpPr/>
          <p:nvPr/>
        </p:nvSpPr>
        <p:spPr>
          <a:xfrm>
            <a:off x="5623560" y="3182112"/>
            <a:ext cx="2953512" cy="786384"/>
          </a:xfrm>
          <a:prstGeom prst="roundRect">
            <a:avLst>
              <a:gd name="adj" fmla="val 9302"/>
            </a:avLst>
          </a:prstGeom>
          <a:solidFill>
            <a:srgbClr val="D9E8F8"/>
          </a:solidFill>
          <a:ln/>
        </p:spPr>
      </p:sp>
      <p:sp>
        <p:nvSpPr>
          <p:cNvPr id="22" name="Text 19"/>
          <p:cNvSpPr txBox="1"/>
          <p:nvPr/>
        </p:nvSpPr>
        <p:spPr>
          <a:xfrm>
            <a:off x="5788152" y="3182112"/>
            <a:ext cx="2624328" cy="786384"/>
          </a:xfrm>
          <a:prstGeom prst="rect">
            <a:avLst/>
          </a:prstGeom>
          <a:noFill/>
          <a:ln/>
        </p:spPr>
        <p:txBody>
          <a:bodyPr wrap="square" lIns="0" tIns="0" rIns="0" bIns="0" rtlCol="0" anchor="ctr"/>
          <a:lstStyle/>
          <a:p>
            <a:pPr indent="0" marL="0">
              <a:buNone/>
            </a:pPr>
            <a:r>
              <a:rPr lang="en-US" sz="1250" dirty="0">
                <a:solidFill>
                  <a:srgbClr val="0F1341"/>
                </a:solidFill>
                <a:latin typeface="Montserrat" pitchFamily="34" charset="0"/>
                <a:ea typeface="Montserrat" pitchFamily="34" charset="-122"/>
                <a:cs typeface="Montserrat" pitchFamily="34" charset="-120"/>
              </a:rPr>
              <a:t>Personalised emails at scale</a:t>
            </a:r>
            <a:endParaRPr lang="en-US" sz="1250" dirty="0"/>
          </a:p>
        </p:txBody>
      </p:sp>
      <p:sp>
        <p:nvSpPr>
          <p:cNvPr id="23" name="Shape 20"/>
          <p:cNvSpPr/>
          <p:nvPr/>
        </p:nvSpPr>
        <p:spPr>
          <a:xfrm>
            <a:off x="8686800" y="3182112"/>
            <a:ext cx="2953512" cy="786384"/>
          </a:xfrm>
          <a:prstGeom prst="roundRect">
            <a:avLst>
              <a:gd name="adj" fmla="val 9302"/>
            </a:avLst>
          </a:prstGeom>
          <a:solidFill>
            <a:srgbClr val="0F1341"/>
          </a:solidFill>
          <a:ln/>
        </p:spPr>
      </p:sp>
      <p:sp>
        <p:nvSpPr>
          <p:cNvPr id="24" name="Text 21"/>
          <p:cNvSpPr txBox="1"/>
          <p:nvPr/>
        </p:nvSpPr>
        <p:spPr>
          <a:xfrm>
            <a:off x="8851392" y="3182112"/>
            <a:ext cx="2624328" cy="786384"/>
          </a:xfrm>
          <a:prstGeom prst="rect">
            <a:avLst/>
          </a:prstGeom>
          <a:noFill/>
          <a:ln/>
        </p:spPr>
        <p:txBody>
          <a:bodyPr wrap="square" lIns="0" tIns="0" rIns="0" bIns="0" rtlCol="0" anchor="ctr"/>
          <a:lstStyle/>
          <a:p>
            <a:pPr indent="0" marL="0">
              <a:buNone/>
            </a:pPr>
            <a:r>
              <a:rPr lang="en-US" sz="1250" b="1" dirty="0">
                <a:solidFill>
                  <a:srgbClr val="FFFFFF"/>
                </a:solidFill>
                <a:latin typeface="Montserrat" pitchFamily="34" charset="0"/>
                <a:ea typeface="Montserrat" pitchFamily="34" charset="-122"/>
                <a:cs typeface="Montserrat" pitchFamily="34" charset="-120"/>
              </a:rPr>
              <a:t>Every message tests a declared hypothesis</a:t>
            </a:r>
            <a:endParaRPr lang="en-US" sz="1250" dirty="0"/>
          </a:p>
        </p:txBody>
      </p:sp>
      <p:sp>
        <p:nvSpPr>
          <p:cNvPr id="25" name="Text 22"/>
          <p:cNvSpPr txBox="1"/>
          <p:nvPr/>
        </p:nvSpPr>
        <p:spPr>
          <a:xfrm>
            <a:off x="548640" y="4078224"/>
            <a:ext cx="1828800" cy="786384"/>
          </a:xfrm>
          <a:prstGeom prst="rect">
            <a:avLst/>
          </a:prstGeom>
          <a:noFill/>
          <a:ln/>
        </p:spPr>
        <p:txBody>
          <a:bodyPr wrap="square" lIns="0" tIns="0" rIns="0" bIns="0" rtlCol="0" anchor="ctr"/>
          <a:lstStyle/>
          <a:p>
            <a:pPr indent="0" marL="0">
              <a:buNone/>
            </a:pPr>
            <a:r>
              <a:rPr lang="en-US" sz="1400" b="1" dirty="0">
                <a:solidFill>
                  <a:srgbClr val="0F1341"/>
                </a:solidFill>
                <a:latin typeface="Montserrat" pitchFamily="34" charset="0"/>
                <a:ea typeface="Montserrat" pitchFamily="34" charset="-122"/>
                <a:cs typeface="Montserrat" pitchFamily="34" charset="-120"/>
              </a:rPr>
              <a:t>Pipeline</a:t>
            </a:r>
            <a:endParaRPr lang="en-US" sz="1400" dirty="0"/>
          </a:p>
        </p:txBody>
      </p:sp>
      <p:sp>
        <p:nvSpPr>
          <p:cNvPr id="26" name="Shape 23"/>
          <p:cNvSpPr/>
          <p:nvPr/>
        </p:nvSpPr>
        <p:spPr>
          <a:xfrm>
            <a:off x="2560320" y="4078224"/>
            <a:ext cx="2953512" cy="786384"/>
          </a:xfrm>
          <a:prstGeom prst="roundRect">
            <a:avLst>
              <a:gd name="adj" fmla="val 9302"/>
            </a:avLst>
          </a:prstGeom>
          <a:solidFill>
            <a:srgbClr val="F3F7FC"/>
          </a:solidFill>
          <a:ln/>
        </p:spPr>
      </p:sp>
      <p:sp>
        <p:nvSpPr>
          <p:cNvPr id="27" name="Text 24"/>
          <p:cNvSpPr txBox="1"/>
          <p:nvPr/>
        </p:nvSpPr>
        <p:spPr>
          <a:xfrm>
            <a:off x="2724912" y="4078224"/>
            <a:ext cx="2624328" cy="786384"/>
          </a:xfrm>
          <a:prstGeom prst="rect">
            <a:avLst/>
          </a:prstGeom>
          <a:noFill/>
          <a:ln/>
        </p:spPr>
        <p:txBody>
          <a:bodyPr wrap="square" lIns="0" tIns="0" rIns="0" bIns="0" rtlCol="0" anchor="ctr"/>
          <a:lstStyle/>
          <a:p>
            <a:pPr indent="0" marL="0">
              <a:buNone/>
            </a:pPr>
            <a:r>
              <a:rPr lang="en-US" sz="1250" dirty="0">
                <a:solidFill>
                  <a:srgbClr val="0F1341"/>
                </a:solidFill>
                <a:latin typeface="Montserrat" pitchFamily="34" charset="0"/>
                <a:ea typeface="Montserrat" pitchFamily="34" charset="-122"/>
                <a:cs typeface="Montserrat" pitchFamily="34" charset="-120"/>
              </a:rPr>
              <a:t>CRM as a contact list, manual reports</a:t>
            </a:r>
            <a:endParaRPr lang="en-US" sz="1250" dirty="0"/>
          </a:p>
        </p:txBody>
      </p:sp>
      <p:sp>
        <p:nvSpPr>
          <p:cNvPr id="28" name="Shape 25"/>
          <p:cNvSpPr/>
          <p:nvPr/>
        </p:nvSpPr>
        <p:spPr>
          <a:xfrm>
            <a:off x="5623560" y="4078224"/>
            <a:ext cx="2953512" cy="786384"/>
          </a:xfrm>
          <a:prstGeom prst="roundRect">
            <a:avLst>
              <a:gd name="adj" fmla="val 9302"/>
            </a:avLst>
          </a:prstGeom>
          <a:solidFill>
            <a:srgbClr val="D9E8F8"/>
          </a:solidFill>
          <a:ln/>
        </p:spPr>
      </p:sp>
      <p:sp>
        <p:nvSpPr>
          <p:cNvPr id="29" name="Text 26"/>
          <p:cNvSpPr txBox="1"/>
          <p:nvPr/>
        </p:nvSpPr>
        <p:spPr>
          <a:xfrm>
            <a:off x="5788152" y="4078224"/>
            <a:ext cx="2624328" cy="786384"/>
          </a:xfrm>
          <a:prstGeom prst="rect">
            <a:avLst/>
          </a:prstGeom>
          <a:noFill/>
          <a:ln/>
        </p:spPr>
        <p:txBody>
          <a:bodyPr wrap="square" lIns="0" tIns="0" rIns="0" bIns="0" rtlCol="0" anchor="ctr"/>
          <a:lstStyle/>
          <a:p>
            <a:pPr indent="0" marL="0">
              <a:buNone/>
            </a:pPr>
            <a:r>
              <a:rPr lang="en-US" sz="1250" dirty="0">
                <a:solidFill>
                  <a:srgbClr val="0F1341"/>
                </a:solidFill>
                <a:latin typeface="Montserrat" pitchFamily="34" charset="0"/>
                <a:ea typeface="Montserrat" pitchFamily="34" charset="-122"/>
                <a:cs typeface="Montserrat" pitchFamily="34" charset="-120"/>
              </a:rPr>
              <a:t>Auto-logging and reply classification</a:t>
            </a:r>
            <a:endParaRPr lang="en-US" sz="1250" dirty="0"/>
          </a:p>
        </p:txBody>
      </p:sp>
      <p:sp>
        <p:nvSpPr>
          <p:cNvPr id="30" name="Shape 27"/>
          <p:cNvSpPr/>
          <p:nvPr/>
        </p:nvSpPr>
        <p:spPr>
          <a:xfrm>
            <a:off x="8686800" y="4078224"/>
            <a:ext cx="2953512" cy="786384"/>
          </a:xfrm>
          <a:prstGeom prst="roundRect">
            <a:avLst>
              <a:gd name="adj" fmla="val 9302"/>
            </a:avLst>
          </a:prstGeom>
          <a:solidFill>
            <a:srgbClr val="0F1341"/>
          </a:solidFill>
          <a:ln/>
        </p:spPr>
      </p:sp>
      <p:sp>
        <p:nvSpPr>
          <p:cNvPr id="31" name="Text 28"/>
          <p:cNvSpPr txBox="1"/>
          <p:nvPr/>
        </p:nvSpPr>
        <p:spPr>
          <a:xfrm>
            <a:off x="8851392" y="4078224"/>
            <a:ext cx="2624328" cy="786384"/>
          </a:xfrm>
          <a:prstGeom prst="rect">
            <a:avLst/>
          </a:prstGeom>
          <a:noFill/>
          <a:ln/>
        </p:spPr>
        <p:txBody>
          <a:bodyPr wrap="square" lIns="0" tIns="0" rIns="0" bIns="0" rtlCol="0" anchor="ctr"/>
          <a:lstStyle/>
          <a:p>
            <a:pPr indent="0" marL="0">
              <a:buNone/>
            </a:pPr>
            <a:r>
              <a:rPr lang="en-US" sz="1250" b="1" dirty="0">
                <a:solidFill>
                  <a:srgbClr val="FFFFFF"/>
                </a:solidFill>
                <a:latin typeface="Montserrat" pitchFamily="34" charset="0"/>
                <a:ea typeface="Montserrat" pitchFamily="34" charset="-122"/>
                <a:cs typeface="Montserrat" pitchFamily="34" charset="-120"/>
              </a:rPr>
              <a:t>The pipeline as a learning system</a:t>
            </a:r>
            <a:endParaRPr lang="en-US" sz="1250" dirty="0"/>
          </a:p>
        </p:txBody>
      </p:sp>
      <p:sp>
        <p:nvSpPr>
          <p:cNvPr id="32" name="Text 29"/>
          <p:cNvSpPr txBox="1"/>
          <p:nvPr/>
        </p:nvSpPr>
        <p:spPr>
          <a:xfrm>
            <a:off x="548640" y="4974336"/>
            <a:ext cx="1828800" cy="786384"/>
          </a:xfrm>
          <a:prstGeom prst="rect">
            <a:avLst/>
          </a:prstGeom>
          <a:noFill/>
          <a:ln/>
        </p:spPr>
        <p:txBody>
          <a:bodyPr wrap="square" lIns="0" tIns="0" rIns="0" bIns="0" rtlCol="0" anchor="ctr"/>
          <a:lstStyle/>
          <a:p>
            <a:pPr indent="0" marL="0">
              <a:buNone/>
            </a:pPr>
            <a:r>
              <a:rPr lang="en-US" sz="1400" b="1" dirty="0">
                <a:solidFill>
                  <a:srgbClr val="0F1341"/>
                </a:solidFill>
                <a:latin typeface="Montserrat" pitchFamily="34" charset="0"/>
                <a:ea typeface="Montserrat" pitchFamily="34" charset="-122"/>
                <a:cs typeface="Montserrat" pitchFamily="34" charset="-120"/>
              </a:rPr>
              <a:t>The seller</a:t>
            </a:r>
            <a:endParaRPr lang="en-US" sz="1400" dirty="0"/>
          </a:p>
        </p:txBody>
      </p:sp>
      <p:sp>
        <p:nvSpPr>
          <p:cNvPr id="33" name="Shape 30"/>
          <p:cNvSpPr/>
          <p:nvPr/>
        </p:nvSpPr>
        <p:spPr>
          <a:xfrm>
            <a:off x="2560320" y="4974336"/>
            <a:ext cx="2953512" cy="786384"/>
          </a:xfrm>
          <a:prstGeom prst="roundRect">
            <a:avLst>
              <a:gd name="adj" fmla="val 9302"/>
            </a:avLst>
          </a:prstGeom>
          <a:solidFill>
            <a:srgbClr val="F3F7FC"/>
          </a:solidFill>
          <a:ln/>
        </p:spPr>
      </p:sp>
      <p:sp>
        <p:nvSpPr>
          <p:cNvPr id="34" name="Text 31"/>
          <p:cNvSpPr txBox="1"/>
          <p:nvPr/>
        </p:nvSpPr>
        <p:spPr>
          <a:xfrm>
            <a:off x="2724912" y="4974336"/>
            <a:ext cx="2624328" cy="786384"/>
          </a:xfrm>
          <a:prstGeom prst="rect">
            <a:avLst/>
          </a:prstGeom>
          <a:noFill/>
          <a:ln/>
        </p:spPr>
        <p:txBody>
          <a:bodyPr wrap="square" lIns="0" tIns="0" rIns="0" bIns="0" rtlCol="0" anchor="ctr"/>
          <a:lstStyle/>
          <a:p>
            <a:pPr indent="0" marL="0">
              <a:buNone/>
            </a:pPr>
            <a:r>
              <a:rPr lang="en-US" sz="1250" dirty="0">
                <a:solidFill>
                  <a:srgbClr val="0F1341"/>
                </a:solidFill>
                <a:latin typeface="Montserrat" pitchFamily="34" charset="0"/>
                <a:ea typeface="Montserrat" pitchFamily="34" charset="-122"/>
                <a:cs typeface="Montserrat" pitchFamily="34" charset="-120"/>
              </a:rPr>
              <a:t>Persuader, driven by volume</a:t>
            </a:r>
            <a:endParaRPr lang="en-US" sz="1250" dirty="0"/>
          </a:p>
        </p:txBody>
      </p:sp>
      <p:sp>
        <p:nvSpPr>
          <p:cNvPr id="35" name="Shape 32"/>
          <p:cNvSpPr/>
          <p:nvPr/>
        </p:nvSpPr>
        <p:spPr>
          <a:xfrm>
            <a:off x="5623560" y="4974336"/>
            <a:ext cx="2953512" cy="786384"/>
          </a:xfrm>
          <a:prstGeom prst="roundRect">
            <a:avLst>
              <a:gd name="adj" fmla="val 9302"/>
            </a:avLst>
          </a:prstGeom>
          <a:solidFill>
            <a:srgbClr val="D9E8F8"/>
          </a:solidFill>
          <a:ln/>
        </p:spPr>
      </p:sp>
      <p:sp>
        <p:nvSpPr>
          <p:cNvPr id="36" name="Text 33"/>
          <p:cNvSpPr txBox="1"/>
          <p:nvPr/>
        </p:nvSpPr>
        <p:spPr>
          <a:xfrm>
            <a:off x="5788152" y="4974336"/>
            <a:ext cx="2624328" cy="786384"/>
          </a:xfrm>
          <a:prstGeom prst="rect">
            <a:avLst/>
          </a:prstGeom>
          <a:noFill/>
          <a:ln/>
        </p:spPr>
        <p:txBody>
          <a:bodyPr wrap="square" lIns="0" tIns="0" rIns="0" bIns="0" rtlCol="0" anchor="ctr"/>
          <a:lstStyle/>
          <a:p>
            <a:pPr indent="0" marL="0">
              <a:buNone/>
            </a:pPr>
            <a:r>
              <a:rPr lang="en-US" sz="1250" dirty="0">
                <a:solidFill>
                  <a:srgbClr val="0F1341"/>
                </a:solidFill>
                <a:latin typeface="Montserrat" pitchFamily="34" charset="0"/>
                <a:ea typeface="Montserrat" pitchFamily="34" charset="-122"/>
                <a:cs typeface="Montserrat" pitchFamily="34" charset="-120"/>
              </a:rPr>
              <a:t>Seller with an AI assistant</a:t>
            </a:r>
            <a:endParaRPr lang="en-US" sz="1250" dirty="0"/>
          </a:p>
        </p:txBody>
      </p:sp>
      <p:sp>
        <p:nvSpPr>
          <p:cNvPr id="37" name="Shape 34"/>
          <p:cNvSpPr/>
          <p:nvPr/>
        </p:nvSpPr>
        <p:spPr>
          <a:xfrm>
            <a:off x="8686800" y="4974336"/>
            <a:ext cx="2953512" cy="786384"/>
          </a:xfrm>
          <a:prstGeom prst="roundRect">
            <a:avLst>
              <a:gd name="adj" fmla="val 9302"/>
            </a:avLst>
          </a:prstGeom>
          <a:solidFill>
            <a:srgbClr val="0F1341"/>
          </a:solidFill>
          <a:ln/>
        </p:spPr>
      </p:sp>
      <p:sp>
        <p:nvSpPr>
          <p:cNvPr id="38" name="Text 35"/>
          <p:cNvSpPr txBox="1"/>
          <p:nvPr/>
        </p:nvSpPr>
        <p:spPr>
          <a:xfrm>
            <a:off x="8851392" y="4974336"/>
            <a:ext cx="2624328" cy="786384"/>
          </a:xfrm>
          <a:prstGeom prst="rect">
            <a:avLst/>
          </a:prstGeom>
          <a:noFill/>
          <a:ln/>
        </p:spPr>
        <p:txBody>
          <a:bodyPr wrap="square" lIns="0" tIns="0" rIns="0" bIns="0" rtlCol="0" anchor="ctr"/>
          <a:lstStyle/>
          <a:p>
            <a:pPr indent="0" marL="0">
              <a:buNone/>
            </a:pPr>
            <a:r>
              <a:rPr lang="en-US" sz="1250" b="1" dirty="0">
                <a:solidFill>
                  <a:srgbClr val="FFFFFF"/>
                </a:solidFill>
                <a:latin typeface="Montserrat" pitchFamily="34" charset="0"/>
                <a:ea typeface="Montserrat" pitchFamily="34" charset="-122"/>
                <a:cs typeface="Montserrat" pitchFamily="34" charset="-120"/>
              </a:rPr>
              <a:t>Half analyst, half relationship builder</a:t>
            </a:r>
            <a:endParaRPr lang="en-US" sz="1250" dirty="0"/>
          </a:p>
        </p:txBody>
      </p:sp>
      <p:sp>
        <p:nvSpPr>
          <p:cNvPr id="39" name="Text 36"/>
          <p:cNvSpPr txBox="1"/>
          <p:nvPr/>
        </p:nvSpPr>
        <p:spPr>
          <a:xfrm>
            <a:off x="548640" y="5943600"/>
            <a:ext cx="11064240" cy="274320"/>
          </a:xfrm>
          <a:prstGeom prst="rect">
            <a:avLst/>
          </a:prstGeom>
          <a:noFill/>
          <a:ln/>
        </p:spPr>
        <p:txBody>
          <a:bodyPr wrap="square" lIns="0" tIns="0" rIns="0" bIns="0" rtlCol="0" anchor="t"/>
          <a:lstStyle/>
          <a:p>
            <a:pPr indent="0" marL="0">
              <a:buNone/>
            </a:pPr>
            <a:r>
              <a:rPr lang="en-US" sz="1100" i="1" dirty="0">
                <a:solidFill>
                  <a:srgbClr val="5B6270"/>
                </a:solidFill>
                <a:latin typeface="Montserrat" pitchFamily="34" charset="0"/>
                <a:ea typeface="Montserrat" pitchFamily="34" charset="-122"/>
                <a:cs typeface="Montserrat" pitchFamily="34" charset="-120"/>
              </a:rPr>
              <a:t>The trap in the middle column: AI makes it cheap to send more — not to sell better.</a:t>
            </a:r>
            <a:endParaRPr lang="en-US" sz="11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3A3"/>
                </a:solidFill>
                <a:latin typeface="Montserrat"/>
                <a:ea typeface="Montserrat"/>
                <a:cs typeface="Montserrat"/>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2" type="title" hasCustomPrompt="1"/>
          </p:nvPr>
        </p:nvSpPr>
        <p:spPr>
          <a:xfrm>
            <a:off x="548640" y="502920"/>
            <a:ext cx="7863840" cy="685800"/>
          </a:xfrm>
          <a:prstGeom prst="rect">
            <a:avLst/>
          </a:prstGeom>
          <a:noFill/>
          <a:ln/>
        </p:spPr>
        <p:txBody>
          <a:bodyPr wrap="square" lIns="0" tIns="0" rIns="0" bIns="0" rtlCol="0" anchor="t"/>
          <a:lstStyle/>
          <a:p>
            <a:pPr algn="l" indent="0" marL="0">
              <a:buNone/>
            </a:pPr>
            <a:r>
              <a:rPr lang="en-US" sz="2800" b="1" dirty="0">
                <a:solidFill>
                  <a:srgbClr val="0F1341"/>
                </a:solidFill>
                <a:latin typeface="Montserrat" pitchFamily="34" charset="0"/>
                <a:ea typeface="Montserrat" pitchFamily="34" charset="-122"/>
                <a:cs typeface="Montserrat" pitchFamily="34" charset="-120"/>
              </a:rPr>
              <a:t>What we mean by “AI-native”</a:t>
            </a:r>
            <a:endParaRPr lang="en-US" sz="2800" dirty="0"/>
          </a:p>
        </p:txBody>
      </p:sp>
      <p:sp>
        <p:nvSpPr>
          <p:cNvPr id="3" name="Text 0"/>
          <p:cNvSpPr/>
          <p:nvPr>
            <p:ph idx="103" type="body" hasCustomPrompt="1"/>
          </p:nvPr>
        </p:nvSpPr>
        <p:spPr>
          <a:xfrm>
            <a:off x="548640" y="1207008"/>
            <a:ext cx="8778240" cy="365760"/>
          </a:xfrm>
          <a:prstGeom prst="rect">
            <a:avLst/>
          </a:prstGeom>
          <a:noFill/>
          <a:ln/>
        </p:spPr>
        <p:txBody>
          <a:bodyPr wrap="square" lIns="0" tIns="0" rIns="0" bIns="0" rtlCol="0" anchor="t"/>
          <a:lstStyle/>
          <a:p>
            <a:pPr algn="l" indent="0" marL="0">
              <a:buNone/>
            </a:pPr>
            <a:r>
              <a:rPr lang="en-US" sz="1300" dirty="0">
                <a:solidFill>
                  <a:srgbClr val="5B6270"/>
                </a:solidFill>
                <a:latin typeface="Montserrat" pitchFamily="34" charset="0"/>
                <a:ea typeface="Montserrat" pitchFamily="34" charset="-122"/>
                <a:cs typeface="Montserrat" pitchFamily="34" charset="-120"/>
              </a:rPr>
              <a:t>AI-native sales is not sending more emails — it is diagnosing before persuading</a:t>
            </a:r>
            <a:endParaRPr lang="en-US" sz="1300" dirty="0"/>
          </a:p>
        </p:txBody>
      </p:sp>
      <p:sp>
        <p:nvSpPr>
          <p:cNvPr id="5" name="Shape 2"/>
          <p:cNvSpPr/>
          <p:nvPr/>
        </p:nvSpPr>
        <p:spPr>
          <a:xfrm>
            <a:off x="548640" y="1783080"/>
            <a:ext cx="5120640" cy="1691640"/>
          </a:xfrm>
          <a:prstGeom prst="roundRect">
            <a:avLst>
              <a:gd name="adj" fmla="val 4324"/>
            </a:avLst>
          </a:prstGeom>
          <a:solidFill>
            <a:srgbClr val="F3F7FC"/>
          </a:solidFill>
          <a:ln/>
        </p:spPr>
      </p:sp>
      <p:sp>
        <p:nvSpPr>
          <p:cNvPr id="6" name="Shape 3"/>
          <p:cNvSpPr/>
          <p:nvPr/>
        </p:nvSpPr>
        <p:spPr>
          <a:xfrm>
            <a:off x="777240" y="1965960"/>
            <a:ext cx="1554480" cy="274320"/>
          </a:xfrm>
          <a:prstGeom prst="roundRect">
            <a:avLst>
              <a:gd name="adj" fmla="val 26667"/>
            </a:avLst>
          </a:prstGeom>
          <a:solidFill>
            <a:srgbClr val="C9D3E3"/>
          </a:solidFill>
          <a:ln/>
        </p:spPr>
      </p:sp>
      <p:sp>
        <p:nvSpPr>
          <p:cNvPr id="7" name="Text 4"/>
          <p:cNvSpPr txBox="1"/>
          <p:nvPr/>
        </p:nvSpPr>
        <p:spPr>
          <a:xfrm>
            <a:off x="777240" y="1965960"/>
            <a:ext cx="1554480" cy="274320"/>
          </a:xfrm>
          <a:prstGeom prst="rect">
            <a:avLst/>
          </a:prstGeom>
          <a:noFill/>
          <a:ln/>
        </p:spPr>
        <p:txBody>
          <a:bodyPr wrap="square" lIns="0" tIns="0" rIns="0" bIns="0" rtlCol="0" anchor="ctr"/>
          <a:lstStyle/>
          <a:p>
            <a:pPr algn="ctr" indent="0" marL="0">
              <a:buNone/>
            </a:pPr>
            <a:r>
              <a:rPr lang="en-US" sz="900" b="1" spc="100" kern="0" dirty="0">
                <a:solidFill>
                  <a:srgbClr val="0F1341"/>
                </a:solidFill>
                <a:latin typeface="Montserrat" pitchFamily="34" charset="0"/>
                <a:ea typeface="Montserrat" pitchFamily="34" charset="-122"/>
                <a:cs typeface="Montserrat" pitchFamily="34" charset="-120"/>
              </a:rPr>
              <a:t>AI-ENABLED</a:t>
            </a:r>
            <a:endParaRPr lang="en-US" sz="900" dirty="0"/>
          </a:p>
        </p:txBody>
      </p:sp>
      <p:sp>
        <p:nvSpPr>
          <p:cNvPr id="8" name="Text 5"/>
          <p:cNvSpPr txBox="1"/>
          <p:nvPr/>
        </p:nvSpPr>
        <p:spPr>
          <a:xfrm>
            <a:off x="777240" y="2331720"/>
            <a:ext cx="4754880" cy="365760"/>
          </a:xfrm>
          <a:prstGeom prst="rect">
            <a:avLst/>
          </a:prstGeom>
          <a:noFill/>
          <a:ln/>
        </p:spPr>
        <p:txBody>
          <a:bodyPr wrap="square" lIns="0" tIns="0" rIns="0" bIns="0" rtlCol="0" anchor="t"/>
          <a:lstStyle/>
          <a:p>
            <a:pPr indent="0" marL="0">
              <a:buNone/>
            </a:pPr>
            <a:r>
              <a:rPr lang="en-US" sz="1500" b="1" dirty="0">
                <a:solidFill>
                  <a:srgbClr val="0F1341"/>
                </a:solidFill>
                <a:latin typeface="Montserrat" pitchFamily="34" charset="0"/>
                <a:ea typeface="Montserrat" pitchFamily="34" charset="-122"/>
                <a:cs typeface="Montserrat" pitchFamily="34" charset="-120"/>
              </a:rPr>
              <a:t>The old process, plus an AI tool</a:t>
            </a:r>
            <a:endParaRPr lang="en-US" sz="1500" dirty="0"/>
          </a:p>
        </p:txBody>
      </p:sp>
      <p:sp>
        <p:nvSpPr>
          <p:cNvPr id="9" name="Text 6"/>
          <p:cNvSpPr txBox="1"/>
          <p:nvPr/>
        </p:nvSpPr>
        <p:spPr>
          <a:xfrm>
            <a:off x="777240" y="2724912"/>
            <a:ext cx="4754880" cy="685800"/>
          </a:xfrm>
          <a:prstGeom prst="rect">
            <a:avLst/>
          </a:prstGeom>
          <a:noFill/>
          <a:ln/>
        </p:spPr>
        <p:txBody>
          <a:bodyPr wrap="square" lIns="0" tIns="0" rIns="0" bIns="0" rtlCol="0" anchor="t"/>
          <a:lstStyle/>
          <a:p>
            <a:pPr indent="0" marL="0">
              <a:buNone/>
            </a:pPr>
            <a:r>
              <a:rPr lang="en-US" sz="1200" dirty="0">
                <a:solidFill>
                  <a:srgbClr val="5B6270"/>
                </a:solidFill>
                <a:latin typeface="Montserrat" pitchFamily="34" charset="0"/>
                <a:ea typeface="Montserrat" pitchFamily="34" charset="-122"/>
                <a:cs typeface="Montserrat" pitchFamily="34" charset="-120"/>
              </a:rPr>
              <a:t>AI writes the emails and the call notes. Same lead list, same pitch, same funnel — just more volume.</a:t>
            </a:r>
            <a:endParaRPr lang="en-US" sz="1200" dirty="0"/>
          </a:p>
        </p:txBody>
      </p:sp>
      <p:sp>
        <p:nvSpPr>
          <p:cNvPr id="10" name="Shape 7"/>
          <p:cNvSpPr/>
          <p:nvPr/>
        </p:nvSpPr>
        <p:spPr>
          <a:xfrm>
            <a:off x="548640" y="3657600"/>
            <a:ext cx="5120640" cy="1874520"/>
          </a:xfrm>
          <a:prstGeom prst="roundRect">
            <a:avLst>
              <a:gd name="adj" fmla="val 3902"/>
            </a:avLst>
          </a:prstGeom>
          <a:solidFill>
            <a:srgbClr val="0F1341"/>
          </a:solidFill>
          <a:ln/>
        </p:spPr>
      </p:sp>
      <p:sp>
        <p:nvSpPr>
          <p:cNvPr id="11" name="Shape 8"/>
          <p:cNvSpPr/>
          <p:nvPr/>
        </p:nvSpPr>
        <p:spPr>
          <a:xfrm>
            <a:off x="777240" y="3840480"/>
            <a:ext cx="1554480" cy="274320"/>
          </a:xfrm>
          <a:prstGeom prst="roundRect">
            <a:avLst>
              <a:gd name="adj" fmla="val 26667"/>
            </a:avLst>
          </a:prstGeom>
          <a:solidFill>
            <a:srgbClr val="4A8FDB"/>
          </a:solidFill>
          <a:ln/>
        </p:spPr>
      </p:sp>
      <p:sp>
        <p:nvSpPr>
          <p:cNvPr id="12" name="Text 9"/>
          <p:cNvSpPr txBox="1"/>
          <p:nvPr/>
        </p:nvSpPr>
        <p:spPr>
          <a:xfrm>
            <a:off x="777240" y="3840480"/>
            <a:ext cx="1554480" cy="274320"/>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Montserrat" pitchFamily="34" charset="0"/>
                <a:ea typeface="Montserrat" pitchFamily="34" charset="-122"/>
                <a:cs typeface="Montserrat" pitchFamily="34" charset="-120"/>
              </a:rPr>
              <a:t>AI-NATIVE</a:t>
            </a:r>
            <a:endParaRPr lang="en-US" sz="900" dirty="0"/>
          </a:p>
        </p:txBody>
      </p:sp>
      <p:sp>
        <p:nvSpPr>
          <p:cNvPr id="13" name="Text 10"/>
          <p:cNvSpPr txBox="1"/>
          <p:nvPr/>
        </p:nvSpPr>
        <p:spPr>
          <a:xfrm>
            <a:off x="777240" y="4206240"/>
            <a:ext cx="4754880" cy="594360"/>
          </a:xfrm>
          <a:prstGeom prst="rect">
            <a:avLst/>
          </a:prstGeom>
          <a:noFill/>
          <a:ln/>
        </p:spPr>
        <p:txBody>
          <a:bodyPr wrap="square" lIns="0" tIns="0" rIns="0" bIns="0" rtlCol="0" anchor="t"/>
          <a:lstStyle/>
          <a:p>
            <a:pPr indent="0" marL="0">
              <a:buNone/>
            </a:pPr>
            <a:r>
              <a:rPr lang="en-US" sz="1500" b="1" dirty="0">
                <a:solidFill>
                  <a:srgbClr val="FFFFFF"/>
                </a:solidFill>
                <a:latin typeface="Montserrat" pitchFamily="34" charset="0"/>
                <a:ea typeface="Montserrat" pitchFamily="34" charset="-122"/>
                <a:cs typeface="Montserrat" pitchFamily="34" charset="-120"/>
              </a:rPr>
              <a:t>The process redesigned around what AI makes cheap</a:t>
            </a:r>
            <a:endParaRPr lang="en-US" sz="1500" dirty="0"/>
          </a:p>
        </p:txBody>
      </p:sp>
      <p:sp>
        <p:nvSpPr>
          <p:cNvPr id="14" name="Text 11"/>
          <p:cNvSpPr txBox="1"/>
          <p:nvPr/>
        </p:nvSpPr>
        <p:spPr>
          <a:xfrm>
            <a:off x="777240" y="4800600"/>
            <a:ext cx="4754880" cy="685800"/>
          </a:xfrm>
          <a:prstGeom prst="rect">
            <a:avLst/>
          </a:prstGeom>
          <a:noFill/>
          <a:ln/>
        </p:spPr>
        <p:txBody>
          <a:bodyPr wrap="square" lIns="0" tIns="0" rIns="0" bIns="0" rtlCol="0" anchor="t"/>
          <a:lstStyle/>
          <a:p>
            <a:pPr indent="0" marL="0">
              <a:buNone/>
            </a:pPr>
            <a:r>
              <a:rPr lang="en-US" sz="1200" dirty="0">
                <a:solidFill>
                  <a:srgbClr val="C9D3E3"/>
                </a:solidFill>
                <a:latin typeface="Montserrat" pitchFamily="34" charset="0"/>
                <a:ea typeface="Montserrat" pitchFamily="34" charset="-122"/>
                <a:cs typeface="Montserrat" pitchFamily="34" charset="-120"/>
              </a:rPr>
              <a:t>Agents research the market, simulate the buyer and run campaigns as experiments. The seller decides the hypothesis and owns the meeting.</a:t>
            </a:r>
            <a:endParaRPr lang="en-US" sz="1200" dirty="0"/>
          </a:p>
        </p:txBody>
      </p:sp>
      <p:sp>
        <p:nvSpPr>
          <p:cNvPr id="15" name="Shape 12"/>
          <p:cNvSpPr/>
          <p:nvPr/>
        </p:nvSpPr>
        <p:spPr>
          <a:xfrm>
            <a:off x="6035040" y="1892808"/>
            <a:ext cx="548640" cy="548640"/>
          </a:xfrm>
          <a:prstGeom prst="ellipse">
            <a:avLst/>
          </a:prstGeom>
          <a:solidFill>
            <a:srgbClr val="D9E8F8"/>
          </a:solidFill>
          <a:ln/>
        </p:spPr>
      </p:sp>
      <p:pic>
        <p:nvPicPr>
          <p:cNvPr id="16" name="Image 0" descr="preencoded.png">    </p:cNvPr>
          <p:cNvPicPr>
            <a:picLocks noChangeAspect="1"/>
          </p:cNvPicPr>
          <p:nvPr/>
        </p:nvPicPr>
        <p:blipFill>
          <a:blip r:embed="rId1"/>
          <a:stretch>
            <a:fillRect/>
          </a:stretch>
        </p:blipFill>
        <p:spPr>
          <a:xfrm>
            <a:off x="6163056" y="2020824"/>
            <a:ext cx="292608" cy="292608"/>
          </a:xfrm>
          <a:prstGeom prst="rect">
            <a:avLst/>
          </a:prstGeom>
        </p:spPr>
      </p:pic>
      <p:sp>
        <p:nvSpPr>
          <p:cNvPr id="17" name="Text 13"/>
          <p:cNvSpPr txBox="1"/>
          <p:nvPr/>
        </p:nvSpPr>
        <p:spPr>
          <a:xfrm>
            <a:off x="6766560" y="1828800"/>
            <a:ext cx="4873752" cy="329184"/>
          </a:xfrm>
          <a:prstGeom prst="rect">
            <a:avLst/>
          </a:prstGeom>
          <a:noFill/>
          <a:ln/>
        </p:spPr>
        <p:txBody>
          <a:bodyPr wrap="square" lIns="0" tIns="0" rIns="0" bIns="0" rtlCol="0" anchor="t"/>
          <a:lstStyle/>
          <a:p>
            <a:pPr indent="0" marL="0">
              <a:buNone/>
            </a:pPr>
            <a:r>
              <a:rPr lang="en-US" sz="1400" b="1" dirty="0">
                <a:solidFill>
                  <a:srgbClr val="0F1341"/>
                </a:solidFill>
                <a:latin typeface="Montserrat" pitchFamily="34" charset="0"/>
                <a:ea typeface="Montserrat" pitchFamily="34" charset="-122"/>
                <a:cs typeface="Montserrat" pitchFamily="34" charset="-120"/>
              </a:rPr>
              <a:t>Agents do the work, humans set direction</a:t>
            </a:r>
            <a:endParaRPr lang="en-US" sz="1400" dirty="0"/>
          </a:p>
        </p:txBody>
      </p:sp>
      <p:sp>
        <p:nvSpPr>
          <p:cNvPr id="18" name="Text 14"/>
          <p:cNvSpPr txBox="1"/>
          <p:nvPr/>
        </p:nvSpPr>
        <p:spPr>
          <a:xfrm>
            <a:off x="6766560" y="2167128"/>
            <a:ext cx="4873752" cy="502920"/>
          </a:xfrm>
          <a:prstGeom prst="rect">
            <a:avLst/>
          </a:prstGeom>
          <a:noFill/>
          <a:ln/>
        </p:spPr>
        <p:txBody>
          <a:bodyPr wrap="square" lIns="0" tIns="0" rIns="0" bIns="0" rtlCol="0" anchor="t"/>
          <a:lstStyle/>
          <a:p>
            <a:pPr indent="0" marL="0">
              <a:buNone/>
            </a:pPr>
            <a:r>
              <a:rPr lang="en-US" sz="1200" dirty="0">
                <a:solidFill>
                  <a:srgbClr val="5B6270"/>
                </a:solidFill>
                <a:latin typeface="Montserrat" pitchFamily="34" charset="0"/>
                <a:ea typeface="Montserrat" pitchFamily="34" charset="-122"/>
                <a:cs typeface="Montserrat" pitchFamily="34" charset="-120"/>
              </a:rPr>
              <a:t>Agents research, write and classify — the seller approves the hypothesis</a:t>
            </a:r>
            <a:endParaRPr lang="en-US" sz="1200" dirty="0"/>
          </a:p>
        </p:txBody>
      </p:sp>
      <p:sp>
        <p:nvSpPr>
          <p:cNvPr id="19" name="Shape 15"/>
          <p:cNvSpPr/>
          <p:nvPr/>
        </p:nvSpPr>
        <p:spPr>
          <a:xfrm>
            <a:off x="6035040" y="2843784"/>
            <a:ext cx="548640" cy="548640"/>
          </a:xfrm>
          <a:prstGeom prst="ellipse">
            <a:avLst/>
          </a:prstGeom>
          <a:solidFill>
            <a:srgbClr val="D9E8F8"/>
          </a:solidFill>
          <a:ln/>
        </p:spPr>
      </p:sp>
      <p:pic>
        <p:nvPicPr>
          <p:cNvPr id="20" name="Image 1" descr="preencoded.png">    </p:cNvPr>
          <p:cNvPicPr>
            <a:picLocks noChangeAspect="1"/>
          </p:cNvPicPr>
          <p:nvPr/>
        </p:nvPicPr>
        <p:blipFill>
          <a:blip r:embed="rId2"/>
          <a:stretch>
            <a:fillRect/>
          </a:stretch>
        </p:blipFill>
        <p:spPr>
          <a:xfrm>
            <a:off x="6163056" y="2971800"/>
            <a:ext cx="292608" cy="292608"/>
          </a:xfrm>
          <a:prstGeom prst="rect">
            <a:avLst/>
          </a:prstGeom>
        </p:spPr>
      </p:pic>
      <p:sp>
        <p:nvSpPr>
          <p:cNvPr id="21" name="Text 16"/>
          <p:cNvSpPr txBox="1"/>
          <p:nvPr/>
        </p:nvSpPr>
        <p:spPr>
          <a:xfrm>
            <a:off x="6766560" y="2779776"/>
            <a:ext cx="4873752" cy="329184"/>
          </a:xfrm>
          <a:prstGeom prst="rect">
            <a:avLst/>
          </a:prstGeom>
          <a:noFill/>
          <a:ln/>
        </p:spPr>
        <p:txBody>
          <a:bodyPr wrap="square" lIns="0" tIns="0" rIns="0" bIns="0" rtlCol="0" anchor="t"/>
          <a:lstStyle/>
          <a:p>
            <a:pPr indent="0" marL="0">
              <a:buNone/>
            </a:pPr>
            <a:r>
              <a:rPr lang="en-US" sz="1400" b="1" dirty="0">
                <a:solidFill>
                  <a:srgbClr val="0F1341"/>
                </a:solidFill>
                <a:latin typeface="Montserrat" pitchFamily="34" charset="0"/>
                <a:ea typeface="Montserrat" pitchFamily="34" charset="-122"/>
                <a:cs typeface="Montserrat" pitchFamily="34" charset="-120"/>
              </a:rPr>
              <a:t>Every decision is a hypothesis</a:t>
            </a:r>
            <a:endParaRPr lang="en-US" sz="1400" dirty="0"/>
          </a:p>
        </p:txBody>
      </p:sp>
      <p:sp>
        <p:nvSpPr>
          <p:cNvPr id="22" name="Text 17"/>
          <p:cNvSpPr txBox="1"/>
          <p:nvPr/>
        </p:nvSpPr>
        <p:spPr>
          <a:xfrm>
            <a:off x="6766560" y="3118104"/>
            <a:ext cx="4873752" cy="502920"/>
          </a:xfrm>
          <a:prstGeom prst="rect">
            <a:avLst/>
          </a:prstGeom>
          <a:noFill/>
          <a:ln/>
        </p:spPr>
        <p:txBody>
          <a:bodyPr wrap="square" lIns="0" tIns="0" rIns="0" bIns="0" rtlCol="0" anchor="t"/>
          <a:lstStyle/>
          <a:p>
            <a:pPr indent="0" marL="0">
              <a:buNone/>
            </a:pPr>
            <a:r>
              <a:rPr lang="en-US" sz="1200" dirty="0">
                <a:solidFill>
                  <a:srgbClr val="5B6270"/>
                </a:solidFill>
                <a:latin typeface="Montserrat" pitchFamily="34" charset="0"/>
                <a:ea typeface="Montserrat" pitchFamily="34" charset="-122"/>
                <a:cs typeface="Montserrat" pitchFamily="34" charset="-120"/>
              </a:rPr>
              <a:t>“Trades owners will reply to a time-saving angle” — tested, not assumed</a:t>
            </a:r>
            <a:endParaRPr lang="en-US" sz="1200" dirty="0"/>
          </a:p>
        </p:txBody>
      </p:sp>
      <p:sp>
        <p:nvSpPr>
          <p:cNvPr id="23" name="Shape 18"/>
          <p:cNvSpPr/>
          <p:nvPr/>
        </p:nvSpPr>
        <p:spPr>
          <a:xfrm>
            <a:off x="6035040" y="3794760"/>
            <a:ext cx="548640" cy="548640"/>
          </a:xfrm>
          <a:prstGeom prst="ellipse">
            <a:avLst/>
          </a:prstGeom>
          <a:solidFill>
            <a:srgbClr val="D9E8F8"/>
          </a:solidFill>
          <a:ln/>
        </p:spPr>
      </p:sp>
      <p:pic>
        <p:nvPicPr>
          <p:cNvPr id="24" name="Image 2" descr="preencoded.png">    </p:cNvPr>
          <p:cNvPicPr>
            <a:picLocks noChangeAspect="1"/>
          </p:cNvPicPr>
          <p:nvPr/>
        </p:nvPicPr>
        <p:blipFill>
          <a:blip r:embed="rId3"/>
          <a:stretch>
            <a:fillRect/>
          </a:stretch>
        </p:blipFill>
        <p:spPr>
          <a:xfrm>
            <a:off x="6163056" y="3922776"/>
            <a:ext cx="292608" cy="292608"/>
          </a:xfrm>
          <a:prstGeom prst="rect">
            <a:avLst/>
          </a:prstGeom>
        </p:spPr>
      </p:pic>
      <p:sp>
        <p:nvSpPr>
          <p:cNvPr id="25" name="Text 19"/>
          <p:cNvSpPr txBox="1"/>
          <p:nvPr/>
        </p:nvSpPr>
        <p:spPr>
          <a:xfrm>
            <a:off x="6766560" y="3730752"/>
            <a:ext cx="4873752" cy="329184"/>
          </a:xfrm>
          <a:prstGeom prst="rect">
            <a:avLst/>
          </a:prstGeom>
          <a:noFill/>
          <a:ln/>
        </p:spPr>
        <p:txBody>
          <a:bodyPr wrap="square" lIns="0" tIns="0" rIns="0" bIns="0" rtlCol="0" anchor="t"/>
          <a:lstStyle/>
          <a:p>
            <a:pPr indent="0" marL="0">
              <a:buNone/>
            </a:pPr>
            <a:r>
              <a:rPr lang="en-US" sz="1400" b="1" dirty="0">
                <a:solidFill>
                  <a:srgbClr val="0F1341"/>
                </a:solidFill>
                <a:latin typeface="Montserrat" pitchFamily="34" charset="0"/>
                <a:ea typeface="Montserrat" pitchFamily="34" charset="-122"/>
                <a:cs typeface="Montserrat" pitchFamily="34" charset="-120"/>
              </a:rPr>
              <a:t>Every loop makes the system smarter</a:t>
            </a:r>
            <a:endParaRPr lang="en-US" sz="1400" dirty="0"/>
          </a:p>
        </p:txBody>
      </p:sp>
      <p:sp>
        <p:nvSpPr>
          <p:cNvPr id="26" name="Text 20"/>
          <p:cNvSpPr txBox="1"/>
          <p:nvPr/>
        </p:nvSpPr>
        <p:spPr>
          <a:xfrm>
            <a:off x="6766560" y="4069080"/>
            <a:ext cx="4873752" cy="502920"/>
          </a:xfrm>
          <a:prstGeom prst="rect">
            <a:avLst/>
          </a:prstGeom>
          <a:noFill/>
          <a:ln/>
        </p:spPr>
        <p:txBody>
          <a:bodyPr wrap="square" lIns="0" tIns="0" rIns="0" bIns="0" rtlCol="0" anchor="t"/>
          <a:lstStyle/>
          <a:p>
            <a:pPr indent="0" marL="0">
              <a:buNone/>
            </a:pPr>
            <a:r>
              <a:rPr lang="en-US" sz="1200" dirty="0">
                <a:solidFill>
                  <a:srgbClr val="5B6270"/>
                </a:solidFill>
                <a:latin typeface="Montserrat" pitchFamily="34" charset="0"/>
                <a:ea typeface="Montserrat" pitchFamily="34" charset="-122"/>
                <a:cs typeface="Montserrat" pitchFamily="34" charset="-120"/>
              </a:rPr>
              <a:t>Every reply updates the segment, the message and the price</a:t>
            </a:r>
            <a:endParaRPr lang="en-US" sz="1200" dirty="0"/>
          </a:p>
        </p:txBody>
      </p:sp>
      <p:sp>
        <p:nvSpPr>
          <p:cNvPr id="27" name="Shape 21"/>
          <p:cNvSpPr/>
          <p:nvPr/>
        </p:nvSpPr>
        <p:spPr>
          <a:xfrm>
            <a:off x="6035040" y="4745736"/>
            <a:ext cx="548640" cy="548640"/>
          </a:xfrm>
          <a:prstGeom prst="ellipse">
            <a:avLst/>
          </a:prstGeom>
          <a:solidFill>
            <a:srgbClr val="D9E8F8"/>
          </a:solidFill>
          <a:ln/>
        </p:spPr>
      </p:sp>
      <p:pic>
        <p:nvPicPr>
          <p:cNvPr id="28" name="Image 3" descr="preencoded.png">    </p:cNvPr>
          <p:cNvPicPr>
            <a:picLocks noChangeAspect="1"/>
          </p:cNvPicPr>
          <p:nvPr/>
        </p:nvPicPr>
        <p:blipFill>
          <a:blip r:embed="rId4"/>
          <a:stretch>
            <a:fillRect/>
          </a:stretch>
        </p:blipFill>
        <p:spPr>
          <a:xfrm>
            <a:off x="6163056" y="4873752"/>
            <a:ext cx="292608" cy="292608"/>
          </a:xfrm>
          <a:prstGeom prst="rect">
            <a:avLst/>
          </a:prstGeom>
        </p:spPr>
      </p:pic>
      <p:sp>
        <p:nvSpPr>
          <p:cNvPr id="29" name="Text 22"/>
          <p:cNvSpPr txBox="1"/>
          <p:nvPr/>
        </p:nvSpPr>
        <p:spPr>
          <a:xfrm>
            <a:off x="6766560" y="4681728"/>
            <a:ext cx="4873752" cy="329184"/>
          </a:xfrm>
          <a:prstGeom prst="rect">
            <a:avLst/>
          </a:prstGeom>
          <a:noFill/>
          <a:ln/>
        </p:spPr>
        <p:txBody>
          <a:bodyPr wrap="square" lIns="0" tIns="0" rIns="0" bIns="0" rtlCol="0" anchor="t"/>
          <a:lstStyle/>
          <a:p>
            <a:pPr indent="0" marL="0">
              <a:buNone/>
            </a:pPr>
            <a:r>
              <a:rPr lang="en-US" sz="1400" b="1" dirty="0">
                <a:solidFill>
                  <a:srgbClr val="0F1341"/>
                </a:solidFill>
                <a:latin typeface="Montserrat" pitchFamily="34" charset="0"/>
                <a:ea typeface="Montserrat" pitchFamily="34" charset="-122"/>
                <a:cs typeface="Montserrat" pitchFamily="34" charset="-120"/>
              </a:rPr>
              <a:t>Evidence beats opinion</a:t>
            </a:r>
            <a:endParaRPr lang="en-US" sz="1400" dirty="0"/>
          </a:p>
        </p:txBody>
      </p:sp>
      <p:sp>
        <p:nvSpPr>
          <p:cNvPr id="30" name="Text 23"/>
          <p:cNvSpPr txBox="1"/>
          <p:nvPr/>
        </p:nvSpPr>
        <p:spPr>
          <a:xfrm>
            <a:off x="6766560" y="5020056"/>
            <a:ext cx="4873752" cy="502920"/>
          </a:xfrm>
          <a:prstGeom prst="rect">
            <a:avLst/>
          </a:prstGeom>
          <a:noFill/>
          <a:ln/>
        </p:spPr>
        <p:txBody>
          <a:bodyPr wrap="square" lIns="0" tIns="0" rIns="0" bIns="0" rtlCol="0" anchor="t"/>
          <a:lstStyle/>
          <a:p>
            <a:pPr indent="0" marL="0">
              <a:buNone/>
            </a:pPr>
            <a:r>
              <a:rPr lang="en-US" sz="1200" dirty="0">
                <a:solidFill>
                  <a:srgbClr val="5B6270"/>
                </a:solidFill>
                <a:latin typeface="Montserrat" pitchFamily="34" charset="0"/>
                <a:ea typeface="Montserrat" pitchFamily="34" charset="-122"/>
                <a:cs typeface="Montserrat" pitchFamily="34" charset="-120"/>
              </a:rPr>
              <a:t>A booked meeting outweighs any lead score</a:t>
            </a:r>
            <a:endParaRPr lang="en-US" sz="1200" dirty="0"/>
          </a:p>
        </p:txBody>
      </p:sp>
      <p:sp>
        <p:nvSpPr>
          <p:cNvPr id="31" name="Shape 24"/>
          <p:cNvSpPr/>
          <p:nvPr/>
        </p:nvSpPr>
        <p:spPr>
          <a:xfrm>
            <a:off x="548640" y="5669280"/>
            <a:ext cx="11091672" cy="502920"/>
          </a:xfrm>
          <a:prstGeom prst="roundRect">
            <a:avLst>
              <a:gd name="adj" fmla="val 14545"/>
            </a:avLst>
          </a:prstGeom>
          <a:solidFill>
            <a:srgbClr val="0F1341"/>
          </a:solidFill>
          <a:ln/>
        </p:spPr>
      </p:sp>
      <p:sp>
        <p:nvSpPr>
          <p:cNvPr id="32" name="Text 25"/>
          <p:cNvSpPr txBox="1"/>
          <p:nvPr/>
        </p:nvSpPr>
        <p:spPr>
          <a:xfrm>
            <a:off x="777240" y="5669280"/>
            <a:ext cx="10698480" cy="502920"/>
          </a:xfrm>
          <a:prstGeom prst="rect">
            <a:avLst/>
          </a:prstGeom>
          <a:noFill/>
          <a:ln/>
        </p:spPr>
        <p:txBody>
          <a:bodyPr wrap="square" lIns="0" tIns="0" rIns="0" bIns="0" rtlCol="0" anchor="ctr"/>
          <a:lstStyle/>
          <a:p>
            <a:pPr indent="0" marL="0">
              <a:buNone/>
            </a:pPr>
            <a:r>
              <a:rPr lang="en-US" sz="1300" b="1" dirty="0">
                <a:solidFill>
                  <a:srgbClr val="4A8FDB"/>
                </a:solidFill>
                <a:latin typeface="Montserrat" pitchFamily="34" charset="0"/>
                <a:ea typeface="Montserrat" pitchFamily="34" charset="-122"/>
                <a:cs typeface="Montserrat" pitchFamily="34" charset="-120"/>
              </a:rPr>
              <a:t>In one line: </a:t>
            </a:r>
            <a:pPr indent="0" marL="0">
              <a:buNone/>
            </a:pPr>
            <a:r>
              <a:rPr lang="en-US" sz="1300" dirty="0">
                <a:solidFill>
                  <a:srgbClr val="FFFFFF"/>
                </a:solidFill>
                <a:latin typeface="Montserrat" pitchFamily="34" charset="0"/>
                <a:ea typeface="Montserrat" pitchFamily="34" charset="-122"/>
                <a:cs typeface="Montserrat" pitchFamily="34" charset="-120"/>
              </a:rPr>
              <a:t>sell less, ask more — AI does the diagnosis, the human builds the trust.</a:t>
            </a:r>
            <a:endParaRPr lang="en-US" sz="13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3A3"/>
                </a:solidFill>
                <a:latin typeface="Montserrat"/>
                <a:ea typeface="Montserrat"/>
                <a:cs typeface="Montserrat"/>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2" type="title" hasCustomPrompt="1"/>
          </p:nvPr>
        </p:nvSpPr>
        <p:spPr>
          <a:xfrm>
            <a:off x="548640" y="502920"/>
            <a:ext cx="7863840" cy="685800"/>
          </a:xfrm>
          <a:prstGeom prst="rect">
            <a:avLst/>
          </a:prstGeom>
          <a:noFill/>
          <a:ln/>
        </p:spPr>
        <p:txBody>
          <a:bodyPr wrap="square" lIns="0" tIns="0" rIns="0" bIns="0" rtlCol="0" anchor="t"/>
          <a:lstStyle/>
          <a:p>
            <a:pPr algn="l" indent="0" marL="0">
              <a:buNone/>
            </a:pPr>
            <a:r>
              <a:rPr lang="en-US" sz="2800" b="1" dirty="0">
                <a:solidFill>
                  <a:srgbClr val="0F1341"/>
                </a:solidFill>
                <a:latin typeface="Montserrat" pitchFamily="34" charset="0"/>
                <a:ea typeface="Montserrat" pitchFamily="34" charset="-122"/>
                <a:cs typeface="Montserrat" pitchFamily="34" charset="-120"/>
              </a:rPr>
              <a:t>From market data to pain points</a:t>
            </a:r>
            <a:endParaRPr lang="en-US" sz="2800" dirty="0"/>
          </a:p>
        </p:txBody>
      </p:sp>
      <p:sp>
        <p:nvSpPr>
          <p:cNvPr id="3" name="Text 0"/>
          <p:cNvSpPr/>
          <p:nvPr>
            <p:ph idx="103" type="body" hasCustomPrompt="1"/>
          </p:nvPr>
        </p:nvSpPr>
        <p:spPr>
          <a:xfrm>
            <a:off x="548640" y="1207008"/>
            <a:ext cx="8778240" cy="365760"/>
          </a:xfrm>
          <a:prstGeom prst="rect">
            <a:avLst/>
          </a:prstGeom>
          <a:noFill/>
          <a:ln/>
        </p:spPr>
        <p:txBody>
          <a:bodyPr wrap="square" lIns="0" tIns="0" rIns="0" bIns="0" rtlCol="0" anchor="t"/>
          <a:lstStyle/>
          <a:p>
            <a:pPr algn="l" indent="0" marL="0">
              <a:buNone/>
            </a:pPr>
            <a:r>
              <a:rPr lang="en-US" sz="1300" dirty="0">
                <a:solidFill>
                  <a:srgbClr val="5B6270"/>
                </a:solidFill>
                <a:latin typeface="Montserrat" pitchFamily="34" charset="0"/>
                <a:ea typeface="Montserrat" pitchFamily="34" charset="-122"/>
                <a:cs typeface="Montserrat" pitchFamily="34" charset="-120"/>
              </a:rPr>
              <a:t>E4 Context Engine: AI extracts what sources state — it must not infer</a:t>
            </a:r>
            <a:endParaRPr lang="en-US" sz="1300" dirty="0"/>
          </a:p>
        </p:txBody>
      </p:sp>
      <p:sp>
        <p:nvSpPr>
          <p:cNvPr id="5" name="Text 2"/>
          <p:cNvSpPr txBox="1"/>
          <p:nvPr/>
        </p:nvSpPr>
        <p:spPr>
          <a:xfrm>
            <a:off x="548640" y="1783080"/>
            <a:ext cx="7315200" cy="274320"/>
          </a:xfrm>
          <a:prstGeom prst="rect">
            <a:avLst/>
          </a:prstGeom>
          <a:noFill/>
          <a:ln/>
        </p:spPr>
        <p:txBody>
          <a:bodyPr wrap="square" lIns="0" tIns="0" rIns="0" bIns="0" rtlCol="0" anchor="t"/>
          <a:lstStyle/>
          <a:p>
            <a:pPr indent="0" marL="0">
              <a:buNone/>
            </a:pPr>
            <a:r>
              <a:rPr lang="en-US" sz="1000" b="1" spc="100" kern="0" dirty="0">
                <a:solidFill>
                  <a:srgbClr val="8A93A3"/>
                </a:solidFill>
                <a:latin typeface="Montserrat" pitchFamily="34" charset="0"/>
                <a:ea typeface="Montserrat" pitchFamily="34" charset="-122"/>
                <a:cs typeface="Montserrat" pitchFamily="34" charset="-120"/>
              </a:rPr>
              <a:t>CONTEXT ENGINE OUTPUT  ·  AI SALES ASSISTANT FOR SMALL BUSINESSES</a:t>
            </a:r>
            <a:endParaRPr lang="en-US" sz="1000" dirty="0"/>
          </a:p>
        </p:txBody>
      </p:sp>
      <p:sp>
        <p:nvSpPr>
          <p:cNvPr id="6" name="Shape 3"/>
          <p:cNvSpPr/>
          <p:nvPr/>
        </p:nvSpPr>
        <p:spPr>
          <a:xfrm>
            <a:off x="548640" y="2148840"/>
            <a:ext cx="6949440" cy="731520"/>
          </a:xfrm>
          <a:prstGeom prst="roundRect">
            <a:avLst>
              <a:gd name="adj" fmla="val 10000"/>
            </a:avLst>
          </a:prstGeom>
          <a:solidFill>
            <a:srgbClr val="F3F7FC"/>
          </a:solidFill>
          <a:ln/>
        </p:spPr>
      </p:sp>
      <p:sp>
        <p:nvSpPr>
          <p:cNvPr id="7" name="Text 4"/>
          <p:cNvSpPr txBox="1"/>
          <p:nvPr/>
        </p:nvSpPr>
        <p:spPr>
          <a:xfrm>
            <a:off x="731520" y="2221992"/>
            <a:ext cx="4480560" cy="365760"/>
          </a:xfrm>
          <a:prstGeom prst="rect">
            <a:avLst/>
          </a:prstGeom>
          <a:noFill/>
          <a:ln/>
        </p:spPr>
        <p:txBody>
          <a:bodyPr wrap="square" lIns="0" tIns="0" rIns="0" bIns="0" rtlCol="0" anchor="t"/>
          <a:lstStyle/>
          <a:p>
            <a:pPr indent="0" marL="0">
              <a:buNone/>
            </a:pPr>
            <a:r>
              <a:rPr lang="en-US" sz="1300" b="1" dirty="0">
                <a:solidFill>
                  <a:srgbClr val="0F1341"/>
                </a:solidFill>
                <a:latin typeface="Montserrat" pitchFamily="34" charset="0"/>
                <a:ea typeface="Montserrat" pitchFamily="34" charset="-122"/>
                <a:cs typeface="Montserrat" pitchFamily="34" charset="-120"/>
              </a:rPr>
              <a:t>Owners lose 6–8 h a week on follow-ups and quotes</a:t>
            </a:r>
            <a:endParaRPr lang="en-US" sz="1300" dirty="0"/>
          </a:p>
        </p:txBody>
      </p:sp>
      <p:sp>
        <p:nvSpPr>
          <p:cNvPr id="8" name="Text 5"/>
          <p:cNvSpPr txBox="1"/>
          <p:nvPr/>
        </p:nvSpPr>
        <p:spPr>
          <a:xfrm>
            <a:off x="731520" y="2587752"/>
            <a:ext cx="4480560" cy="237744"/>
          </a:xfrm>
          <a:prstGeom prst="rect">
            <a:avLst/>
          </a:prstGeom>
          <a:noFill/>
          <a:ln/>
        </p:spPr>
        <p:txBody>
          <a:bodyPr wrap="square" lIns="0" tIns="0" rIns="0" bIns="0" rtlCol="0" anchor="t"/>
          <a:lstStyle/>
          <a:p>
            <a:pPr indent="0" marL="0">
              <a:buNone/>
            </a:pPr>
            <a:r>
              <a:rPr lang="en-US" sz="1000" dirty="0">
                <a:solidFill>
                  <a:srgbClr val="8A93A3"/>
                </a:solidFill>
                <a:latin typeface="Montserrat" pitchFamily="34" charset="0"/>
                <a:ea typeface="Montserrat" pitchFamily="34" charset="-122"/>
                <a:cs typeface="Montserrat" pitchFamily="34" charset="-120"/>
              </a:rPr>
              <a:t>forum sample, n ≈ 40</a:t>
            </a:r>
            <a:endParaRPr lang="en-US" sz="1000" dirty="0"/>
          </a:p>
        </p:txBody>
      </p:sp>
      <p:sp>
        <p:nvSpPr>
          <p:cNvPr id="9" name="Shape 6"/>
          <p:cNvSpPr/>
          <p:nvPr/>
        </p:nvSpPr>
        <p:spPr>
          <a:xfrm>
            <a:off x="5257800" y="2377440"/>
            <a:ext cx="2103120" cy="274320"/>
          </a:xfrm>
          <a:prstGeom prst="roundRect">
            <a:avLst>
              <a:gd name="adj" fmla="val 26667"/>
            </a:avLst>
          </a:prstGeom>
          <a:solidFill>
            <a:srgbClr val="6A7FA8"/>
          </a:solidFill>
          <a:ln/>
        </p:spPr>
      </p:sp>
      <p:sp>
        <p:nvSpPr>
          <p:cNvPr id="10" name="Text 7"/>
          <p:cNvSpPr txBox="1"/>
          <p:nvPr/>
        </p:nvSpPr>
        <p:spPr>
          <a:xfrm>
            <a:off x="5257800" y="2377440"/>
            <a:ext cx="2103120" cy="274320"/>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Montserrat" pitchFamily="34" charset="0"/>
                <a:ea typeface="Montserrat" pitchFamily="34" charset="-122"/>
                <a:cs typeface="Montserrat" pitchFamily="34" charset="-120"/>
              </a:rPr>
              <a:t>ESTIMATED</a:t>
            </a:r>
            <a:endParaRPr lang="en-US" sz="800" dirty="0"/>
          </a:p>
        </p:txBody>
      </p:sp>
      <p:sp>
        <p:nvSpPr>
          <p:cNvPr id="11" name="Shape 8"/>
          <p:cNvSpPr/>
          <p:nvPr/>
        </p:nvSpPr>
        <p:spPr>
          <a:xfrm>
            <a:off x="548640" y="2990088"/>
            <a:ext cx="6949440" cy="731520"/>
          </a:xfrm>
          <a:prstGeom prst="roundRect">
            <a:avLst>
              <a:gd name="adj" fmla="val 10000"/>
            </a:avLst>
          </a:prstGeom>
          <a:solidFill>
            <a:srgbClr val="F3F7FC"/>
          </a:solidFill>
          <a:ln/>
        </p:spPr>
      </p:sp>
      <p:sp>
        <p:nvSpPr>
          <p:cNvPr id="12" name="Text 9"/>
          <p:cNvSpPr txBox="1"/>
          <p:nvPr/>
        </p:nvSpPr>
        <p:spPr>
          <a:xfrm>
            <a:off x="731520" y="3063240"/>
            <a:ext cx="4480560" cy="365760"/>
          </a:xfrm>
          <a:prstGeom prst="rect">
            <a:avLst/>
          </a:prstGeom>
          <a:noFill/>
          <a:ln/>
        </p:spPr>
        <p:txBody>
          <a:bodyPr wrap="square" lIns="0" tIns="0" rIns="0" bIns="0" rtlCol="0" anchor="t"/>
          <a:lstStyle/>
          <a:p>
            <a:pPr indent="0" marL="0">
              <a:buNone/>
            </a:pPr>
            <a:r>
              <a:rPr lang="en-US" sz="1300" b="1" dirty="0">
                <a:solidFill>
                  <a:srgbClr val="0F1341"/>
                </a:solidFill>
                <a:latin typeface="Montserrat" pitchFamily="34" charset="0"/>
                <a:ea typeface="Montserrat" pitchFamily="34" charset="-122"/>
                <a:cs typeface="Montserrat" pitchFamily="34" charset="-120"/>
              </a:rPr>
              <a:t>Comparable tools priced €49–€149 per month</a:t>
            </a:r>
            <a:endParaRPr lang="en-US" sz="1300" dirty="0"/>
          </a:p>
        </p:txBody>
      </p:sp>
      <p:sp>
        <p:nvSpPr>
          <p:cNvPr id="13" name="Text 10"/>
          <p:cNvSpPr txBox="1"/>
          <p:nvPr/>
        </p:nvSpPr>
        <p:spPr>
          <a:xfrm>
            <a:off x="731520" y="3429000"/>
            <a:ext cx="4480560" cy="237744"/>
          </a:xfrm>
          <a:prstGeom prst="rect">
            <a:avLst/>
          </a:prstGeom>
          <a:noFill/>
          <a:ln/>
        </p:spPr>
        <p:txBody>
          <a:bodyPr wrap="square" lIns="0" tIns="0" rIns="0" bIns="0" rtlCol="0" anchor="t"/>
          <a:lstStyle/>
          <a:p>
            <a:pPr indent="0" marL="0">
              <a:buNone/>
            </a:pPr>
            <a:r>
              <a:rPr lang="en-US" sz="1000" dirty="0">
                <a:solidFill>
                  <a:srgbClr val="8A93A3"/>
                </a:solidFill>
                <a:latin typeface="Montserrat" pitchFamily="34" charset="0"/>
                <a:ea typeface="Montserrat" pitchFamily="34" charset="-122"/>
                <a:cs typeface="Montserrat" pitchFamily="34" charset="-120"/>
              </a:rPr>
              <a:t>6 vendor websites, Sept 2026</a:t>
            </a:r>
            <a:endParaRPr lang="en-US" sz="1000" dirty="0"/>
          </a:p>
        </p:txBody>
      </p:sp>
      <p:sp>
        <p:nvSpPr>
          <p:cNvPr id="14" name="Shape 11"/>
          <p:cNvSpPr/>
          <p:nvPr/>
        </p:nvSpPr>
        <p:spPr>
          <a:xfrm>
            <a:off x="5257800" y="3218688"/>
            <a:ext cx="2103120" cy="274320"/>
          </a:xfrm>
          <a:prstGeom prst="roundRect">
            <a:avLst>
              <a:gd name="adj" fmla="val 26667"/>
            </a:avLst>
          </a:prstGeom>
          <a:solidFill>
            <a:srgbClr val="2E6FBF"/>
          </a:solidFill>
          <a:ln/>
        </p:spPr>
      </p:sp>
      <p:sp>
        <p:nvSpPr>
          <p:cNvPr id="15" name="Text 12"/>
          <p:cNvSpPr txBox="1"/>
          <p:nvPr/>
        </p:nvSpPr>
        <p:spPr>
          <a:xfrm>
            <a:off x="5257800" y="3218688"/>
            <a:ext cx="2103120" cy="274320"/>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Montserrat" pitchFamily="34" charset="0"/>
                <a:ea typeface="Montserrat" pitchFamily="34" charset="-122"/>
                <a:cs typeface="Montserrat" pitchFamily="34" charset="-120"/>
              </a:rPr>
              <a:t>RESEARCHED</a:t>
            </a:r>
            <a:endParaRPr lang="en-US" sz="800" dirty="0"/>
          </a:p>
        </p:txBody>
      </p:sp>
      <p:sp>
        <p:nvSpPr>
          <p:cNvPr id="16" name="Shape 13"/>
          <p:cNvSpPr/>
          <p:nvPr/>
        </p:nvSpPr>
        <p:spPr>
          <a:xfrm>
            <a:off x="548640" y="3831336"/>
            <a:ext cx="6949440" cy="731520"/>
          </a:xfrm>
          <a:prstGeom prst="roundRect">
            <a:avLst>
              <a:gd name="adj" fmla="val 10000"/>
            </a:avLst>
          </a:prstGeom>
          <a:solidFill>
            <a:srgbClr val="F3F7FC"/>
          </a:solidFill>
          <a:ln/>
        </p:spPr>
      </p:sp>
      <p:sp>
        <p:nvSpPr>
          <p:cNvPr id="17" name="Text 14"/>
          <p:cNvSpPr txBox="1"/>
          <p:nvPr/>
        </p:nvSpPr>
        <p:spPr>
          <a:xfrm>
            <a:off x="731520" y="3904488"/>
            <a:ext cx="4480560" cy="365760"/>
          </a:xfrm>
          <a:prstGeom prst="rect">
            <a:avLst/>
          </a:prstGeom>
          <a:noFill/>
          <a:ln/>
        </p:spPr>
        <p:txBody>
          <a:bodyPr wrap="square" lIns="0" tIns="0" rIns="0" bIns="0" rtlCol="0" anchor="t"/>
          <a:lstStyle/>
          <a:p>
            <a:pPr indent="0" marL="0">
              <a:buNone/>
            </a:pPr>
            <a:r>
              <a:rPr lang="en-US" sz="1300" b="1" dirty="0">
                <a:solidFill>
                  <a:srgbClr val="0F1341"/>
                </a:solidFill>
                <a:latin typeface="Montserrat" pitchFamily="34" charset="0"/>
                <a:ea typeface="Montserrat" pitchFamily="34" charset="-122"/>
                <a:cs typeface="Montserrat" pitchFamily="34" charset="-120"/>
              </a:rPr>
              <a:t>Top complaint in reviews: “too complex to set up”</a:t>
            </a:r>
            <a:endParaRPr lang="en-US" sz="1300" dirty="0"/>
          </a:p>
        </p:txBody>
      </p:sp>
      <p:sp>
        <p:nvSpPr>
          <p:cNvPr id="18" name="Text 15"/>
          <p:cNvSpPr txBox="1"/>
          <p:nvPr/>
        </p:nvSpPr>
        <p:spPr>
          <a:xfrm>
            <a:off x="731520" y="4270248"/>
            <a:ext cx="4480560" cy="237744"/>
          </a:xfrm>
          <a:prstGeom prst="rect">
            <a:avLst/>
          </a:prstGeom>
          <a:noFill/>
          <a:ln/>
        </p:spPr>
        <p:txBody>
          <a:bodyPr wrap="square" lIns="0" tIns="0" rIns="0" bIns="0" rtlCol="0" anchor="t"/>
          <a:lstStyle/>
          <a:p>
            <a:pPr indent="0" marL="0">
              <a:buNone/>
            </a:pPr>
            <a:r>
              <a:rPr lang="en-US" sz="1000" dirty="0">
                <a:solidFill>
                  <a:srgbClr val="8A93A3"/>
                </a:solidFill>
                <a:latin typeface="Montserrat" pitchFamily="34" charset="0"/>
                <a:ea typeface="Montserrat" pitchFamily="34" charset="-122"/>
                <a:cs typeface="Montserrat" pitchFamily="34" charset="-120"/>
              </a:rPr>
              <a:t>review platforms, 120 reviews</a:t>
            </a:r>
            <a:endParaRPr lang="en-US" sz="1000" dirty="0"/>
          </a:p>
        </p:txBody>
      </p:sp>
      <p:sp>
        <p:nvSpPr>
          <p:cNvPr id="19" name="Shape 16"/>
          <p:cNvSpPr/>
          <p:nvPr/>
        </p:nvSpPr>
        <p:spPr>
          <a:xfrm>
            <a:off x="5257800" y="4059936"/>
            <a:ext cx="2103120" cy="274320"/>
          </a:xfrm>
          <a:prstGeom prst="roundRect">
            <a:avLst>
              <a:gd name="adj" fmla="val 26667"/>
            </a:avLst>
          </a:prstGeom>
          <a:solidFill>
            <a:srgbClr val="2E6FBF"/>
          </a:solidFill>
          <a:ln/>
        </p:spPr>
      </p:sp>
      <p:sp>
        <p:nvSpPr>
          <p:cNvPr id="20" name="Text 17"/>
          <p:cNvSpPr txBox="1"/>
          <p:nvPr/>
        </p:nvSpPr>
        <p:spPr>
          <a:xfrm>
            <a:off x="5257800" y="4059936"/>
            <a:ext cx="2103120" cy="274320"/>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Montserrat" pitchFamily="34" charset="0"/>
                <a:ea typeface="Montserrat" pitchFamily="34" charset="-122"/>
                <a:cs typeface="Montserrat" pitchFamily="34" charset="-120"/>
              </a:rPr>
              <a:t>RESEARCHED</a:t>
            </a:r>
            <a:endParaRPr lang="en-US" sz="800" dirty="0"/>
          </a:p>
        </p:txBody>
      </p:sp>
      <p:sp>
        <p:nvSpPr>
          <p:cNvPr id="21" name="Shape 18"/>
          <p:cNvSpPr/>
          <p:nvPr/>
        </p:nvSpPr>
        <p:spPr>
          <a:xfrm>
            <a:off x="548640" y="4672584"/>
            <a:ext cx="6949440" cy="731520"/>
          </a:xfrm>
          <a:prstGeom prst="roundRect">
            <a:avLst>
              <a:gd name="adj" fmla="val 10000"/>
            </a:avLst>
          </a:prstGeom>
          <a:solidFill>
            <a:srgbClr val="FFFFFF"/>
          </a:solidFill>
          <a:ln w="12700">
            <a:solidFill>
              <a:srgbClr val="C9D3E3"/>
            </a:solidFill>
            <a:prstDash val="dash"/>
          </a:ln>
        </p:spPr>
      </p:sp>
      <p:sp>
        <p:nvSpPr>
          <p:cNvPr id="22" name="Text 19"/>
          <p:cNvSpPr txBox="1"/>
          <p:nvPr/>
        </p:nvSpPr>
        <p:spPr>
          <a:xfrm>
            <a:off x="731520" y="4745736"/>
            <a:ext cx="4480560" cy="365760"/>
          </a:xfrm>
          <a:prstGeom prst="rect">
            <a:avLst/>
          </a:prstGeom>
          <a:noFill/>
          <a:ln/>
        </p:spPr>
        <p:txBody>
          <a:bodyPr wrap="square" lIns="0" tIns="0" rIns="0" bIns="0" rtlCol="0" anchor="t"/>
          <a:lstStyle/>
          <a:p>
            <a:pPr indent="0" marL="0">
              <a:buNone/>
            </a:pPr>
            <a:r>
              <a:rPr lang="en-US" sz="1300" b="1" dirty="0">
                <a:solidFill>
                  <a:srgbClr val="8A93A3"/>
                </a:solidFill>
                <a:latin typeface="Montserrat" pitchFamily="34" charset="0"/>
                <a:ea typeface="Montserrat" pitchFamily="34" charset="-122"/>
                <a:cs typeface="Montserrat" pitchFamily="34" charset="-120"/>
              </a:rPr>
              <a:t>Owners would pay for a tool that writes follow-ups</a:t>
            </a:r>
            <a:endParaRPr lang="en-US" sz="1300" dirty="0"/>
          </a:p>
        </p:txBody>
      </p:sp>
      <p:sp>
        <p:nvSpPr>
          <p:cNvPr id="23" name="Text 20"/>
          <p:cNvSpPr txBox="1"/>
          <p:nvPr/>
        </p:nvSpPr>
        <p:spPr>
          <a:xfrm>
            <a:off x="731520" y="5111496"/>
            <a:ext cx="4480560" cy="237744"/>
          </a:xfrm>
          <a:prstGeom prst="rect">
            <a:avLst/>
          </a:prstGeom>
          <a:noFill/>
          <a:ln/>
        </p:spPr>
        <p:txBody>
          <a:bodyPr wrap="square" lIns="0" tIns="0" rIns="0" bIns="0" rtlCol="0" anchor="t"/>
          <a:lstStyle/>
          <a:p>
            <a:pPr indent="0" marL="0">
              <a:buNone/>
            </a:pPr>
            <a:r>
              <a:rPr lang="en-US" sz="1000" dirty="0">
                <a:solidFill>
                  <a:srgbClr val="8A93A3"/>
                </a:solidFill>
                <a:latin typeface="Montserrat" pitchFamily="34" charset="0"/>
                <a:ea typeface="Montserrat" pitchFamily="34" charset="-122"/>
                <a:cs typeface="Montserrat" pitchFamily="34" charset="-120"/>
              </a:rPr>
              <a:t>no source</a:t>
            </a:r>
            <a:endParaRPr lang="en-US" sz="1000" dirty="0"/>
          </a:p>
        </p:txBody>
      </p:sp>
      <p:sp>
        <p:nvSpPr>
          <p:cNvPr id="24" name="Shape 21"/>
          <p:cNvSpPr/>
          <p:nvPr/>
        </p:nvSpPr>
        <p:spPr>
          <a:xfrm>
            <a:off x="5257800" y="4901184"/>
            <a:ext cx="2103120" cy="274320"/>
          </a:xfrm>
          <a:prstGeom prst="roundRect">
            <a:avLst>
              <a:gd name="adj" fmla="val 26667"/>
            </a:avLst>
          </a:prstGeom>
          <a:solidFill>
            <a:srgbClr val="C9D3E3"/>
          </a:solidFill>
          <a:ln/>
        </p:spPr>
      </p:sp>
      <p:sp>
        <p:nvSpPr>
          <p:cNvPr id="25" name="Text 22"/>
          <p:cNvSpPr txBox="1"/>
          <p:nvPr/>
        </p:nvSpPr>
        <p:spPr>
          <a:xfrm>
            <a:off x="5257800" y="4901184"/>
            <a:ext cx="2103120" cy="274320"/>
          </a:xfrm>
          <a:prstGeom prst="rect">
            <a:avLst/>
          </a:prstGeom>
          <a:noFill/>
          <a:ln/>
        </p:spPr>
        <p:txBody>
          <a:bodyPr wrap="square" lIns="0" tIns="0" rIns="0" bIns="0" rtlCol="0" anchor="ctr"/>
          <a:lstStyle/>
          <a:p>
            <a:pPr algn="ctr" indent="0" marL="0">
              <a:buNone/>
            </a:pPr>
            <a:r>
              <a:rPr lang="en-US" sz="800" b="1" spc="100" kern="0" dirty="0">
                <a:solidFill>
                  <a:srgbClr val="0F1341"/>
                </a:solidFill>
                <a:latin typeface="Montserrat" pitchFamily="34" charset="0"/>
                <a:ea typeface="Montserrat" pitchFamily="34" charset="-122"/>
                <a:cs typeface="Montserrat" pitchFamily="34" charset="-120"/>
              </a:rPr>
              <a:t>INFERRED — NOT EVIDENCE</a:t>
            </a:r>
            <a:endParaRPr lang="en-US" sz="800" dirty="0"/>
          </a:p>
        </p:txBody>
      </p:sp>
      <p:sp>
        <p:nvSpPr>
          <p:cNvPr id="26" name="Shape 23"/>
          <p:cNvSpPr/>
          <p:nvPr/>
        </p:nvSpPr>
        <p:spPr>
          <a:xfrm>
            <a:off x="7863840" y="1783080"/>
            <a:ext cx="3776472" cy="3611880"/>
          </a:xfrm>
          <a:prstGeom prst="roundRect">
            <a:avLst>
              <a:gd name="adj" fmla="val 2025"/>
            </a:avLst>
          </a:prstGeom>
          <a:solidFill>
            <a:srgbClr val="0F1341"/>
          </a:solidFill>
          <a:ln/>
        </p:spPr>
      </p:sp>
      <p:sp>
        <p:nvSpPr>
          <p:cNvPr id="27" name="Text 24"/>
          <p:cNvSpPr txBox="1"/>
          <p:nvPr/>
        </p:nvSpPr>
        <p:spPr>
          <a:xfrm>
            <a:off x="8092440" y="1965960"/>
            <a:ext cx="3383280" cy="365760"/>
          </a:xfrm>
          <a:prstGeom prst="rect">
            <a:avLst/>
          </a:prstGeom>
          <a:noFill/>
          <a:ln/>
        </p:spPr>
        <p:txBody>
          <a:bodyPr wrap="square" lIns="0" tIns="0" rIns="0" bIns="0" rtlCol="0" anchor="t"/>
          <a:lstStyle/>
          <a:p>
            <a:pPr indent="0" marL="0">
              <a:buNone/>
            </a:pPr>
            <a:r>
              <a:rPr lang="en-US" sz="1600" b="1" dirty="0">
                <a:solidFill>
                  <a:srgbClr val="FFFFFF"/>
                </a:solidFill>
                <a:latin typeface="Montserrat" pitchFamily="34" charset="0"/>
                <a:ea typeface="Montserrat" pitchFamily="34" charset="-122"/>
                <a:cs typeface="Montserrat" pitchFamily="34" charset="-120"/>
              </a:rPr>
              <a:t>Stated vs inferred</a:t>
            </a:r>
            <a:endParaRPr lang="en-US" sz="1600" dirty="0"/>
          </a:p>
        </p:txBody>
      </p:sp>
      <p:sp>
        <p:nvSpPr>
          <p:cNvPr id="28" name="Text 25"/>
          <p:cNvSpPr txBox="1"/>
          <p:nvPr/>
        </p:nvSpPr>
        <p:spPr>
          <a:xfrm>
            <a:off x="8092440" y="2468880"/>
            <a:ext cx="3383280" cy="2011680"/>
          </a:xfrm>
          <a:prstGeom prst="rect">
            <a:avLst/>
          </a:prstGeom>
          <a:noFill/>
          <a:ln/>
        </p:spPr>
        <p:txBody>
          <a:bodyPr wrap="square" lIns="0" tIns="0" rIns="0" bIns="0" rtlCol="0" anchor="t"/>
          <a:lstStyle/>
          <a:p>
            <a:pPr indent="0" marL="0">
              <a:buNone/>
            </a:pPr>
            <a:r>
              <a:rPr lang="en-US" sz="1300" b="1" dirty="0">
                <a:solidFill>
                  <a:srgbClr val="4A8FDB"/>
                </a:solidFill>
                <a:latin typeface="Montserrat" pitchFamily="34" charset="0"/>
                <a:ea typeface="Montserrat" pitchFamily="34" charset="-122"/>
                <a:cs typeface="Montserrat" pitchFamily="34" charset="-120"/>
              </a:rPr>
              <a:t>Stated: </a:t>
            </a:r>
            <a:pPr indent="0" marL="0">
              <a:buNone/>
            </a:pPr>
            <a:r>
              <a:rPr lang="en-US" sz="1300" dirty="0">
                <a:solidFill>
                  <a:srgbClr val="FFFFFF"/>
                </a:solidFill>
                <a:latin typeface="Montserrat" pitchFamily="34" charset="0"/>
                <a:ea typeface="Montserrat" pitchFamily="34" charset="-122"/>
                <a:cs typeface="Montserrat" pitchFamily="34" charset="-120"/>
              </a:rPr>
              <a:t>a source says it, with a date and a sample. Grade it and keep it.</a:t>
            </a:r>
            <a:endParaRPr lang="en-US" sz="1300" dirty="0"/>
          </a:p>
          <a:p>
            <a:pPr indent="0" marL="0">
              <a:buNone/>
            </a:pPr>
            <a:r>
              <a:rPr lang="en-US" sz="1300" dirty="0">
                <a:solidFill>
                  <a:srgbClr val="FFFFFF"/>
                </a:solidFill>
                <a:latin typeface="Montserrat" pitchFamily="34" charset="0"/>
                <a:ea typeface="Montserrat" pitchFamily="34" charset="-122"/>
                <a:cs typeface="Montserrat" pitchFamily="34" charset="-120"/>
              </a:rPr>
              <a:t> </a:t>
            </a:r>
            <a:endParaRPr lang="en-US" sz="1300" dirty="0"/>
          </a:p>
          <a:p>
            <a:pPr indent="0" marL="0">
              <a:buNone/>
            </a:pPr>
            <a:r>
              <a:rPr lang="en-US" sz="1300" b="1" dirty="0">
                <a:solidFill>
                  <a:srgbClr val="4A8FDB"/>
                </a:solidFill>
                <a:latin typeface="Montserrat" pitchFamily="34" charset="0"/>
                <a:ea typeface="Montserrat" pitchFamily="34" charset="-122"/>
                <a:cs typeface="Montserrat" pitchFamily="34" charset="-120"/>
              </a:rPr>
              <a:t>Inferred: </a:t>
            </a:r>
            <a:pPr indent="0" marL="0">
              <a:buNone/>
            </a:pPr>
            <a:r>
              <a:rPr lang="en-US" sz="1300" dirty="0">
                <a:solidFill>
                  <a:srgbClr val="FFFFFF"/>
                </a:solidFill>
                <a:latin typeface="Montserrat" pitchFamily="34" charset="0"/>
                <a:ea typeface="Montserrat" pitchFamily="34" charset="-122"/>
                <a:cs typeface="Montserrat" pitchFamily="34" charset="-120"/>
              </a:rPr>
              <a:t>sounds plausible, nobody said it. It becomes a hypothesis — never a fact on a slide.</a:t>
            </a:r>
            <a:endParaRPr lang="en-US" sz="1300" dirty="0"/>
          </a:p>
        </p:txBody>
      </p:sp>
      <p:sp>
        <p:nvSpPr>
          <p:cNvPr id="29" name="Text 26"/>
          <p:cNvSpPr txBox="1"/>
          <p:nvPr/>
        </p:nvSpPr>
        <p:spPr>
          <a:xfrm>
            <a:off x="8092440" y="4709160"/>
            <a:ext cx="3383280" cy="548640"/>
          </a:xfrm>
          <a:prstGeom prst="rect">
            <a:avLst/>
          </a:prstGeom>
          <a:noFill/>
          <a:ln/>
        </p:spPr>
        <p:txBody>
          <a:bodyPr wrap="square" lIns="0" tIns="0" rIns="0" bIns="0" rtlCol="0" anchor="t"/>
          <a:lstStyle/>
          <a:p>
            <a:pPr indent="0" marL="0">
              <a:buNone/>
            </a:pPr>
            <a:r>
              <a:rPr lang="en-US" sz="1200" i="1" dirty="0">
                <a:solidFill>
                  <a:srgbClr val="C9D3E3"/>
                </a:solidFill>
                <a:latin typeface="Montserrat" pitchFamily="34" charset="0"/>
                <a:ea typeface="Montserrat" pitchFamily="34" charset="-122"/>
                <a:cs typeface="Montserrat" pitchFamily="34" charset="-120"/>
              </a:rPr>
              <a:t>The difference between research and fiction.</a:t>
            </a:r>
            <a:endParaRPr lang="en-US" sz="1200" dirty="0"/>
          </a:p>
        </p:txBody>
      </p:sp>
      <p:sp>
        <p:nvSpPr>
          <p:cNvPr id="30" name="Shape 27"/>
          <p:cNvSpPr/>
          <p:nvPr/>
        </p:nvSpPr>
        <p:spPr>
          <a:xfrm>
            <a:off x="548640" y="5623560"/>
            <a:ext cx="11091672" cy="502920"/>
          </a:xfrm>
          <a:prstGeom prst="roundRect">
            <a:avLst>
              <a:gd name="adj" fmla="val 14545"/>
            </a:avLst>
          </a:prstGeom>
          <a:solidFill>
            <a:srgbClr val="0F1341"/>
          </a:solidFill>
          <a:ln/>
        </p:spPr>
      </p:sp>
      <p:sp>
        <p:nvSpPr>
          <p:cNvPr id="31" name="Text 28"/>
          <p:cNvSpPr txBox="1"/>
          <p:nvPr/>
        </p:nvSpPr>
        <p:spPr>
          <a:xfrm>
            <a:off x="777240" y="5623560"/>
            <a:ext cx="10698480" cy="502920"/>
          </a:xfrm>
          <a:prstGeom prst="rect">
            <a:avLst/>
          </a:prstGeom>
          <a:noFill/>
          <a:ln/>
        </p:spPr>
        <p:txBody>
          <a:bodyPr wrap="square" lIns="0" tIns="0" rIns="0" bIns="0" rtlCol="0" anchor="ctr"/>
          <a:lstStyle/>
          <a:p>
            <a:pPr indent="0" marL="0">
              <a:buNone/>
            </a:pPr>
            <a:r>
              <a:rPr lang="en-US" sz="1300" b="1" dirty="0">
                <a:solidFill>
                  <a:srgbClr val="4A8FDB"/>
                </a:solidFill>
                <a:latin typeface="Montserrat" pitchFamily="34" charset="0"/>
                <a:ea typeface="Montserrat" pitchFamily="34" charset="-122"/>
                <a:cs typeface="Montserrat" pitchFamily="34" charset="-120"/>
              </a:rPr>
              <a:t>Exercise · 4 min · </a:t>
            </a:r>
            <a:pPr indent="0" marL="0">
              <a:buNone/>
            </a:pPr>
            <a:r>
              <a:rPr lang="en-US" sz="1300" dirty="0">
                <a:solidFill>
                  <a:srgbClr val="FFFFFF"/>
                </a:solidFill>
                <a:latin typeface="Montserrat" pitchFamily="34" charset="0"/>
                <a:ea typeface="Montserrat" pitchFamily="34" charset="-122"/>
                <a:cs typeface="Montserrat" pitchFamily="34" charset="-120"/>
              </a:rPr>
              <a:t>three pain hypotheses for small-business owners — and the evidence you need before writing a single email.</a:t>
            </a:r>
            <a:endParaRPr lang="en-US" sz="13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3A3"/>
                </a:solidFill>
                <a:latin typeface="Montserrat"/>
                <a:ea typeface="Montserrat"/>
                <a:cs typeface="Montserrat"/>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2" type="title" hasCustomPrompt="1"/>
          </p:nvPr>
        </p:nvSpPr>
        <p:spPr>
          <a:xfrm>
            <a:off x="548640" y="502920"/>
            <a:ext cx="7863840" cy="685800"/>
          </a:xfrm>
          <a:prstGeom prst="rect">
            <a:avLst/>
          </a:prstGeom>
          <a:noFill/>
          <a:ln/>
        </p:spPr>
        <p:txBody>
          <a:bodyPr wrap="square" lIns="0" tIns="0" rIns="0" bIns="0" rtlCol="0" anchor="t"/>
          <a:lstStyle/>
          <a:p>
            <a:pPr algn="l" indent="0" marL="0">
              <a:buNone/>
            </a:pPr>
            <a:r>
              <a:rPr lang="en-US" sz="2800" b="1" dirty="0">
                <a:solidFill>
                  <a:srgbClr val="0F1341"/>
                </a:solidFill>
                <a:latin typeface="Montserrat" pitchFamily="34" charset="0"/>
                <a:ea typeface="Montserrat" pitchFamily="34" charset="-122"/>
                <a:cs typeface="Montserrat" pitchFamily="34" charset="-120"/>
              </a:rPr>
              <a:t>The AI-native sales engine</a:t>
            </a:r>
            <a:endParaRPr lang="en-US" sz="2800" dirty="0"/>
          </a:p>
        </p:txBody>
      </p:sp>
      <p:sp>
        <p:nvSpPr>
          <p:cNvPr id="3" name="Text 0"/>
          <p:cNvSpPr/>
          <p:nvPr>
            <p:ph idx="103" type="body" hasCustomPrompt="1"/>
          </p:nvPr>
        </p:nvSpPr>
        <p:spPr>
          <a:xfrm>
            <a:off x="548640" y="1207008"/>
            <a:ext cx="8778240" cy="365760"/>
          </a:xfrm>
          <a:prstGeom prst="rect">
            <a:avLst/>
          </a:prstGeom>
          <a:noFill/>
          <a:ln/>
        </p:spPr>
        <p:txBody>
          <a:bodyPr wrap="square" lIns="0" tIns="0" rIns="0" bIns="0" rtlCol="0" anchor="t"/>
          <a:lstStyle/>
          <a:p>
            <a:pPr algn="l" indent="0" marL="0">
              <a:buNone/>
            </a:pPr>
            <a:r>
              <a:rPr lang="en-US" sz="1300" dirty="0">
                <a:solidFill>
                  <a:srgbClr val="5B6270"/>
                </a:solidFill>
                <a:latin typeface="Montserrat" pitchFamily="34" charset="0"/>
                <a:ea typeface="Montserrat" pitchFamily="34" charset="-122"/>
                <a:cs typeface="Montserrat" pitchFamily="34" charset="-120"/>
              </a:rPr>
              <a:t>E1 Cold Email Engine: an autonomous experiment loop — every campaign tests a declared hypothesis</a:t>
            </a:r>
            <a:endParaRPr lang="en-US" sz="1300" dirty="0"/>
          </a:p>
        </p:txBody>
      </p:sp>
      <p:sp>
        <p:nvSpPr>
          <p:cNvPr id="5" name="Shape 2"/>
          <p:cNvSpPr/>
          <p:nvPr/>
        </p:nvSpPr>
        <p:spPr>
          <a:xfrm>
            <a:off x="548640" y="1783080"/>
            <a:ext cx="2084832" cy="1965960"/>
          </a:xfrm>
          <a:prstGeom prst="roundRect">
            <a:avLst>
              <a:gd name="adj" fmla="val 3721"/>
            </a:avLst>
          </a:prstGeom>
          <a:solidFill>
            <a:srgbClr val="F3F7FC"/>
          </a:solidFill>
          <a:ln/>
        </p:spPr>
      </p:sp>
      <p:sp>
        <p:nvSpPr>
          <p:cNvPr id="6" name="Shape 3"/>
          <p:cNvSpPr/>
          <p:nvPr/>
        </p:nvSpPr>
        <p:spPr>
          <a:xfrm>
            <a:off x="731520" y="1947672"/>
            <a:ext cx="365760" cy="365760"/>
          </a:xfrm>
          <a:prstGeom prst="ellipse">
            <a:avLst/>
          </a:prstGeom>
          <a:solidFill>
            <a:srgbClr val="2E6FBF"/>
          </a:solidFill>
          <a:ln/>
        </p:spPr>
      </p:sp>
      <p:sp>
        <p:nvSpPr>
          <p:cNvPr id="7" name="Text 4"/>
          <p:cNvSpPr txBox="1"/>
          <p:nvPr/>
        </p:nvSpPr>
        <p:spPr>
          <a:xfrm>
            <a:off x="73152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1</a:t>
            </a:r>
            <a:endParaRPr lang="en-US" sz="1200" dirty="0"/>
          </a:p>
        </p:txBody>
      </p:sp>
      <p:pic>
        <p:nvPicPr>
          <p:cNvPr id="8" name="Image 0" descr="preencoded.png">    </p:cNvPr>
          <p:cNvPicPr>
            <a:picLocks noChangeAspect="1"/>
          </p:cNvPicPr>
          <p:nvPr/>
        </p:nvPicPr>
        <p:blipFill>
          <a:blip r:embed="rId1"/>
          <a:stretch>
            <a:fillRect/>
          </a:stretch>
        </p:blipFill>
        <p:spPr>
          <a:xfrm>
            <a:off x="2103120" y="1947672"/>
            <a:ext cx="347472" cy="347472"/>
          </a:xfrm>
          <a:prstGeom prst="rect">
            <a:avLst/>
          </a:prstGeom>
        </p:spPr>
      </p:pic>
      <p:sp>
        <p:nvSpPr>
          <p:cNvPr id="9" name="Text 5"/>
          <p:cNvSpPr txBox="1"/>
          <p:nvPr/>
        </p:nvSpPr>
        <p:spPr>
          <a:xfrm>
            <a:off x="731520" y="2468880"/>
            <a:ext cx="1783080" cy="365760"/>
          </a:xfrm>
          <a:prstGeom prst="rect">
            <a:avLst/>
          </a:prstGeom>
          <a:noFill/>
          <a:ln/>
        </p:spPr>
        <p:txBody>
          <a:bodyPr wrap="square" lIns="0" tIns="0" rIns="0" bIns="0" rtlCol="0" anchor="t"/>
          <a:lstStyle/>
          <a:p>
            <a:pPr indent="0" marL="0">
              <a:buNone/>
            </a:pPr>
            <a:r>
              <a:rPr lang="en-US" sz="1400" b="1" dirty="0">
                <a:solidFill>
                  <a:srgbClr val="0F1341"/>
                </a:solidFill>
                <a:latin typeface="Montserrat" pitchFamily="34" charset="0"/>
                <a:ea typeface="Montserrat" pitchFamily="34" charset="-122"/>
                <a:cs typeface="Montserrat" pitchFamily="34" charset="-120"/>
              </a:rPr>
              <a:t>Find</a:t>
            </a:r>
            <a:endParaRPr lang="en-US" sz="1400" dirty="0"/>
          </a:p>
        </p:txBody>
      </p:sp>
      <p:sp>
        <p:nvSpPr>
          <p:cNvPr id="10" name="Text 6"/>
          <p:cNvSpPr txBox="1"/>
          <p:nvPr/>
        </p:nvSpPr>
        <p:spPr>
          <a:xfrm>
            <a:off x="731520" y="2834640"/>
            <a:ext cx="1783080" cy="822960"/>
          </a:xfrm>
          <a:prstGeom prst="rect">
            <a:avLst/>
          </a:prstGeom>
          <a:noFill/>
          <a:ln/>
        </p:spPr>
        <p:txBody>
          <a:bodyPr wrap="square" lIns="0" tIns="0" rIns="0" bIns="0" rtlCol="0" anchor="t"/>
          <a:lstStyle/>
          <a:p>
            <a:pPr indent="0" marL="0">
              <a:buNone/>
            </a:pPr>
            <a:r>
              <a:rPr lang="en-US" sz="1150" dirty="0">
                <a:solidFill>
                  <a:srgbClr val="5B6270"/>
                </a:solidFill>
                <a:latin typeface="Montserrat" pitchFamily="34" charset="0"/>
                <a:ea typeface="Montserrat" pitchFamily="34" charset="-122"/>
                <a:cs typeface="Montserrat" pitchFamily="34" charset="-120"/>
              </a:rPr>
              <a:t>List from the ICP: firmographics and signals</a:t>
            </a:r>
            <a:endParaRPr lang="en-US" sz="1150" dirty="0"/>
          </a:p>
        </p:txBody>
      </p:sp>
      <p:sp>
        <p:nvSpPr>
          <p:cNvPr id="11" name="Shape 7"/>
          <p:cNvSpPr/>
          <p:nvPr/>
        </p:nvSpPr>
        <p:spPr>
          <a:xfrm>
            <a:off x="2788920" y="1783080"/>
            <a:ext cx="2084832" cy="1965960"/>
          </a:xfrm>
          <a:prstGeom prst="roundRect">
            <a:avLst>
              <a:gd name="adj" fmla="val 3721"/>
            </a:avLst>
          </a:prstGeom>
          <a:solidFill>
            <a:srgbClr val="F3F7FC"/>
          </a:solidFill>
          <a:ln/>
        </p:spPr>
      </p:sp>
      <p:sp>
        <p:nvSpPr>
          <p:cNvPr id="12" name="Shape 8"/>
          <p:cNvSpPr/>
          <p:nvPr/>
        </p:nvSpPr>
        <p:spPr>
          <a:xfrm>
            <a:off x="2971800" y="1947672"/>
            <a:ext cx="365760" cy="365760"/>
          </a:xfrm>
          <a:prstGeom prst="ellipse">
            <a:avLst/>
          </a:prstGeom>
          <a:solidFill>
            <a:srgbClr val="2E6FBF"/>
          </a:solidFill>
          <a:ln/>
        </p:spPr>
      </p:sp>
      <p:sp>
        <p:nvSpPr>
          <p:cNvPr id="13" name="Text 9"/>
          <p:cNvSpPr txBox="1"/>
          <p:nvPr/>
        </p:nvSpPr>
        <p:spPr>
          <a:xfrm>
            <a:off x="297180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2</a:t>
            </a:r>
            <a:endParaRPr lang="en-US" sz="1200" dirty="0"/>
          </a:p>
        </p:txBody>
      </p:sp>
      <p:pic>
        <p:nvPicPr>
          <p:cNvPr id="14" name="Image 1" descr="preencoded.png">    </p:cNvPr>
          <p:cNvPicPr>
            <a:picLocks noChangeAspect="1"/>
          </p:cNvPicPr>
          <p:nvPr/>
        </p:nvPicPr>
        <p:blipFill>
          <a:blip r:embed="rId2"/>
          <a:stretch>
            <a:fillRect/>
          </a:stretch>
        </p:blipFill>
        <p:spPr>
          <a:xfrm>
            <a:off x="4343400" y="1947672"/>
            <a:ext cx="347472" cy="347472"/>
          </a:xfrm>
          <a:prstGeom prst="rect">
            <a:avLst/>
          </a:prstGeom>
        </p:spPr>
      </p:pic>
      <p:sp>
        <p:nvSpPr>
          <p:cNvPr id="15" name="Text 10"/>
          <p:cNvSpPr txBox="1"/>
          <p:nvPr/>
        </p:nvSpPr>
        <p:spPr>
          <a:xfrm>
            <a:off x="2971800" y="2468880"/>
            <a:ext cx="1783080" cy="365760"/>
          </a:xfrm>
          <a:prstGeom prst="rect">
            <a:avLst/>
          </a:prstGeom>
          <a:noFill/>
          <a:ln/>
        </p:spPr>
        <p:txBody>
          <a:bodyPr wrap="square" lIns="0" tIns="0" rIns="0" bIns="0" rtlCol="0" anchor="t"/>
          <a:lstStyle/>
          <a:p>
            <a:pPr indent="0" marL="0">
              <a:buNone/>
            </a:pPr>
            <a:r>
              <a:rPr lang="en-US" sz="1400" b="1" dirty="0">
                <a:solidFill>
                  <a:srgbClr val="0F1341"/>
                </a:solidFill>
                <a:latin typeface="Montserrat" pitchFamily="34" charset="0"/>
                <a:ea typeface="Montserrat" pitchFamily="34" charset="-122"/>
                <a:cs typeface="Montserrat" pitchFamily="34" charset="-120"/>
              </a:rPr>
              <a:t>Personalise</a:t>
            </a:r>
            <a:endParaRPr lang="en-US" sz="1400" dirty="0"/>
          </a:p>
        </p:txBody>
      </p:sp>
      <p:sp>
        <p:nvSpPr>
          <p:cNvPr id="16" name="Text 11"/>
          <p:cNvSpPr txBox="1"/>
          <p:nvPr/>
        </p:nvSpPr>
        <p:spPr>
          <a:xfrm>
            <a:off x="2971800" y="2834640"/>
            <a:ext cx="1783080" cy="822960"/>
          </a:xfrm>
          <a:prstGeom prst="rect">
            <a:avLst/>
          </a:prstGeom>
          <a:noFill/>
          <a:ln/>
        </p:spPr>
        <p:txBody>
          <a:bodyPr wrap="square" lIns="0" tIns="0" rIns="0" bIns="0" rtlCol="0" anchor="t"/>
          <a:lstStyle/>
          <a:p>
            <a:pPr indent="0" marL="0">
              <a:buNone/>
            </a:pPr>
            <a:r>
              <a:rPr lang="en-US" sz="1150" dirty="0">
                <a:solidFill>
                  <a:srgbClr val="5B6270"/>
                </a:solidFill>
                <a:latin typeface="Montserrat" pitchFamily="34" charset="0"/>
                <a:ea typeface="Montserrat" pitchFamily="34" charset="-122"/>
                <a:cs typeface="Montserrat" pitchFamily="34" charset="-120"/>
              </a:rPr>
              <a:t>One message per company, public facts only</a:t>
            </a:r>
            <a:endParaRPr lang="en-US" sz="1150" dirty="0"/>
          </a:p>
        </p:txBody>
      </p:sp>
      <p:sp>
        <p:nvSpPr>
          <p:cNvPr id="17" name="Shape 12"/>
          <p:cNvSpPr/>
          <p:nvPr/>
        </p:nvSpPr>
        <p:spPr>
          <a:xfrm>
            <a:off x="5029200" y="1783080"/>
            <a:ext cx="2084832" cy="1965960"/>
          </a:xfrm>
          <a:prstGeom prst="roundRect">
            <a:avLst>
              <a:gd name="adj" fmla="val 3721"/>
            </a:avLst>
          </a:prstGeom>
          <a:solidFill>
            <a:srgbClr val="F3F7FC"/>
          </a:solidFill>
          <a:ln/>
        </p:spPr>
      </p:sp>
      <p:sp>
        <p:nvSpPr>
          <p:cNvPr id="18" name="Shape 13"/>
          <p:cNvSpPr/>
          <p:nvPr/>
        </p:nvSpPr>
        <p:spPr>
          <a:xfrm>
            <a:off x="5212080" y="1947672"/>
            <a:ext cx="365760" cy="365760"/>
          </a:xfrm>
          <a:prstGeom prst="ellipse">
            <a:avLst/>
          </a:prstGeom>
          <a:solidFill>
            <a:srgbClr val="2E6FBF"/>
          </a:solidFill>
          <a:ln/>
        </p:spPr>
      </p:sp>
      <p:sp>
        <p:nvSpPr>
          <p:cNvPr id="19" name="Text 14"/>
          <p:cNvSpPr txBox="1"/>
          <p:nvPr/>
        </p:nvSpPr>
        <p:spPr>
          <a:xfrm>
            <a:off x="5212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3</a:t>
            </a:r>
            <a:endParaRPr lang="en-US" sz="1200" dirty="0"/>
          </a:p>
        </p:txBody>
      </p:sp>
      <p:pic>
        <p:nvPicPr>
          <p:cNvPr id="20" name="Image 2" descr="preencoded.png">    </p:cNvPr>
          <p:cNvPicPr>
            <a:picLocks noChangeAspect="1"/>
          </p:cNvPicPr>
          <p:nvPr/>
        </p:nvPicPr>
        <p:blipFill>
          <a:blip r:embed="rId3"/>
          <a:stretch>
            <a:fillRect/>
          </a:stretch>
        </p:blipFill>
        <p:spPr>
          <a:xfrm>
            <a:off x="6583680" y="1947672"/>
            <a:ext cx="347472" cy="347472"/>
          </a:xfrm>
          <a:prstGeom prst="rect">
            <a:avLst/>
          </a:prstGeom>
        </p:spPr>
      </p:pic>
      <p:sp>
        <p:nvSpPr>
          <p:cNvPr id="21" name="Text 15"/>
          <p:cNvSpPr txBox="1"/>
          <p:nvPr/>
        </p:nvSpPr>
        <p:spPr>
          <a:xfrm>
            <a:off x="5212080" y="2468880"/>
            <a:ext cx="1783080" cy="365760"/>
          </a:xfrm>
          <a:prstGeom prst="rect">
            <a:avLst/>
          </a:prstGeom>
          <a:noFill/>
          <a:ln/>
        </p:spPr>
        <p:txBody>
          <a:bodyPr wrap="square" lIns="0" tIns="0" rIns="0" bIns="0" rtlCol="0" anchor="t"/>
          <a:lstStyle/>
          <a:p>
            <a:pPr indent="0" marL="0">
              <a:buNone/>
            </a:pPr>
            <a:r>
              <a:rPr lang="en-US" sz="1400" b="1" dirty="0">
                <a:solidFill>
                  <a:srgbClr val="0F1341"/>
                </a:solidFill>
                <a:latin typeface="Montserrat" pitchFamily="34" charset="0"/>
                <a:ea typeface="Montserrat" pitchFamily="34" charset="-122"/>
                <a:cs typeface="Montserrat" pitchFamily="34" charset="-120"/>
              </a:rPr>
              <a:t>Send &amp; track</a:t>
            </a:r>
            <a:endParaRPr lang="en-US" sz="1400" dirty="0"/>
          </a:p>
        </p:txBody>
      </p:sp>
      <p:sp>
        <p:nvSpPr>
          <p:cNvPr id="22" name="Text 16"/>
          <p:cNvSpPr txBox="1"/>
          <p:nvPr/>
        </p:nvSpPr>
        <p:spPr>
          <a:xfrm>
            <a:off x="5212080" y="2834640"/>
            <a:ext cx="1783080" cy="822960"/>
          </a:xfrm>
          <a:prstGeom prst="rect">
            <a:avLst/>
          </a:prstGeom>
          <a:noFill/>
          <a:ln/>
        </p:spPr>
        <p:txBody>
          <a:bodyPr wrap="square" lIns="0" tIns="0" rIns="0" bIns="0" rtlCol="0" anchor="t"/>
          <a:lstStyle/>
          <a:p>
            <a:pPr indent="0" marL="0">
              <a:buNone/>
            </a:pPr>
            <a:r>
              <a:rPr lang="en-US" sz="1150" dirty="0">
                <a:solidFill>
                  <a:srgbClr val="5B6270"/>
                </a:solidFill>
                <a:latin typeface="Montserrat" pitchFamily="34" charset="0"/>
                <a:ea typeface="Montserrat" pitchFamily="34" charset="-122"/>
                <a:cs typeface="Montserrat" pitchFamily="34" charset="-120"/>
              </a:rPr>
              <a:t>Email only, declared hypothesis, 14–21 days</a:t>
            </a:r>
            <a:endParaRPr lang="en-US" sz="1150" dirty="0"/>
          </a:p>
        </p:txBody>
      </p:sp>
      <p:sp>
        <p:nvSpPr>
          <p:cNvPr id="23" name="Shape 17"/>
          <p:cNvSpPr/>
          <p:nvPr/>
        </p:nvSpPr>
        <p:spPr>
          <a:xfrm>
            <a:off x="7269480" y="1783080"/>
            <a:ext cx="2084832" cy="1965960"/>
          </a:xfrm>
          <a:prstGeom prst="roundRect">
            <a:avLst>
              <a:gd name="adj" fmla="val 3721"/>
            </a:avLst>
          </a:prstGeom>
          <a:solidFill>
            <a:srgbClr val="F3F7FC"/>
          </a:solidFill>
          <a:ln/>
        </p:spPr>
      </p:sp>
      <p:sp>
        <p:nvSpPr>
          <p:cNvPr id="24" name="Shape 18"/>
          <p:cNvSpPr/>
          <p:nvPr/>
        </p:nvSpPr>
        <p:spPr>
          <a:xfrm>
            <a:off x="7452360" y="1947672"/>
            <a:ext cx="365760" cy="365760"/>
          </a:xfrm>
          <a:prstGeom prst="ellipse">
            <a:avLst/>
          </a:prstGeom>
          <a:solidFill>
            <a:srgbClr val="2E6FBF"/>
          </a:solidFill>
          <a:ln/>
        </p:spPr>
      </p:sp>
      <p:sp>
        <p:nvSpPr>
          <p:cNvPr id="25" name="Text 19"/>
          <p:cNvSpPr txBox="1"/>
          <p:nvPr/>
        </p:nvSpPr>
        <p:spPr>
          <a:xfrm>
            <a:off x="745236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4</a:t>
            </a:r>
            <a:endParaRPr lang="en-US" sz="1200" dirty="0"/>
          </a:p>
        </p:txBody>
      </p:sp>
      <p:pic>
        <p:nvPicPr>
          <p:cNvPr id="26" name="Image 3" descr="preencoded.png">    </p:cNvPr>
          <p:cNvPicPr>
            <a:picLocks noChangeAspect="1"/>
          </p:cNvPicPr>
          <p:nvPr/>
        </p:nvPicPr>
        <p:blipFill>
          <a:blip r:embed="rId4"/>
          <a:stretch>
            <a:fillRect/>
          </a:stretch>
        </p:blipFill>
        <p:spPr>
          <a:xfrm>
            <a:off x="8823960" y="1947672"/>
            <a:ext cx="347472" cy="347472"/>
          </a:xfrm>
          <a:prstGeom prst="rect">
            <a:avLst/>
          </a:prstGeom>
        </p:spPr>
      </p:pic>
      <p:sp>
        <p:nvSpPr>
          <p:cNvPr id="27" name="Text 20"/>
          <p:cNvSpPr txBox="1"/>
          <p:nvPr/>
        </p:nvSpPr>
        <p:spPr>
          <a:xfrm>
            <a:off x="7452360" y="2468880"/>
            <a:ext cx="1783080" cy="365760"/>
          </a:xfrm>
          <a:prstGeom prst="rect">
            <a:avLst/>
          </a:prstGeom>
          <a:noFill/>
          <a:ln/>
        </p:spPr>
        <p:txBody>
          <a:bodyPr wrap="square" lIns="0" tIns="0" rIns="0" bIns="0" rtlCol="0" anchor="t"/>
          <a:lstStyle/>
          <a:p>
            <a:pPr indent="0" marL="0">
              <a:buNone/>
            </a:pPr>
            <a:r>
              <a:rPr lang="en-US" sz="1400" b="1" dirty="0">
                <a:solidFill>
                  <a:srgbClr val="0F1341"/>
                </a:solidFill>
                <a:latin typeface="Montserrat" pitchFamily="34" charset="0"/>
                <a:ea typeface="Montserrat" pitchFamily="34" charset="-122"/>
                <a:cs typeface="Montserrat" pitchFamily="34" charset="-120"/>
              </a:rPr>
              <a:t>Classify</a:t>
            </a:r>
            <a:endParaRPr lang="en-US" sz="1400" dirty="0"/>
          </a:p>
        </p:txBody>
      </p:sp>
      <p:sp>
        <p:nvSpPr>
          <p:cNvPr id="28" name="Text 21"/>
          <p:cNvSpPr txBox="1"/>
          <p:nvPr/>
        </p:nvSpPr>
        <p:spPr>
          <a:xfrm>
            <a:off x="7452360" y="2834640"/>
            <a:ext cx="1783080" cy="822960"/>
          </a:xfrm>
          <a:prstGeom prst="rect">
            <a:avLst/>
          </a:prstGeom>
          <a:noFill/>
          <a:ln/>
        </p:spPr>
        <p:txBody>
          <a:bodyPr wrap="square" lIns="0" tIns="0" rIns="0" bIns="0" rtlCol="0" anchor="t"/>
          <a:lstStyle/>
          <a:p>
            <a:pPr indent="0" marL="0">
              <a:buNone/>
            </a:pPr>
            <a:r>
              <a:rPr lang="en-US" sz="1150" dirty="0">
                <a:solidFill>
                  <a:srgbClr val="5B6270"/>
                </a:solidFill>
                <a:latin typeface="Montserrat" pitchFamily="34" charset="0"/>
                <a:ea typeface="Montserrat" pitchFamily="34" charset="-122"/>
                <a:cs typeface="Montserrat" pitchFamily="34" charset="-120"/>
              </a:rPr>
              <a:t>Every reply on a fixed taxonomy</a:t>
            </a:r>
            <a:endParaRPr lang="en-US" sz="1150" dirty="0"/>
          </a:p>
        </p:txBody>
      </p:sp>
      <p:sp>
        <p:nvSpPr>
          <p:cNvPr id="29" name="Shape 22"/>
          <p:cNvSpPr/>
          <p:nvPr/>
        </p:nvSpPr>
        <p:spPr>
          <a:xfrm>
            <a:off x="9509760" y="1783080"/>
            <a:ext cx="2084832" cy="1965960"/>
          </a:xfrm>
          <a:prstGeom prst="roundRect">
            <a:avLst>
              <a:gd name="adj" fmla="val 3721"/>
            </a:avLst>
          </a:prstGeom>
          <a:solidFill>
            <a:srgbClr val="0F1341"/>
          </a:solidFill>
          <a:ln/>
        </p:spPr>
      </p:sp>
      <p:sp>
        <p:nvSpPr>
          <p:cNvPr id="30" name="Shape 23"/>
          <p:cNvSpPr/>
          <p:nvPr/>
        </p:nvSpPr>
        <p:spPr>
          <a:xfrm>
            <a:off x="9692640" y="1947672"/>
            <a:ext cx="365760" cy="365760"/>
          </a:xfrm>
          <a:prstGeom prst="ellipse">
            <a:avLst/>
          </a:prstGeom>
          <a:solidFill>
            <a:srgbClr val="4A8FDB"/>
          </a:solidFill>
          <a:ln/>
        </p:spPr>
      </p:sp>
      <p:sp>
        <p:nvSpPr>
          <p:cNvPr id="31" name="Text 24"/>
          <p:cNvSpPr txBox="1"/>
          <p:nvPr/>
        </p:nvSpPr>
        <p:spPr>
          <a:xfrm>
            <a:off x="969264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5</a:t>
            </a:r>
            <a:endParaRPr lang="en-US" sz="1200" dirty="0"/>
          </a:p>
        </p:txBody>
      </p:sp>
      <p:pic>
        <p:nvPicPr>
          <p:cNvPr id="32" name="Image 4" descr="preencoded.png">    </p:cNvPr>
          <p:cNvPicPr>
            <a:picLocks noChangeAspect="1"/>
          </p:cNvPicPr>
          <p:nvPr/>
        </p:nvPicPr>
        <p:blipFill>
          <a:blip r:embed="rId5"/>
          <a:stretch>
            <a:fillRect/>
          </a:stretch>
        </p:blipFill>
        <p:spPr>
          <a:xfrm>
            <a:off x="11064240" y="1947672"/>
            <a:ext cx="347472" cy="347472"/>
          </a:xfrm>
          <a:prstGeom prst="rect">
            <a:avLst/>
          </a:prstGeom>
        </p:spPr>
      </p:pic>
      <p:sp>
        <p:nvSpPr>
          <p:cNvPr id="33" name="Text 25"/>
          <p:cNvSpPr txBox="1"/>
          <p:nvPr/>
        </p:nvSpPr>
        <p:spPr>
          <a:xfrm>
            <a:off x="9692640" y="2468880"/>
            <a:ext cx="1783080" cy="365760"/>
          </a:xfrm>
          <a:prstGeom prst="rect">
            <a:avLst/>
          </a:prstGeom>
          <a:noFill/>
          <a:ln/>
        </p:spPr>
        <p:txBody>
          <a:bodyPr wrap="square" lIns="0" tIns="0" rIns="0" bIns="0" rtlCol="0" anchor="t"/>
          <a:lstStyle/>
          <a:p>
            <a:pPr indent="0" marL="0">
              <a:buNone/>
            </a:pPr>
            <a:r>
              <a:rPr lang="en-US" sz="1400" b="1" dirty="0">
                <a:solidFill>
                  <a:srgbClr val="FFFFFF"/>
                </a:solidFill>
                <a:latin typeface="Montserrat" pitchFamily="34" charset="0"/>
                <a:ea typeface="Montserrat" pitchFamily="34" charset="-122"/>
                <a:cs typeface="Montserrat" pitchFamily="34" charset="-120"/>
              </a:rPr>
              <a:t>Learn</a:t>
            </a:r>
            <a:endParaRPr lang="en-US" sz="1400" dirty="0"/>
          </a:p>
        </p:txBody>
      </p:sp>
      <p:sp>
        <p:nvSpPr>
          <p:cNvPr id="34" name="Text 26"/>
          <p:cNvSpPr txBox="1"/>
          <p:nvPr/>
        </p:nvSpPr>
        <p:spPr>
          <a:xfrm>
            <a:off x="9692640" y="2834640"/>
            <a:ext cx="1783080" cy="822960"/>
          </a:xfrm>
          <a:prstGeom prst="rect">
            <a:avLst/>
          </a:prstGeom>
          <a:noFill/>
          <a:ln/>
        </p:spPr>
        <p:txBody>
          <a:bodyPr wrap="square" lIns="0" tIns="0" rIns="0" bIns="0" rtlCol="0" anchor="t"/>
          <a:lstStyle/>
          <a:p>
            <a:pPr indent="0" marL="0">
              <a:buNone/>
            </a:pPr>
            <a:r>
              <a:rPr lang="en-US" sz="1150" dirty="0">
                <a:solidFill>
                  <a:srgbClr val="C9D3E3"/>
                </a:solidFill>
                <a:latin typeface="Montserrat" pitchFamily="34" charset="0"/>
                <a:ea typeface="Montserrat" pitchFamily="34" charset="-122"/>
                <a:cs typeface="Montserrat" pitchFamily="34" charset="-120"/>
              </a:rPr>
              <a:t>Reply and meeting rate per segment × variant</a:t>
            </a:r>
            <a:endParaRPr lang="en-US" sz="1150" dirty="0"/>
          </a:p>
        </p:txBody>
      </p:sp>
      <p:sp>
        <p:nvSpPr>
          <p:cNvPr id="35" name="Text 27"/>
          <p:cNvSpPr txBox="1"/>
          <p:nvPr/>
        </p:nvSpPr>
        <p:spPr>
          <a:xfrm>
            <a:off x="548640" y="3977640"/>
            <a:ext cx="4572000" cy="274320"/>
          </a:xfrm>
          <a:prstGeom prst="rect">
            <a:avLst/>
          </a:prstGeom>
          <a:noFill/>
          <a:ln/>
        </p:spPr>
        <p:txBody>
          <a:bodyPr wrap="square" lIns="0" tIns="0" rIns="0" bIns="0" rtlCol="0" anchor="t"/>
          <a:lstStyle/>
          <a:p>
            <a:pPr indent="0" marL="0">
              <a:buNone/>
            </a:pPr>
            <a:r>
              <a:rPr lang="en-US" sz="1000" b="1" spc="100" kern="0" dirty="0">
                <a:solidFill>
                  <a:srgbClr val="8A93A3"/>
                </a:solidFill>
                <a:latin typeface="Montserrat" pitchFamily="34" charset="0"/>
                <a:ea typeface="Montserrat" pitchFamily="34" charset="-122"/>
                <a:cs typeface="Montserrat" pitchFamily="34" charset="-120"/>
              </a:rPr>
              <a:t>THE HYPOTHESIS FORMAT</a:t>
            </a:r>
            <a:endParaRPr lang="en-US" sz="1000" dirty="0"/>
          </a:p>
        </p:txBody>
      </p:sp>
      <p:sp>
        <p:nvSpPr>
          <p:cNvPr id="36" name="Shape 28"/>
          <p:cNvSpPr/>
          <p:nvPr/>
        </p:nvSpPr>
        <p:spPr>
          <a:xfrm>
            <a:off x="548640" y="4297680"/>
            <a:ext cx="5577840" cy="1005840"/>
          </a:xfrm>
          <a:prstGeom prst="roundRect">
            <a:avLst>
              <a:gd name="adj" fmla="val 7273"/>
            </a:avLst>
          </a:prstGeom>
          <a:solidFill>
            <a:srgbClr val="D9E8F8"/>
          </a:solidFill>
          <a:ln/>
        </p:spPr>
      </p:sp>
      <p:sp>
        <p:nvSpPr>
          <p:cNvPr id="37" name="Text 29"/>
          <p:cNvSpPr txBox="1"/>
          <p:nvPr/>
        </p:nvSpPr>
        <p:spPr>
          <a:xfrm>
            <a:off x="731520" y="4297680"/>
            <a:ext cx="5212080" cy="1005840"/>
          </a:xfrm>
          <a:prstGeom prst="rect">
            <a:avLst/>
          </a:prstGeom>
          <a:noFill/>
          <a:ln/>
        </p:spPr>
        <p:txBody>
          <a:bodyPr wrap="square" lIns="0" tIns="0" rIns="0" bIns="0" rtlCol="0" anchor="ctr"/>
          <a:lstStyle/>
          <a:p>
            <a:pPr indent="0" marL="0">
              <a:buNone/>
            </a:pPr>
            <a:r>
              <a:rPr lang="en-US" sz="1300" i="1" dirty="0">
                <a:solidFill>
                  <a:srgbClr val="0F1341"/>
                </a:solidFill>
                <a:latin typeface="Montserrat" pitchFamily="34" charset="0"/>
                <a:ea typeface="Montserrat" pitchFamily="34" charset="-122"/>
                <a:cs typeface="Montserrat" pitchFamily="34" charset="-120"/>
              </a:rPr>
              <a:t>“If we message [segment] about [pain] with [angle], at least X% will reply positively within 14 days.”</a:t>
            </a:r>
            <a:endParaRPr lang="en-US" sz="1300" dirty="0"/>
          </a:p>
        </p:txBody>
      </p:sp>
      <p:sp>
        <p:nvSpPr>
          <p:cNvPr id="38" name="Text 30"/>
          <p:cNvSpPr txBox="1"/>
          <p:nvPr/>
        </p:nvSpPr>
        <p:spPr>
          <a:xfrm>
            <a:off x="6400800" y="3977640"/>
            <a:ext cx="4572000" cy="274320"/>
          </a:xfrm>
          <a:prstGeom prst="rect">
            <a:avLst/>
          </a:prstGeom>
          <a:noFill/>
          <a:ln/>
        </p:spPr>
        <p:txBody>
          <a:bodyPr wrap="square" lIns="0" tIns="0" rIns="0" bIns="0" rtlCol="0" anchor="t"/>
          <a:lstStyle/>
          <a:p>
            <a:pPr indent="0" marL="0">
              <a:buNone/>
            </a:pPr>
            <a:r>
              <a:rPr lang="en-US" sz="1000" b="1" spc="100" kern="0" dirty="0">
                <a:solidFill>
                  <a:srgbClr val="8A93A3"/>
                </a:solidFill>
                <a:latin typeface="Montserrat" pitchFamily="34" charset="0"/>
                <a:ea typeface="Montserrat" pitchFamily="34" charset="-122"/>
                <a:cs typeface="Montserrat" pitchFamily="34" charset="-120"/>
              </a:rPr>
              <a:t>REPLY TAXONOMY</a:t>
            </a:r>
            <a:endParaRPr lang="en-US" sz="1000" dirty="0"/>
          </a:p>
        </p:txBody>
      </p:sp>
      <p:sp>
        <p:nvSpPr>
          <p:cNvPr id="39" name="Shape 31"/>
          <p:cNvSpPr/>
          <p:nvPr/>
        </p:nvSpPr>
        <p:spPr>
          <a:xfrm>
            <a:off x="6400800" y="4297680"/>
            <a:ext cx="2514600" cy="274320"/>
          </a:xfrm>
          <a:prstGeom prst="roundRect">
            <a:avLst>
              <a:gd name="adj" fmla="val 26667"/>
            </a:avLst>
          </a:prstGeom>
          <a:solidFill>
            <a:srgbClr val="2E6FBF"/>
          </a:solidFill>
          <a:ln/>
        </p:spPr>
      </p:sp>
      <p:sp>
        <p:nvSpPr>
          <p:cNvPr id="40" name="Text 32"/>
          <p:cNvSpPr txBox="1"/>
          <p:nvPr/>
        </p:nvSpPr>
        <p:spPr>
          <a:xfrm>
            <a:off x="6400800" y="4297680"/>
            <a:ext cx="2514600" cy="274320"/>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Montserrat" pitchFamily="34" charset="0"/>
                <a:ea typeface="Montserrat" pitchFamily="34" charset="-122"/>
                <a:cs typeface="Montserrat" pitchFamily="34" charset="-120"/>
              </a:rPr>
              <a:t>Interested</a:t>
            </a:r>
            <a:endParaRPr lang="en-US" sz="900" dirty="0"/>
          </a:p>
        </p:txBody>
      </p:sp>
      <p:sp>
        <p:nvSpPr>
          <p:cNvPr id="41" name="Shape 33"/>
          <p:cNvSpPr/>
          <p:nvPr/>
        </p:nvSpPr>
        <p:spPr>
          <a:xfrm>
            <a:off x="9052560" y="4297680"/>
            <a:ext cx="2514600" cy="274320"/>
          </a:xfrm>
          <a:prstGeom prst="roundRect">
            <a:avLst>
              <a:gd name="adj" fmla="val 26667"/>
            </a:avLst>
          </a:prstGeom>
          <a:solidFill>
            <a:srgbClr val="6A7FA8"/>
          </a:solidFill>
          <a:ln/>
        </p:spPr>
      </p:sp>
      <p:sp>
        <p:nvSpPr>
          <p:cNvPr id="42" name="Text 34"/>
          <p:cNvSpPr txBox="1"/>
          <p:nvPr/>
        </p:nvSpPr>
        <p:spPr>
          <a:xfrm>
            <a:off x="9052560" y="4297680"/>
            <a:ext cx="2514600" cy="274320"/>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Montserrat" pitchFamily="34" charset="0"/>
                <a:ea typeface="Montserrat" pitchFamily="34" charset="-122"/>
                <a:cs typeface="Montserrat" pitchFamily="34" charset="-120"/>
              </a:rPr>
              <a:t>Not now</a:t>
            </a:r>
            <a:endParaRPr lang="en-US" sz="900" dirty="0"/>
          </a:p>
        </p:txBody>
      </p:sp>
      <p:sp>
        <p:nvSpPr>
          <p:cNvPr id="43" name="Shape 35"/>
          <p:cNvSpPr/>
          <p:nvPr/>
        </p:nvSpPr>
        <p:spPr>
          <a:xfrm>
            <a:off x="6400800" y="4681728"/>
            <a:ext cx="2514600" cy="274320"/>
          </a:xfrm>
          <a:prstGeom prst="roundRect">
            <a:avLst>
              <a:gd name="adj" fmla="val 26667"/>
            </a:avLst>
          </a:prstGeom>
          <a:solidFill>
            <a:srgbClr val="6A7FA8"/>
          </a:solidFill>
          <a:ln/>
        </p:spPr>
      </p:sp>
      <p:sp>
        <p:nvSpPr>
          <p:cNvPr id="44" name="Text 36"/>
          <p:cNvSpPr txBox="1"/>
          <p:nvPr/>
        </p:nvSpPr>
        <p:spPr>
          <a:xfrm>
            <a:off x="6400800" y="4681728"/>
            <a:ext cx="2514600" cy="274320"/>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Montserrat" pitchFamily="34" charset="0"/>
                <a:ea typeface="Montserrat" pitchFamily="34" charset="-122"/>
                <a:cs typeface="Montserrat" pitchFamily="34" charset="-120"/>
              </a:rPr>
              <a:t>Wrong person</a:t>
            </a:r>
            <a:endParaRPr lang="en-US" sz="900" dirty="0"/>
          </a:p>
        </p:txBody>
      </p:sp>
      <p:sp>
        <p:nvSpPr>
          <p:cNvPr id="45" name="Shape 37"/>
          <p:cNvSpPr/>
          <p:nvPr/>
        </p:nvSpPr>
        <p:spPr>
          <a:xfrm>
            <a:off x="9052560" y="4681728"/>
            <a:ext cx="2514600" cy="274320"/>
          </a:xfrm>
          <a:prstGeom prst="roundRect">
            <a:avLst>
              <a:gd name="adj" fmla="val 26667"/>
            </a:avLst>
          </a:prstGeom>
          <a:solidFill>
            <a:srgbClr val="C9D3E3"/>
          </a:solidFill>
          <a:ln/>
        </p:spPr>
      </p:sp>
      <p:sp>
        <p:nvSpPr>
          <p:cNvPr id="46" name="Text 38"/>
          <p:cNvSpPr txBox="1"/>
          <p:nvPr/>
        </p:nvSpPr>
        <p:spPr>
          <a:xfrm>
            <a:off x="9052560" y="4681728"/>
            <a:ext cx="2514600" cy="274320"/>
          </a:xfrm>
          <a:prstGeom prst="rect">
            <a:avLst/>
          </a:prstGeom>
          <a:noFill/>
          <a:ln/>
        </p:spPr>
        <p:txBody>
          <a:bodyPr wrap="square" lIns="0" tIns="0" rIns="0" bIns="0" rtlCol="0" anchor="ctr"/>
          <a:lstStyle/>
          <a:p>
            <a:pPr algn="ctr" indent="0" marL="0">
              <a:buNone/>
            </a:pPr>
            <a:r>
              <a:rPr lang="en-US" sz="900" b="1" spc="100" kern="0" dirty="0">
                <a:solidFill>
                  <a:srgbClr val="0F1341"/>
                </a:solidFill>
                <a:latin typeface="Montserrat" pitchFamily="34" charset="0"/>
                <a:ea typeface="Montserrat" pitchFamily="34" charset="-122"/>
                <a:cs typeface="Montserrat" pitchFamily="34" charset="-120"/>
              </a:rPr>
              <a:t>Unsubscribe</a:t>
            </a:r>
            <a:endParaRPr lang="en-US" sz="900" dirty="0"/>
          </a:p>
        </p:txBody>
      </p:sp>
      <p:sp>
        <p:nvSpPr>
          <p:cNvPr id="47" name="Shape 39"/>
          <p:cNvSpPr/>
          <p:nvPr/>
        </p:nvSpPr>
        <p:spPr>
          <a:xfrm>
            <a:off x="6400800" y="5065776"/>
            <a:ext cx="5166360" cy="274320"/>
          </a:xfrm>
          <a:prstGeom prst="roundRect">
            <a:avLst>
              <a:gd name="adj" fmla="val 26667"/>
            </a:avLst>
          </a:prstGeom>
          <a:solidFill>
            <a:srgbClr val="0F1341"/>
          </a:solidFill>
          <a:ln/>
        </p:spPr>
      </p:sp>
      <p:sp>
        <p:nvSpPr>
          <p:cNvPr id="48" name="Text 40"/>
          <p:cNvSpPr txBox="1"/>
          <p:nvPr/>
        </p:nvSpPr>
        <p:spPr>
          <a:xfrm>
            <a:off x="6400800" y="5065776"/>
            <a:ext cx="5166360" cy="274320"/>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Montserrat" pitchFamily="34" charset="0"/>
                <a:ea typeface="Montserrat" pitchFamily="34" charset="-122"/>
                <a:cs typeface="Montserrat" pitchFamily="34" charset="-120"/>
              </a:rPr>
              <a:t>Objection: price / timing / trust / no need</a:t>
            </a:r>
            <a:endParaRPr lang="en-US" sz="900" dirty="0"/>
          </a:p>
        </p:txBody>
      </p:sp>
      <p:sp>
        <p:nvSpPr>
          <p:cNvPr id="49" name="Shape 41"/>
          <p:cNvSpPr/>
          <p:nvPr/>
        </p:nvSpPr>
        <p:spPr>
          <a:xfrm>
            <a:off x="548640" y="5623560"/>
            <a:ext cx="11091672" cy="502920"/>
          </a:xfrm>
          <a:prstGeom prst="roundRect">
            <a:avLst>
              <a:gd name="adj" fmla="val 14545"/>
            </a:avLst>
          </a:prstGeom>
          <a:solidFill>
            <a:srgbClr val="0F1341"/>
          </a:solidFill>
          <a:ln/>
        </p:spPr>
      </p:sp>
      <p:sp>
        <p:nvSpPr>
          <p:cNvPr id="50" name="Text 42"/>
          <p:cNvSpPr txBox="1"/>
          <p:nvPr/>
        </p:nvSpPr>
        <p:spPr>
          <a:xfrm>
            <a:off x="777240" y="5623560"/>
            <a:ext cx="10698480" cy="502920"/>
          </a:xfrm>
          <a:prstGeom prst="rect">
            <a:avLst/>
          </a:prstGeom>
          <a:noFill/>
          <a:ln/>
        </p:spPr>
        <p:txBody>
          <a:bodyPr wrap="square" lIns="0" tIns="0" rIns="0" bIns="0" rtlCol="0" anchor="ctr"/>
          <a:lstStyle/>
          <a:p>
            <a:pPr indent="0" marL="0">
              <a:buNone/>
            </a:pPr>
            <a:r>
              <a:rPr lang="en-US" sz="1300" b="1" dirty="0">
                <a:solidFill>
                  <a:srgbClr val="4A8FDB"/>
                </a:solidFill>
                <a:latin typeface="Montserrat" pitchFamily="34" charset="0"/>
                <a:ea typeface="Montserrat" pitchFamily="34" charset="-122"/>
                <a:cs typeface="Montserrat" pitchFamily="34" charset="-120"/>
              </a:rPr>
              <a:t>Live demo · Claude Code: </a:t>
            </a:r>
            <a:pPr indent="0" marL="0">
              <a:buNone/>
            </a:pPr>
            <a:r>
              <a:rPr lang="en-US" sz="1300" dirty="0">
                <a:solidFill>
                  <a:srgbClr val="FFFFFF"/>
                </a:solidFill>
                <a:latin typeface="Montserrat" pitchFamily="34" charset="0"/>
                <a:ea typeface="Montserrat" pitchFamily="34" charset="-122"/>
                <a:cs typeface="Montserrat" pitchFamily="34" charset="-120"/>
              </a:rPr>
              <a:t>you give the ICP and two pain angles — the tool builds both campaign variants live.</a:t>
            </a:r>
            <a:endParaRPr lang="en-US" sz="13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3A3"/>
                </a:solidFill>
                <a:latin typeface="Montserrat"/>
                <a:ea typeface="Montserrat"/>
                <a:cs typeface="Montserrat"/>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2" type="title" hasCustomPrompt="1"/>
          </p:nvPr>
        </p:nvSpPr>
        <p:spPr>
          <a:xfrm>
            <a:off x="548640" y="502920"/>
            <a:ext cx="7863840" cy="685800"/>
          </a:xfrm>
          <a:prstGeom prst="rect">
            <a:avLst/>
          </a:prstGeom>
          <a:noFill/>
          <a:ln/>
        </p:spPr>
        <p:txBody>
          <a:bodyPr wrap="square" lIns="0" tIns="0" rIns="0" bIns="0" rtlCol="0" anchor="t"/>
          <a:lstStyle/>
          <a:p>
            <a:pPr algn="l" indent="0" marL="0">
              <a:buNone/>
            </a:pPr>
            <a:r>
              <a:rPr lang="en-US" sz="2800" b="1" dirty="0">
                <a:solidFill>
                  <a:srgbClr val="0F1341"/>
                </a:solidFill>
                <a:latin typeface="Montserrat" pitchFamily="34" charset="0"/>
                <a:ea typeface="Montserrat" pitchFamily="34" charset="-122"/>
                <a:cs typeface="Montserrat" pitchFamily="34" charset="-120"/>
              </a:rPr>
              <a:t>Five AI engines behind AI-native sales</a:t>
            </a:r>
            <a:endParaRPr lang="en-US" sz="2800" dirty="0"/>
          </a:p>
        </p:txBody>
      </p:sp>
      <p:sp>
        <p:nvSpPr>
          <p:cNvPr id="3" name="Text 0"/>
          <p:cNvSpPr/>
          <p:nvPr>
            <p:ph idx="103" type="body" hasCustomPrompt="1"/>
          </p:nvPr>
        </p:nvSpPr>
        <p:spPr>
          <a:xfrm>
            <a:off x="548640" y="1207008"/>
            <a:ext cx="8778240" cy="365760"/>
          </a:xfrm>
          <a:prstGeom prst="rect">
            <a:avLst/>
          </a:prstGeom>
          <a:noFill/>
          <a:ln/>
        </p:spPr>
        <p:txBody>
          <a:bodyPr wrap="square" lIns="0" tIns="0" rIns="0" bIns="0" rtlCol="0" anchor="t"/>
          <a:lstStyle/>
          <a:p>
            <a:pPr algn="l" indent="0" marL="0">
              <a:buNone/>
            </a:pPr>
            <a:r>
              <a:rPr lang="en-US" sz="1300" dirty="0">
                <a:solidFill>
                  <a:srgbClr val="5B6270"/>
                </a:solidFill>
                <a:latin typeface="Montserrat" pitchFamily="34" charset="0"/>
                <a:ea typeface="Montserrat" pitchFamily="34" charset="-122"/>
                <a:cs typeface="Montserrat" pitchFamily="34" charset="-120"/>
              </a:rPr>
              <a:t>E1 is the one you see — four more decide where it is worth sending at all</a:t>
            </a:r>
            <a:endParaRPr lang="en-US" sz="1300" dirty="0"/>
          </a:p>
        </p:txBody>
      </p:sp>
      <p:sp>
        <p:nvSpPr>
          <p:cNvPr id="5" name="Text 2"/>
          <p:cNvSpPr txBox="1"/>
          <p:nvPr/>
        </p:nvSpPr>
        <p:spPr>
          <a:xfrm>
            <a:off x="548640" y="1755648"/>
            <a:ext cx="3657600" cy="228600"/>
          </a:xfrm>
          <a:prstGeom prst="rect">
            <a:avLst/>
          </a:prstGeom>
          <a:noFill/>
          <a:ln/>
        </p:spPr>
        <p:txBody>
          <a:bodyPr wrap="square" lIns="0" tIns="0" rIns="0" bIns="0" rtlCol="0" anchor="t"/>
          <a:lstStyle/>
          <a:p>
            <a:pPr indent="0" marL="0">
              <a:buNone/>
            </a:pPr>
            <a:r>
              <a:rPr lang="en-US" sz="900" b="1" spc="100" kern="0" dirty="0">
                <a:solidFill>
                  <a:srgbClr val="8A93A3"/>
                </a:solidFill>
                <a:latin typeface="Montserrat" pitchFamily="34" charset="0"/>
                <a:ea typeface="Montserrat" pitchFamily="34" charset="-122"/>
                <a:cs typeface="Montserrat" pitchFamily="34" charset="-120"/>
              </a:rPr>
              <a:t>ENGINE  ·  AI MECHANISM</a:t>
            </a:r>
            <a:endParaRPr lang="en-US" sz="900" dirty="0"/>
          </a:p>
        </p:txBody>
      </p:sp>
      <p:sp>
        <p:nvSpPr>
          <p:cNvPr id="6" name="Text 3"/>
          <p:cNvSpPr txBox="1"/>
          <p:nvPr/>
        </p:nvSpPr>
        <p:spPr>
          <a:xfrm>
            <a:off x="4160520" y="1755648"/>
            <a:ext cx="3657600" cy="228600"/>
          </a:xfrm>
          <a:prstGeom prst="rect">
            <a:avLst/>
          </a:prstGeom>
          <a:noFill/>
          <a:ln/>
        </p:spPr>
        <p:txBody>
          <a:bodyPr wrap="square" lIns="0" tIns="0" rIns="0" bIns="0" rtlCol="0" anchor="t"/>
          <a:lstStyle/>
          <a:p>
            <a:pPr indent="0" marL="0">
              <a:buNone/>
            </a:pPr>
            <a:r>
              <a:rPr lang="en-US" sz="900" b="1" spc="100" kern="0" dirty="0">
                <a:solidFill>
                  <a:srgbClr val="8A93A3"/>
                </a:solidFill>
                <a:latin typeface="Montserrat" pitchFamily="34" charset="0"/>
                <a:ea typeface="Montserrat" pitchFamily="34" charset="-122"/>
                <a:cs typeface="Montserrat" pitchFamily="34" charset="-120"/>
              </a:rPr>
              <a:t>WHAT IT DOES</a:t>
            </a:r>
            <a:endParaRPr lang="en-US" sz="900" dirty="0"/>
          </a:p>
        </p:txBody>
      </p:sp>
      <p:sp>
        <p:nvSpPr>
          <p:cNvPr id="7" name="Text 4"/>
          <p:cNvSpPr txBox="1"/>
          <p:nvPr/>
        </p:nvSpPr>
        <p:spPr>
          <a:xfrm>
            <a:off x="8092440" y="1755648"/>
            <a:ext cx="3566160" cy="228600"/>
          </a:xfrm>
          <a:prstGeom prst="rect">
            <a:avLst/>
          </a:prstGeom>
          <a:noFill/>
          <a:ln/>
        </p:spPr>
        <p:txBody>
          <a:bodyPr wrap="square" lIns="0" tIns="0" rIns="0" bIns="0" rtlCol="0" anchor="t"/>
          <a:lstStyle/>
          <a:p>
            <a:pPr indent="0" marL="0">
              <a:buNone/>
            </a:pPr>
            <a:r>
              <a:rPr lang="en-US" sz="900" b="1" spc="100" kern="0" dirty="0">
                <a:solidFill>
                  <a:srgbClr val="2E6FBF"/>
                </a:solidFill>
                <a:latin typeface="Montserrat" pitchFamily="34" charset="0"/>
                <a:ea typeface="Montserrat" pitchFamily="34" charset="-122"/>
                <a:cs typeface="Montserrat" pitchFamily="34" charset="-120"/>
              </a:rPr>
              <a:t>WHAT IT MEANS FOR SALES</a:t>
            </a:r>
            <a:endParaRPr lang="en-US" sz="900" dirty="0"/>
          </a:p>
        </p:txBody>
      </p:sp>
      <p:sp>
        <p:nvSpPr>
          <p:cNvPr id="8" name="Shape 5"/>
          <p:cNvSpPr/>
          <p:nvPr/>
        </p:nvSpPr>
        <p:spPr>
          <a:xfrm>
            <a:off x="548640" y="2029968"/>
            <a:ext cx="11091672" cy="676656"/>
          </a:xfrm>
          <a:prstGeom prst="roundRect">
            <a:avLst>
              <a:gd name="adj" fmla="val 10811"/>
            </a:avLst>
          </a:prstGeom>
          <a:solidFill>
            <a:srgbClr val="F3F7FC"/>
          </a:solidFill>
          <a:ln/>
        </p:spPr>
      </p:sp>
      <p:sp>
        <p:nvSpPr>
          <p:cNvPr id="9" name="Shape 6"/>
          <p:cNvSpPr/>
          <p:nvPr/>
        </p:nvSpPr>
        <p:spPr>
          <a:xfrm>
            <a:off x="685800" y="2157984"/>
            <a:ext cx="420624" cy="420624"/>
          </a:xfrm>
          <a:prstGeom prst="ellipse">
            <a:avLst/>
          </a:prstGeom>
          <a:solidFill>
            <a:srgbClr val="0F1341"/>
          </a:solidFill>
          <a:ln/>
        </p:spPr>
      </p:sp>
      <p:sp>
        <p:nvSpPr>
          <p:cNvPr id="10" name="Text 7"/>
          <p:cNvSpPr txBox="1"/>
          <p:nvPr/>
        </p:nvSpPr>
        <p:spPr>
          <a:xfrm>
            <a:off x="685800" y="2157984"/>
            <a:ext cx="420624"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Montserrat" pitchFamily="34" charset="0"/>
                <a:ea typeface="Montserrat" pitchFamily="34" charset="-122"/>
                <a:cs typeface="Montserrat" pitchFamily="34" charset="-120"/>
              </a:rPr>
              <a:t>E4</a:t>
            </a:r>
            <a:endParaRPr lang="en-US" sz="1100" dirty="0"/>
          </a:p>
        </p:txBody>
      </p:sp>
      <p:sp>
        <p:nvSpPr>
          <p:cNvPr id="11" name="Text 8"/>
          <p:cNvSpPr txBox="1"/>
          <p:nvPr/>
        </p:nvSpPr>
        <p:spPr>
          <a:xfrm>
            <a:off x="1234440" y="2103120"/>
            <a:ext cx="2834640" cy="292608"/>
          </a:xfrm>
          <a:prstGeom prst="rect">
            <a:avLst/>
          </a:prstGeom>
          <a:noFill/>
          <a:ln/>
        </p:spPr>
        <p:txBody>
          <a:bodyPr wrap="square" lIns="0" tIns="0" rIns="0" bIns="0" rtlCol="0" anchor="t"/>
          <a:lstStyle/>
          <a:p>
            <a:pPr indent="0" marL="0">
              <a:buNone/>
            </a:pPr>
            <a:r>
              <a:rPr lang="en-US" sz="1300" b="1" dirty="0">
                <a:solidFill>
                  <a:srgbClr val="0F1341"/>
                </a:solidFill>
                <a:latin typeface="Montserrat" pitchFamily="34" charset="0"/>
                <a:ea typeface="Montserrat" pitchFamily="34" charset="-122"/>
                <a:cs typeface="Montserrat" pitchFamily="34" charset="-120"/>
              </a:rPr>
              <a:t>Context Engine</a:t>
            </a:r>
            <a:endParaRPr lang="en-US" sz="1300" dirty="0"/>
          </a:p>
        </p:txBody>
      </p:sp>
      <p:sp>
        <p:nvSpPr>
          <p:cNvPr id="12" name="Text 9"/>
          <p:cNvSpPr txBox="1"/>
          <p:nvPr/>
        </p:nvSpPr>
        <p:spPr>
          <a:xfrm>
            <a:off x="1234440" y="2414016"/>
            <a:ext cx="2834640" cy="228600"/>
          </a:xfrm>
          <a:prstGeom prst="rect">
            <a:avLst/>
          </a:prstGeom>
          <a:noFill/>
          <a:ln/>
        </p:spPr>
        <p:txBody>
          <a:bodyPr wrap="square" lIns="0" tIns="0" rIns="0" bIns="0" rtlCol="0" anchor="t"/>
          <a:lstStyle/>
          <a:p>
            <a:pPr indent="0" marL="0">
              <a:buNone/>
            </a:pPr>
            <a:r>
              <a:rPr lang="en-US" sz="900" b="1" spc="100" kern="0" dirty="0">
                <a:solidFill>
                  <a:srgbClr val="2E6FBF"/>
                </a:solidFill>
                <a:latin typeface="Montserrat" pitchFamily="34" charset="0"/>
                <a:ea typeface="Montserrat" pitchFamily="34" charset="-122"/>
                <a:cs typeface="Montserrat" pitchFamily="34" charset="-120"/>
              </a:rPr>
              <a:t>LLM RESEARCH AGENT</a:t>
            </a:r>
            <a:endParaRPr lang="en-US" sz="900" dirty="0"/>
          </a:p>
        </p:txBody>
      </p:sp>
      <p:sp>
        <p:nvSpPr>
          <p:cNvPr id="13" name="Text 10"/>
          <p:cNvSpPr txBox="1"/>
          <p:nvPr/>
        </p:nvSpPr>
        <p:spPr>
          <a:xfrm>
            <a:off x="4160520" y="2029968"/>
            <a:ext cx="3749040" cy="676656"/>
          </a:xfrm>
          <a:prstGeom prst="rect">
            <a:avLst/>
          </a:prstGeom>
          <a:noFill/>
          <a:ln/>
        </p:spPr>
        <p:txBody>
          <a:bodyPr wrap="square" lIns="0" tIns="0" rIns="0" bIns="0" rtlCol="0" anchor="ctr"/>
          <a:lstStyle/>
          <a:p>
            <a:pPr indent="0" marL="0">
              <a:buNone/>
            </a:pPr>
            <a:r>
              <a:rPr lang="en-US" sz="1100" dirty="0">
                <a:solidFill>
                  <a:srgbClr val="5B6270"/>
                </a:solidFill>
                <a:latin typeface="Montserrat" pitchFamily="34" charset="0"/>
                <a:ea typeface="Montserrat" pitchFamily="34" charset="-122"/>
                <a:cs typeface="Montserrat" pitchFamily="34" charset="-120"/>
              </a:rPr>
              <a:t>Reads competitor sites, reviews, regulation and news — extracts only what sources state</a:t>
            </a:r>
            <a:endParaRPr lang="en-US" sz="1100" dirty="0"/>
          </a:p>
        </p:txBody>
      </p:sp>
      <p:sp>
        <p:nvSpPr>
          <p:cNvPr id="14" name="Text 11"/>
          <p:cNvSpPr txBox="1"/>
          <p:nvPr/>
        </p:nvSpPr>
        <p:spPr>
          <a:xfrm>
            <a:off x="8092440" y="2029968"/>
            <a:ext cx="3429000" cy="676656"/>
          </a:xfrm>
          <a:prstGeom prst="rect">
            <a:avLst/>
          </a:prstGeom>
          <a:noFill/>
          <a:ln/>
        </p:spPr>
        <p:txBody>
          <a:bodyPr wrap="square" lIns="0" tIns="0" rIns="0" bIns="0" rtlCol="0" anchor="ctr"/>
          <a:lstStyle/>
          <a:p>
            <a:pPr indent="0" marL="0">
              <a:buNone/>
            </a:pPr>
            <a:r>
              <a:rPr lang="en-US" sz="1200" b="1" dirty="0">
                <a:solidFill>
                  <a:srgbClr val="0F1341"/>
                </a:solidFill>
                <a:latin typeface="Montserrat" pitchFamily="34" charset="0"/>
                <a:ea typeface="Montserrat" pitchFamily="34" charset="-122"/>
                <a:cs typeface="Montserrat" pitchFamily="34" charset="-120"/>
              </a:rPr>
              <a:t>Which segment has the pain, which objections are public?</a:t>
            </a:r>
            <a:endParaRPr lang="en-US" sz="1200" dirty="0"/>
          </a:p>
        </p:txBody>
      </p:sp>
      <p:sp>
        <p:nvSpPr>
          <p:cNvPr id="15" name="Shape 12"/>
          <p:cNvSpPr/>
          <p:nvPr/>
        </p:nvSpPr>
        <p:spPr>
          <a:xfrm>
            <a:off x="548640" y="2779776"/>
            <a:ext cx="11091672" cy="676656"/>
          </a:xfrm>
          <a:prstGeom prst="roundRect">
            <a:avLst>
              <a:gd name="adj" fmla="val 10811"/>
            </a:avLst>
          </a:prstGeom>
          <a:solidFill>
            <a:srgbClr val="F3F7FC"/>
          </a:solidFill>
          <a:ln/>
        </p:spPr>
      </p:sp>
      <p:sp>
        <p:nvSpPr>
          <p:cNvPr id="16" name="Shape 13"/>
          <p:cNvSpPr/>
          <p:nvPr/>
        </p:nvSpPr>
        <p:spPr>
          <a:xfrm>
            <a:off x="685800" y="2907792"/>
            <a:ext cx="420624" cy="420624"/>
          </a:xfrm>
          <a:prstGeom prst="ellipse">
            <a:avLst/>
          </a:prstGeom>
          <a:solidFill>
            <a:srgbClr val="0F1341"/>
          </a:solidFill>
          <a:ln/>
        </p:spPr>
      </p:sp>
      <p:sp>
        <p:nvSpPr>
          <p:cNvPr id="17" name="Text 14"/>
          <p:cNvSpPr txBox="1"/>
          <p:nvPr/>
        </p:nvSpPr>
        <p:spPr>
          <a:xfrm>
            <a:off x="685800" y="2907792"/>
            <a:ext cx="420624"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Montserrat" pitchFamily="34" charset="0"/>
                <a:ea typeface="Montserrat" pitchFamily="34" charset="-122"/>
                <a:cs typeface="Montserrat" pitchFamily="34" charset="-120"/>
              </a:rPr>
              <a:t>E5</a:t>
            </a:r>
            <a:endParaRPr lang="en-US" sz="1100" dirty="0"/>
          </a:p>
        </p:txBody>
      </p:sp>
      <p:sp>
        <p:nvSpPr>
          <p:cNvPr id="18" name="Text 15"/>
          <p:cNvSpPr txBox="1"/>
          <p:nvPr/>
        </p:nvSpPr>
        <p:spPr>
          <a:xfrm>
            <a:off x="1234440" y="2852928"/>
            <a:ext cx="2834640" cy="292608"/>
          </a:xfrm>
          <a:prstGeom prst="rect">
            <a:avLst/>
          </a:prstGeom>
          <a:noFill/>
          <a:ln/>
        </p:spPr>
        <p:txBody>
          <a:bodyPr wrap="square" lIns="0" tIns="0" rIns="0" bIns="0" rtlCol="0" anchor="t"/>
          <a:lstStyle/>
          <a:p>
            <a:pPr indent="0" marL="0">
              <a:buNone/>
            </a:pPr>
            <a:r>
              <a:rPr lang="en-US" sz="1300" b="1" dirty="0">
                <a:solidFill>
                  <a:srgbClr val="0F1341"/>
                </a:solidFill>
                <a:latin typeface="Montserrat" pitchFamily="34" charset="0"/>
                <a:ea typeface="Montserrat" pitchFamily="34" charset="-122"/>
                <a:cs typeface="Montserrat" pitchFamily="34" charset="-120"/>
              </a:rPr>
              <a:t>Aggregate Research</a:t>
            </a:r>
            <a:endParaRPr lang="en-US" sz="1300" dirty="0"/>
          </a:p>
        </p:txBody>
      </p:sp>
      <p:sp>
        <p:nvSpPr>
          <p:cNvPr id="19" name="Text 16"/>
          <p:cNvSpPr txBox="1"/>
          <p:nvPr/>
        </p:nvSpPr>
        <p:spPr>
          <a:xfrm>
            <a:off x="1234440" y="3163824"/>
            <a:ext cx="2834640" cy="228600"/>
          </a:xfrm>
          <a:prstGeom prst="rect">
            <a:avLst/>
          </a:prstGeom>
          <a:noFill/>
          <a:ln/>
        </p:spPr>
        <p:txBody>
          <a:bodyPr wrap="square" lIns="0" tIns="0" rIns="0" bIns="0" rtlCol="0" anchor="t"/>
          <a:lstStyle/>
          <a:p>
            <a:pPr indent="0" marL="0">
              <a:buNone/>
            </a:pPr>
            <a:r>
              <a:rPr lang="en-US" sz="900" b="1" spc="100" kern="0" dirty="0">
                <a:solidFill>
                  <a:srgbClr val="2E6FBF"/>
                </a:solidFill>
                <a:latin typeface="Montserrat" pitchFamily="34" charset="0"/>
                <a:ea typeface="Montserrat" pitchFamily="34" charset="-122"/>
                <a:cs typeface="Montserrat" pitchFamily="34" charset="-120"/>
              </a:rPr>
              <a:t>STATISTICAL AGENT</a:t>
            </a:r>
            <a:endParaRPr lang="en-US" sz="900" dirty="0"/>
          </a:p>
        </p:txBody>
      </p:sp>
      <p:sp>
        <p:nvSpPr>
          <p:cNvPr id="20" name="Text 17"/>
          <p:cNvSpPr txBox="1"/>
          <p:nvPr/>
        </p:nvSpPr>
        <p:spPr>
          <a:xfrm>
            <a:off x="4160520" y="2779776"/>
            <a:ext cx="3749040" cy="676656"/>
          </a:xfrm>
          <a:prstGeom prst="rect">
            <a:avLst/>
          </a:prstGeom>
          <a:noFill/>
          <a:ln/>
        </p:spPr>
        <p:txBody>
          <a:bodyPr wrap="square" lIns="0" tIns="0" rIns="0" bIns="0" rtlCol="0" anchor="ctr"/>
          <a:lstStyle/>
          <a:p>
            <a:pPr indent="0" marL="0">
              <a:buNone/>
            </a:pPr>
            <a:r>
              <a:rPr lang="en-US" sz="1100" dirty="0">
                <a:solidFill>
                  <a:srgbClr val="5B6270"/>
                </a:solidFill>
                <a:latin typeface="Montserrat" pitchFamily="34" charset="0"/>
                <a:ea typeface="Montserrat" pitchFamily="34" charset="-122"/>
                <a:cs typeface="Montserrat" pitchFamily="34" charset="-120"/>
              </a:rPr>
              <a:t>Official statistics, TAM / SAM / SOM — top-down and bottom-up</a:t>
            </a:r>
            <a:endParaRPr lang="en-US" sz="1100" dirty="0"/>
          </a:p>
        </p:txBody>
      </p:sp>
      <p:sp>
        <p:nvSpPr>
          <p:cNvPr id="21" name="Text 18"/>
          <p:cNvSpPr txBox="1"/>
          <p:nvPr/>
        </p:nvSpPr>
        <p:spPr>
          <a:xfrm>
            <a:off x="8092440" y="2779776"/>
            <a:ext cx="3429000" cy="676656"/>
          </a:xfrm>
          <a:prstGeom prst="rect">
            <a:avLst/>
          </a:prstGeom>
          <a:noFill/>
          <a:ln/>
        </p:spPr>
        <p:txBody>
          <a:bodyPr wrap="square" lIns="0" tIns="0" rIns="0" bIns="0" rtlCol="0" anchor="ctr"/>
          <a:lstStyle/>
          <a:p>
            <a:pPr indent="0" marL="0">
              <a:buNone/>
            </a:pPr>
            <a:r>
              <a:rPr lang="en-US" sz="1200" b="1" dirty="0">
                <a:solidFill>
                  <a:srgbClr val="0F1341"/>
                </a:solidFill>
                <a:latin typeface="Montserrat" pitchFamily="34" charset="0"/>
                <a:ea typeface="Montserrat" pitchFamily="34" charset="-122"/>
                <a:cs typeface="Montserrat" pitchFamily="34" charset="-120"/>
              </a:rPr>
              <a:t>How many in-target companies exist — the funnel ceiling</a:t>
            </a:r>
            <a:endParaRPr lang="en-US" sz="1200" dirty="0"/>
          </a:p>
        </p:txBody>
      </p:sp>
      <p:sp>
        <p:nvSpPr>
          <p:cNvPr id="22" name="Shape 19"/>
          <p:cNvSpPr/>
          <p:nvPr/>
        </p:nvSpPr>
        <p:spPr>
          <a:xfrm>
            <a:off x="548640" y="3529584"/>
            <a:ext cx="11091672" cy="676656"/>
          </a:xfrm>
          <a:prstGeom prst="roundRect">
            <a:avLst>
              <a:gd name="adj" fmla="val 10811"/>
            </a:avLst>
          </a:prstGeom>
          <a:solidFill>
            <a:srgbClr val="F3F7FC"/>
          </a:solidFill>
          <a:ln/>
        </p:spPr>
      </p:sp>
      <p:sp>
        <p:nvSpPr>
          <p:cNvPr id="23" name="Shape 20"/>
          <p:cNvSpPr/>
          <p:nvPr/>
        </p:nvSpPr>
        <p:spPr>
          <a:xfrm>
            <a:off x="685800" y="3657600"/>
            <a:ext cx="420624" cy="420624"/>
          </a:xfrm>
          <a:prstGeom prst="ellipse">
            <a:avLst/>
          </a:prstGeom>
          <a:solidFill>
            <a:srgbClr val="0F1341"/>
          </a:solidFill>
          <a:ln/>
        </p:spPr>
      </p:sp>
      <p:sp>
        <p:nvSpPr>
          <p:cNvPr id="24" name="Text 21"/>
          <p:cNvSpPr txBox="1"/>
          <p:nvPr/>
        </p:nvSpPr>
        <p:spPr>
          <a:xfrm>
            <a:off x="685800" y="3657600"/>
            <a:ext cx="420624"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Montserrat" pitchFamily="34" charset="0"/>
                <a:ea typeface="Montserrat" pitchFamily="34" charset="-122"/>
                <a:cs typeface="Montserrat" pitchFamily="34" charset="-120"/>
              </a:rPr>
              <a:t>E2</a:t>
            </a:r>
            <a:endParaRPr lang="en-US" sz="1100" dirty="0"/>
          </a:p>
        </p:txBody>
      </p:sp>
      <p:sp>
        <p:nvSpPr>
          <p:cNvPr id="25" name="Text 22"/>
          <p:cNvSpPr txBox="1"/>
          <p:nvPr/>
        </p:nvSpPr>
        <p:spPr>
          <a:xfrm>
            <a:off x="1234440" y="3602736"/>
            <a:ext cx="2834640" cy="292608"/>
          </a:xfrm>
          <a:prstGeom prst="rect">
            <a:avLst/>
          </a:prstGeom>
          <a:noFill/>
          <a:ln/>
        </p:spPr>
        <p:txBody>
          <a:bodyPr wrap="square" lIns="0" tIns="0" rIns="0" bIns="0" rtlCol="0" anchor="t"/>
          <a:lstStyle/>
          <a:p>
            <a:pPr indent="0" marL="0">
              <a:buNone/>
            </a:pPr>
            <a:r>
              <a:rPr lang="en-US" sz="1300" b="1" dirty="0">
                <a:solidFill>
                  <a:srgbClr val="0F1341"/>
                </a:solidFill>
                <a:latin typeface="Montserrat" pitchFamily="34" charset="0"/>
                <a:ea typeface="Montserrat" pitchFamily="34" charset="-122"/>
                <a:cs typeface="Montserrat" pitchFamily="34" charset="-120"/>
              </a:rPr>
              <a:t>Simulated Mind</a:t>
            </a:r>
            <a:endParaRPr lang="en-US" sz="1300" dirty="0"/>
          </a:p>
        </p:txBody>
      </p:sp>
      <p:sp>
        <p:nvSpPr>
          <p:cNvPr id="26" name="Text 23"/>
          <p:cNvSpPr txBox="1"/>
          <p:nvPr/>
        </p:nvSpPr>
        <p:spPr>
          <a:xfrm>
            <a:off x="1234440" y="3913632"/>
            <a:ext cx="2834640" cy="228600"/>
          </a:xfrm>
          <a:prstGeom prst="rect">
            <a:avLst/>
          </a:prstGeom>
          <a:noFill/>
          <a:ln/>
        </p:spPr>
        <p:txBody>
          <a:bodyPr wrap="square" lIns="0" tIns="0" rIns="0" bIns="0" rtlCol="0" anchor="t"/>
          <a:lstStyle/>
          <a:p>
            <a:pPr indent="0" marL="0">
              <a:buNone/>
            </a:pPr>
            <a:r>
              <a:rPr lang="en-US" sz="900" b="1" spc="100" kern="0" dirty="0">
                <a:solidFill>
                  <a:srgbClr val="2E6FBF"/>
                </a:solidFill>
                <a:latin typeface="Montserrat" pitchFamily="34" charset="0"/>
                <a:ea typeface="Montserrat" pitchFamily="34" charset="-122"/>
                <a:cs typeface="Montserrat" pitchFamily="34" charset="-120"/>
              </a:rPr>
              <a:t>NEURO-AI MODEL</a:t>
            </a:r>
            <a:endParaRPr lang="en-US" sz="900" dirty="0"/>
          </a:p>
        </p:txBody>
      </p:sp>
      <p:sp>
        <p:nvSpPr>
          <p:cNvPr id="27" name="Text 24"/>
          <p:cNvSpPr txBox="1"/>
          <p:nvPr/>
        </p:nvSpPr>
        <p:spPr>
          <a:xfrm>
            <a:off x="4160520" y="3529584"/>
            <a:ext cx="3749040" cy="676656"/>
          </a:xfrm>
          <a:prstGeom prst="rect">
            <a:avLst/>
          </a:prstGeom>
          <a:noFill/>
          <a:ln/>
        </p:spPr>
        <p:txBody>
          <a:bodyPr wrap="square" lIns="0" tIns="0" rIns="0" bIns="0" rtlCol="0" anchor="ctr"/>
          <a:lstStyle/>
          <a:p>
            <a:pPr indent="0" marL="0">
              <a:buNone/>
            </a:pPr>
            <a:r>
              <a:rPr lang="en-US" sz="1100" dirty="0">
                <a:solidFill>
                  <a:srgbClr val="5B6270"/>
                </a:solidFill>
                <a:latin typeface="Montserrat" pitchFamily="34" charset="0"/>
                <a:ea typeface="Montserrat" pitchFamily="34" charset="-122"/>
                <a:cs typeface="Montserrat" pitchFamily="34" charset="-120"/>
              </a:rPr>
              <a:t>Predicts a segment's attention and valuation response to a message or price</a:t>
            </a:r>
            <a:endParaRPr lang="en-US" sz="1100" dirty="0"/>
          </a:p>
        </p:txBody>
      </p:sp>
      <p:sp>
        <p:nvSpPr>
          <p:cNvPr id="28" name="Text 25"/>
          <p:cNvSpPr txBox="1"/>
          <p:nvPr/>
        </p:nvSpPr>
        <p:spPr>
          <a:xfrm>
            <a:off x="8092440" y="3529584"/>
            <a:ext cx="3429000" cy="676656"/>
          </a:xfrm>
          <a:prstGeom prst="rect">
            <a:avLst/>
          </a:prstGeom>
          <a:noFill/>
          <a:ln/>
        </p:spPr>
        <p:txBody>
          <a:bodyPr wrap="square" lIns="0" tIns="0" rIns="0" bIns="0" rtlCol="0" anchor="ctr"/>
          <a:lstStyle/>
          <a:p>
            <a:pPr indent="0" marL="0">
              <a:buNone/>
            </a:pPr>
            <a:r>
              <a:rPr lang="en-US" sz="1200" b="1" dirty="0">
                <a:solidFill>
                  <a:srgbClr val="0F1341"/>
                </a:solidFill>
                <a:latin typeface="Montserrat" pitchFamily="34" charset="0"/>
                <a:ea typeface="Montserrat" pitchFamily="34" charset="-122"/>
                <a:cs typeface="Montserrat" pitchFamily="34" charset="-120"/>
              </a:rPr>
              <a:t>Which of two messages wins attention before the first send</a:t>
            </a:r>
            <a:endParaRPr lang="en-US" sz="1200" dirty="0"/>
          </a:p>
        </p:txBody>
      </p:sp>
      <p:sp>
        <p:nvSpPr>
          <p:cNvPr id="29" name="Shape 26"/>
          <p:cNvSpPr/>
          <p:nvPr/>
        </p:nvSpPr>
        <p:spPr>
          <a:xfrm>
            <a:off x="548640" y="4279392"/>
            <a:ext cx="11091672" cy="676656"/>
          </a:xfrm>
          <a:prstGeom prst="roundRect">
            <a:avLst>
              <a:gd name="adj" fmla="val 10811"/>
            </a:avLst>
          </a:prstGeom>
          <a:solidFill>
            <a:srgbClr val="F3F7FC"/>
          </a:solidFill>
          <a:ln/>
        </p:spPr>
      </p:sp>
      <p:sp>
        <p:nvSpPr>
          <p:cNvPr id="30" name="Shape 27"/>
          <p:cNvSpPr/>
          <p:nvPr/>
        </p:nvSpPr>
        <p:spPr>
          <a:xfrm>
            <a:off x="685800" y="4407408"/>
            <a:ext cx="420624" cy="420624"/>
          </a:xfrm>
          <a:prstGeom prst="ellipse">
            <a:avLst/>
          </a:prstGeom>
          <a:solidFill>
            <a:srgbClr val="0F1341"/>
          </a:solidFill>
          <a:ln/>
        </p:spPr>
      </p:sp>
      <p:sp>
        <p:nvSpPr>
          <p:cNvPr id="31" name="Text 28"/>
          <p:cNvSpPr txBox="1"/>
          <p:nvPr/>
        </p:nvSpPr>
        <p:spPr>
          <a:xfrm>
            <a:off x="685800" y="4407408"/>
            <a:ext cx="420624"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Montserrat" pitchFamily="34" charset="0"/>
                <a:ea typeface="Montserrat" pitchFamily="34" charset="-122"/>
                <a:cs typeface="Montserrat" pitchFamily="34" charset="-120"/>
              </a:rPr>
              <a:t>E3</a:t>
            </a:r>
            <a:endParaRPr lang="en-US" sz="1100" dirty="0"/>
          </a:p>
        </p:txBody>
      </p:sp>
      <p:sp>
        <p:nvSpPr>
          <p:cNvPr id="32" name="Text 29"/>
          <p:cNvSpPr txBox="1"/>
          <p:nvPr/>
        </p:nvSpPr>
        <p:spPr>
          <a:xfrm>
            <a:off x="1234440" y="4352544"/>
            <a:ext cx="2834640" cy="292608"/>
          </a:xfrm>
          <a:prstGeom prst="rect">
            <a:avLst/>
          </a:prstGeom>
          <a:noFill/>
          <a:ln/>
        </p:spPr>
        <p:txBody>
          <a:bodyPr wrap="square" lIns="0" tIns="0" rIns="0" bIns="0" rtlCol="0" anchor="t"/>
          <a:lstStyle/>
          <a:p>
            <a:pPr indent="0" marL="0">
              <a:buNone/>
            </a:pPr>
            <a:r>
              <a:rPr lang="en-US" sz="1300" b="1" dirty="0">
                <a:solidFill>
                  <a:srgbClr val="0F1341"/>
                </a:solidFill>
                <a:latin typeface="Montserrat" pitchFamily="34" charset="0"/>
                <a:ea typeface="Montserrat" pitchFamily="34" charset="-122"/>
                <a:cs typeface="Montserrat" pitchFamily="34" charset="-120"/>
              </a:rPr>
              <a:t>Market World</a:t>
            </a:r>
            <a:endParaRPr lang="en-US" sz="1300" dirty="0"/>
          </a:p>
        </p:txBody>
      </p:sp>
      <p:sp>
        <p:nvSpPr>
          <p:cNvPr id="33" name="Text 30"/>
          <p:cNvSpPr txBox="1"/>
          <p:nvPr/>
        </p:nvSpPr>
        <p:spPr>
          <a:xfrm>
            <a:off x="1234440" y="4663440"/>
            <a:ext cx="2834640" cy="228600"/>
          </a:xfrm>
          <a:prstGeom prst="rect">
            <a:avLst/>
          </a:prstGeom>
          <a:noFill/>
          <a:ln/>
        </p:spPr>
        <p:txBody>
          <a:bodyPr wrap="square" lIns="0" tIns="0" rIns="0" bIns="0" rtlCol="0" anchor="t"/>
          <a:lstStyle/>
          <a:p>
            <a:pPr indent="0" marL="0">
              <a:buNone/>
            </a:pPr>
            <a:r>
              <a:rPr lang="en-US" sz="900" b="1" spc="100" kern="0" dirty="0">
                <a:solidFill>
                  <a:srgbClr val="2E6FBF"/>
                </a:solidFill>
                <a:latin typeface="Montserrat" pitchFamily="34" charset="0"/>
                <a:ea typeface="Montserrat" pitchFamily="34" charset="-122"/>
                <a:cs typeface="Montserrat" pitchFamily="34" charset="-120"/>
              </a:rPr>
              <a:t>MULTI-AGENT SIMULATION</a:t>
            </a:r>
            <a:endParaRPr lang="en-US" sz="900" dirty="0"/>
          </a:p>
        </p:txBody>
      </p:sp>
      <p:sp>
        <p:nvSpPr>
          <p:cNvPr id="34" name="Text 31"/>
          <p:cNvSpPr txBox="1"/>
          <p:nvPr/>
        </p:nvSpPr>
        <p:spPr>
          <a:xfrm>
            <a:off x="4160520" y="4279392"/>
            <a:ext cx="3749040" cy="676656"/>
          </a:xfrm>
          <a:prstGeom prst="rect">
            <a:avLst/>
          </a:prstGeom>
          <a:noFill/>
          <a:ln/>
        </p:spPr>
        <p:txBody>
          <a:bodyPr wrap="square" lIns="0" tIns="0" rIns="0" bIns="0" rtlCol="0" anchor="ctr"/>
          <a:lstStyle/>
          <a:p>
            <a:pPr indent="0" marL="0">
              <a:buNone/>
            </a:pPr>
            <a:r>
              <a:rPr lang="en-US" sz="1100" dirty="0">
                <a:solidFill>
                  <a:srgbClr val="5B6270"/>
                </a:solidFill>
                <a:latin typeface="Montserrat" pitchFamily="34" charset="0"/>
                <a:ea typeface="Montserrat" pitchFamily="34" charset="-122"/>
                <a:cs typeface="Montserrat" pitchFamily="34" charset="-120"/>
              </a:rPr>
              <a:t>A synthetic market of buyer archetypes — trusted only once calibrated</a:t>
            </a:r>
            <a:endParaRPr lang="en-US" sz="1100" dirty="0"/>
          </a:p>
        </p:txBody>
      </p:sp>
      <p:sp>
        <p:nvSpPr>
          <p:cNvPr id="35" name="Text 32"/>
          <p:cNvSpPr txBox="1"/>
          <p:nvPr/>
        </p:nvSpPr>
        <p:spPr>
          <a:xfrm>
            <a:off x="8092440" y="4279392"/>
            <a:ext cx="3429000" cy="676656"/>
          </a:xfrm>
          <a:prstGeom prst="rect">
            <a:avLst/>
          </a:prstGeom>
          <a:noFill/>
          <a:ln/>
        </p:spPr>
        <p:txBody>
          <a:bodyPr wrap="square" lIns="0" tIns="0" rIns="0" bIns="0" rtlCol="0" anchor="ctr"/>
          <a:lstStyle/>
          <a:p>
            <a:pPr indent="0" marL="0">
              <a:buNone/>
            </a:pPr>
            <a:r>
              <a:rPr lang="en-US" sz="1200" b="1" dirty="0">
                <a:solidFill>
                  <a:srgbClr val="0F1341"/>
                </a:solidFill>
                <a:latin typeface="Montserrat" pitchFamily="34" charset="0"/>
                <a:ea typeface="Montserrat" pitchFamily="34" charset="-122"/>
                <a:cs typeface="Montserrat" pitchFamily="34" charset="-120"/>
              </a:rPr>
              <a:t>Price elasticity and dealbreakers — your negotiation prep</a:t>
            </a:r>
            <a:endParaRPr lang="en-US" sz="1200" dirty="0"/>
          </a:p>
        </p:txBody>
      </p:sp>
      <p:sp>
        <p:nvSpPr>
          <p:cNvPr id="36" name="Shape 33"/>
          <p:cNvSpPr/>
          <p:nvPr/>
        </p:nvSpPr>
        <p:spPr>
          <a:xfrm>
            <a:off x="548640" y="5029200"/>
            <a:ext cx="11091672" cy="676656"/>
          </a:xfrm>
          <a:prstGeom prst="roundRect">
            <a:avLst>
              <a:gd name="adj" fmla="val 10811"/>
            </a:avLst>
          </a:prstGeom>
          <a:solidFill>
            <a:srgbClr val="D9E8F8"/>
          </a:solidFill>
          <a:ln/>
        </p:spPr>
      </p:sp>
      <p:sp>
        <p:nvSpPr>
          <p:cNvPr id="37" name="Shape 34"/>
          <p:cNvSpPr/>
          <p:nvPr/>
        </p:nvSpPr>
        <p:spPr>
          <a:xfrm>
            <a:off x="685800" y="5157216"/>
            <a:ext cx="420624" cy="420624"/>
          </a:xfrm>
          <a:prstGeom prst="ellipse">
            <a:avLst/>
          </a:prstGeom>
          <a:solidFill>
            <a:srgbClr val="2E6FBF"/>
          </a:solidFill>
          <a:ln/>
        </p:spPr>
      </p:sp>
      <p:sp>
        <p:nvSpPr>
          <p:cNvPr id="38" name="Text 35"/>
          <p:cNvSpPr txBox="1"/>
          <p:nvPr/>
        </p:nvSpPr>
        <p:spPr>
          <a:xfrm>
            <a:off x="685800" y="5157216"/>
            <a:ext cx="420624" cy="420624"/>
          </a:xfrm>
          <a:prstGeom prst="rect">
            <a:avLst/>
          </a:prstGeom>
          <a:noFill/>
          <a:ln/>
        </p:spPr>
        <p:txBody>
          <a:bodyPr wrap="square" lIns="0" tIns="0" rIns="0" bIns="0" rtlCol="0" anchor="ctr"/>
          <a:lstStyle/>
          <a:p>
            <a:pPr algn="ctr" indent="0" marL="0">
              <a:buNone/>
            </a:pPr>
            <a:r>
              <a:rPr lang="en-US" sz="1100" b="1" dirty="0">
                <a:solidFill>
                  <a:srgbClr val="FFFFFF"/>
                </a:solidFill>
                <a:latin typeface="Montserrat" pitchFamily="34" charset="0"/>
                <a:ea typeface="Montserrat" pitchFamily="34" charset="-122"/>
                <a:cs typeface="Montserrat" pitchFamily="34" charset="-120"/>
              </a:rPr>
              <a:t>E1</a:t>
            </a:r>
            <a:endParaRPr lang="en-US" sz="1100" dirty="0"/>
          </a:p>
        </p:txBody>
      </p:sp>
      <p:sp>
        <p:nvSpPr>
          <p:cNvPr id="39" name="Text 36"/>
          <p:cNvSpPr txBox="1"/>
          <p:nvPr/>
        </p:nvSpPr>
        <p:spPr>
          <a:xfrm>
            <a:off x="1234440" y="5102352"/>
            <a:ext cx="2834640" cy="292608"/>
          </a:xfrm>
          <a:prstGeom prst="rect">
            <a:avLst/>
          </a:prstGeom>
          <a:noFill/>
          <a:ln/>
        </p:spPr>
        <p:txBody>
          <a:bodyPr wrap="square" lIns="0" tIns="0" rIns="0" bIns="0" rtlCol="0" anchor="t"/>
          <a:lstStyle/>
          <a:p>
            <a:pPr indent="0" marL="0">
              <a:buNone/>
            </a:pPr>
            <a:r>
              <a:rPr lang="en-US" sz="1300" b="1" dirty="0">
                <a:solidFill>
                  <a:srgbClr val="0F1341"/>
                </a:solidFill>
                <a:latin typeface="Montserrat" pitchFamily="34" charset="0"/>
                <a:ea typeface="Montserrat" pitchFamily="34" charset="-122"/>
                <a:cs typeface="Montserrat" pitchFamily="34" charset="-120"/>
              </a:rPr>
              <a:t>Cold Email Engine</a:t>
            </a:r>
            <a:endParaRPr lang="en-US" sz="1300" dirty="0"/>
          </a:p>
        </p:txBody>
      </p:sp>
      <p:sp>
        <p:nvSpPr>
          <p:cNvPr id="40" name="Text 37"/>
          <p:cNvSpPr txBox="1"/>
          <p:nvPr/>
        </p:nvSpPr>
        <p:spPr>
          <a:xfrm>
            <a:off x="1234440" y="5413248"/>
            <a:ext cx="2834640" cy="228600"/>
          </a:xfrm>
          <a:prstGeom prst="rect">
            <a:avLst/>
          </a:prstGeom>
          <a:noFill/>
          <a:ln/>
        </p:spPr>
        <p:txBody>
          <a:bodyPr wrap="square" lIns="0" tIns="0" rIns="0" bIns="0" rtlCol="0" anchor="t"/>
          <a:lstStyle/>
          <a:p>
            <a:pPr indent="0" marL="0">
              <a:buNone/>
            </a:pPr>
            <a:r>
              <a:rPr lang="en-US" sz="900" b="1" spc="100" kern="0" dirty="0">
                <a:solidFill>
                  <a:srgbClr val="2E6FBF"/>
                </a:solidFill>
                <a:latin typeface="Montserrat" pitchFamily="34" charset="0"/>
                <a:ea typeface="Montserrat" pitchFamily="34" charset="-122"/>
                <a:cs typeface="Montserrat" pitchFamily="34" charset="-120"/>
              </a:rPr>
              <a:t>AUTONOMOUS EXPERIMENT</a:t>
            </a:r>
            <a:endParaRPr lang="en-US" sz="900" dirty="0"/>
          </a:p>
        </p:txBody>
      </p:sp>
      <p:sp>
        <p:nvSpPr>
          <p:cNvPr id="41" name="Text 38"/>
          <p:cNvSpPr txBox="1"/>
          <p:nvPr/>
        </p:nvSpPr>
        <p:spPr>
          <a:xfrm>
            <a:off x="4160520" y="5029200"/>
            <a:ext cx="3749040" cy="676656"/>
          </a:xfrm>
          <a:prstGeom prst="rect">
            <a:avLst/>
          </a:prstGeom>
          <a:noFill/>
          <a:ln/>
        </p:spPr>
        <p:txBody>
          <a:bodyPr wrap="square" lIns="0" tIns="0" rIns="0" bIns="0" rtlCol="0" anchor="ctr"/>
          <a:lstStyle/>
          <a:p>
            <a:pPr indent="0" marL="0">
              <a:buNone/>
            </a:pPr>
            <a:r>
              <a:rPr lang="en-US" sz="1100" dirty="0">
                <a:solidFill>
                  <a:srgbClr val="5B6270"/>
                </a:solidFill>
                <a:latin typeface="Montserrat" pitchFamily="34" charset="0"/>
                <a:ea typeface="Montserrat" pitchFamily="34" charset="-122"/>
                <a:cs typeface="Montserrat" pitchFamily="34" charset="-120"/>
              </a:rPr>
              <a:t>Finds, writes, sends, classifies replies — real behaviour, measured</a:t>
            </a:r>
            <a:endParaRPr lang="en-US" sz="1100" dirty="0"/>
          </a:p>
        </p:txBody>
      </p:sp>
      <p:sp>
        <p:nvSpPr>
          <p:cNvPr id="42" name="Text 39"/>
          <p:cNvSpPr txBox="1"/>
          <p:nvPr/>
        </p:nvSpPr>
        <p:spPr>
          <a:xfrm>
            <a:off x="8092440" y="5029200"/>
            <a:ext cx="3429000" cy="676656"/>
          </a:xfrm>
          <a:prstGeom prst="rect">
            <a:avLst/>
          </a:prstGeom>
          <a:noFill/>
          <a:ln/>
        </p:spPr>
        <p:txBody>
          <a:bodyPr wrap="square" lIns="0" tIns="0" rIns="0" bIns="0" rtlCol="0" anchor="ctr"/>
          <a:lstStyle/>
          <a:p>
            <a:pPr indent="0" marL="0">
              <a:buNone/>
            </a:pPr>
            <a:r>
              <a:rPr lang="en-US" sz="1200" b="1" dirty="0">
                <a:solidFill>
                  <a:srgbClr val="0F1341"/>
                </a:solidFill>
                <a:latin typeface="Montserrat" pitchFamily="34" charset="0"/>
                <a:ea typeface="Montserrat" pitchFamily="34" charset="-122"/>
                <a:cs typeface="Montserrat" pitchFamily="34" charset="-120"/>
              </a:rPr>
              <a:t>Reply, positive and meeting rate per segment × variant</a:t>
            </a:r>
            <a:endParaRPr lang="en-US" sz="1200" dirty="0"/>
          </a:p>
        </p:txBody>
      </p:sp>
      <p:sp>
        <p:nvSpPr>
          <p:cNvPr id="43" name="Shape 40"/>
          <p:cNvSpPr/>
          <p:nvPr/>
        </p:nvSpPr>
        <p:spPr>
          <a:xfrm>
            <a:off x="548640" y="5852160"/>
            <a:ext cx="11091672" cy="384048"/>
          </a:xfrm>
          <a:prstGeom prst="roundRect">
            <a:avLst>
              <a:gd name="adj" fmla="val 19048"/>
            </a:avLst>
          </a:prstGeom>
          <a:solidFill>
            <a:srgbClr val="0F1341"/>
          </a:solidFill>
          <a:ln/>
        </p:spPr>
      </p:sp>
      <p:sp>
        <p:nvSpPr>
          <p:cNvPr id="44" name="Text 41"/>
          <p:cNvSpPr txBox="1"/>
          <p:nvPr/>
        </p:nvSpPr>
        <p:spPr>
          <a:xfrm>
            <a:off x="777240" y="5852160"/>
            <a:ext cx="10698480" cy="384048"/>
          </a:xfrm>
          <a:prstGeom prst="rect">
            <a:avLst/>
          </a:prstGeom>
          <a:noFill/>
          <a:ln/>
        </p:spPr>
        <p:txBody>
          <a:bodyPr wrap="square" lIns="0" tIns="0" rIns="0" bIns="0" rtlCol="0" anchor="ctr"/>
          <a:lstStyle/>
          <a:p>
            <a:pPr indent="0" marL="0">
              <a:buNone/>
            </a:pPr>
            <a:r>
              <a:rPr lang="en-US" sz="1300" b="1" dirty="0">
                <a:solidFill>
                  <a:srgbClr val="4A8FDB"/>
                </a:solidFill>
                <a:latin typeface="Montserrat" pitchFamily="34" charset="0"/>
                <a:ea typeface="Montserrat" pitchFamily="34" charset="-122"/>
                <a:cs typeface="Montserrat" pitchFamily="34" charset="-120"/>
              </a:rPr>
              <a:t>Behaviour over opinion: </a:t>
            </a:r>
            <a:pPr indent="0" marL="0">
              <a:buNone/>
            </a:pPr>
            <a:r>
              <a:rPr lang="en-US" sz="1300" dirty="0">
                <a:solidFill>
                  <a:srgbClr val="FFFFFF"/>
                </a:solidFill>
                <a:latin typeface="Montserrat" pitchFamily="34" charset="0"/>
                <a:ea typeface="Montserrat" pitchFamily="34" charset="-122"/>
                <a:cs typeface="Montserrat" pitchFamily="34" charset="-120"/>
              </a:rPr>
              <a:t>simulation narrows the bet — only a real reply, meeting or contract proves it.</a:t>
            </a:r>
            <a:endParaRPr lang="en-US" sz="13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3A3"/>
                </a:solidFill>
                <a:latin typeface="Montserrat"/>
                <a:ea typeface="Montserrat"/>
                <a:cs typeface="Montserrat"/>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title" hasCustomPrompt="1"/>
          </p:nvPr>
        </p:nvSpPr>
        <p:spPr>
          <a:xfrm>
            <a:off x="548640" y="502920"/>
            <a:ext cx="8412480" cy="777240"/>
          </a:xfrm>
          <a:prstGeom prst="rect">
            <a:avLst/>
          </a:prstGeom>
          <a:noFill/>
          <a:ln/>
        </p:spPr>
        <p:txBody>
          <a:bodyPr wrap="square" lIns="0" tIns="0" rIns="0" bIns="0" rtlCol="0" anchor="t"/>
          <a:lstStyle/>
          <a:p>
            <a:pPr algn="l" indent="0" marL="0">
              <a:buNone/>
            </a:pPr>
            <a:r>
              <a:rPr lang="en-US" sz="3000" b="1" dirty="0">
                <a:solidFill>
                  <a:srgbClr val="FFFFFF"/>
                </a:solidFill>
                <a:latin typeface="Montserrat" pitchFamily="34" charset="0"/>
                <a:ea typeface="Montserrat" pitchFamily="34" charset="-122"/>
                <a:cs typeface="Montserrat" pitchFamily="34" charset="-120"/>
              </a:rPr>
              <a:t>The 10-Minute Sales Challenge</a:t>
            </a:r>
            <a:endParaRPr lang="en-US" sz="3000" dirty="0"/>
          </a:p>
        </p:txBody>
      </p:sp>
      <p:sp>
        <p:nvSpPr>
          <p:cNvPr id="3" name="Text 0"/>
          <p:cNvSpPr/>
          <p:nvPr>
            <p:ph idx="102" type="body" hasCustomPrompt="1"/>
          </p:nvPr>
        </p:nvSpPr>
        <p:spPr>
          <a:xfrm>
            <a:off x="548640" y="1298448"/>
            <a:ext cx="9326880" cy="411480"/>
          </a:xfrm>
          <a:prstGeom prst="rect">
            <a:avLst/>
          </a:prstGeom>
          <a:noFill/>
          <a:ln/>
        </p:spPr>
        <p:txBody>
          <a:bodyPr wrap="square" lIns="0" tIns="0" rIns="0" bIns="0" rtlCol="0" anchor="t"/>
          <a:lstStyle/>
          <a:p>
            <a:pPr algn="l" indent="0" marL="0">
              <a:buNone/>
            </a:pPr>
            <a:r>
              <a:rPr lang="en-US" sz="1400" dirty="0">
                <a:solidFill>
                  <a:srgbClr val="C9D3E3"/>
                </a:solidFill>
                <a:latin typeface="Montserrat" pitchFamily="34" charset="0"/>
                <a:ea typeface="Montserrat" pitchFamily="34" charset="-122"/>
                <a:cs typeface="Montserrat" pitchFamily="34" charset="-120"/>
              </a:rPr>
              <a:t>Groups of 3–4, AI on your phone — build the sales case: who buys, why, and how you would know</a:t>
            </a:r>
            <a:endParaRPr lang="en-US" sz="1400" dirty="0"/>
          </a:p>
        </p:txBody>
      </p:sp>
      <p:sp>
        <p:nvSpPr>
          <p:cNvPr id="5" name="Shape 2"/>
          <p:cNvSpPr/>
          <p:nvPr/>
        </p:nvSpPr>
        <p:spPr>
          <a:xfrm>
            <a:off x="548640" y="2011680"/>
            <a:ext cx="2615184" cy="2331720"/>
          </a:xfrm>
          <a:prstGeom prst="roundRect">
            <a:avLst>
              <a:gd name="adj" fmla="val 3137"/>
            </a:avLst>
          </a:prstGeom>
          <a:solidFill>
            <a:srgbClr val="1B2156"/>
          </a:solidFill>
          <a:ln/>
        </p:spPr>
      </p:sp>
      <p:sp>
        <p:nvSpPr>
          <p:cNvPr id="6" name="Shape 3"/>
          <p:cNvSpPr/>
          <p:nvPr/>
        </p:nvSpPr>
        <p:spPr>
          <a:xfrm>
            <a:off x="731520" y="2194560"/>
            <a:ext cx="868680" cy="274320"/>
          </a:xfrm>
          <a:prstGeom prst="roundRect">
            <a:avLst>
              <a:gd name="adj" fmla="val 26667"/>
            </a:avLst>
          </a:prstGeom>
          <a:solidFill>
            <a:srgbClr val="4A8FDB"/>
          </a:solidFill>
          <a:ln/>
        </p:spPr>
      </p:sp>
      <p:sp>
        <p:nvSpPr>
          <p:cNvPr id="7" name="Text 4"/>
          <p:cNvSpPr txBox="1"/>
          <p:nvPr/>
        </p:nvSpPr>
        <p:spPr>
          <a:xfrm>
            <a:off x="731520" y="2194560"/>
            <a:ext cx="868680" cy="274320"/>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Montserrat" pitchFamily="34" charset="0"/>
                <a:ea typeface="Montserrat" pitchFamily="34" charset="-122"/>
                <a:cs typeface="Montserrat" pitchFamily="34" charset="-120"/>
              </a:rPr>
              <a:t>3 min</a:t>
            </a:r>
            <a:endParaRPr lang="en-US" sz="900" dirty="0"/>
          </a:p>
        </p:txBody>
      </p:sp>
      <p:sp>
        <p:nvSpPr>
          <p:cNvPr id="8" name="Text 5"/>
          <p:cNvSpPr txBox="1"/>
          <p:nvPr/>
        </p:nvSpPr>
        <p:spPr>
          <a:xfrm>
            <a:off x="731520" y="2606040"/>
            <a:ext cx="2249424" cy="411480"/>
          </a:xfrm>
          <a:prstGeom prst="rect">
            <a:avLst/>
          </a:prstGeom>
          <a:noFill/>
          <a:ln/>
        </p:spPr>
        <p:txBody>
          <a:bodyPr wrap="square" lIns="0" tIns="0" rIns="0" bIns="0" rtlCol="0" anchor="t"/>
          <a:lstStyle/>
          <a:p>
            <a:pPr indent="0" marL="0">
              <a:buNone/>
            </a:pPr>
            <a:r>
              <a:rPr lang="en-US" sz="1800" b="1" dirty="0">
                <a:solidFill>
                  <a:srgbClr val="FFFFFF"/>
                </a:solidFill>
                <a:latin typeface="Montserrat" pitchFamily="34" charset="0"/>
                <a:ea typeface="Montserrat" pitchFamily="34" charset="-122"/>
                <a:cs typeface="Montserrat" pitchFamily="34" charset="-120"/>
              </a:rPr>
              <a:t>Quantify</a:t>
            </a:r>
            <a:endParaRPr lang="en-US" sz="1800" dirty="0"/>
          </a:p>
        </p:txBody>
      </p:sp>
      <p:sp>
        <p:nvSpPr>
          <p:cNvPr id="9" name="Text 6"/>
          <p:cNvSpPr txBox="1"/>
          <p:nvPr/>
        </p:nvSpPr>
        <p:spPr>
          <a:xfrm>
            <a:off x="731520" y="3063240"/>
            <a:ext cx="2249424" cy="1188720"/>
          </a:xfrm>
          <a:prstGeom prst="rect">
            <a:avLst/>
          </a:prstGeom>
          <a:noFill/>
          <a:ln/>
        </p:spPr>
        <p:txBody>
          <a:bodyPr wrap="square" lIns="0" tIns="0" rIns="0" bIns="0" rtlCol="0" anchor="t"/>
          <a:lstStyle/>
          <a:p>
            <a:pPr indent="0" marL="0">
              <a:buNone/>
            </a:pPr>
            <a:r>
              <a:rPr lang="en-US" sz="1200" dirty="0">
                <a:solidFill>
                  <a:srgbClr val="C9D3E3"/>
                </a:solidFill>
                <a:latin typeface="Montserrat" pitchFamily="34" charset="0"/>
                <a:ea typeface="Montserrat" pitchFamily="34" charset="-122"/>
                <a:cs typeface="Montserrat" pitchFamily="34" charset="-120"/>
              </a:rPr>
              <a:t>ICP size, customer ROI and the funnel to €100k ARR — every number tagged.</a:t>
            </a:r>
            <a:endParaRPr lang="en-US" sz="1200" dirty="0"/>
          </a:p>
        </p:txBody>
      </p:sp>
      <p:sp>
        <p:nvSpPr>
          <p:cNvPr id="10" name="Shape 7"/>
          <p:cNvSpPr/>
          <p:nvPr/>
        </p:nvSpPr>
        <p:spPr>
          <a:xfrm>
            <a:off x="3374136" y="2011680"/>
            <a:ext cx="2615184" cy="2331720"/>
          </a:xfrm>
          <a:prstGeom prst="roundRect">
            <a:avLst>
              <a:gd name="adj" fmla="val 3137"/>
            </a:avLst>
          </a:prstGeom>
          <a:solidFill>
            <a:srgbClr val="1B2156"/>
          </a:solidFill>
          <a:ln/>
        </p:spPr>
      </p:sp>
      <p:sp>
        <p:nvSpPr>
          <p:cNvPr id="11" name="Shape 8"/>
          <p:cNvSpPr/>
          <p:nvPr/>
        </p:nvSpPr>
        <p:spPr>
          <a:xfrm>
            <a:off x="3557016" y="2194560"/>
            <a:ext cx="868680" cy="274320"/>
          </a:xfrm>
          <a:prstGeom prst="roundRect">
            <a:avLst>
              <a:gd name="adj" fmla="val 26667"/>
            </a:avLst>
          </a:prstGeom>
          <a:solidFill>
            <a:srgbClr val="4A8FDB"/>
          </a:solidFill>
          <a:ln/>
        </p:spPr>
      </p:sp>
      <p:sp>
        <p:nvSpPr>
          <p:cNvPr id="12" name="Text 9"/>
          <p:cNvSpPr txBox="1"/>
          <p:nvPr/>
        </p:nvSpPr>
        <p:spPr>
          <a:xfrm>
            <a:off x="3557016" y="2194560"/>
            <a:ext cx="868680" cy="274320"/>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Montserrat" pitchFamily="34" charset="0"/>
                <a:ea typeface="Montserrat" pitchFamily="34" charset="-122"/>
                <a:cs typeface="Montserrat" pitchFamily="34" charset="-120"/>
              </a:rPr>
              <a:t>2 min</a:t>
            </a:r>
            <a:endParaRPr lang="en-US" sz="900" dirty="0"/>
          </a:p>
        </p:txBody>
      </p:sp>
      <p:sp>
        <p:nvSpPr>
          <p:cNvPr id="13" name="Text 10"/>
          <p:cNvSpPr txBox="1"/>
          <p:nvPr/>
        </p:nvSpPr>
        <p:spPr>
          <a:xfrm>
            <a:off x="3557016" y="2606040"/>
            <a:ext cx="2249424" cy="411480"/>
          </a:xfrm>
          <a:prstGeom prst="rect">
            <a:avLst/>
          </a:prstGeom>
          <a:noFill/>
          <a:ln/>
        </p:spPr>
        <p:txBody>
          <a:bodyPr wrap="square" lIns="0" tIns="0" rIns="0" bIns="0" rtlCol="0" anchor="t"/>
          <a:lstStyle/>
          <a:p>
            <a:pPr indent="0" marL="0">
              <a:buNone/>
            </a:pPr>
            <a:r>
              <a:rPr lang="en-US" sz="1800" b="1" dirty="0">
                <a:solidFill>
                  <a:srgbClr val="FFFFFF"/>
                </a:solidFill>
                <a:latin typeface="Montserrat" pitchFamily="34" charset="0"/>
                <a:ea typeface="Montserrat" pitchFamily="34" charset="-122"/>
                <a:cs typeface="Montserrat" pitchFamily="34" charset="-120"/>
              </a:rPr>
              <a:t>Develop</a:t>
            </a:r>
            <a:endParaRPr lang="en-US" sz="1800" dirty="0"/>
          </a:p>
        </p:txBody>
      </p:sp>
      <p:sp>
        <p:nvSpPr>
          <p:cNvPr id="14" name="Text 11"/>
          <p:cNvSpPr txBox="1"/>
          <p:nvPr/>
        </p:nvSpPr>
        <p:spPr>
          <a:xfrm>
            <a:off x="3557016" y="3063240"/>
            <a:ext cx="2249424" cy="1188720"/>
          </a:xfrm>
          <a:prstGeom prst="rect">
            <a:avLst/>
          </a:prstGeom>
          <a:noFill/>
          <a:ln/>
        </p:spPr>
        <p:txBody>
          <a:bodyPr wrap="square" lIns="0" tIns="0" rIns="0" bIns="0" rtlCol="0" anchor="t"/>
          <a:lstStyle/>
          <a:p>
            <a:pPr indent="0" marL="0">
              <a:buNone/>
            </a:pPr>
            <a:r>
              <a:rPr lang="en-US" sz="1200" dirty="0">
                <a:solidFill>
                  <a:srgbClr val="C9D3E3"/>
                </a:solidFill>
                <a:latin typeface="Montserrat" pitchFamily="34" charset="0"/>
                <a:ea typeface="Montserrat" pitchFamily="34" charset="-122"/>
                <a:cs typeface="Montserrat" pitchFamily="34" charset="-120"/>
              </a:rPr>
              <a:t>One outreach message and the single assumption it rests on.</a:t>
            </a:r>
            <a:endParaRPr lang="en-US" sz="1200" dirty="0"/>
          </a:p>
        </p:txBody>
      </p:sp>
      <p:sp>
        <p:nvSpPr>
          <p:cNvPr id="15" name="Shape 12"/>
          <p:cNvSpPr/>
          <p:nvPr/>
        </p:nvSpPr>
        <p:spPr>
          <a:xfrm>
            <a:off x="6199632" y="2011680"/>
            <a:ext cx="2615184" cy="2331720"/>
          </a:xfrm>
          <a:prstGeom prst="roundRect">
            <a:avLst>
              <a:gd name="adj" fmla="val 3137"/>
            </a:avLst>
          </a:prstGeom>
          <a:solidFill>
            <a:srgbClr val="1B2156"/>
          </a:solidFill>
          <a:ln/>
        </p:spPr>
      </p:sp>
      <p:sp>
        <p:nvSpPr>
          <p:cNvPr id="16" name="Shape 13"/>
          <p:cNvSpPr/>
          <p:nvPr/>
        </p:nvSpPr>
        <p:spPr>
          <a:xfrm>
            <a:off x="6382512" y="2194560"/>
            <a:ext cx="868680" cy="274320"/>
          </a:xfrm>
          <a:prstGeom prst="roundRect">
            <a:avLst>
              <a:gd name="adj" fmla="val 26667"/>
            </a:avLst>
          </a:prstGeom>
          <a:solidFill>
            <a:srgbClr val="4A8FDB"/>
          </a:solidFill>
          <a:ln/>
        </p:spPr>
      </p:sp>
      <p:sp>
        <p:nvSpPr>
          <p:cNvPr id="17" name="Text 14"/>
          <p:cNvSpPr txBox="1"/>
          <p:nvPr/>
        </p:nvSpPr>
        <p:spPr>
          <a:xfrm>
            <a:off x="6382512" y="2194560"/>
            <a:ext cx="868680" cy="274320"/>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Montserrat" pitchFamily="34" charset="0"/>
                <a:ea typeface="Montserrat" pitchFamily="34" charset="-122"/>
                <a:cs typeface="Montserrat" pitchFamily="34" charset="-120"/>
              </a:rPr>
              <a:t>2 min</a:t>
            </a:r>
            <a:endParaRPr lang="en-US" sz="900" dirty="0"/>
          </a:p>
        </p:txBody>
      </p:sp>
      <p:sp>
        <p:nvSpPr>
          <p:cNvPr id="18" name="Text 15"/>
          <p:cNvSpPr txBox="1"/>
          <p:nvPr/>
        </p:nvSpPr>
        <p:spPr>
          <a:xfrm>
            <a:off x="6382512" y="2606040"/>
            <a:ext cx="2249424" cy="411480"/>
          </a:xfrm>
          <a:prstGeom prst="rect">
            <a:avLst/>
          </a:prstGeom>
          <a:noFill/>
          <a:ln/>
        </p:spPr>
        <p:txBody>
          <a:bodyPr wrap="square" lIns="0" tIns="0" rIns="0" bIns="0" rtlCol="0" anchor="t"/>
          <a:lstStyle/>
          <a:p>
            <a:pPr indent="0" marL="0">
              <a:buNone/>
            </a:pPr>
            <a:r>
              <a:rPr lang="en-US" sz="1800" b="1" dirty="0">
                <a:solidFill>
                  <a:srgbClr val="FFFFFF"/>
                </a:solidFill>
                <a:latin typeface="Montserrat" pitchFamily="34" charset="0"/>
                <a:ea typeface="Montserrat" pitchFamily="34" charset="-122"/>
                <a:cs typeface="Montserrat" pitchFamily="34" charset="-120"/>
              </a:rPr>
              <a:t>Validate</a:t>
            </a:r>
            <a:endParaRPr lang="en-US" sz="1800" dirty="0"/>
          </a:p>
        </p:txBody>
      </p:sp>
      <p:sp>
        <p:nvSpPr>
          <p:cNvPr id="19" name="Text 16"/>
          <p:cNvSpPr txBox="1"/>
          <p:nvPr/>
        </p:nvSpPr>
        <p:spPr>
          <a:xfrm>
            <a:off x="6382512" y="3063240"/>
            <a:ext cx="2249424" cy="1188720"/>
          </a:xfrm>
          <a:prstGeom prst="rect">
            <a:avLst/>
          </a:prstGeom>
          <a:noFill/>
          <a:ln/>
        </p:spPr>
        <p:txBody>
          <a:bodyPr wrap="square" lIns="0" tIns="0" rIns="0" bIns="0" rtlCol="0" anchor="t"/>
          <a:lstStyle/>
          <a:p>
            <a:pPr indent="0" marL="0">
              <a:buNone/>
            </a:pPr>
            <a:r>
              <a:rPr lang="en-US" sz="1200" dirty="0">
                <a:solidFill>
                  <a:srgbClr val="C9D3E3"/>
                </a:solidFill>
                <a:latin typeface="Montserrat" pitchFamily="34" charset="0"/>
                <a:ea typeface="Montserrat" pitchFamily="34" charset="-122"/>
                <a:cs typeface="Montserrat" pitchFamily="34" charset="-120"/>
              </a:rPr>
              <a:t>Two messages per group go to Menti. The class votes and names the first objection.</a:t>
            </a:r>
            <a:endParaRPr lang="en-US" sz="1200" dirty="0"/>
          </a:p>
        </p:txBody>
      </p:sp>
      <p:sp>
        <p:nvSpPr>
          <p:cNvPr id="20" name="Shape 17"/>
          <p:cNvSpPr/>
          <p:nvPr/>
        </p:nvSpPr>
        <p:spPr>
          <a:xfrm>
            <a:off x="9025128" y="2011680"/>
            <a:ext cx="2615184" cy="2331720"/>
          </a:xfrm>
          <a:prstGeom prst="roundRect">
            <a:avLst>
              <a:gd name="adj" fmla="val 3137"/>
            </a:avLst>
          </a:prstGeom>
          <a:solidFill>
            <a:srgbClr val="1B2156"/>
          </a:solidFill>
          <a:ln/>
        </p:spPr>
      </p:sp>
      <p:sp>
        <p:nvSpPr>
          <p:cNvPr id="21" name="Shape 18"/>
          <p:cNvSpPr/>
          <p:nvPr/>
        </p:nvSpPr>
        <p:spPr>
          <a:xfrm>
            <a:off x="9208008" y="2194560"/>
            <a:ext cx="868680" cy="274320"/>
          </a:xfrm>
          <a:prstGeom prst="roundRect">
            <a:avLst>
              <a:gd name="adj" fmla="val 26667"/>
            </a:avLst>
          </a:prstGeom>
          <a:solidFill>
            <a:srgbClr val="4A8FDB"/>
          </a:solidFill>
          <a:ln/>
        </p:spPr>
      </p:sp>
      <p:sp>
        <p:nvSpPr>
          <p:cNvPr id="22" name="Text 19"/>
          <p:cNvSpPr txBox="1"/>
          <p:nvPr/>
        </p:nvSpPr>
        <p:spPr>
          <a:xfrm>
            <a:off x="9208008" y="2194560"/>
            <a:ext cx="868680" cy="274320"/>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Montserrat" pitchFamily="34" charset="0"/>
                <a:ea typeface="Montserrat" pitchFamily="34" charset="-122"/>
                <a:cs typeface="Montserrat" pitchFamily="34" charset="-120"/>
              </a:rPr>
              <a:t>3 min</a:t>
            </a:r>
            <a:endParaRPr lang="en-US" sz="900" dirty="0"/>
          </a:p>
        </p:txBody>
      </p:sp>
      <p:sp>
        <p:nvSpPr>
          <p:cNvPr id="23" name="Text 20"/>
          <p:cNvSpPr txBox="1"/>
          <p:nvPr/>
        </p:nvSpPr>
        <p:spPr>
          <a:xfrm>
            <a:off x="9208008" y="2606040"/>
            <a:ext cx="2249424" cy="411480"/>
          </a:xfrm>
          <a:prstGeom prst="rect">
            <a:avLst/>
          </a:prstGeom>
          <a:noFill/>
          <a:ln/>
        </p:spPr>
        <p:txBody>
          <a:bodyPr wrap="square" lIns="0" tIns="0" rIns="0" bIns="0" rtlCol="0" anchor="t"/>
          <a:lstStyle/>
          <a:p>
            <a:pPr indent="0" marL="0">
              <a:buNone/>
            </a:pPr>
            <a:r>
              <a:rPr lang="en-US" sz="1800" b="1" dirty="0">
                <a:solidFill>
                  <a:srgbClr val="FFFFFF"/>
                </a:solidFill>
                <a:latin typeface="Montserrat" pitchFamily="34" charset="0"/>
                <a:ea typeface="Montserrat" pitchFamily="34" charset="-122"/>
                <a:cs typeface="Montserrat" pitchFamily="34" charset="-120"/>
              </a:rPr>
              <a:t>Pitch</a:t>
            </a:r>
            <a:endParaRPr lang="en-US" sz="1800" dirty="0"/>
          </a:p>
        </p:txBody>
      </p:sp>
      <p:sp>
        <p:nvSpPr>
          <p:cNvPr id="24" name="Text 21"/>
          <p:cNvSpPr txBox="1"/>
          <p:nvPr/>
        </p:nvSpPr>
        <p:spPr>
          <a:xfrm>
            <a:off x="9208008" y="3063240"/>
            <a:ext cx="2249424" cy="1188720"/>
          </a:xfrm>
          <a:prstGeom prst="rect">
            <a:avLst/>
          </a:prstGeom>
          <a:noFill/>
          <a:ln/>
        </p:spPr>
        <p:txBody>
          <a:bodyPr wrap="square" lIns="0" tIns="0" rIns="0" bIns="0" rtlCol="0" anchor="t"/>
          <a:lstStyle/>
          <a:p>
            <a:pPr indent="0" marL="0">
              <a:buNone/>
            </a:pPr>
            <a:r>
              <a:rPr lang="en-US" sz="1200" dirty="0">
                <a:solidFill>
                  <a:srgbClr val="C9D3E3"/>
                </a:solidFill>
                <a:latin typeface="Montserrat" pitchFamily="34" charset="0"/>
                <a:ea typeface="Montserrat" pitchFamily="34" charset="-122"/>
                <a:cs typeface="Montserrat" pitchFamily="34" charset="-120"/>
              </a:rPr>
              <a:t>45 seconds: ICP, ROI, funnel maths, evidence from the vote, next experiment.</a:t>
            </a:r>
            <a:endParaRPr lang="en-US" sz="1200" dirty="0"/>
          </a:p>
        </p:txBody>
      </p:sp>
      <p:sp>
        <p:nvSpPr>
          <p:cNvPr id="25" name="Text 22"/>
          <p:cNvSpPr txBox="1"/>
          <p:nvPr/>
        </p:nvSpPr>
        <p:spPr>
          <a:xfrm>
            <a:off x="548640" y="4617720"/>
            <a:ext cx="5486400" cy="274320"/>
          </a:xfrm>
          <a:prstGeom prst="rect">
            <a:avLst/>
          </a:prstGeom>
          <a:noFill/>
          <a:ln/>
        </p:spPr>
        <p:txBody>
          <a:bodyPr wrap="square" lIns="0" tIns="0" rIns="0" bIns="0" rtlCol="0" anchor="t"/>
          <a:lstStyle/>
          <a:p>
            <a:pPr indent="0" marL="0">
              <a:buNone/>
            </a:pPr>
            <a:r>
              <a:rPr lang="en-US" sz="1000" b="1" spc="100" kern="0" dirty="0">
                <a:solidFill>
                  <a:srgbClr val="4A8FDB"/>
                </a:solidFill>
                <a:latin typeface="Montserrat" pitchFamily="34" charset="0"/>
                <a:ea typeface="Montserrat" pitchFamily="34" charset="-122"/>
                <a:cs typeface="Montserrat" pitchFamily="34" charset="-120"/>
              </a:rPr>
              <a:t>WHAT EVERY GROUP HANDS IN (MENTI)</a:t>
            </a:r>
            <a:endParaRPr lang="en-US" sz="1000" dirty="0"/>
          </a:p>
        </p:txBody>
      </p:sp>
      <p:sp>
        <p:nvSpPr>
          <p:cNvPr id="26" name="Shape 23"/>
          <p:cNvSpPr/>
          <p:nvPr/>
        </p:nvSpPr>
        <p:spPr>
          <a:xfrm>
            <a:off x="548640" y="4956048"/>
            <a:ext cx="1517904" cy="548640"/>
          </a:xfrm>
          <a:prstGeom prst="roundRect">
            <a:avLst>
              <a:gd name="adj" fmla="val 13333"/>
            </a:avLst>
          </a:prstGeom>
          <a:solidFill>
            <a:srgbClr val="0F1341"/>
          </a:solidFill>
          <a:ln w="12700">
            <a:solidFill>
              <a:srgbClr val="6A7FA8"/>
            </a:solidFill>
            <a:prstDash val="solid"/>
          </a:ln>
        </p:spPr>
      </p:sp>
      <p:sp>
        <p:nvSpPr>
          <p:cNvPr id="27" name="Text 24"/>
          <p:cNvSpPr txBox="1"/>
          <p:nvPr/>
        </p:nvSpPr>
        <p:spPr>
          <a:xfrm>
            <a:off x="548640" y="4956048"/>
            <a:ext cx="1517904"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ICP</a:t>
            </a:r>
            <a:endParaRPr lang="en-US" sz="1200" dirty="0"/>
          </a:p>
        </p:txBody>
      </p:sp>
      <p:sp>
        <p:nvSpPr>
          <p:cNvPr id="28" name="Shape 25"/>
          <p:cNvSpPr/>
          <p:nvPr/>
        </p:nvSpPr>
        <p:spPr>
          <a:xfrm>
            <a:off x="2203704" y="4956048"/>
            <a:ext cx="1517904" cy="548640"/>
          </a:xfrm>
          <a:prstGeom prst="roundRect">
            <a:avLst>
              <a:gd name="adj" fmla="val 13333"/>
            </a:avLst>
          </a:prstGeom>
          <a:solidFill>
            <a:srgbClr val="0F1341"/>
          </a:solidFill>
          <a:ln w="12700">
            <a:solidFill>
              <a:srgbClr val="6A7FA8"/>
            </a:solidFill>
            <a:prstDash val="solid"/>
          </a:ln>
        </p:spPr>
      </p:sp>
      <p:sp>
        <p:nvSpPr>
          <p:cNvPr id="29" name="Text 26"/>
          <p:cNvSpPr txBox="1"/>
          <p:nvPr/>
        </p:nvSpPr>
        <p:spPr>
          <a:xfrm>
            <a:off x="2203704" y="4956048"/>
            <a:ext cx="1517904"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Pain (quantified)</a:t>
            </a:r>
            <a:endParaRPr lang="en-US" sz="1200" dirty="0"/>
          </a:p>
        </p:txBody>
      </p:sp>
      <p:sp>
        <p:nvSpPr>
          <p:cNvPr id="30" name="Shape 27"/>
          <p:cNvSpPr/>
          <p:nvPr/>
        </p:nvSpPr>
        <p:spPr>
          <a:xfrm>
            <a:off x="3858768" y="4956048"/>
            <a:ext cx="1517904" cy="548640"/>
          </a:xfrm>
          <a:prstGeom prst="roundRect">
            <a:avLst>
              <a:gd name="adj" fmla="val 13333"/>
            </a:avLst>
          </a:prstGeom>
          <a:solidFill>
            <a:srgbClr val="0F1341"/>
          </a:solidFill>
          <a:ln w="12700">
            <a:solidFill>
              <a:srgbClr val="6A7FA8"/>
            </a:solidFill>
            <a:prstDash val="solid"/>
          </a:ln>
        </p:spPr>
      </p:sp>
      <p:sp>
        <p:nvSpPr>
          <p:cNvPr id="31" name="Text 28"/>
          <p:cNvSpPr txBox="1"/>
          <p:nvPr/>
        </p:nvSpPr>
        <p:spPr>
          <a:xfrm>
            <a:off x="3858768" y="4956048"/>
            <a:ext cx="1517904"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Message</a:t>
            </a:r>
            <a:endParaRPr lang="en-US" sz="1200" dirty="0"/>
          </a:p>
        </p:txBody>
      </p:sp>
      <p:sp>
        <p:nvSpPr>
          <p:cNvPr id="32" name="Shape 29"/>
          <p:cNvSpPr/>
          <p:nvPr/>
        </p:nvSpPr>
        <p:spPr>
          <a:xfrm>
            <a:off x="5513832" y="4956048"/>
            <a:ext cx="1517904" cy="548640"/>
          </a:xfrm>
          <a:prstGeom prst="roundRect">
            <a:avLst>
              <a:gd name="adj" fmla="val 13333"/>
            </a:avLst>
          </a:prstGeom>
          <a:solidFill>
            <a:srgbClr val="0F1341"/>
          </a:solidFill>
          <a:ln w="12700">
            <a:solidFill>
              <a:srgbClr val="6A7FA8"/>
            </a:solidFill>
            <a:prstDash val="solid"/>
          </a:ln>
        </p:spPr>
      </p:sp>
      <p:sp>
        <p:nvSpPr>
          <p:cNvPr id="33" name="Text 30"/>
          <p:cNvSpPr txBox="1"/>
          <p:nvPr/>
        </p:nvSpPr>
        <p:spPr>
          <a:xfrm>
            <a:off x="5513832" y="4956048"/>
            <a:ext cx="1517904"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Qualification</a:t>
            </a:r>
            <a:endParaRPr lang="en-US" sz="1200" dirty="0"/>
          </a:p>
        </p:txBody>
      </p:sp>
      <p:sp>
        <p:nvSpPr>
          <p:cNvPr id="34" name="Shape 31"/>
          <p:cNvSpPr/>
          <p:nvPr/>
        </p:nvSpPr>
        <p:spPr>
          <a:xfrm>
            <a:off x="7168896" y="4956048"/>
            <a:ext cx="1517904" cy="548640"/>
          </a:xfrm>
          <a:prstGeom prst="roundRect">
            <a:avLst>
              <a:gd name="adj" fmla="val 13333"/>
            </a:avLst>
          </a:prstGeom>
          <a:solidFill>
            <a:srgbClr val="0F1341"/>
          </a:solidFill>
          <a:ln w="12700">
            <a:solidFill>
              <a:srgbClr val="6A7FA8"/>
            </a:solidFill>
            <a:prstDash val="solid"/>
          </a:ln>
        </p:spPr>
      </p:sp>
      <p:sp>
        <p:nvSpPr>
          <p:cNvPr id="35" name="Text 32"/>
          <p:cNvSpPr txBox="1"/>
          <p:nvPr/>
        </p:nvSpPr>
        <p:spPr>
          <a:xfrm>
            <a:off x="7168896" y="4956048"/>
            <a:ext cx="1517904"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Montserrat" pitchFamily="34" charset="0"/>
                <a:ea typeface="Montserrat" pitchFamily="34" charset="-122"/>
                <a:cs typeface="Montserrat" pitchFamily="34" charset="-120"/>
              </a:rPr>
              <a:t>Success metric</a:t>
            </a:r>
            <a:endParaRPr lang="en-US" sz="1200" dirty="0"/>
          </a:p>
        </p:txBody>
      </p:sp>
      <p:sp>
        <p:nvSpPr>
          <p:cNvPr id="36" name="Shape 33"/>
          <p:cNvSpPr/>
          <p:nvPr/>
        </p:nvSpPr>
        <p:spPr>
          <a:xfrm>
            <a:off x="9006840" y="4617720"/>
            <a:ext cx="2633472" cy="914400"/>
          </a:xfrm>
          <a:prstGeom prst="roundRect">
            <a:avLst>
              <a:gd name="adj" fmla="val 8000"/>
            </a:avLst>
          </a:prstGeom>
          <a:solidFill>
            <a:srgbClr val="2E6FBF"/>
          </a:solidFill>
          <a:ln/>
        </p:spPr>
      </p:sp>
      <p:pic>
        <p:nvPicPr>
          <p:cNvPr id="37" name="Image 0" descr="preencoded.png">    </p:cNvPr>
          <p:cNvPicPr>
            <a:picLocks noChangeAspect="1"/>
          </p:cNvPicPr>
          <p:nvPr/>
        </p:nvPicPr>
        <p:blipFill>
          <a:blip r:embed="rId1"/>
          <a:stretch>
            <a:fillRect/>
          </a:stretch>
        </p:blipFill>
        <p:spPr>
          <a:xfrm>
            <a:off x="9144000" y="4754880"/>
            <a:ext cx="640080" cy="640080"/>
          </a:xfrm>
          <a:prstGeom prst="rect">
            <a:avLst/>
          </a:prstGeom>
        </p:spPr>
      </p:pic>
      <p:sp>
        <p:nvSpPr>
          <p:cNvPr id="38" name="Text 34"/>
          <p:cNvSpPr txBox="1"/>
          <p:nvPr/>
        </p:nvSpPr>
        <p:spPr>
          <a:xfrm>
            <a:off x="9875520" y="4663440"/>
            <a:ext cx="1691640" cy="822960"/>
          </a:xfrm>
          <a:prstGeom prst="rect">
            <a:avLst/>
          </a:prstGeom>
          <a:noFill/>
          <a:ln/>
        </p:spPr>
        <p:txBody>
          <a:bodyPr wrap="square" lIns="0" tIns="0" rIns="0" bIns="0" rtlCol="0" anchor="ctr"/>
          <a:lstStyle/>
          <a:p>
            <a:pPr indent="0" marL="0">
              <a:buNone/>
            </a:pPr>
            <a:r>
              <a:rPr lang="en-US" sz="1000" dirty="0">
                <a:solidFill>
                  <a:srgbClr val="FFFFFF"/>
                </a:solidFill>
                <a:latin typeface="Montserrat" pitchFamily="34" charset="0"/>
                <a:ea typeface="Montserrat" pitchFamily="34" charset="-122"/>
                <a:cs typeface="Montserrat" pitchFamily="34" charset="-120"/>
              </a:rPr>
              <a:t>QR → data sheet + prompt</a:t>
            </a:r>
            <a:endParaRPr lang="en-US" sz="1000" dirty="0"/>
          </a:p>
          <a:p>
            <a:pPr indent="0" marL="0">
              <a:buNone/>
            </a:pPr>
            <a:r>
              <a:rPr lang="en-US" sz="1000" dirty="0">
                <a:solidFill>
                  <a:srgbClr val="FFFFFF"/>
                </a:solidFill>
                <a:latin typeface="Montserrat" pitchFamily="34" charset="0"/>
                <a:ea typeface="Montserrat" pitchFamily="34" charset="-122"/>
                <a:cs typeface="Montserrat" pitchFamily="34" charset="-120"/>
              </a:rPr>
              <a:t>Segments: trades · agencies · e-commerce</a:t>
            </a:r>
            <a:endParaRPr lang="en-US" sz="1000" dirty="0"/>
          </a:p>
        </p:txBody>
      </p:sp>
      <p:sp>
        <p:nvSpPr>
          <p:cNvPr id="39" name="Text 35"/>
          <p:cNvSpPr txBox="1"/>
          <p:nvPr/>
        </p:nvSpPr>
        <p:spPr>
          <a:xfrm>
            <a:off x="548640" y="5806440"/>
            <a:ext cx="11064240" cy="365760"/>
          </a:xfrm>
          <a:prstGeom prst="rect">
            <a:avLst/>
          </a:prstGeom>
          <a:noFill/>
          <a:ln/>
        </p:spPr>
        <p:txBody>
          <a:bodyPr wrap="square" lIns="0" tIns="0" rIns="0" bIns="0" rtlCol="0" anchor="t"/>
          <a:lstStyle/>
          <a:p>
            <a:pPr indent="0" marL="0">
              <a:buNone/>
            </a:pPr>
            <a:r>
              <a:rPr lang="en-US" sz="1200" i="1" dirty="0">
                <a:solidFill>
                  <a:srgbClr val="C9D3E3"/>
                </a:solidFill>
                <a:latin typeface="Montserrat" pitchFamily="34" charset="0"/>
                <a:ea typeface="Montserrat" pitchFamily="34" charset="-122"/>
                <a:cs typeface="Montserrat" pitchFamily="34" charset="-120"/>
              </a:rPr>
              <a:t>Remember: a vote is what people say. A reply is what people do.</a:t>
            </a:r>
            <a:endParaRPr lang="en-US" sz="12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A7FA8"/>
                </a:solidFill>
                <a:latin typeface="Montserrat"/>
                <a:ea typeface="Montserrat"/>
                <a:cs typeface="Montserrat"/>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2" type="title" hasCustomPrompt="1"/>
          </p:nvPr>
        </p:nvSpPr>
        <p:spPr>
          <a:xfrm>
            <a:off x="548640" y="502920"/>
            <a:ext cx="7863840" cy="685800"/>
          </a:xfrm>
          <a:prstGeom prst="rect">
            <a:avLst/>
          </a:prstGeom>
          <a:noFill/>
          <a:ln/>
        </p:spPr>
        <p:txBody>
          <a:bodyPr wrap="square" lIns="0" tIns="0" rIns="0" bIns="0" rtlCol="0" anchor="t"/>
          <a:lstStyle/>
          <a:p>
            <a:pPr algn="l" indent="0" marL="0">
              <a:buNone/>
            </a:pPr>
            <a:r>
              <a:rPr lang="en-US" sz="2800" b="1" dirty="0">
                <a:solidFill>
                  <a:srgbClr val="0F1341"/>
                </a:solidFill>
                <a:latin typeface="Montserrat" pitchFamily="34" charset="0"/>
                <a:ea typeface="Montserrat" pitchFamily="34" charset="-122"/>
                <a:cs typeface="Montserrat" pitchFamily="34" charset="-120"/>
              </a:rPr>
              <a:t>What a real campaign looks like</a:t>
            </a:r>
            <a:endParaRPr lang="en-US" sz="2800" dirty="0"/>
          </a:p>
        </p:txBody>
      </p:sp>
      <p:sp>
        <p:nvSpPr>
          <p:cNvPr id="3" name="Text 0"/>
          <p:cNvSpPr/>
          <p:nvPr>
            <p:ph idx="103" type="body" hasCustomPrompt="1"/>
          </p:nvPr>
        </p:nvSpPr>
        <p:spPr>
          <a:xfrm>
            <a:off x="548640" y="1207008"/>
            <a:ext cx="8778240" cy="365760"/>
          </a:xfrm>
          <a:prstGeom prst="rect">
            <a:avLst/>
          </a:prstGeom>
          <a:noFill/>
          <a:ln/>
        </p:spPr>
        <p:txBody>
          <a:bodyPr wrap="square" lIns="0" tIns="0" rIns="0" bIns="0" rtlCol="0" anchor="t"/>
          <a:lstStyle/>
          <a:p>
            <a:pPr algn="l" indent="0" marL="0">
              <a:buNone/>
            </a:pPr>
            <a:r>
              <a:rPr lang="en-US" sz="1300" dirty="0">
                <a:solidFill>
                  <a:srgbClr val="5B6270"/>
                </a:solidFill>
                <a:latin typeface="Montserrat" pitchFamily="34" charset="0"/>
                <a:ea typeface="Montserrat" pitchFamily="34" charset="-122"/>
                <a:cs typeface="Montserrat" pitchFamily="34" charset="-120"/>
              </a:rPr>
              <a:t>What the room preferred vs. what real buyers did</a:t>
            </a:r>
            <a:endParaRPr lang="en-US" sz="1300" dirty="0"/>
          </a:p>
        </p:txBody>
      </p:sp>
      <p:sp>
        <p:nvSpPr>
          <p:cNvPr id="5" name="Shape 2"/>
          <p:cNvSpPr/>
          <p:nvPr/>
        </p:nvSpPr>
        <p:spPr>
          <a:xfrm>
            <a:off x="548640" y="1783080"/>
            <a:ext cx="4389120" cy="274320"/>
          </a:xfrm>
          <a:prstGeom prst="roundRect">
            <a:avLst>
              <a:gd name="adj" fmla="val 26667"/>
            </a:avLst>
          </a:prstGeom>
          <a:solidFill>
            <a:srgbClr val="C9D3E3"/>
          </a:solidFill>
          <a:ln/>
        </p:spPr>
      </p:sp>
      <p:sp>
        <p:nvSpPr>
          <p:cNvPr id="6" name="Text 3"/>
          <p:cNvSpPr txBox="1"/>
          <p:nvPr/>
        </p:nvSpPr>
        <p:spPr>
          <a:xfrm>
            <a:off x="548640" y="1783080"/>
            <a:ext cx="4389120" cy="274320"/>
          </a:xfrm>
          <a:prstGeom prst="rect">
            <a:avLst/>
          </a:prstGeom>
          <a:noFill/>
          <a:ln/>
        </p:spPr>
        <p:txBody>
          <a:bodyPr wrap="square" lIns="0" tIns="0" rIns="0" bIns="0" rtlCol="0" anchor="ctr"/>
          <a:lstStyle/>
          <a:p>
            <a:pPr algn="ctr" indent="0" marL="0">
              <a:buNone/>
            </a:pPr>
            <a:r>
              <a:rPr lang="en-US" sz="900" b="1" spc="100" kern="0" dirty="0">
                <a:solidFill>
                  <a:srgbClr val="0F1341"/>
                </a:solidFill>
                <a:latin typeface="Montserrat" pitchFamily="34" charset="0"/>
                <a:ea typeface="Montserrat" pitchFamily="34" charset="-122"/>
                <a:cs typeface="Montserrat" pitchFamily="34" charset="-120"/>
              </a:rPr>
              <a:t>ANONYMISED CAMPAIGN  ·  REPLACE WITH REAL FIGURES</a:t>
            </a:r>
            <a:endParaRPr lang="en-US" sz="900" dirty="0"/>
          </a:p>
        </p:txBody>
      </p:sp>
      <p:graphicFrame>
        <p:nvGraphicFramePr>
          <p:cNvPr id="7" name="Chart 0" descr=""/>
          <p:cNvGraphicFramePr/>
          <p:nvPr/>
        </p:nvGraphicFramePr>
        <p:xfrm>
          <a:off x="457200" y="2148840"/>
          <a:ext cx="6766560" cy="2971800"/>
        </p:xfrm>
        <a:graphic xmlns:a="http://schemas.openxmlformats.org/drawingml/2006/main">
          <a:graphicData uri="http://schemas.openxmlformats.org/drawingml/2006/chart">
            <c:chart xmlns:c="http://schemas.openxmlformats.org/drawingml/2006/chart" r:id="rId1"/>
          </a:graphicData>
        </a:graphic>
      </p:graphicFrame>
      <p:sp>
        <p:nvSpPr>
          <p:cNvPr id="8" name="Text 4"/>
          <p:cNvSpPr txBox="1"/>
          <p:nvPr/>
        </p:nvSpPr>
        <p:spPr>
          <a:xfrm>
            <a:off x="548640" y="5166360"/>
            <a:ext cx="6766560" cy="411480"/>
          </a:xfrm>
          <a:prstGeom prst="rect">
            <a:avLst/>
          </a:prstGeom>
          <a:noFill/>
          <a:ln/>
        </p:spPr>
        <p:txBody>
          <a:bodyPr wrap="square" lIns="0" tIns="0" rIns="0" bIns="0" rtlCol="0" anchor="t"/>
          <a:lstStyle/>
          <a:p>
            <a:pPr indent="0" marL="0">
              <a:buNone/>
            </a:pPr>
            <a:r>
              <a:rPr lang="en-US" sz="1100" dirty="0">
                <a:solidFill>
                  <a:srgbClr val="5B6270"/>
                </a:solidFill>
                <a:latin typeface="Montserrat" pitchFamily="34" charset="0"/>
                <a:ea typeface="Montserrat" pitchFamily="34" charset="-122"/>
                <a:cs typeface="Montserrat" pitchFamily="34" charset="-120"/>
              </a:rPr>
              <a:t>Reply 4.0% · positive 1.2% · meeting 0.6% · cycle 14–21 days · top objections: timing, “we have a tool”, price</a:t>
            </a:r>
            <a:endParaRPr lang="en-US" sz="1100" dirty="0"/>
          </a:p>
        </p:txBody>
      </p:sp>
      <p:sp>
        <p:nvSpPr>
          <p:cNvPr id="9" name="Shape 5"/>
          <p:cNvSpPr/>
          <p:nvPr/>
        </p:nvSpPr>
        <p:spPr>
          <a:xfrm>
            <a:off x="7635240" y="1783080"/>
            <a:ext cx="4005072" cy="2148840"/>
          </a:xfrm>
          <a:prstGeom prst="roundRect">
            <a:avLst>
              <a:gd name="adj" fmla="val 3404"/>
            </a:avLst>
          </a:prstGeom>
          <a:solidFill>
            <a:srgbClr val="0F1341"/>
          </a:solidFill>
          <a:ln/>
        </p:spPr>
      </p:sp>
      <p:sp>
        <p:nvSpPr>
          <p:cNvPr id="10" name="Text 6"/>
          <p:cNvSpPr txBox="1"/>
          <p:nvPr/>
        </p:nvSpPr>
        <p:spPr>
          <a:xfrm>
            <a:off x="7863840" y="1920240"/>
            <a:ext cx="3566160" cy="320040"/>
          </a:xfrm>
          <a:prstGeom prst="rect">
            <a:avLst/>
          </a:prstGeom>
          <a:noFill/>
          <a:ln/>
        </p:spPr>
        <p:txBody>
          <a:bodyPr wrap="square" lIns="0" tIns="0" rIns="0" bIns="0" rtlCol="0" anchor="t"/>
          <a:lstStyle/>
          <a:p>
            <a:pPr indent="0" marL="0">
              <a:buNone/>
            </a:pPr>
            <a:r>
              <a:rPr lang="en-US" sz="1200" b="1" dirty="0">
                <a:solidFill>
                  <a:srgbClr val="4A8FDB"/>
                </a:solidFill>
                <a:latin typeface="Montserrat" pitchFamily="34" charset="0"/>
                <a:ea typeface="Montserrat" pitchFamily="34" charset="-122"/>
                <a:cs typeface="Montserrat" pitchFamily="34" charset="-120"/>
              </a:rPr>
              <a:t>Answer to Menti question 2</a:t>
            </a:r>
            <a:endParaRPr lang="en-US" sz="1200" dirty="0"/>
          </a:p>
        </p:txBody>
      </p:sp>
      <p:sp>
        <p:nvSpPr>
          <p:cNvPr id="11" name="Text 7"/>
          <p:cNvSpPr txBox="1"/>
          <p:nvPr/>
        </p:nvSpPr>
        <p:spPr>
          <a:xfrm>
            <a:off x="7863840" y="2286000"/>
            <a:ext cx="3566160" cy="822960"/>
          </a:xfrm>
          <a:prstGeom prst="rect">
            <a:avLst/>
          </a:prstGeom>
          <a:noFill/>
          <a:ln/>
        </p:spPr>
        <p:txBody>
          <a:bodyPr wrap="square" lIns="0" tIns="0" rIns="0" bIns="0" rtlCol="0" anchor="t"/>
          <a:lstStyle/>
          <a:p>
            <a:pPr indent="0" marL="0">
              <a:buNone/>
            </a:pPr>
            <a:r>
              <a:rPr lang="en-US" sz="4800" b="1" dirty="0">
                <a:solidFill>
                  <a:srgbClr val="FFFFFF"/>
                </a:solidFill>
                <a:latin typeface="Montserrat" pitchFamily="34" charset="0"/>
                <a:ea typeface="Montserrat" pitchFamily="34" charset="-122"/>
                <a:cs typeface="Montserrat" pitchFamily="34" charset="-120"/>
              </a:rPr>
              <a:t>≈ 170</a:t>
            </a:r>
            <a:endParaRPr lang="en-US" sz="4800" dirty="0"/>
          </a:p>
        </p:txBody>
      </p:sp>
      <p:sp>
        <p:nvSpPr>
          <p:cNvPr id="12" name="Text 8"/>
          <p:cNvSpPr txBox="1"/>
          <p:nvPr/>
        </p:nvSpPr>
        <p:spPr>
          <a:xfrm>
            <a:off x="7863840" y="3154680"/>
            <a:ext cx="3566160" cy="548640"/>
          </a:xfrm>
          <a:prstGeom prst="rect">
            <a:avLst/>
          </a:prstGeom>
          <a:noFill/>
          <a:ln/>
        </p:spPr>
        <p:txBody>
          <a:bodyPr wrap="square" lIns="0" tIns="0" rIns="0" bIns="0" rtlCol="0" anchor="t"/>
          <a:lstStyle/>
          <a:p>
            <a:pPr indent="0" marL="0">
              <a:buNone/>
            </a:pPr>
            <a:r>
              <a:rPr lang="en-US" sz="1300" dirty="0">
                <a:solidFill>
                  <a:srgbClr val="C9D3E3"/>
                </a:solidFill>
                <a:latin typeface="Montserrat" pitchFamily="34" charset="0"/>
                <a:ea typeface="Montserrat" pitchFamily="34" charset="-122"/>
                <a:cs typeface="Montserrat" pitchFamily="34" charset="-120"/>
              </a:rPr>
              <a:t>emails per qualified meeting</a:t>
            </a:r>
            <a:endParaRPr lang="en-US" sz="1300" dirty="0"/>
          </a:p>
        </p:txBody>
      </p:sp>
      <p:sp>
        <p:nvSpPr>
          <p:cNvPr id="13" name="Shape 9"/>
          <p:cNvSpPr/>
          <p:nvPr/>
        </p:nvSpPr>
        <p:spPr>
          <a:xfrm>
            <a:off x="7635240" y="4069080"/>
            <a:ext cx="4005072" cy="1508760"/>
          </a:xfrm>
          <a:prstGeom prst="roundRect">
            <a:avLst>
              <a:gd name="adj" fmla="val 4848"/>
            </a:avLst>
          </a:prstGeom>
          <a:solidFill>
            <a:srgbClr val="F3F7FC"/>
          </a:solidFill>
          <a:ln/>
        </p:spPr>
      </p:sp>
      <p:sp>
        <p:nvSpPr>
          <p:cNvPr id="14" name="Text 10"/>
          <p:cNvSpPr txBox="1"/>
          <p:nvPr/>
        </p:nvSpPr>
        <p:spPr>
          <a:xfrm>
            <a:off x="7863840" y="4160520"/>
            <a:ext cx="3566160" cy="320040"/>
          </a:xfrm>
          <a:prstGeom prst="rect">
            <a:avLst/>
          </a:prstGeom>
          <a:noFill/>
          <a:ln/>
        </p:spPr>
        <p:txBody>
          <a:bodyPr wrap="square" lIns="0" tIns="0" rIns="0" bIns="0" rtlCol="0" anchor="t"/>
          <a:lstStyle/>
          <a:p>
            <a:pPr indent="0" marL="0">
              <a:buNone/>
            </a:pPr>
            <a:r>
              <a:rPr lang="en-US" sz="1200" b="1" dirty="0">
                <a:solidFill>
                  <a:srgbClr val="0F1341"/>
                </a:solidFill>
                <a:latin typeface="Montserrat" pitchFamily="34" charset="0"/>
                <a:ea typeface="Montserrat" pitchFamily="34" charset="-122"/>
                <a:cs typeface="Montserrat" pitchFamily="34" charset="-120"/>
              </a:rPr>
              <a:t>Weight by kind of evidence</a:t>
            </a:r>
            <a:endParaRPr lang="en-US" sz="1200" dirty="0"/>
          </a:p>
        </p:txBody>
      </p:sp>
      <p:sp>
        <p:nvSpPr>
          <p:cNvPr id="15" name="Text 11"/>
          <p:cNvSpPr txBox="1"/>
          <p:nvPr/>
        </p:nvSpPr>
        <p:spPr>
          <a:xfrm>
            <a:off x="7863840" y="4526280"/>
            <a:ext cx="2743200" cy="292608"/>
          </a:xfrm>
          <a:prstGeom prst="rect">
            <a:avLst/>
          </a:prstGeom>
          <a:noFill/>
          <a:ln/>
        </p:spPr>
        <p:txBody>
          <a:bodyPr wrap="square" lIns="0" tIns="0" rIns="0" bIns="0" rtlCol="0" anchor="t"/>
          <a:lstStyle/>
          <a:p>
            <a:pPr indent="0" marL="0">
              <a:buNone/>
            </a:pPr>
            <a:r>
              <a:rPr lang="en-US" sz="1150" dirty="0">
                <a:solidFill>
                  <a:srgbClr val="5B6270"/>
                </a:solidFill>
                <a:latin typeface="Montserrat" pitchFamily="34" charset="0"/>
                <a:ea typeface="Montserrat" pitchFamily="34" charset="-122"/>
                <a:cs typeface="Montserrat" pitchFamily="34" charset="-120"/>
              </a:rPr>
              <a:t>Real behaviour (replies)</a:t>
            </a:r>
            <a:endParaRPr lang="en-US" sz="1150" dirty="0"/>
          </a:p>
        </p:txBody>
      </p:sp>
      <p:sp>
        <p:nvSpPr>
          <p:cNvPr id="16" name="Text 12"/>
          <p:cNvSpPr txBox="1"/>
          <p:nvPr/>
        </p:nvSpPr>
        <p:spPr>
          <a:xfrm>
            <a:off x="10607040" y="4526280"/>
            <a:ext cx="822960" cy="292608"/>
          </a:xfrm>
          <a:prstGeom prst="rect">
            <a:avLst/>
          </a:prstGeom>
          <a:noFill/>
          <a:ln/>
        </p:spPr>
        <p:txBody>
          <a:bodyPr wrap="square" lIns="0" tIns="0" rIns="0" bIns="0" rtlCol="0" anchor="t"/>
          <a:lstStyle/>
          <a:p>
            <a:pPr algn="r" indent="0" marL="0">
              <a:buNone/>
            </a:pPr>
            <a:r>
              <a:rPr lang="en-US" sz="1200" b="1" dirty="0">
                <a:solidFill>
                  <a:srgbClr val="0F1341"/>
                </a:solidFill>
                <a:latin typeface="Montserrat" pitchFamily="34" charset="0"/>
                <a:ea typeface="Montserrat" pitchFamily="34" charset="-122"/>
                <a:cs typeface="Montserrat" pitchFamily="34" charset="-120"/>
              </a:rPr>
              <a:t>1.0</a:t>
            </a:r>
            <a:endParaRPr lang="en-US" sz="1200" dirty="0"/>
          </a:p>
        </p:txBody>
      </p:sp>
      <p:sp>
        <p:nvSpPr>
          <p:cNvPr id="17" name="Text 13"/>
          <p:cNvSpPr txBox="1"/>
          <p:nvPr/>
        </p:nvSpPr>
        <p:spPr>
          <a:xfrm>
            <a:off x="7863840" y="4855464"/>
            <a:ext cx="2743200" cy="292608"/>
          </a:xfrm>
          <a:prstGeom prst="rect">
            <a:avLst/>
          </a:prstGeom>
          <a:noFill/>
          <a:ln/>
        </p:spPr>
        <p:txBody>
          <a:bodyPr wrap="square" lIns="0" tIns="0" rIns="0" bIns="0" rtlCol="0" anchor="t"/>
          <a:lstStyle/>
          <a:p>
            <a:pPr indent="0" marL="0">
              <a:buNone/>
            </a:pPr>
            <a:r>
              <a:rPr lang="en-US" sz="1150" dirty="0">
                <a:solidFill>
                  <a:srgbClr val="5B6270"/>
                </a:solidFill>
                <a:latin typeface="Montserrat" pitchFamily="34" charset="0"/>
                <a:ea typeface="Montserrat" pitchFamily="34" charset="-122"/>
                <a:cs typeface="Montserrat" pitchFamily="34" charset="-120"/>
              </a:rPr>
              <a:t>Real statement (the vote)</a:t>
            </a:r>
            <a:endParaRPr lang="en-US" sz="1150" dirty="0"/>
          </a:p>
        </p:txBody>
      </p:sp>
      <p:sp>
        <p:nvSpPr>
          <p:cNvPr id="18" name="Text 14"/>
          <p:cNvSpPr txBox="1"/>
          <p:nvPr/>
        </p:nvSpPr>
        <p:spPr>
          <a:xfrm>
            <a:off x="10607040" y="4855464"/>
            <a:ext cx="822960" cy="292608"/>
          </a:xfrm>
          <a:prstGeom prst="rect">
            <a:avLst/>
          </a:prstGeom>
          <a:noFill/>
          <a:ln/>
        </p:spPr>
        <p:txBody>
          <a:bodyPr wrap="square" lIns="0" tIns="0" rIns="0" bIns="0" rtlCol="0" anchor="t"/>
          <a:lstStyle/>
          <a:p>
            <a:pPr algn="r" indent="0" marL="0">
              <a:buNone/>
            </a:pPr>
            <a:r>
              <a:rPr lang="en-US" sz="1200" b="1" dirty="0">
                <a:solidFill>
                  <a:srgbClr val="0F1341"/>
                </a:solidFill>
                <a:latin typeface="Montserrat" pitchFamily="34" charset="0"/>
                <a:ea typeface="Montserrat" pitchFamily="34" charset="-122"/>
                <a:cs typeface="Montserrat" pitchFamily="34" charset="-120"/>
              </a:rPr>
              <a:t>0.7</a:t>
            </a:r>
            <a:endParaRPr lang="en-US" sz="1200" dirty="0"/>
          </a:p>
        </p:txBody>
      </p:sp>
      <p:sp>
        <p:nvSpPr>
          <p:cNvPr id="19" name="Text 15"/>
          <p:cNvSpPr txBox="1"/>
          <p:nvPr/>
        </p:nvSpPr>
        <p:spPr>
          <a:xfrm>
            <a:off x="7863840" y="5184648"/>
            <a:ext cx="2743200" cy="292608"/>
          </a:xfrm>
          <a:prstGeom prst="rect">
            <a:avLst/>
          </a:prstGeom>
          <a:noFill/>
          <a:ln/>
        </p:spPr>
        <p:txBody>
          <a:bodyPr wrap="square" lIns="0" tIns="0" rIns="0" bIns="0" rtlCol="0" anchor="t"/>
          <a:lstStyle/>
          <a:p>
            <a:pPr indent="0" marL="0">
              <a:buNone/>
            </a:pPr>
            <a:r>
              <a:rPr lang="en-US" sz="1150" dirty="0">
                <a:solidFill>
                  <a:srgbClr val="5B6270"/>
                </a:solidFill>
                <a:latin typeface="Montserrat" pitchFamily="34" charset="0"/>
                <a:ea typeface="Montserrat" pitchFamily="34" charset="-122"/>
                <a:cs typeface="Montserrat" pitchFamily="34" charset="-120"/>
              </a:rPr>
              <a:t>Simulated</a:t>
            </a:r>
            <a:endParaRPr lang="en-US" sz="1150" dirty="0"/>
          </a:p>
        </p:txBody>
      </p:sp>
      <p:sp>
        <p:nvSpPr>
          <p:cNvPr id="20" name="Text 16"/>
          <p:cNvSpPr txBox="1"/>
          <p:nvPr/>
        </p:nvSpPr>
        <p:spPr>
          <a:xfrm>
            <a:off x="10607040" y="5184648"/>
            <a:ext cx="822960" cy="292608"/>
          </a:xfrm>
          <a:prstGeom prst="rect">
            <a:avLst/>
          </a:prstGeom>
          <a:noFill/>
          <a:ln/>
        </p:spPr>
        <p:txBody>
          <a:bodyPr wrap="square" lIns="0" tIns="0" rIns="0" bIns="0" rtlCol="0" anchor="t"/>
          <a:lstStyle/>
          <a:p>
            <a:pPr algn="r" indent="0" marL="0">
              <a:buNone/>
            </a:pPr>
            <a:r>
              <a:rPr lang="en-US" sz="1200" b="1" dirty="0">
                <a:solidFill>
                  <a:srgbClr val="0F1341"/>
                </a:solidFill>
                <a:latin typeface="Montserrat" pitchFamily="34" charset="0"/>
                <a:ea typeface="Montserrat" pitchFamily="34" charset="-122"/>
                <a:cs typeface="Montserrat" pitchFamily="34" charset="-120"/>
              </a:rPr>
              <a:t>0.4</a:t>
            </a:r>
            <a:endParaRPr lang="en-US" sz="1200" dirty="0"/>
          </a:p>
        </p:txBody>
      </p:sp>
      <p:sp>
        <p:nvSpPr>
          <p:cNvPr id="21" name="Shape 17"/>
          <p:cNvSpPr/>
          <p:nvPr/>
        </p:nvSpPr>
        <p:spPr>
          <a:xfrm>
            <a:off x="548640" y="5715000"/>
            <a:ext cx="11091672" cy="457200"/>
          </a:xfrm>
          <a:prstGeom prst="roundRect">
            <a:avLst>
              <a:gd name="adj" fmla="val 16000"/>
            </a:avLst>
          </a:prstGeom>
          <a:solidFill>
            <a:srgbClr val="0F1341"/>
          </a:solidFill>
          <a:ln/>
        </p:spPr>
      </p:sp>
      <p:sp>
        <p:nvSpPr>
          <p:cNvPr id="22" name="Text 18"/>
          <p:cNvSpPr txBox="1"/>
          <p:nvPr/>
        </p:nvSpPr>
        <p:spPr>
          <a:xfrm>
            <a:off x="777240" y="5715000"/>
            <a:ext cx="10698480" cy="457200"/>
          </a:xfrm>
          <a:prstGeom prst="rect">
            <a:avLst/>
          </a:prstGeom>
          <a:noFill/>
          <a:ln/>
        </p:spPr>
        <p:txBody>
          <a:bodyPr wrap="square" lIns="0" tIns="0" rIns="0" bIns="0" rtlCol="0" anchor="ctr"/>
          <a:lstStyle/>
          <a:p>
            <a:pPr indent="0" marL="0">
              <a:buNone/>
            </a:pPr>
            <a:r>
              <a:rPr lang="en-US" sz="1300" b="1" dirty="0">
                <a:solidFill>
                  <a:srgbClr val="4A8FDB"/>
                </a:solidFill>
                <a:latin typeface="Montserrat" pitchFamily="34" charset="0"/>
                <a:ea typeface="Montserrat" pitchFamily="34" charset="-122"/>
                <a:cs typeface="Montserrat" pitchFamily="34" charset="-120"/>
              </a:rPr>
              <a:t>The pipeline is a learning system, not a list: </a:t>
            </a:r>
            <a:pPr indent="0" marL="0">
              <a:buNone/>
            </a:pPr>
            <a:r>
              <a:rPr lang="en-US" sz="1300" dirty="0">
                <a:solidFill>
                  <a:srgbClr val="FFFFFF"/>
                </a:solidFill>
                <a:latin typeface="Montserrat" pitchFamily="34" charset="0"/>
                <a:ea typeface="Montserrat" pitchFamily="34" charset="-122"/>
                <a:cs typeface="Montserrat" pitchFamily="34" charset="-120"/>
              </a:rPr>
              <a:t>it feeds product, pricing and strategy.</a:t>
            </a:r>
            <a:endParaRPr lang="en-US" sz="13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3A3"/>
                </a:solidFill>
                <a:latin typeface="Montserrat"/>
                <a:ea typeface="Montserrat"/>
                <a:cs typeface="Montserrat"/>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2" type="title" hasCustomPrompt="1"/>
          </p:nvPr>
        </p:nvSpPr>
        <p:spPr>
          <a:xfrm>
            <a:off x="548640" y="502920"/>
            <a:ext cx="7863840" cy="685800"/>
          </a:xfrm>
          <a:prstGeom prst="rect">
            <a:avLst/>
          </a:prstGeom>
          <a:noFill/>
          <a:ln/>
        </p:spPr>
        <p:txBody>
          <a:bodyPr wrap="square" lIns="0" tIns="0" rIns="0" bIns="0" rtlCol="0" anchor="t"/>
          <a:lstStyle/>
          <a:p>
            <a:pPr algn="l" indent="0" marL="0">
              <a:buNone/>
            </a:pPr>
            <a:r>
              <a:rPr lang="en-US" sz="2800" b="1" dirty="0">
                <a:solidFill>
                  <a:srgbClr val="0F1341"/>
                </a:solidFill>
                <a:latin typeface="Montserrat" pitchFamily="34" charset="0"/>
                <a:ea typeface="Montserrat" pitchFamily="34" charset="-122"/>
                <a:cs typeface="Montserrat" pitchFamily="34" charset="-120"/>
              </a:rPr>
              <a:t>How AI-native will change sales</a:t>
            </a:r>
            <a:endParaRPr lang="en-US" sz="2800" dirty="0"/>
          </a:p>
        </p:txBody>
      </p:sp>
      <p:sp>
        <p:nvSpPr>
          <p:cNvPr id="3" name="Text 0"/>
          <p:cNvSpPr/>
          <p:nvPr>
            <p:ph idx="103" type="body" hasCustomPrompt="1"/>
          </p:nvPr>
        </p:nvSpPr>
        <p:spPr>
          <a:xfrm>
            <a:off x="548640" y="1207008"/>
            <a:ext cx="8778240" cy="365760"/>
          </a:xfrm>
          <a:prstGeom prst="rect">
            <a:avLst/>
          </a:prstGeom>
          <a:noFill/>
          <a:ln/>
        </p:spPr>
        <p:txBody>
          <a:bodyPr wrap="square" lIns="0" tIns="0" rIns="0" bIns="0" rtlCol="0" anchor="t"/>
          <a:lstStyle/>
          <a:p>
            <a:pPr algn="l" indent="0" marL="0">
              <a:buNone/>
            </a:pPr>
            <a:r>
              <a:rPr lang="en-US" sz="1300" dirty="0">
                <a:solidFill>
                  <a:srgbClr val="5B6270"/>
                </a:solidFill>
                <a:latin typeface="Montserrat" pitchFamily="34" charset="0"/>
                <a:ea typeface="Montserrat" pitchFamily="34" charset="-122"/>
                <a:cs typeface="Montserrat" pitchFamily="34" charset="-120"/>
              </a:rPr>
              <a:t>The seller of 2030: half analyst, half relationship builder</a:t>
            </a:r>
            <a:endParaRPr lang="en-US" sz="1300" dirty="0"/>
          </a:p>
        </p:txBody>
      </p:sp>
      <p:sp>
        <p:nvSpPr>
          <p:cNvPr id="5" name="Shape 2"/>
          <p:cNvSpPr/>
          <p:nvPr/>
        </p:nvSpPr>
        <p:spPr>
          <a:xfrm>
            <a:off x="548640" y="1783080"/>
            <a:ext cx="5440680" cy="1783080"/>
          </a:xfrm>
          <a:prstGeom prst="roundRect">
            <a:avLst>
              <a:gd name="adj" fmla="val 4103"/>
            </a:avLst>
          </a:prstGeom>
          <a:solidFill>
            <a:srgbClr val="F3F7FC"/>
          </a:solidFill>
          <a:ln/>
        </p:spPr>
      </p:sp>
      <p:sp>
        <p:nvSpPr>
          <p:cNvPr id="6" name="Shape 3"/>
          <p:cNvSpPr/>
          <p:nvPr/>
        </p:nvSpPr>
        <p:spPr>
          <a:xfrm>
            <a:off x="777240" y="2039112"/>
            <a:ext cx="603504" cy="603504"/>
          </a:xfrm>
          <a:prstGeom prst="ellipse">
            <a:avLst/>
          </a:prstGeom>
          <a:solidFill>
            <a:srgbClr val="D9E8F8"/>
          </a:solidFill>
          <a:ln/>
        </p:spPr>
      </p:sp>
      <p:pic>
        <p:nvPicPr>
          <p:cNvPr id="7" name="Image 0" descr="preencoded.png">    </p:cNvPr>
          <p:cNvPicPr>
            <a:picLocks noChangeAspect="1"/>
          </p:cNvPicPr>
          <p:nvPr/>
        </p:nvPicPr>
        <p:blipFill>
          <a:blip r:embed="rId1"/>
          <a:stretch>
            <a:fillRect/>
          </a:stretch>
        </p:blipFill>
        <p:spPr>
          <a:xfrm>
            <a:off x="923544" y="2185416"/>
            <a:ext cx="310896" cy="310896"/>
          </a:xfrm>
          <a:prstGeom prst="rect">
            <a:avLst/>
          </a:prstGeom>
        </p:spPr>
      </p:pic>
      <p:sp>
        <p:nvSpPr>
          <p:cNvPr id="8" name="Text 4"/>
          <p:cNvSpPr txBox="1"/>
          <p:nvPr/>
        </p:nvSpPr>
        <p:spPr>
          <a:xfrm>
            <a:off x="1600200" y="2011680"/>
            <a:ext cx="4160520" cy="457200"/>
          </a:xfrm>
          <a:prstGeom prst="rect">
            <a:avLst/>
          </a:prstGeom>
          <a:noFill/>
          <a:ln/>
        </p:spPr>
        <p:txBody>
          <a:bodyPr wrap="square" lIns="0" tIns="0" rIns="0" bIns="0" rtlCol="0" anchor="ctr"/>
          <a:lstStyle/>
          <a:p>
            <a:pPr indent="0" marL="0">
              <a:buNone/>
            </a:pPr>
            <a:r>
              <a:rPr lang="en-US" sz="1500" b="1" dirty="0">
                <a:solidFill>
                  <a:srgbClr val="0F1341"/>
                </a:solidFill>
                <a:latin typeface="Montserrat" pitchFamily="34" charset="0"/>
                <a:ea typeface="Montserrat" pitchFamily="34" charset="-122"/>
                <a:cs typeface="Montserrat" pitchFamily="34" charset="-120"/>
              </a:rPr>
              <a:t>Agents run the top of the funnel</a:t>
            </a:r>
            <a:endParaRPr lang="en-US" sz="1500" dirty="0"/>
          </a:p>
        </p:txBody>
      </p:sp>
      <p:sp>
        <p:nvSpPr>
          <p:cNvPr id="9" name="Text 5"/>
          <p:cNvSpPr txBox="1"/>
          <p:nvPr/>
        </p:nvSpPr>
        <p:spPr>
          <a:xfrm>
            <a:off x="1600200" y="2514600"/>
            <a:ext cx="4160520" cy="960120"/>
          </a:xfrm>
          <a:prstGeom prst="rect">
            <a:avLst/>
          </a:prstGeom>
          <a:noFill/>
          <a:ln/>
        </p:spPr>
        <p:txBody>
          <a:bodyPr wrap="square" lIns="0" tIns="0" rIns="0" bIns="0" rtlCol="0" anchor="t"/>
          <a:lstStyle/>
          <a:p>
            <a:pPr indent="0" marL="0">
              <a:buNone/>
            </a:pPr>
            <a:r>
              <a:rPr lang="en-US" sz="1250" dirty="0">
                <a:solidFill>
                  <a:srgbClr val="5B6270"/>
                </a:solidFill>
                <a:latin typeface="Montserrat" pitchFamily="34" charset="0"/>
                <a:ea typeface="Montserrat" pitchFamily="34" charset="-122"/>
                <a:cs typeface="Montserrat" pitchFamily="34" charset="-120"/>
              </a:rPr>
              <a:t>List, research, first message, follow-ups and reply classification — done by AI, approved by humans.</a:t>
            </a:r>
            <a:endParaRPr lang="en-US" sz="1250" dirty="0"/>
          </a:p>
        </p:txBody>
      </p:sp>
      <p:sp>
        <p:nvSpPr>
          <p:cNvPr id="10" name="Shape 6"/>
          <p:cNvSpPr/>
          <p:nvPr/>
        </p:nvSpPr>
        <p:spPr>
          <a:xfrm>
            <a:off x="6199632" y="1783080"/>
            <a:ext cx="5440680" cy="1783080"/>
          </a:xfrm>
          <a:prstGeom prst="roundRect">
            <a:avLst>
              <a:gd name="adj" fmla="val 4103"/>
            </a:avLst>
          </a:prstGeom>
          <a:solidFill>
            <a:srgbClr val="F3F7FC"/>
          </a:solidFill>
          <a:ln/>
        </p:spPr>
      </p:sp>
      <p:sp>
        <p:nvSpPr>
          <p:cNvPr id="11" name="Shape 7"/>
          <p:cNvSpPr/>
          <p:nvPr/>
        </p:nvSpPr>
        <p:spPr>
          <a:xfrm>
            <a:off x="6428232" y="2039112"/>
            <a:ext cx="603504" cy="603504"/>
          </a:xfrm>
          <a:prstGeom prst="ellipse">
            <a:avLst/>
          </a:prstGeom>
          <a:solidFill>
            <a:srgbClr val="D9E8F8"/>
          </a:solidFill>
          <a:ln/>
        </p:spPr>
      </p:sp>
      <p:pic>
        <p:nvPicPr>
          <p:cNvPr id="12" name="Image 1" descr="preencoded.png">    </p:cNvPr>
          <p:cNvPicPr>
            <a:picLocks noChangeAspect="1"/>
          </p:cNvPicPr>
          <p:nvPr/>
        </p:nvPicPr>
        <p:blipFill>
          <a:blip r:embed="rId2"/>
          <a:stretch>
            <a:fillRect/>
          </a:stretch>
        </p:blipFill>
        <p:spPr>
          <a:xfrm>
            <a:off x="6574536" y="2185416"/>
            <a:ext cx="310896" cy="310896"/>
          </a:xfrm>
          <a:prstGeom prst="rect">
            <a:avLst/>
          </a:prstGeom>
        </p:spPr>
      </p:pic>
      <p:sp>
        <p:nvSpPr>
          <p:cNvPr id="13" name="Text 8"/>
          <p:cNvSpPr txBox="1"/>
          <p:nvPr/>
        </p:nvSpPr>
        <p:spPr>
          <a:xfrm>
            <a:off x="7251192" y="2011680"/>
            <a:ext cx="4160520" cy="457200"/>
          </a:xfrm>
          <a:prstGeom prst="rect">
            <a:avLst/>
          </a:prstGeom>
          <a:noFill/>
          <a:ln/>
        </p:spPr>
        <p:txBody>
          <a:bodyPr wrap="square" lIns="0" tIns="0" rIns="0" bIns="0" rtlCol="0" anchor="ctr"/>
          <a:lstStyle/>
          <a:p>
            <a:pPr indent="0" marL="0">
              <a:buNone/>
            </a:pPr>
            <a:r>
              <a:rPr lang="en-US" sz="1500" b="1" dirty="0">
                <a:solidFill>
                  <a:srgbClr val="0F1341"/>
                </a:solidFill>
                <a:latin typeface="Montserrat" pitchFamily="34" charset="0"/>
                <a:ea typeface="Montserrat" pitchFamily="34" charset="-122"/>
                <a:cs typeface="Montserrat" pitchFamily="34" charset="-120"/>
              </a:rPr>
              <a:t>Buyers bring their own AI</a:t>
            </a:r>
            <a:endParaRPr lang="en-US" sz="1500" dirty="0"/>
          </a:p>
        </p:txBody>
      </p:sp>
      <p:sp>
        <p:nvSpPr>
          <p:cNvPr id="14" name="Text 9"/>
          <p:cNvSpPr txBox="1"/>
          <p:nvPr/>
        </p:nvSpPr>
        <p:spPr>
          <a:xfrm>
            <a:off x="7251192" y="2514600"/>
            <a:ext cx="4160520" cy="960120"/>
          </a:xfrm>
          <a:prstGeom prst="rect">
            <a:avLst/>
          </a:prstGeom>
          <a:noFill/>
          <a:ln/>
        </p:spPr>
        <p:txBody>
          <a:bodyPr wrap="square" lIns="0" tIns="0" rIns="0" bIns="0" rtlCol="0" anchor="t"/>
          <a:lstStyle/>
          <a:p>
            <a:pPr indent="0" marL="0">
              <a:buNone/>
            </a:pPr>
            <a:r>
              <a:rPr lang="en-US" sz="1250" dirty="0">
                <a:solidFill>
                  <a:srgbClr val="5B6270"/>
                </a:solidFill>
                <a:latin typeface="Montserrat" pitchFamily="34" charset="0"/>
                <a:ea typeface="Montserrat" pitchFamily="34" charset="-122"/>
                <a:cs typeface="Montserrat" pitchFamily="34" charset="-120"/>
              </a:rPr>
              <a:t>Procurement agents compare offers before a human talks. Your data and claims must survive machine scrutiny.</a:t>
            </a:r>
            <a:endParaRPr lang="en-US" sz="1250" dirty="0"/>
          </a:p>
        </p:txBody>
      </p:sp>
      <p:sp>
        <p:nvSpPr>
          <p:cNvPr id="15" name="Shape 10"/>
          <p:cNvSpPr/>
          <p:nvPr/>
        </p:nvSpPr>
        <p:spPr>
          <a:xfrm>
            <a:off x="548640" y="3749040"/>
            <a:ext cx="5440680" cy="1783080"/>
          </a:xfrm>
          <a:prstGeom prst="roundRect">
            <a:avLst>
              <a:gd name="adj" fmla="val 4103"/>
            </a:avLst>
          </a:prstGeom>
          <a:solidFill>
            <a:srgbClr val="F3F7FC"/>
          </a:solidFill>
          <a:ln/>
        </p:spPr>
      </p:sp>
      <p:sp>
        <p:nvSpPr>
          <p:cNvPr id="16" name="Shape 11"/>
          <p:cNvSpPr/>
          <p:nvPr/>
        </p:nvSpPr>
        <p:spPr>
          <a:xfrm>
            <a:off x="777240" y="4005072"/>
            <a:ext cx="603504" cy="603504"/>
          </a:xfrm>
          <a:prstGeom prst="ellipse">
            <a:avLst/>
          </a:prstGeom>
          <a:solidFill>
            <a:srgbClr val="D9E8F8"/>
          </a:solidFill>
          <a:ln/>
        </p:spPr>
      </p:sp>
      <p:pic>
        <p:nvPicPr>
          <p:cNvPr id="17" name="Image 2" descr="preencoded.png">    </p:cNvPr>
          <p:cNvPicPr>
            <a:picLocks noChangeAspect="1"/>
          </p:cNvPicPr>
          <p:nvPr/>
        </p:nvPicPr>
        <p:blipFill>
          <a:blip r:embed="rId3"/>
          <a:stretch>
            <a:fillRect/>
          </a:stretch>
        </p:blipFill>
        <p:spPr>
          <a:xfrm>
            <a:off x="923544" y="4151376"/>
            <a:ext cx="310896" cy="310896"/>
          </a:xfrm>
          <a:prstGeom prst="rect">
            <a:avLst/>
          </a:prstGeom>
        </p:spPr>
      </p:pic>
      <p:sp>
        <p:nvSpPr>
          <p:cNvPr id="18" name="Text 12"/>
          <p:cNvSpPr txBox="1"/>
          <p:nvPr/>
        </p:nvSpPr>
        <p:spPr>
          <a:xfrm>
            <a:off x="1600200" y="3977640"/>
            <a:ext cx="4160520" cy="457200"/>
          </a:xfrm>
          <a:prstGeom prst="rect">
            <a:avLst/>
          </a:prstGeom>
          <a:noFill/>
          <a:ln/>
        </p:spPr>
        <p:txBody>
          <a:bodyPr wrap="square" lIns="0" tIns="0" rIns="0" bIns="0" rtlCol="0" anchor="ctr"/>
          <a:lstStyle/>
          <a:p>
            <a:pPr indent="0" marL="0">
              <a:buNone/>
            </a:pPr>
            <a:r>
              <a:rPr lang="en-US" sz="1500" b="1" dirty="0">
                <a:solidFill>
                  <a:srgbClr val="0F1341"/>
                </a:solidFill>
                <a:latin typeface="Montserrat" pitchFamily="34" charset="0"/>
                <a:ea typeface="Montserrat" pitchFamily="34" charset="-122"/>
                <a:cs typeface="Montserrat" pitchFamily="34" charset="-120"/>
              </a:rPr>
              <a:t>Humans own trust and the deal</a:t>
            </a:r>
            <a:endParaRPr lang="en-US" sz="1500" dirty="0"/>
          </a:p>
        </p:txBody>
      </p:sp>
      <p:sp>
        <p:nvSpPr>
          <p:cNvPr id="19" name="Text 13"/>
          <p:cNvSpPr txBox="1"/>
          <p:nvPr/>
        </p:nvSpPr>
        <p:spPr>
          <a:xfrm>
            <a:off x="1600200" y="4480560"/>
            <a:ext cx="4160520" cy="960120"/>
          </a:xfrm>
          <a:prstGeom prst="rect">
            <a:avLst/>
          </a:prstGeom>
          <a:noFill/>
          <a:ln/>
        </p:spPr>
        <p:txBody>
          <a:bodyPr wrap="square" lIns="0" tIns="0" rIns="0" bIns="0" rtlCol="0" anchor="t"/>
          <a:lstStyle/>
          <a:p>
            <a:pPr indent="0" marL="0">
              <a:buNone/>
            </a:pPr>
            <a:r>
              <a:rPr lang="en-US" sz="1250" dirty="0">
                <a:solidFill>
                  <a:srgbClr val="5B6270"/>
                </a:solidFill>
                <a:latin typeface="Montserrat" pitchFamily="34" charset="0"/>
                <a:ea typeface="Montserrat" pitchFamily="34" charset="-122"/>
                <a:cs typeface="Montserrat" pitchFamily="34" charset="-120"/>
              </a:rPr>
              <a:t>Diagnosis, the meeting, pricing judgement, negotiation — and saying no to bad-fit leads.</a:t>
            </a:r>
            <a:endParaRPr lang="en-US" sz="1250" dirty="0"/>
          </a:p>
        </p:txBody>
      </p:sp>
      <p:sp>
        <p:nvSpPr>
          <p:cNvPr id="20" name="Shape 14"/>
          <p:cNvSpPr/>
          <p:nvPr/>
        </p:nvSpPr>
        <p:spPr>
          <a:xfrm>
            <a:off x="6199632" y="3749040"/>
            <a:ext cx="5440680" cy="1783080"/>
          </a:xfrm>
          <a:prstGeom prst="roundRect">
            <a:avLst>
              <a:gd name="adj" fmla="val 4103"/>
            </a:avLst>
          </a:prstGeom>
          <a:solidFill>
            <a:srgbClr val="0F1341"/>
          </a:solidFill>
          <a:ln/>
        </p:spPr>
      </p:sp>
      <p:sp>
        <p:nvSpPr>
          <p:cNvPr id="21" name="Shape 15"/>
          <p:cNvSpPr/>
          <p:nvPr/>
        </p:nvSpPr>
        <p:spPr>
          <a:xfrm>
            <a:off x="6428232" y="4005072"/>
            <a:ext cx="603504" cy="603504"/>
          </a:xfrm>
          <a:prstGeom prst="ellipse">
            <a:avLst/>
          </a:prstGeom>
          <a:solidFill>
            <a:srgbClr val="2E6FBF"/>
          </a:solidFill>
          <a:ln/>
        </p:spPr>
      </p:sp>
      <p:pic>
        <p:nvPicPr>
          <p:cNvPr id="22" name="Image 3" descr="preencoded.png">    </p:cNvPr>
          <p:cNvPicPr>
            <a:picLocks noChangeAspect="1"/>
          </p:cNvPicPr>
          <p:nvPr/>
        </p:nvPicPr>
        <p:blipFill>
          <a:blip r:embed="rId4"/>
          <a:stretch>
            <a:fillRect/>
          </a:stretch>
        </p:blipFill>
        <p:spPr>
          <a:xfrm>
            <a:off x="6574536" y="4151376"/>
            <a:ext cx="310896" cy="310896"/>
          </a:xfrm>
          <a:prstGeom prst="rect">
            <a:avLst/>
          </a:prstGeom>
        </p:spPr>
      </p:pic>
      <p:sp>
        <p:nvSpPr>
          <p:cNvPr id="23" name="Text 16"/>
          <p:cNvSpPr txBox="1"/>
          <p:nvPr/>
        </p:nvSpPr>
        <p:spPr>
          <a:xfrm>
            <a:off x="7251192" y="3977640"/>
            <a:ext cx="4160520" cy="457200"/>
          </a:xfrm>
          <a:prstGeom prst="rect">
            <a:avLst/>
          </a:prstGeom>
          <a:noFill/>
          <a:ln/>
        </p:spPr>
        <p:txBody>
          <a:bodyPr wrap="square" lIns="0" tIns="0" rIns="0" bIns="0" rtlCol="0" anchor="ctr"/>
          <a:lstStyle/>
          <a:p>
            <a:pPr indent="0" marL="0">
              <a:buNone/>
            </a:pPr>
            <a:r>
              <a:rPr lang="en-US" sz="1500" b="1" dirty="0">
                <a:solidFill>
                  <a:srgbClr val="FFFFFF"/>
                </a:solidFill>
                <a:latin typeface="Montserrat" pitchFamily="34" charset="0"/>
                <a:ea typeface="Montserrat" pitchFamily="34" charset="-122"/>
                <a:cs typeface="Montserrat" pitchFamily="34" charset="-120"/>
              </a:rPr>
              <a:t>Paid for learning, not only volume</a:t>
            </a:r>
            <a:endParaRPr lang="en-US" sz="1500" dirty="0"/>
          </a:p>
        </p:txBody>
      </p:sp>
      <p:sp>
        <p:nvSpPr>
          <p:cNvPr id="24" name="Text 17"/>
          <p:cNvSpPr txBox="1"/>
          <p:nvPr/>
        </p:nvSpPr>
        <p:spPr>
          <a:xfrm>
            <a:off x="7251192" y="4480560"/>
            <a:ext cx="4160520" cy="960120"/>
          </a:xfrm>
          <a:prstGeom prst="rect">
            <a:avLst/>
          </a:prstGeom>
          <a:noFill/>
          <a:ln/>
        </p:spPr>
        <p:txBody>
          <a:bodyPr wrap="square" lIns="0" tIns="0" rIns="0" bIns="0" rtlCol="0" anchor="t"/>
          <a:lstStyle/>
          <a:p>
            <a:pPr indent="0" marL="0">
              <a:buNone/>
            </a:pPr>
            <a:r>
              <a:rPr lang="en-US" sz="1250" dirty="0">
                <a:solidFill>
                  <a:srgbClr val="C9D3E3"/>
                </a:solidFill>
                <a:latin typeface="Montserrat" pitchFamily="34" charset="0"/>
                <a:ea typeface="Montserrat" pitchFamily="34" charset="-122"/>
                <a:cs typeface="Montserrat" pitchFamily="34" charset="-120"/>
              </a:rPr>
              <a:t>Teams are measured on documented insight per contact — every objection is data for product and pricing.</a:t>
            </a:r>
            <a:endParaRPr lang="en-US" sz="1250" dirty="0"/>
          </a:p>
        </p:txBody>
      </p:sp>
      <p:sp>
        <p:nvSpPr>
          <p:cNvPr id="25" name="Text 18"/>
          <p:cNvSpPr txBox="1"/>
          <p:nvPr/>
        </p:nvSpPr>
        <p:spPr>
          <a:xfrm>
            <a:off x="548640" y="5779008"/>
            <a:ext cx="11064240" cy="365760"/>
          </a:xfrm>
          <a:prstGeom prst="rect">
            <a:avLst/>
          </a:prstGeom>
          <a:noFill/>
          <a:ln/>
        </p:spPr>
        <p:txBody>
          <a:bodyPr wrap="square" lIns="0" tIns="0" rIns="0" bIns="0" rtlCol="0" anchor="t"/>
          <a:lstStyle/>
          <a:p>
            <a:pPr indent="0" marL="0">
              <a:buNone/>
            </a:pPr>
            <a:r>
              <a:rPr lang="en-US" sz="1200" b="1" dirty="0">
                <a:solidFill>
                  <a:srgbClr val="2E6FBF"/>
                </a:solidFill>
                <a:latin typeface="Montserrat" pitchFamily="34" charset="0"/>
                <a:ea typeface="Montserrat" pitchFamily="34" charset="-122"/>
                <a:cs typeface="Montserrat" pitchFamily="34" charset="-120"/>
              </a:rPr>
              <a:t>Three statements to take home: diagnose before you persuade · every campaign is an experiment · behaviour outweighs opinion.</a:t>
            </a:r>
            <a:endParaRPr lang="en-US" sz="12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93A3"/>
                </a:solidFill>
                <a:latin typeface="Montserrat"/>
                <a:ea typeface="Montserrat"/>
                <a:cs typeface="Montserrat"/>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1" type="title" hasCustomPrompt="1"/>
          </p:nvPr>
        </p:nvSpPr>
        <p:spPr>
          <a:xfrm>
            <a:off x="548640" y="685800"/>
            <a:ext cx="9509760" cy="1280160"/>
          </a:xfrm>
          <a:prstGeom prst="rect">
            <a:avLst/>
          </a:prstGeom>
          <a:noFill/>
          <a:ln/>
        </p:spPr>
        <p:txBody>
          <a:bodyPr wrap="square" lIns="0" tIns="0" rIns="0" bIns="0" rtlCol="0" anchor="t"/>
          <a:lstStyle/>
          <a:p>
            <a:pPr algn="l" indent="0" marL="0">
              <a:buNone/>
            </a:pPr>
            <a:r>
              <a:rPr lang="en-US" sz="3400" b="1" dirty="0">
                <a:solidFill>
                  <a:srgbClr val="FFFFFF"/>
                </a:solidFill>
                <a:latin typeface="Montserrat" pitchFamily="34" charset="0"/>
                <a:ea typeface="Montserrat" pitchFamily="34" charset="-122"/>
                <a:cs typeface="Montserrat" pitchFamily="34" charset="-120"/>
              </a:rPr>
              <a:t>AI can generate a strategy. Evidence tells you whether it works.</a:t>
            </a:r>
            <a:endParaRPr lang="en-US" sz="3400" dirty="0"/>
          </a:p>
        </p:txBody>
      </p:sp>
      <p:sp>
        <p:nvSpPr>
          <p:cNvPr id="3" name="Text 0"/>
          <p:cNvSpPr/>
          <p:nvPr>
            <p:ph idx="102" type="body" hasCustomPrompt="1"/>
          </p:nvPr>
        </p:nvSpPr>
        <p:spPr>
          <a:xfrm>
            <a:off x="548640" y="2057400"/>
            <a:ext cx="9509760" cy="411480"/>
          </a:xfrm>
          <a:prstGeom prst="rect">
            <a:avLst/>
          </a:prstGeom>
          <a:noFill/>
          <a:ln/>
        </p:spPr>
        <p:txBody>
          <a:bodyPr wrap="square" lIns="0" tIns="0" rIns="0" bIns="0" rtlCol="0" anchor="t"/>
          <a:lstStyle/>
          <a:p>
            <a:pPr algn="l" indent="0" marL="0">
              <a:buNone/>
            </a:pPr>
            <a:r>
              <a:rPr lang="en-US" sz="1600" dirty="0">
                <a:solidFill>
                  <a:srgbClr val="4A8FDB"/>
                </a:solidFill>
                <a:latin typeface="Montserrat" pitchFamily="34" charset="0"/>
                <a:ea typeface="Montserrat" pitchFamily="34" charset="-122"/>
                <a:cs typeface="Montserrat" pitchFamily="34" charset="-120"/>
              </a:rPr>
              <a:t>The advantage is not generating answers faster — it is testing assumptions faster.</a:t>
            </a:r>
            <a:endParaRPr lang="en-US" sz="1600" dirty="0"/>
          </a:p>
        </p:txBody>
      </p:sp>
      <p:sp>
        <p:nvSpPr>
          <p:cNvPr id="5" name="Shape 2"/>
          <p:cNvSpPr/>
          <p:nvPr/>
        </p:nvSpPr>
        <p:spPr>
          <a:xfrm>
            <a:off x="548640" y="2834640"/>
            <a:ext cx="2615184" cy="1325880"/>
          </a:xfrm>
          <a:prstGeom prst="roundRect">
            <a:avLst>
              <a:gd name="adj" fmla="val 5517"/>
            </a:avLst>
          </a:prstGeom>
          <a:solidFill>
            <a:srgbClr val="1B2156"/>
          </a:solidFill>
          <a:ln/>
        </p:spPr>
      </p:sp>
      <p:sp>
        <p:nvSpPr>
          <p:cNvPr id="6" name="Text 3"/>
          <p:cNvSpPr txBox="1"/>
          <p:nvPr/>
        </p:nvSpPr>
        <p:spPr>
          <a:xfrm>
            <a:off x="749808" y="2953512"/>
            <a:ext cx="914400" cy="365760"/>
          </a:xfrm>
          <a:prstGeom prst="rect">
            <a:avLst/>
          </a:prstGeom>
          <a:noFill/>
          <a:ln/>
        </p:spPr>
        <p:txBody>
          <a:bodyPr wrap="square" lIns="0" tIns="0" rIns="0" bIns="0" rtlCol="0" anchor="t"/>
          <a:lstStyle/>
          <a:p>
            <a:pPr indent="0" marL="0">
              <a:buNone/>
            </a:pPr>
            <a:r>
              <a:rPr lang="en-US" sz="1400" b="1" dirty="0">
                <a:solidFill>
                  <a:srgbClr val="4A8FDB"/>
                </a:solidFill>
                <a:latin typeface="Montserrat" pitchFamily="34" charset="0"/>
                <a:ea typeface="Montserrat" pitchFamily="34" charset="-122"/>
                <a:cs typeface="Montserrat" pitchFamily="34" charset="-120"/>
              </a:rPr>
              <a:t>01</a:t>
            </a:r>
            <a:endParaRPr lang="en-US" sz="1400" dirty="0"/>
          </a:p>
        </p:txBody>
      </p:sp>
      <p:sp>
        <p:nvSpPr>
          <p:cNvPr id="7" name="Text 4"/>
          <p:cNvSpPr txBox="1"/>
          <p:nvPr/>
        </p:nvSpPr>
        <p:spPr>
          <a:xfrm>
            <a:off x="749808" y="3319272"/>
            <a:ext cx="2249424" cy="365760"/>
          </a:xfrm>
          <a:prstGeom prst="rect">
            <a:avLst/>
          </a:prstGeom>
          <a:noFill/>
          <a:ln/>
        </p:spPr>
        <p:txBody>
          <a:bodyPr wrap="square" lIns="0" tIns="0" rIns="0" bIns="0" rtlCol="0" anchor="t"/>
          <a:lstStyle/>
          <a:p>
            <a:pPr indent="0" marL="0">
              <a:buNone/>
            </a:pPr>
            <a:r>
              <a:rPr lang="en-US" sz="1700" b="1" dirty="0">
                <a:solidFill>
                  <a:srgbClr val="FFFFFF"/>
                </a:solidFill>
                <a:latin typeface="Montserrat" pitchFamily="34" charset="0"/>
                <a:ea typeface="Montserrat" pitchFamily="34" charset="-122"/>
                <a:cs typeface="Montserrat" pitchFamily="34" charset="-120"/>
              </a:rPr>
              <a:t>Identify</a:t>
            </a:r>
            <a:endParaRPr lang="en-US" sz="1700" dirty="0"/>
          </a:p>
        </p:txBody>
      </p:sp>
      <p:sp>
        <p:nvSpPr>
          <p:cNvPr id="8" name="Text 5"/>
          <p:cNvSpPr txBox="1"/>
          <p:nvPr/>
        </p:nvSpPr>
        <p:spPr>
          <a:xfrm>
            <a:off x="749808" y="3703320"/>
            <a:ext cx="2249424" cy="320040"/>
          </a:xfrm>
          <a:prstGeom prst="rect">
            <a:avLst/>
          </a:prstGeom>
          <a:noFill/>
          <a:ln/>
        </p:spPr>
        <p:txBody>
          <a:bodyPr wrap="square" lIns="0" tIns="0" rIns="0" bIns="0" rtlCol="0" anchor="t"/>
          <a:lstStyle/>
          <a:p>
            <a:pPr indent="0" marL="0">
              <a:buNone/>
            </a:pPr>
            <a:r>
              <a:rPr lang="en-US" sz="1200" dirty="0">
                <a:solidFill>
                  <a:srgbClr val="C9D3E3"/>
                </a:solidFill>
                <a:latin typeface="Montserrat" pitchFamily="34" charset="0"/>
                <a:ea typeface="Montserrat" pitchFamily="34" charset="-122"/>
                <a:cs typeface="Montserrat" pitchFamily="34" charset="-120"/>
              </a:rPr>
              <a:t>Find the opportunity</a:t>
            </a:r>
            <a:endParaRPr lang="en-US" sz="1200" dirty="0"/>
          </a:p>
        </p:txBody>
      </p:sp>
      <p:sp>
        <p:nvSpPr>
          <p:cNvPr id="9" name="Shape 6"/>
          <p:cNvSpPr/>
          <p:nvPr/>
        </p:nvSpPr>
        <p:spPr>
          <a:xfrm>
            <a:off x="3374136" y="2834640"/>
            <a:ext cx="2615184" cy="1325880"/>
          </a:xfrm>
          <a:prstGeom prst="roundRect">
            <a:avLst>
              <a:gd name="adj" fmla="val 5517"/>
            </a:avLst>
          </a:prstGeom>
          <a:solidFill>
            <a:srgbClr val="1B2156"/>
          </a:solidFill>
          <a:ln/>
        </p:spPr>
      </p:sp>
      <p:sp>
        <p:nvSpPr>
          <p:cNvPr id="10" name="Text 7"/>
          <p:cNvSpPr txBox="1"/>
          <p:nvPr/>
        </p:nvSpPr>
        <p:spPr>
          <a:xfrm>
            <a:off x="3575304" y="2953512"/>
            <a:ext cx="914400" cy="365760"/>
          </a:xfrm>
          <a:prstGeom prst="rect">
            <a:avLst/>
          </a:prstGeom>
          <a:noFill/>
          <a:ln/>
        </p:spPr>
        <p:txBody>
          <a:bodyPr wrap="square" lIns="0" tIns="0" rIns="0" bIns="0" rtlCol="0" anchor="t"/>
          <a:lstStyle/>
          <a:p>
            <a:pPr indent="0" marL="0">
              <a:buNone/>
            </a:pPr>
            <a:r>
              <a:rPr lang="en-US" sz="1400" b="1" dirty="0">
                <a:solidFill>
                  <a:srgbClr val="4A8FDB"/>
                </a:solidFill>
                <a:latin typeface="Montserrat" pitchFamily="34" charset="0"/>
                <a:ea typeface="Montserrat" pitchFamily="34" charset="-122"/>
                <a:cs typeface="Montserrat" pitchFamily="34" charset="-120"/>
              </a:rPr>
              <a:t>02</a:t>
            </a:r>
            <a:endParaRPr lang="en-US" sz="1400" dirty="0"/>
          </a:p>
        </p:txBody>
      </p:sp>
      <p:sp>
        <p:nvSpPr>
          <p:cNvPr id="11" name="Text 8"/>
          <p:cNvSpPr txBox="1"/>
          <p:nvPr/>
        </p:nvSpPr>
        <p:spPr>
          <a:xfrm>
            <a:off x="3575304" y="3319272"/>
            <a:ext cx="2249424" cy="365760"/>
          </a:xfrm>
          <a:prstGeom prst="rect">
            <a:avLst/>
          </a:prstGeom>
          <a:noFill/>
          <a:ln/>
        </p:spPr>
        <p:txBody>
          <a:bodyPr wrap="square" lIns="0" tIns="0" rIns="0" bIns="0" rtlCol="0" anchor="t"/>
          <a:lstStyle/>
          <a:p>
            <a:pPr indent="0" marL="0">
              <a:buNone/>
            </a:pPr>
            <a:r>
              <a:rPr lang="en-US" sz="1700" b="1" dirty="0">
                <a:solidFill>
                  <a:srgbClr val="FFFFFF"/>
                </a:solidFill>
                <a:latin typeface="Montserrat" pitchFamily="34" charset="0"/>
                <a:ea typeface="Montserrat" pitchFamily="34" charset="-122"/>
                <a:cs typeface="Montserrat" pitchFamily="34" charset="-120"/>
              </a:rPr>
              <a:t>Quantify</a:t>
            </a:r>
            <a:endParaRPr lang="en-US" sz="1700" dirty="0"/>
          </a:p>
        </p:txBody>
      </p:sp>
      <p:sp>
        <p:nvSpPr>
          <p:cNvPr id="12" name="Text 9"/>
          <p:cNvSpPr txBox="1"/>
          <p:nvPr/>
        </p:nvSpPr>
        <p:spPr>
          <a:xfrm>
            <a:off x="3575304" y="3703320"/>
            <a:ext cx="2249424" cy="320040"/>
          </a:xfrm>
          <a:prstGeom prst="rect">
            <a:avLst/>
          </a:prstGeom>
          <a:noFill/>
          <a:ln/>
        </p:spPr>
        <p:txBody>
          <a:bodyPr wrap="square" lIns="0" tIns="0" rIns="0" bIns="0" rtlCol="0" anchor="t"/>
          <a:lstStyle/>
          <a:p>
            <a:pPr indent="0" marL="0">
              <a:buNone/>
            </a:pPr>
            <a:r>
              <a:rPr lang="en-US" sz="1200" dirty="0">
                <a:solidFill>
                  <a:srgbClr val="C9D3E3"/>
                </a:solidFill>
                <a:latin typeface="Montserrat" pitchFamily="34" charset="0"/>
                <a:ea typeface="Montserrat" pitchFamily="34" charset="-122"/>
                <a:cs typeface="Montserrat" pitchFamily="34" charset="-120"/>
              </a:rPr>
              <a:t>Build the business case</a:t>
            </a:r>
            <a:endParaRPr lang="en-US" sz="1200" dirty="0"/>
          </a:p>
        </p:txBody>
      </p:sp>
      <p:sp>
        <p:nvSpPr>
          <p:cNvPr id="13" name="Shape 10"/>
          <p:cNvSpPr/>
          <p:nvPr/>
        </p:nvSpPr>
        <p:spPr>
          <a:xfrm>
            <a:off x="6199632" y="2834640"/>
            <a:ext cx="2615184" cy="1325880"/>
          </a:xfrm>
          <a:prstGeom prst="roundRect">
            <a:avLst>
              <a:gd name="adj" fmla="val 5517"/>
            </a:avLst>
          </a:prstGeom>
          <a:solidFill>
            <a:srgbClr val="1B2156"/>
          </a:solidFill>
          <a:ln/>
        </p:spPr>
      </p:sp>
      <p:sp>
        <p:nvSpPr>
          <p:cNvPr id="14" name="Text 11"/>
          <p:cNvSpPr txBox="1"/>
          <p:nvPr/>
        </p:nvSpPr>
        <p:spPr>
          <a:xfrm>
            <a:off x="6400800" y="2953512"/>
            <a:ext cx="914400" cy="365760"/>
          </a:xfrm>
          <a:prstGeom prst="rect">
            <a:avLst/>
          </a:prstGeom>
          <a:noFill/>
          <a:ln/>
        </p:spPr>
        <p:txBody>
          <a:bodyPr wrap="square" lIns="0" tIns="0" rIns="0" bIns="0" rtlCol="0" anchor="t"/>
          <a:lstStyle/>
          <a:p>
            <a:pPr indent="0" marL="0">
              <a:buNone/>
            </a:pPr>
            <a:r>
              <a:rPr lang="en-US" sz="1400" b="1" dirty="0">
                <a:solidFill>
                  <a:srgbClr val="4A8FDB"/>
                </a:solidFill>
                <a:latin typeface="Montserrat" pitchFamily="34" charset="0"/>
                <a:ea typeface="Montserrat" pitchFamily="34" charset="-122"/>
                <a:cs typeface="Montserrat" pitchFamily="34" charset="-120"/>
              </a:rPr>
              <a:t>03</a:t>
            </a:r>
            <a:endParaRPr lang="en-US" sz="1400" dirty="0"/>
          </a:p>
        </p:txBody>
      </p:sp>
      <p:sp>
        <p:nvSpPr>
          <p:cNvPr id="15" name="Text 12"/>
          <p:cNvSpPr txBox="1"/>
          <p:nvPr/>
        </p:nvSpPr>
        <p:spPr>
          <a:xfrm>
            <a:off x="6400800" y="3319272"/>
            <a:ext cx="2249424" cy="365760"/>
          </a:xfrm>
          <a:prstGeom prst="rect">
            <a:avLst/>
          </a:prstGeom>
          <a:noFill/>
          <a:ln/>
        </p:spPr>
        <p:txBody>
          <a:bodyPr wrap="square" lIns="0" tIns="0" rIns="0" bIns="0" rtlCol="0" anchor="t"/>
          <a:lstStyle/>
          <a:p>
            <a:pPr indent="0" marL="0">
              <a:buNone/>
            </a:pPr>
            <a:r>
              <a:rPr lang="en-US" sz="1700" b="1" dirty="0">
                <a:solidFill>
                  <a:srgbClr val="FFFFFF"/>
                </a:solidFill>
                <a:latin typeface="Montserrat" pitchFamily="34" charset="0"/>
                <a:ea typeface="Montserrat" pitchFamily="34" charset="-122"/>
                <a:cs typeface="Montserrat" pitchFamily="34" charset="-120"/>
              </a:rPr>
              <a:t>Experiment</a:t>
            </a:r>
            <a:endParaRPr lang="en-US" sz="1700" dirty="0"/>
          </a:p>
        </p:txBody>
      </p:sp>
      <p:sp>
        <p:nvSpPr>
          <p:cNvPr id="16" name="Text 13"/>
          <p:cNvSpPr txBox="1"/>
          <p:nvPr/>
        </p:nvSpPr>
        <p:spPr>
          <a:xfrm>
            <a:off x="6400800" y="3703320"/>
            <a:ext cx="2249424" cy="320040"/>
          </a:xfrm>
          <a:prstGeom prst="rect">
            <a:avLst/>
          </a:prstGeom>
          <a:noFill/>
          <a:ln/>
        </p:spPr>
        <p:txBody>
          <a:bodyPr wrap="square" lIns="0" tIns="0" rIns="0" bIns="0" rtlCol="0" anchor="t"/>
          <a:lstStyle/>
          <a:p>
            <a:pPr indent="0" marL="0">
              <a:buNone/>
            </a:pPr>
            <a:r>
              <a:rPr lang="en-US" sz="1200" dirty="0">
                <a:solidFill>
                  <a:srgbClr val="C9D3E3"/>
                </a:solidFill>
                <a:latin typeface="Montserrat" pitchFamily="34" charset="0"/>
                <a:ea typeface="Montserrat" pitchFamily="34" charset="-122"/>
                <a:cs typeface="Montserrat" pitchFamily="34" charset="-120"/>
              </a:rPr>
              <a:t>Collect real evidence</a:t>
            </a:r>
            <a:endParaRPr lang="en-US" sz="1200" dirty="0"/>
          </a:p>
        </p:txBody>
      </p:sp>
      <p:sp>
        <p:nvSpPr>
          <p:cNvPr id="17" name="Shape 14"/>
          <p:cNvSpPr/>
          <p:nvPr/>
        </p:nvSpPr>
        <p:spPr>
          <a:xfrm>
            <a:off x="9025128" y="2834640"/>
            <a:ext cx="2615184" cy="1325880"/>
          </a:xfrm>
          <a:prstGeom prst="roundRect">
            <a:avLst>
              <a:gd name="adj" fmla="val 5517"/>
            </a:avLst>
          </a:prstGeom>
          <a:solidFill>
            <a:srgbClr val="1B2156"/>
          </a:solidFill>
          <a:ln/>
        </p:spPr>
      </p:sp>
      <p:sp>
        <p:nvSpPr>
          <p:cNvPr id="18" name="Text 15"/>
          <p:cNvSpPr txBox="1"/>
          <p:nvPr/>
        </p:nvSpPr>
        <p:spPr>
          <a:xfrm>
            <a:off x="9226296" y="2953512"/>
            <a:ext cx="914400" cy="365760"/>
          </a:xfrm>
          <a:prstGeom prst="rect">
            <a:avLst/>
          </a:prstGeom>
          <a:noFill/>
          <a:ln/>
        </p:spPr>
        <p:txBody>
          <a:bodyPr wrap="square" lIns="0" tIns="0" rIns="0" bIns="0" rtlCol="0" anchor="t"/>
          <a:lstStyle/>
          <a:p>
            <a:pPr indent="0" marL="0">
              <a:buNone/>
            </a:pPr>
            <a:r>
              <a:rPr lang="en-US" sz="1400" b="1" dirty="0">
                <a:solidFill>
                  <a:srgbClr val="4A8FDB"/>
                </a:solidFill>
                <a:latin typeface="Montserrat" pitchFamily="34" charset="0"/>
                <a:ea typeface="Montserrat" pitchFamily="34" charset="-122"/>
                <a:cs typeface="Montserrat" pitchFamily="34" charset="-120"/>
              </a:rPr>
              <a:t>04</a:t>
            </a:r>
            <a:endParaRPr lang="en-US" sz="1400" dirty="0"/>
          </a:p>
        </p:txBody>
      </p:sp>
      <p:sp>
        <p:nvSpPr>
          <p:cNvPr id="19" name="Text 16"/>
          <p:cNvSpPr txBox="1"/>
          <p:nvPr/>
        </p:nvSpPr>
        <p:spPr>
          <a:xfrm>
            <a:off x="9226296" y="3319272"/>
            <a:ext cx="2249424" cy="365760"/>
          </a:xfrm>
          <a:prstGeom prst="rect">
            <a:avLst/>
          </a:prstGeom>
          <a:noFill/>
          <a:ln/>
        </p:spPr>
        <p:txBody>
          <a:bodyPr wrap="square" lIns="0" tIns="0" rIns="0" bIns="0" rtlCol="0" anchor="t"/>
          <a:lstStyle/>
          <a:p>
            <a:pPr indent="0" marL="0">
              <a:buNone/>
            </a:pPr>
            <a:r>
              <a:rPr lang="en-US" sz="1700" b="1" dirty="0">
                <a:solidFill>
                  <a:srgbClr val="FFFFFF"/>
                </a:solidFill>
                <a:latin typeface="Montserrat" pitchFamily="34" charset="0"/>
                <a:ea typeface="Montserrat" pitchFamily="34" charset="-122"/>
                <a:cs typeface="Montserrat" pitchFamily="34" charset="-120"/>
              </a:rPr>
              <a:t>Decide</a:t>
            </a:r>
            <a:endParaRPr lang="en-US" sz="1700" dirty="0"/>
          </a:p>
        </p:txBody>
      </p:sp>
      <p:sp>
        <p:nvSpPr>
          <p:cNvPr id="20" name="Text 17"/>
          <p:cNvSpPr txBox="1"/>
          <p:nvPr/>
        </p:nvSpPr>
        <p:spPr>
          <a:xfrm>
            <a:off x="9226296" y="3703320"/>
            <a:ext cx="2249424" cy="320040"/>
          </a:xfrm>
          <a:prstGeom prst="rect">
            <a:avLst/>
          </a:prstGeom>
          <a:noFill/>
          <a:ln/>
        </p:spPr>
        <p:txBody>
          <a:bodyPr wrap="square" lIns="0" tIns="0" rIns="0" bIns="0" rtlCol="0" anchor="t"/>
          <a:lstStyle/>
          <a:p>
            <a:pPr indent="0" marL="0">
              <a:buNone/>
            </a:pPr>
            <a:r>
              <a:rPr lang="en-US" sz="1200" dirty="0">
                <a:solidFill>
                  <a:srgbClr val="C9D3E3"/>
                </a:solidFill>
                <a:latin typeface="Montserrat" pitchFamily="34" charset="0"/>
                <a:ea typeface="Montserrat" pitchFamily="34" charset="-122"/>
                <a:cs typeface="Montserrat" pitchFamily="34" charset="-120"/>
              </a:rPr>
              <a:t>Go, iterate or stop</a:t>
            </a:r>
            <a:endParaRPr lang="en-US" sz="1200" dirty="0"/>
          </a:p>
        </p:txBody>
      </p:sp>
      <p:sp>
        <p:nvSpPr>
          <p:cNvPr id="21" name="Text 18"/>
          <p:cNvSpPr txBox="1"/>
          <p:nvPr/>
        </p:nvSpPr>
        <p:spPr>
          <a:xfrm>
            <a:off x="548640" y="4526280"/>
            <a:ext cx="4572000" cy="274320"/>
          </a:xfrm>
          <a:prstGeom prst="rect">
            <a:avLst/>
          </a:prstGeom>
          <a:noFill/>
          <a:ln/>
        </p:spPr>
        <p:txBody>
          <a:bodyPr wrap="square" lIns="0" tIns="0" rIns="0" bIns="0" rtlCol="0" anchor="t"/>
          <a:lstStyle/>
          <a:p>
            <a:pPr indent="0" marL="0">
              <a:buNone/>
            </a:pPr>
            <a:r>
              <a:rPr lang="en-US" sz="1000" b="1" spc="100" kern="0" dirty="0">
                <a:solidFill>
                  <a:srgbClr val="4A8FDB"/>
                </a:solidFill>
                <a:latin typeface="Montserrat" pitchFamily="34" charset="0"/>
                <a:ea typeface="Montserrat" pitchFamily="34" charset="-122"/>
                <a:cs typeface="Montserrat" pitchFamily="34" charset="-120"/>
              </a:rPr>
              <a:t>WHO WE ARE</a:t>
            </a:r>
            <a:endParaRPr lang="en-US" sz="1000" dirty="0"/>
          </a:p>
        </p:txBody>
      </p:sp>
      <p:sp>
        <p:nvSpPr>
          <p:cNvPr id="22" name="Text 19"/>
          <p:cNvSpPr txBox="1"/>
          <p:nvPr/>
        </p:nvSpPr>
        <p:spPr>
          <a:xfrm>
            <a:off x="548640" y="4846320"/>
            <a:ext cx="5394960" cy="1097280"/>
          </a:xfrm>
          <a:prstGeom prst="rect">
            <a:avLst/>
          </a:prstGeom>
          <a:noFill/>
          <a:ln/>
        </p:spPr>
        <p:txBody>
          <a:bodyPr wrap="square" lIns="0" tIns="0" rIns="0" bIns="0" rtlCol="0" anchor="t"/>
          <a:lstStyle/>
          <a:p>
            <a:pPr indent="0" marL="0">
              <a:buNone/>
            </a:pPr>
            <a:r>
              <a:rPr lang="en-US" sz="1200" dirty="0">
                <a:solidFill>
                  <a:srgbClr val="C9D3E3"/>
                </a:solidFill>
                <a:latin typeface="Montserrat" pitchFamily="34" charset="0"/>
                <a:ea typeface="Montserrat" pitchFamily="34" charset="-122"/>
                <a:cs typeface="Montserrat" pitchFamily="34" charset="-120"/>
              </a:rPr>
              <a:t>EE-Partner (Milan) and asuno (Singapore) build AI-native systems for B2B companies — process automation for the DACH Mittelstand, and the Business Model Validator: an AI validation layer between idea and investment.</a:t>
            </a:r>
            <a:endParaRPr lang="en-US" sz="1200" dirty="0"/>
          </a:p>
        </p:txBody>
      </p:sp>
      <p:sp>
        <p:nvSpPr>
          <p:cNvPr id="23" name="Text 20"/>
          <p:cNvSpPr txBox="1"/>
          <p:nvPr/>
        </p:nvSpPr>
        <p:spPr>
          <a:xfrm>
            <a:off x="6263640" y="4526280"/>
            <a:ext cx="4572000" cy="274320"/>
          </a:xfrm>
          <a:prstGeom prst="rect">
            <a:avLst/>
          </a:prstGeom>
          <a:noFill/>
          <a:ln/>
        </p:spPr>
        <p:txBody>
          <a:bodyPr wrap="square" lIns="0" tIns="0" rIns="0" bIns="0" rtlCol="0" anchor="t"/>
          <a:lstStyle/>
          <a:p>
            <a:pPr indent="0" marL="0">
              <a:buNone/>
            </a:pPr>
            <a:r>
              <a:rPr lang="en-US" sz="1000" b="1" spc="100" kern="0" dirty="0">
                <a:solidFill>
                  <a:srgbClr val="4A8FDB"/>
                </a:solidFill>
                <a:latin typeface="Montserrat" pitchFamily="34" charset="0"/>
                <a:ea typeface="Montserrat" pitchFamily="34" charset="-122"/>
                <a:cs typeface="Montserrat" pitchFamily="34" charset="-120"/>
              </a:rPr>
              <a:t>WORK WITH US</a:t>
            </a:r>
            <a:endParaRPr lang="en-US" sz="1000" dirty="0"/>
          </a:p>
        </p:txBody>
      </p:sp>
      <p:sp>
        <p:nvSpPr>
          <p:cNvPr id="24" name="Text 21"/>
          <p:cNvSpPr txBox="1"/>
          <p:nvPr/>
        </p:nvSpPr>
        <p:spPr>
          <a:xfrm>
            <a:off x="6263640" y="4846320"/>
            <a:ext cx="5376672" cy="640080"/>
          </a:xfrm>
          <a:prstGeom prst="rect">
            <a:avLst/>
          </a:prstGeom>
          <a:noFill/>
          <a:ln/>
        </p:spPr>
        <p:txBody>
          <a:bodyPr wrap="square" lIns="0" tIns="0" rIns="0" bIns="0" rtlCol="0" anchor="t"/>
          <a:lstStyle/>
          <a:p>
            <a:pPr indent="0" marL="0">
              <a:buNone/>
            </a:pPr>
            <a:r>
              <a:rPr lang="en-US" sz="1200" dirty="0">
                <a:solidFill>
                  <a:srgbClr val="C9D3E3"/>
                </a:solidFill>
                <a:latin typeface="Montserrat" pitchFamily="34" charset="0"/>
                <a:ea typeface="Montserrat" pitchFamily="34" charset="-122"/>
                <a:cs typeface="Montserrat" pitchFamily="34" charset="-120"/>
              </a:rPr>
              <a:t>Hypothesis format and reply taxonomy as a handout for your project work. Thesis topics and pilots.</a:t>
            </a:r>
            <a:endParaRPr lang="en-US" sz="1200" dirty="0"/>
          </a:p>
        </p:txBody>
      </p:sp>
      <p:sp>
        <p:nvSpPr>
          <p:cNvPr id="25" name="Text 22"/>
          <p:cNvSpPr txBox="1"/>
          <p:nvPr/>
        </p:nvSpPr>
        <p:spPr>
          <a:xfrm>
            <a:off x="6263640" y="5532120"/>
            <a:ext cx="5376672" cy="320040"/>
          </a:xfrm>
          <a:prstGeom prst="rect">
            <a:avLst/>
          </a:prstGeom>
          <a:noFill/>
          <a:ln/>
        </p:spPr>
        <p:txBody>
          <a:bodyPr wrap="square" lIns="0" tIns="0" rIns="0" bIns="0" rtlCol="0" anchor="t"/>
          <a:lstStyle/>
          <a:p>
            <a:pPr indent="0" marL="0">
              <a:buNone/>
            </a:pPr>
            <a:r>
              <a:rPr lang="en-US" sz="1200" b="1" dirty="0">
                <a:solidFill>
                  <a:srgbClr val="FFFFFF"/>
                </a:solidFill>
                <a:latin typeface="Montserrat" pitchFamily="34" charset="0"/>
                <a:ea typeface="Montserrat" pitchFamily="34" charset="-122"/>
                <a:cs typeface="Montserrat" pitchFamily="34" charset="-120"/>
              </a:rPr>
              <a:t>Contact: [e-mail / LinkedIn]</a:t>
            </a:r>
            <a:endParaRPr lang="en-US" sz="1200" dirty="0"/>
          </a:p>
        </p:txBody>
      </p:sp>
      <p:pic>
        <p:nvPicPr>
          <p:cNvPr id="26" name="Image 0" descr="/home/user/work/assets/logo_w.png">    </p:cNvPr>
          <p:cNvPicPr>
            <a:picLocks noChangeAspect="1"/>
          </p:cNvPicPr>
          <p:nvPr/>
        </p:nvPicPr>
        <p:blipFill>
          <a:blip r:embed="rId1"/>
          <a:stretch>
            <a:fillRect/>
          </a:stretch>
        </p:blipFill>
        <p:spPr>
          <a:xfrm>
            <a:off x="566928" y="6053328"/>
            <a:ext cx="1143000" cy="420624"/>
          </a:xfrm>
          <a:prstGeom prst="rect">
            <a:avLst/>
          </a:prstGeom>
        </p:spPr>
      </p:pic>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A7FA8"/>
                </a:solidFill>
                <a:latin typeface="Montserrat"/>
                <a:ea typeface="Montserrat"/>
                <a:cs typeface="Montserrat"/>
              </a:defRPr>
            </a:lvl1pPr>
          </a:lstStyle>
          <a:p>
            <a:pPr algn="r"/>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EE-Partner Lecture">
  <a:themeElements>
    <a:clrScheme name="EE-Partner Lecture">
      <a:dk1>
        <a:srgbClr val="0F1341"/>
      </a:dk1>
      <a:lt1>
        <a:srgbClr val="FFFFFF"/>
      </a:lt1>
      <a:dk2>
        <a:srgbClr val="5B6270"/>
      </a:dk2>
      <a:lt2>
        <a:srgbClr val="F3F7FC"/>
      </a:lt2>
      <a:accent1>
        <a:srgbClr val="2E6FBF"/>
      </a:accent1>
      <a:accent2>
        <a:srgbClr val="4A8FDB"/>
      </a:accent2>
      <a:accent3>
        <a:srgbClr val="8A93A3"/>
      </a:accent3>
      <a:accent4>
        <a:srgbClr val="D9E8F8"/>
      </a:accent4>
      <a:accent5>
        <a:srgbClr val="C9D3E3"/>
      </a:accent5>
      <a:accent6>
        <a:srgbClr val="6A7FA8"/>
      </a:accent6>
      <a:hlink>
        <a:srgbClr val="2E6FBF"/>
      </a:hlink>
      <a:folHlink>
        <a:srgbClr val="6A7FA8"/>
      </a:folHlink>
    </a:clrScheme>
    <a:fontScheme name="EE-Partner Lecture">
      <a:majorFont>
        <a:latin typeface="Montserra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ontserra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EE-Partner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AI-Native Sales Organization</dc:title>
  <dc:subject>PptxGenJS Presentation</dc:subject>
  <dc:creator>EE-Partner</dc:creator>
  <cp:lastModifiedBy>EE-Partner</cp:lastModifiedBy>
  <cp:revision>1</cp:revision>
  <dcterms:created xsi:type="dcterms:W3CDTF">2026-10-03T22:02:34Z</dcterms:created>
  <dcterms:modified xsi:type="dcterms:W3CDTF">2026-10-03T22:02:34Z</dcterms:modified>
</cp:coreProperties>
</file>