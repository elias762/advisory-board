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Least messy</c:v>
                </c:pt>
              </c:strCache>
            </c:strRef>
          </c:tx>
          <c:spPr>
            <a:solidFill>
              <a:srgbClr val="D9E8F8"/>
            </a:solidFill>
            <a:ln>
              <a:noFill/>
            </a:ln>
            <a:effectLst/>
          </c:spPr>
          <c:marker>
            <c:symbol val="circle"/>
            <c:size val="9"/>
            <c:spPr>
              <a:solidFill>
                <a:srgbClr val="D9E8F8"/>
              </a:solidFill>
              <a:ln w="9525" cap="flat">
                <a:solidFill>
                  <a:srgbClr val="D9E8F8"/>
                </a:solidFill>
                <a:prstDash val="solid"/>
                <a:round/>
              </a:ln>
              <a:effectLst/>
            </c:spPr>
          </c:marker>
          <c:xVal>
            <c:numRef>
              <c:f>Sheet1!$A$2:$A$10</c:f>
              <c:numCache>
                <c:formatCode>General</c:formatCode>
                <c:ptCount val="9"/>
                <c:pt idx="0">
                  <c:v>2022.15</c:v>
                </c:pt>
                <c:pt idx="1">
                  <c:v>2023.05</c:v>
                </c:pt>
                <c:pt idx="2">
                  <c:v>2023.65</c:v>
                </c:pt>
                <c:pt idx="3">
                  <c:v>2024.1</c:v>
                </c:pt>
                <c:pt idx="4">
                  <c:v>2024.2</c:v>
                </c:pt>
                <c:pt idx="5">
                  <c:v>2024.42</c:v>
                </c:pt>
                <c:pt idx="6">
                  <c:v>2024.52</c:v>
                </c:pt>
                <c:pt idx="7">
                  <c:v>2024.62</c:v>
                </c:pt>
                <c:pt idx="8">
                  <c:v>2024.83</c:v>
                </c:pt>
              </c:numCache>
            </c:numRef>
          </c:xVal>
          <c:yVal>
            <c:numRef>
              <c:f>Sheet1!$B$2:$B$10</c:f>
              <c:numCache>
                <c:formatCode>General</c:formatCode>
                <c:ptCount val="9"/>
                <c:pt idx="0">
                  <c:v>1</c:v>
                </c:pt>
                <c:pt idx="1">
                  <c:v>47</c:v>
                </c:pt>
                <c:pt idx="2">
                  <c:v>64</c:v>
                </c:pt>
                <c:pt idx="3">
                  <c:v>64</c:v>
                </c:pt>
                <c:pt idx="4">
                  <c:v>71</c:v>
                </c:pt>
                <c:pt idx="5">
                  <c:v>73</c:v>
                </c:pt>
                <c:pt idx="6">
                  <c:v>84</c:v>
                </c:pt>
                <c:pt idx="7">
                  <c:v>81</c:v>
                </c:pt>
                <c:pt idx="8">
                  <c:v>95</c:v>
                </c:pt>
              </c:numCache>
            </c:numRef>
          </c:yVal>
          <c:smooth val="0"/>
        </c:ser>
        <c:ser>
          <c:idx val="1"/>
          <c:order val="1"/>
          <c:tx>
            <c:strRef>
              <c:f>Sheet1!$C$1</c:f>
              <c:strCache>
                <c:ptCount val="1"/>
                <c:pt idx="0">
                  <c:v>Messiest</c:v>
                </c:pt>
              </c:strCache>
            </c:strRef>
          </c:tx>
          <c:spPr>
            <a:solidFill>
              <a:srgbClr val="4A8FDB"/>
            </a:solidFill>
            <a:ln>
              <a:noFill/>
            </a:ln>
            <a:effectLst/>
          </c:spPr>
          <c:marker>
            <c:symbol val="circle"/>
            <c:size val="9"/>
            <c:spPr>
              <a:solidFill>
                <a:srgbClr val="4A8FDB"/>
              </a:solidFill>
              <a:ln w="9525" cap="flat">
                <a:solidFill>
                  <a:srgbClr val="4A8FDB"/>
                </a:solidFill>
                <a:prstDash val="solid"/>
                <a:round/>
              </a:ln>
              <a:effectLst/>
            </c:spPr>
          </c:marker>
          <c:xVal>
            <c:numRef>
              <c:f>Sheet1!$A$2:$A$10</c:f>
              <c:numCache>
                <c:formatCode>General</c:formatCode>
                <c:ptCount val="9"/>
                <c:pt idx="0">
                  <c:v>2022.15</c:v>
                </c:pt>
                <c:pt idx="1">
                  <c:v>2023.05</c:v>
                </c:pt>
                <c:pt idx="2">
                  <c:v>2023.65</c:v>
                </c:pt>
                <c:pt idx="3">
                  <c:v>2024.1</c:v>
                </c:pt>
                <c:pt idx="4">
                  <c:v>2024.2</c:v>
                </c:pt>
                <c:pt idx="5">
                  <c:v>2024.42</c:v>
                </c:pt>
                <c:pt idx="6">
                  <c:v>2024.52</c:v>
                </c:pt>
                <c:pt idx="7">
                  <c:v>2024.62</c:v>
                </c:pt>
                <c:pt idx="8">
                  <c:v>2024.83</c:v>
                </c:pt>
              </c:numCache>
            </c:numRef>
          </c:xVal>
          <c:yVal>
            <c:numRef>
              <c:f>Sheet1!$C$2:$C$10</c:f>
              <c:numCache>
                <c:formatCode>General</c:formatCode>
                <c:ptCount val="9"/>
                <c:pt idx="0">
                  <c:v>0.5</c:v>
                </c:pt>
                <c:pt idx="1">
                  <c:v>21</c:v>
                </c:pt>
                <c:pt idx="2">
                  <c:v>22</c:v>
                </c:pt>
                <c:pt idx="3">
                  <c:v>17</c:v>
                </c:pt>
                <c:pt idx="4">
                  <c:v>36</c:v>
                </c:pt>
                <c:pt idx="5">
                  <c:v>42</c:v>
                </c:pt>
                <c:pt idx="6">
                  <c:v>40</c:v>
                </c:pt>
                <c:pt idx="7">
                  <c:v>50</c:v>
                </c:pt>
                <c:pt idx="8">
                  <c:v>62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25.5"/>
          <c:min val="2022"/>
        </c:scaling>
        <c:delete val="0"/>
        <c:axPos val="b"/>
        <c:majorGridlines>
          <c:spPr>
            <a:ln w="9525" cap="flat">
              <a:solidFill>
                <a:srgbClr val="2A3170"/>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C9D3E3"/>
                </a:solidFill>
                <a:latin typeface="+mn-lt"/>
              </a:defRPr>
            </a:pPr>
            <a:endParaRPr lang="en-US"/>
          </a:p>
        </c:txPr>
        <c:crossAx val="2094734552"/>
        <c:crosses val="autoZero"/>
        <c:auto val="1"/>
        <c:lblAlgn val="ctr"/>
        <c:noMultiLvlLbl val="1"/>
        <c:majorUnit val="1"/>
      </c:valAx>
      <c:valAx>
        <c:axId val="2094734552"/>
        <c:scaling>
          <c:orientation val="minMax"/>
          <c:max val="100"/>
          <c:min val="0"/>
        </c:scaling>
        <c:delete val="0"/>
        <c:axPos val="l"/>
        <c:majorGridlines>
          <c:spPr>
            <a:ln w="9525" cap="flat">
              <a:solidFill>
                <a:srgbClr val="2A317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C9D3E3"/>
                </a:solidFill>
                <a:latin typeface="+mn-lt"/>
              </a:defRPr>
            </a:pPr>
            <a:endParaRPr lang="en-US"/>
          </a:p>
        </c:txPr>
        <c:crossAx val="2094734554"/>
        <c:crosses val="autoZero"/>
        <c:crossBetween val="midCat"/>
        <c:majorUnit val="20"/>
      </c:valAx>
      <c:spPr>
        <a:solidFill>
          <a:srgbClr val="0F1341"/>
        </a:solidFill>
        <a:ln>
          <a:noFill/>
        </a:ln>
        <a:effectLst/>
      </c:spPr>
    </c:plotArea>
    <c:legend>
      <c:legendPos val="b"/>
      <c:overlay val="0"/>
      <c:txPr>
        <a:bodyPr/>
        <a:lstStyle/>
        <a:p>
          <a:pPr>
            <a:defRPr sz="1000">
              <a:solidFill>
                <a:srgbClr val="FFFFF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the room</c:v>
                </c:pt>
              </c:strCache>
            </c:strRef>
          </c:tx>
          <c:spPr>
            <a:solidFill>
              <a:srgbClr val="6A7FA8"/>
            </a:solidFill>
            <a:effectLst/>
          </c:spPr>
          <c:invertIfNegative val="0"/>
          <c:dLbls>
            <c:numFmt formatCode="0%" sourceLinked="0"/>
            <c:txPr>
              <a:bodyPr/>
              <a:lstStyle/>
              <a:p>
                <a:pPr>
                  <a:defRPr b="0" i="0" strike="noStrike" sz="1400" u="none">
                    <a:solidFill>
                      <a:srgbClr val="0F1341"/>
                    </a:solidFill>
                    <a:latin typeface="+mn-lt"/>
                  </a:defRPr>
                </a:pPr>
              </a:p>
            </c:txPr>
            <c:showLegendKey val="0"/>
            <c:showVal val="1"/>
            <c:showCatName val="0"/>
            <c:showSerName val="0"/>
            <c:showPercent val="0"/>
            <c:showBubbleSize val="0"/>
            <c:showLeaderLines val="0"/>
          </c:dLbls>
          <c:dPt>
            <c:idx val="0"/>
            <c:invertIfNegative val="0"/>
            <c:bubble3D val="0"/>
            <c:spPr>
              <a:solidFill>
                <a:srgbClr val="6A7FA8"/>
              </a:solidFill>
              <a:effectLst/>
            </c:spPr>
          </c:dPt>
          <c:dPt>
            <c:idx val="1"/>
            <c:invertIfNegative val="0"/>
            <c:bubble3D val="0"/>
            <c:spPr>
              <a:solidFill>
                <a:srgbClr val="2E6FBF"/>
              </a:solidFill>
              <a:effectLst/>
            </c:spPr>
          </c:dPt>
          <c:cat>
            <c:multiLvlStrRef>
              <c:f>Sheet1!$A$2:$A$3</c:f>
              <c:multiLvlStrCache>
                <c:ptCount val="2"/>
                <c:lvl>
                  <c:pt idx="0">
                    <c:v>Said they would use it</c:v>
                  </c:pt>
                  <c:pt idx="1">
                    <c:v>Clicked “Get early access”</c:v>
                  </c:pt>
                </c:lvl>
              </c:multiLvlStrCache>
            </c:multiLvlStrRef>
          </c:cat>
          <c:val>
            <c:numRef>
              <c:f>Sheet1!$B$2:$B$3</c:f>
              <c:numCache>
                <c:formatCode>General</c:formatCode>
                <c:ptCount val="2"/>
                <c:pt idx="0">
                  <c:v>0.68</c:v>
                </c:pt>
                <c:pt idx="1">
                  <c:v>0.21</c:v>
                </c:pt>
              </c:numCache>
            </c:numRef>
          </c:val>
        </c:ser>
        <c:dLbls>
          <c:numFmt formatCode="0%" sourceLinked="0"/>
          <c:txPr>
            <a:bodyPr/>
            <a:lstStyle/>
            <a:p>
              <a:pPr>
                <a:defRPr b="0" i="0" strike="noStrike" sz="1400" u="none">
                  <a:solidFill>
                    <a:srgbClr val="0F134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341"/>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Menti survey (placeholder — insert join code and QR). Run the five questions back to back, about 60 seconds each. Read out one surprising answer per question. Save the results: questions marked “repeat” are asked again at the end.
1. Be honest: did AI help with your last university assignment?  Options: Yes · a bit · no · I plead the fifth
2. If building cost nothing — what would you build?
3. Will a one-person company be worth $1 billion before 2030?  Options: Yes · no · it already happened
4. What worries you more about AI and your career?  Options: It takes my job · I don't use it well enough · nothing
5. After graduation, would you rather…  Options: Start my own company · join a startup · join a corporate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 live demo by Emidio (approx. 5–7 minutes). The workflow connects millions of data points from many sources into one decision. Frame it with the lecture's lens: turning millions of data points into a go / no-go for a new business idea.
Afterwards ask the room: what would this have taken a team ten years ago? Bridge to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after the opening demo. Promise: in the next hour we show why building a product has become almost free — and why that makes one skill more valuable than ever: knowing what is worth building. The room builds and tests one idea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1 — adoption speed. Netflix needed 3.5 years, Airbnb 2.5, Twitter 2. ChatGPT needed five days (launch Nov 30, 2022). The bar for ChatGPT is barely visible — that is the point. For founders: customers adopt new tools this fast — and so do your competitors.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2 — capability speed. In 2024 the best model scored around 96 on an offline IQ test (not in any training data). In 2025 the best model (o3) reached 136 on the Mensa Norway test — roughly the top 1% of people. Caveat to say out loud: IQ tests measure pattern reasoning, not judgement or experience. Ask: if the AI in your pocket outscores most people on reasoning tests, what is still your job as a founder?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3 — reality check. METR measured AI success on tasks that take a human professional one hour or less. On clean, well-defined tasks success went from ~0 to ~95% within three years; on messy tasks — unclear goals, many tools, changing context — it is around 60%. Most real jobs are messy. For students: AI raises the bar on clean tasks; the edge is in messy work — ambiguity, customers,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4 — what becomes valuable. Top right quadrant = core now and growing: AI and big data leads by far, followed by technological literacy, creative and analytical thinking, resilience, curiosity and lifelong learning. Programming sits lower than people expect — AI writes code. Link to their studies: analytical thinking, AI literacy and curiosity are the founder's skill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5 — the bridge to today's topic. Human intelligence brings judgement, context, trust and responsibility. Artificial intelligence brings speed, scale and pattern recognition. Augmented intelligence is the overlap — and that is where the rest of this lecture lives. 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but realistic orders of magnitude. 2015: weeks of research, an agency or a developer for months, a launch campaign, then waiting for feedback. 2026: one founder with AI agents does the whole loop in a weekend. Let the 2026 bar sink in — it is almost invisible. Ask: what does this do to the value of an idea? (Answer: ideas got cheaper; validated ideas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figures from company statements and press coverage (2023–2025) — verify the latest numbers before the lecture. The point is not the exact number but the ratio: revenue per employee that used to need hundreds of people. All three are AI products — but more importantly they run AI-native: small teams, agents in every function, shipping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used for the rest of the session. Contrast: an AI-enabled startup writes its pitch deck with ChatGPT; an AI-native startup has agents that research, build, test and report every week — and the founders decide 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Academic anchor: Eric Ries' build–measure–learn loop and Steve Blank's customer development. AI shrinks Build from months to hours and Measure from weeks to days. Learn — deciding what the evidence means and what to do next — is still human. The CB Insights post-mortems show the real killer: no market need. When building is almost free, the scarce skill is knowing what is worth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Prepared base: landing page, two variants, QR code, click tracking, live dashboard. Take the top answer from Menti question 2 (“If building cost nothing…”) as the idea. A student names a change — new audience, new headline, a third variant. Claude Code makes it in the running page; open the result in the browser, not the code. Leave the page live: the clicks feed the “Said vs. did”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systematic, AI-native validation looks like — the professional version of what the groups will do by hand in the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visible countdown. Rules: the problem must be one someone in the group has personally. In step 2 every number gets a tag (researched / estimated). In step 3 each group runs the skeptical-investor prompt from the QR. Two or three groups pitch; the rest submit via Menti. Best test design wins a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live: left bar = share who said in Menti they would sign up / use it; right bar = share of visitors who clicked “Get early access”. The gap is almost always large. Weight: statements 0.7, behaviour 1.0 — and even a click is not a payment. Then repeat Menti question 5 (start a company?) and compare with the first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rethink with the students' own future. Ask: which of these shifts scares you, which excites you? Then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no pitch. Q&amp;A. Photograph the Menti results and the say–do chart for the follow-up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user/work/assets/wave_content.png">    </p:cNvPr>
          <p:cNvPicPr>
            <a:picLocks noChangeAspect="1"/>
          </p:cNvPicPr>
          <p:nvPr/>
        </p:nvPicPr>
        <p:blipFill>
          <a:blip r:embed="rId1"/>
          <a:stretch>
            <a:fillRect/>
          </a:stretch>
        </p:blipFill>
        <p:spPr>
          <a:xfrm>
            <a:off x="6339535" y="0"/>
            <a:ext cx="5852160" cy="2011680"/>
          </a:xfrm>
          <a:prstGeom prst="rect">
            <a:avLst/>
          </a:prstGeom>
        </p:spPr>
      </p:pic>
      <p:pic>
        <p:nvPicPr>
          <p:cNvPr id="3" name="Image 1" descr="/home/user/work/assets/logo_t.png">    </p:cNvPr>
          <p:cNvPicPr>
            <a:picLocks noChangeAspect="1"/>
          </p:cNvPicPr>
          <p:nvPr/>
        </p:nvPicPr>
        <p:blipFill>
          <a:blip r:embed="rId2"/>
          <a:stretch>
            <a:fillRect/>
          </a:stretch>
        </p:blipFill>
        <p:spPr>
          <a:xfrm>
            <a:off x="566928" y="6291072"/>
            <a:ext cx="1143000" cy="420624"/>
          </a:xfrm>
          <a:prstGeom prst="rect">
            <a:avLst/>
          </a:prstGeom>
        </p:spPr>
      </p:pic>
      <p:sp>
        <p:nvSpPr>
          <p:cNvPr id="4" name="Text 0"/>
          <p:cNvSpPr/>
          <p:nvPr>
            <p:ph idx="102" type="title" hasCustomPrompt="1"/>
          </p:nvPr>
        </p:nvSpPr>
        <p:spPr>
          <a:xfrm>
            <a:off x="548640" y="502920"/>
            <a:ext cx="7863840" cy="685800"/>
          </a:xfrm>
          <a:prstGeom prst="rect">
            <a:avLst/>
          </a:prstGeom>
          <a:noFill/>
          <a:ln/>
        </p:spPr>
        <p:txBody>
          <a:bodyPr wrap="square" rtlCol="0"/>
          <a:lstStyle>
            <a:lvl1pPr algn="l" indent="0" marL="0">
              <a:buNone/>
              <a:defRPr lang="en-US" sz="2800" b="1" dirty="0">
                <a:solidFill>
                  <a:srgbClr val="0F1341"/>
                </a:solidFill>
                <a:latin typeface="Montserrat" pitchFamily="34" charset="0"/>
                <a:ea typeface="Montserrat" pitchFamily="34" charset="-122"/>
                <a:cs typeface="Montserrat" pitchFamily="34" charset="-120"/>
              </a:defRPr>
            </a:lvl1pPr>
          </a:lstStyle>
          <a:p>
            <a:pPr algn="l" indent="0" marL="0">
              <a:buNone/>
            </a:pPr>
            <a:r>
              <a:rPr lang="en-US" sz="2800" b="1" dirty="0">
                <a:solidFill>
                  <a:srgbClr val="0F1341"/>
                </a:solidFill>
                <a:latin typeface="Montserrat" pitchFamily="34" charset="0"/>
                <a:ea typeface="Montserrat" pitchFamily="34" charset="-122"/>
                <a:cs typeface="Montserrat" pitchFamily="34" charset="-120"/>
              </a:rPr>
              <a:t>Title</a:t>
            </a:r>
            <a:endParaRPr lang="en-US" sz="2800" dirty="0"/>
          </a:p>
        </p:txBody>
      </p:sp>
      <p:sp>
        <p:nvSpPr>
          <p:cNvPr id="5" name="Text 0"/>
          <p:cNvSpPr/>
          <p:nvPr>
            <p:ph idx="103" type="body" hasCustomPrompt="1"/>
          </p:nvPr>
        </p:nvSpPr>
        <p:spPr>
          <a:xfrm>
            <a:off x="548640" y="1207008"/>
            <a:ext cx="8778240" cy="365760"/>
          </a:xfrm>
          <a:prstGeom prst="rect">
            <a:avLst/>
          </a:prstGeom>
          <a:noFill/>
          <a:ln/>
        </p:spPr>
        <p:txBody>
          <a:bodyPr wrap="square" rtlCol="0"/>
          <a:lstStyle>
            <a:lvl1pPr algn="l" indent="0" marL="0">
              <a:buNone/>
              <a:defRPr lang="en-US" sz="1300" dirty="0">
                <a:solidFill>
                  <a:srgbClr val="5B6270"/>
                </a:solidFill>
                <a:latin typeface="Montserrat" pitchFamily="34" charset="0"/>
                <a:ea typeface="Montserrat" pitchFamily="34" charset="-122"/>
                <a:cs typeface="Montserrat" pitchFamily="34" charset="-120"/>
              </a:defRPr>
            </a:lvl1pPr>
          </a:lstStyle>
          <a:p>
            <a:pPr algn="l" indent="0" marL="0">
              <a:buNone/>
            </a:pPr>
            <a:r>
              <a:rPr lang="en-US" sz="1300" dirty="0">
                <a:solidFill>
                  <a:srgbClr val="5B6270"/>
                </a:solidFill>
                <a:latin typeface="Montserrat" pitchFamily="34" charset="0"/>
                <a:ea typeface="Montserrat" pitchFamily="34" charset="-122"/>
                <a:cs typeface="Montserrat" pitchFamily="34" charset="-120"/>
              </a:rPr>
              <a:t>Subtitle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341"/>
        </a:solidFill>
      </p:bgPr>
    </p:bg>
    <p:spTree>
      <p:nvGrpSpPr>
        <p:cNvPr id="1" name=""/>
        <p:cNvGrpSpPr/>
        <p:nvPr/>
      </p:nvGrpSpPr>
      <p:grpSpPr>
        <a:xfrm>
          <a:off x="0" y="0"/>
          <a:ext cx="0" cy="0"/>
          <a:chOff x="0" y="0"/>
          <a:chExt cx="0" cy="0"/>
        </a:xfrm>
      </p:grpSpPr>
      <p:pic>
        <p:nvPicPr>
          <p:cNvPr id="2" name="Image 0" descr="/home/user/work/assets/wave_content_dark.png">    </p:cNvPr>
          <p:cNvPicPr>
            <a:picLocks noChangeAspect="1"/>
          </p:cNvPicPr>
          <p:nvPr/>
        </p:nvPicPr>
        <p:blipFill>
          <a:blip r:embed="rId1"/>
          <a:stretch>
            <a:fillRect/>
          </a:stretch>
        </p:blipFill>
        <p:spPr>
          <a:xfrm>
            <a:off x="6339535" y="0"/>
            <a:ext cx="5852160" cy="2011680"/>
          </a:xfrm>
          <a:prstGeom prst="rect">
            <a:avLst/>
          </a:prstGeom>
        </p:spPr>
      </p:pic>
      <p:sp>
        <p:nvSpPr>
          <p:cNvPr id="3" name="Text 0"/>
          <p:cNvSpPr/>
          <p:nvPr>
            <p:ph idx="101" type="title" hasCustomPrompt="1"/>
          </p:nvPr>
        </p:nvSpPr>
        <p:spPr>
          <a:xfrm>
            <a:off x="548640" y="502920"/>
            <a:ext cx="8412480" cy="777240"/>
          </a:xfrm>
          <a:prstGeom prst="rect">
            <a:avLst/>
          </a:prstGeom>
          <a:noFill/>
          <a:ln/>
        </p:spPr>
        <p:txBody>
          <a:bodyPr wrap="square" rtlCol="0"/>
          <a:lstStyle>
            <a:lvl1pPr algn="l" indent="0" marL="0">
              <a:buNone/>
              <a:defRPr lang="en-US" sz="30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3000" b="1" dirty="0">
                <a:solidFill>
                  <a:srgbClr val="FFFFFF"/>
                </a:solidFill>
                <a:latin typeface="Montserrat" pitchFamily="34" charset="0"/>
                <a:ea typeface="Montserrat" pitchFamily="34" charset="-122"/>
                <a:cs typeface="Montserrat" pitchFamily="34" charset="-120"/>
              </a:rPr>
              <a:t>Title</a:t>
            </a:r>
            <a:endParaRPr lang="en-US" sz="3000" dirty="0"/>
          </a:p>
        </p:txBody>
      </p:sp>
      <p:sp>
        <p:nvSpPr>
          <p:cNvPr id="4" name="Text 0"/>
          <p:cNvSpPr/>
          <p:nvPr>
            <p:ph idx="102" type="body" hasCustomPrompt="1"/>
          </p:nvPr>
        </p:nvSpPr>
        <p:spPr>
          <a:xfrm>
            <a:off x="548640" y="1298448"/>
            <a:ext cx="9326880" cy="411480"/>
          </a:xfrm>
          <a:prstGeom prst="rect">
            <a:avLst/>
          </a:prstGeom>
          <a:noFill/>
          <a:ln/>
        </p:spPr>
        <p:txBody>
          <a:bodyPr wrap="square" rtlCol="0"/>
          <a:lstStyle>
            <a:lvl1pPr algn="l" indent="0" marL="0">
              <a:buNone/>
              <a:defRPr lang="en-US" sz="1400" dirty="0">
                <a:solidFill>
                  <a:srgbClr val="C9D3E3"/>
                </a:solidFill>
                <a:latin typeface="Montserrat" pitchFamily="34" charset="0"/>
                <a:ea typeface="Montserrat" pitchFamily="34" charset="-122"/>
                <a:cs typeface="Montserrat" pitchFamily="34" charset="-120"/>
              </a:defRPr>
            </a:lvl1pPr>
          </a:lstStyle>
          <a:p>
            <a:pPr algn="l" indent="0" marL="0">
              <a:buNone/>
            </a:pPr>
            <a:r>
              <a:rPr lang="en-US" sz="1400" dirty="0">
                <a:solidFill>
                  <a:srgbClr val="C9D3E3"/>
                </a:solidFill>
                <a:latin typeface="Montserrat" pitchFamily="34" charset="0"/>
                <a:ea typeface="Montserrat" pitchFamily="34" charset="-122"/>
                <a:cs typeface="Montserrat" pitchFamily="34" charset="-120"/>
              </a:rPr>
              <a:t>Subtitle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F1341"/>
        </a:solidFill>
      </p:bgPr>
    </p:bg>
    <p:spTree>
      <p:nvGrpSpPr>
        <p:cNvPr id="1" name=""/>
        <p:cNvGrpSpPr/>
        <p:nvPr/>
      </p:nvGrpSpPr>
      <p:grpSpPr>
        <a:xfrm>
          <a:off x="0" y="0"/>
          <a:ext cx="0" cy="0"/>
          <a:chOff x="0" y="0"/>
          <a:chExt cx="0" cy="0"/>
        </a:xfrm>
      </p:grpSpPr>
      <p:pic>
        <p:nvPicPr>
          <p:cNvPr id="2" name="Image 0" descr="/home/user/work/assets/wave_content_dark.png">    </p:cNvPr>
          <p:cNvPicPr>
            <a:picLocks noChangeAspect="1"/>
          </p:cNvPicPr>
          <p:nvPr/>
        </p:nvPicPr>
        <p:blipFill>
          <a:blip r:embed="rId1"/>
          <a:stretch>
            <a:fillRect/>
          </a:stretch>
        </p:blipFill>
        <p:spPr>
          <a:xfrm>
            <a:off x="6339535" y="0"/>
            <a:ext cx="5852160" cy="2011680"/>
          </a:xfrm>
          <a:prstGeom prst="rect">
            <a:avLst/>
          </a:prstGeom>
        </p:spPr>
      </p:pic>
      <p:sp>
        <p:nvSpPr>
          <p:cNvPr id="3" name="Text 0"/>
          <p:cNvSpPr/>
          <p:nvPr>
            <p:ph idx="101" type="title" hasCustomPrompt="1"/>
          </p:nvPr>
        </p:nvSpPr>
        <p:spPr>
          <a:xfrm>
            <a:off x="548640" y="685800"/>
            <a:ext cx="9509760" cy="1280160"/>
          </a:xfrm>
          <a:prstGeom prst="rect">
            <a:avLst/>
          </a:prstGeom>
          <a:noFill/>
          <a:ln/>
        </p:spPr>
        <p:txBody>
          <a:bodyPr wrap="square" rtlCol="0"/>
          <a:lstStyle>
            <a:lvl1pPr algn="l" indent="0" marL="0">
              <a:buNone/>
              <a:defRPr lang="en-US" sz="34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3400" b="1" dirty="0">
                <a:solidFill>
                  <a:srgbClr val="FFFFFF"/>
                </a:solidFill>
                <a:latin typeface="Montserrat" pitchFamily="34" charset="0"/>
                <a:ea typeface="Montserrat" pitchFamily="34" charset="-122"/>
                <a:cs typeface="Montserrat" pitchFamily="34" charset="-120"/>
              </a:rPr>
              <a:t>Title</a:t>
            </a:r>
            <a:endParaRPr lang="en-US" sz="3400" dirty="0"/>
          </a:p>
        </p:txBody>
      </p:sp>
      <p:sp>
        <p:nvSpPr>
          <p:cNvPr id="4" name="Text 0"/>
          <p:cNvSpPr/>
          <p:nvPr>
            <p:ph idx="102" type="body" hasCustomPrompt="1"/>
          </p:nvPr>
        </p:nvSpPr>
        <p:spPr>
          <a:xfrm>
            <a:off x="548640" y="2057400"/>
            <a:ext cx="9509760" cy="411480"/>
          </a:xfrm>
          <a:prstGeom prst="rect">
            <a:avLst/>
          </a:prstGeom>
          <a:noFill/>
          <a:ln/>
        </p:spPr>
        <p:txBody>
          <a:bodyPr wrap="square" rtlCol="0"/>
          <a:lstStyle>
            <a:lvl1pPr algn="l" indent="0" marL="0">
              <a:buNone/>
              <a:defRPr lang="en-US" sz="1600" dirty="0">
                <a:solidFill>
                  <a:srgbClr val="4A8FDB"/>
                </a:solidFill>
                <a:latin typeface="Montserrat" pitchFamily="34" charset="0"/>
                <a:ea typeface="Montserrat" pitchFamily="34" charset="-122"/>
                <a:cs typeface="Montserrat" pitchFamily="34" charset="-120"/>
              </a:defRPr>
            </a:lvl1pPr>
          </a:lstStyle>
          <a:p>
            <a:pPr algn="l" indent="0" marL="0">
              <a:buNone/>
            </a:pPr>
            <a:r>
              <a:rPr lang="en-US" sz="1600" dirty="0">
                <a:solidFill>
                  <a:srgbClr val="4A8FDB"/>
                </a:solidFill>
                <a:latin typeface="Montserrat" pitchFamily="34" charset="0"/>
                <a:ea typeface="Montserrat" pitchFamily="34" charset="-122"/>
                <a:cs typeface="Montserrat" pitchFamily="34" charset="-120"/>
              </a:rPr>
              <a:t>Subtitle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pic>
        <p:nvPicPr>
          <p:cNvPr id="2" name="Image 0" descr="/home/user/work/assets/wave_title.png">    </p:cNvPr>
          <p:cNvPicPr>
            <a:picLocks noChangeAspect="1"/>
          </p:cNvPicPr>
          <p:nvPr/>
        </p:nvPicPr>
        <p:blipFill>
          <a:blip r:embed="rId1"/>
          <a:stretch>
            <a:fillRect/>
          </a:stretch>
        </p:blipFill>
        <p:spPr>
          <a:xfrm>
            <a:off x="5333695" y="0"/>
            <a:ext cx="6858000" cy="6858000"/>
          </a:xfrm>
          <a:prstGeom prst="rect">
            <a:avLst/>
          </a:prstGeom>
        </p:spPr>
      </p:pic>
      <p:pic>
        <p:nvPicPr>
          <p:cNvPr id="3" name="Image 1" descr="/home/user/work/assets/logo_t.png">    </p:cNvPr>
          <p:cNvPicPr>
            <a:picLocks noChangeAspect="1"/>
          </p:cNvPicPr>
          <p:nvPr/>
        </p:nvPicPr>
        <p:blipFill>
          <a:blip r:embed="rId2"/>
          <a:stretch>
            <a:fillRect/>
          </a:stretch>
        </p:blipFill>
        <p:spPr>
          <a:xfrm>
            <a:off x="566928" y="292608"/>
            <a:ext cx="1792224" cy="6583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Before we start: you and AI</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Five quick questions on Menti — answers stay on screen and we come back to them at the end.</a:t>
            </a:r>
            <a:endParaRPr lang="en-US" sz="1400" dirty="0"/>
          </a:p>
        </p:txBody>
      </p:sp>
      <p:sp>
        <p:nvSpPr>
          <p:cNvPr id="5" name="Shape 2"/>
          <p:cNvSpPr/>
          <p:nvPr/>
        </p:nvSpPr>
        <p:spPr>
          <a:xfrm>
            <a:off x="548640" y="2011680"/>
            <a:ext cx="3017520" cy="4160520"/>
          </a:xfrm>
          <a:prstGeom prst="roundRect">
            <a:avLst>
              <a:gd name="adj" fmla="val 2424"/>
            </a:avLst>
          </a:prstGeom>
          <a:solidFill>
            <a:srgbClr val="1B2156"/>
          </a:solidFill>
          <a:ln w="15875">
            <a:solidFill>
              <a:srgbClr val="4A8FDB"/>
            </a:solidFill>
            <a:prstDash val="dash"/>
          </a:ln>
        </p:spPr>
      </p:sp>
      <p:pic>
        <p:nvPicPr>
          <p:cNvPr id="6" name="Image 0" descr="preencoded.png">    </p:cNvPr>
          <p:cNvPicPr>
            <a:picLocks noChangeAspect="1"/>
          </p:cNvPicPr>
          <p:nvPr/>
        </p:nvPicPr>
        <p:blipFill>
          <a:blip r:embed="rId1"/>
          <a:stretch>
            <a:fillRect/>
          </a:stretch>
        </p:blipFill>
        <p:spPr>
          <a:xfrm>
            <a:off x="1371600" y="2423160"/>
            <a:ext cx="1371600" cy="1371600"/>
          </a:xfrm>
          <a:prstGeom prst="rect">
            <a:avLst/>
          </a:prstGeom>
        </p:spPr>
      </p:pic>
      <p:sp>
        <p:nvSpPr>
          <p:cNvPr id="7" name="Shape 3"/>
          <p:cNvSpPr/>
          <p:nvPr/>
        </p:nvSpPr>
        <p:spPr>
          <a:xfrm>
            <a:off x="1188720" y="4023360"/>
            <a:ext cx="1737360" cy="274320"/>
          </a:xfrm>
          <a:prstGeom prst="roundRect">
            <a:avLst>
              <a:gd name="adj" fmla="val 26667"/>
            </a:avLst>
          </a:prstGeom>
          <a:solidFill>
            <a:srgbClr val="4A8FDB"/>
          </a:solidFill>
          <a:ln/>
        </p:spPr>
      </p:sp>
      <p:sp>
        <p:nvSpPr>
          <p:cNvPr id="8" name="Text 4"/>
          <p:cNvSpPr txBox="1"/>
          <p:nvPr/>
        </p:nvSpPr>
        <p:spPr>
          <a:xfrm>
            <a:off x="1188720" y="4023360"/>
            <a:ext cx="17373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PLACEHOLDER</a:t>
            </a:r>
            <a:endParaRPr lang="en-US" sz="900" dirty="0"/>
          </a:p>
        </p:txBody>
      </p:sp>
      <p:sp>
        <p:nvSpPr>
          <p:cNvPr id="9" name="Text 5"/>
          <p:cNvSpPr txBox="1"/>
          <p:nvPr/>
        </p:nvSpPr>
        <p:spPr>
          <a:xfrm>
            <a:off x="731520" y="4480560"/>
            <a:ext cx="265176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Interactive Menti survey</a:t>
            </a:r>
            <a:endParaRPr lang="en-US" sz="1400" dirty="0"/>
          </a:p>
        </p:txBody>
      </p:sp>
      <p:sp>
        <p:nvSpPr>
          <p:cNvPr id="10" name="Text 6"/>
          <p:cNvSpPr txBox="1"/>
          <p:nvPr/>
        </p:nvSpPr>
        <p:spPr>
          <a:xfrm>
            <a:off x="731520" y="4846320"/>
            <a:ext cx="2651760" cy="731520"/>
          </a:xfrm>
          <a:prstGeom prst="rect">
            <a:avLst/>
          </a:prstGeom>
          <a:noFill/>
          <a:ln/>
        </p:spPr>
        <p:txBody>
          <a:bodyPr wrap="square" lIns="0" tIns="0" rIns="0" bIns="0" rtlCol="0" anchor="t"/>
          <a:lstStyle/>
          <a:p>
            <a:pPr algn="ctr" indent="0" marL="0">
              <a:buNone/>
            </a:pPr>
            <a:r>
              <a:rPr lang="en-US" sz="1200" dirty="0">
                <a:solidFill>
                  <a:srgbClr val="C9D3E3"/>
                </a:solidFill>
                <a:latin typeface="Montserrat" pitchFamily="34" charset="0"/>
                <a:ea typeface="Montserrat" pitchFamily="34" charset="-122"/>
                <a:cs typeface="Montserrat" pitchFamily="34" charset="-120"/>
              </a:rPr>
              <a:t>menti.com  ·  code [ ____ ]</a:t>
            </a:r>
            <a:endParaRPr lang="en-US" sz="1200" dirty="0"/>
          </a:p>
          <a:p>
            <a:pPr algn="ctr" indent="0" marL="0">
              <a:buNone/>
            </a:pPr>
            <a:r>
              <a:rPr lang="en-US" sz="1200" dirty="0">
                <a:solidFill>
                  <a:srgbClr val="C9D3E3"/>
                </a:solidFill>
                <a:latin typeface="Montserrat" pitchFamily="34" charset="0"/>
                <a:ea typeface="Montserrat" pitchFamily="34" charset="-122"/>
                <a:cs typeface="Montserrat" pitchFamily="34" charset="-120"/>
              </a:rPr>
              <a:t>QR code + live results</a:t>
            </a:r>
            <a:endParaRPr lang="en-US" sz="1200" dirty="0"/>
          </a:p>
        </p:txBody>
      </p:sp>
      <p:sp>
        <p:nvSpPr>
          <p:cNvPr id="11" name="Shape 7"/>
          <p:cNvSpPr/>
          <p:nvPr/>
        </p:nvSpPr>
        <p:spPr>
          <a:xfrm>
            <a:off x="3840480" y="2011680"/>
            <a:ext cx="7799832" cy="758952"/>
          </a:xfrm>
          <a:prstGeom prst="roundRect">
            <a:avLst>
              <a:gd name="adj" fmla="val 9639"/>
            </a:avLst>
          </a:prstGeom>
          <a:solidFill>
            <a:srgbClr val="1B2156"/>
          </a:solidFill>
          <a:ln/>
        </p:spPr>
      </p:sp>
      <p:sp>
        <p:nvSpPr>
          <p:cNvPr id="12" name="Shape 8"/>
          <p:cNvSpPr/>
          <p:nvPr/>
        </p:nvSpPr>
        <p:spPr>
          <a:xfrm>
            <a:off x="4005072" y="2185416"/>
            <a:ext cx="411480" cy="411480"/>
          </a:xfrm>
          <a:prstGeom prst="ellipse">
            <a:avLst/>
          </a:prstGeom>
          <a:solidFill>
            <a:srgbClr val="4A8FDB"/>
          </a:solidFill>
          <a:ln/>
        </p:spPr>
      </p:sp>
      <p:sp>
        <p:nvSpPr>
          <p:cNvPr id="13" name="Text 9"/>
          <p:cNvSpPr txBox="1"/>
          <p:nvPr/>
        </p:nvSpPr>
        <p:spPr>
          <a:xfrm>
            <a:off x="4005072" y="218541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4" name="Text 10"/>
          <p:cNvSpPr txBox="1"/>
          <p:nvPr/>
        </p:nvSpPr>
        <p:spPr>
          <a:xfrm>
            <a:off x="4572000" y="2084832"/>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Be honest: did AI help with your last university assignment?</a:t>
            </a:r>
            <a:endParaRPr lang="en-US" sz="1300" dirty="0"/>
          </a:p>
        </p:txBody>
      </p:sp>
      <p:sp>
        <p:nvSpPr>
          <p:cNvPr id="15" name="Shape 11"/>
          <p:cNvSpPr/>
          <p:nvPr/>
        </p:nvSpPr>
        <p:spPr>
          <a:xfrm>
            <a:off x="9601200" y="2103120"/>
            <a:ext cx="1874520" cy="219456"/>
          </a:xfrm>
          <a:prstGeom prst="roundRect">
            <a:avLst>
              <a:gd name="adj" fmla="val 33333"/>
            </a:avLst>
          </a:prstGeom>
          <a:solidFill>
            <a:srgbClr val="2E6FBF"/>
          </a:solidFill>
          <a:ln/>
        </p:spPr>
      </p:sp>
      <p:sp>
        <p:nvSpPr>
          <p:cNvPr id="16" name="Text 12"/>
          <p:cNvSpPr txBox="1"/>
          <p:nvPr/>
        </p:nvSpPr>
        <p:spPr>
          <a:xfrm>
            <a:off x="9601200" y="2103120"/>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17" name="Text 13"/>
          <p:cNvSpPr txBox="1"/>
          <p:nvPr/>
        </p:nvSpPr>
        <p:spPr>
          <a:xfrm>
            <a:off x="9601200" y="2359152"/>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Yes · a bit · no · I plead the fifth</a:t>
            </a:r>
            <a:endParaRPr lang="en-US" sz="900" dirty="0"/>
          </a:p>
        </p:txBody>
      </p:sp>
      <p:sp>
        <p:nvSpPr>
          <p:cNvPr id="18" name="Shape 14"/>
          <p:cNvSpPr/>
          <p:nvPr/>
        </p:nvSpPr>
        <p:spPr>
          <a:xfrm>
            <a:off x="3840480" y="2862072"/>
            <a:ext cx="7799832" cy="758952"/>
          </a:xfrm>
          <a:prstGeom prst="roundRect">
            <a:avLst>
              <a:gd name="adj" fmla="val 9639"/>
            </a:avLst>
          </a:prstGeom>
          <a:solidFill>
            <a:srgbClr val="1B2156"/>
          </a:solidFill>
          <a:ln/>
        </p:spPr>
      </p:sp>
      <p:sp>
        <p:nvSpPr>
          <p:cNvPr id="19" name="Shape 15"/>
          <p:cNvSpPr/>
          <p:nvPr/>
        </p:nvSpPr>
        <p:spPr>
          <a:xfrm>
            <a:off x="4005072" y="3035808"/>
            <a:ext cx="411480" cy="411480"/>
          </a:xfrm>
          <a:prstGeom prst="ellipse">
            <a:avLst/>
          </a:prstGeom>
          <a:solidFill>
            <a:srgbClr val="4A8FDB"/>
          </a:solidFill>
          <a:ln/>
        </p:spPr>
      </p:sp>
      <p:sp>
        <p:nvSpPr>
          <p:cNvPr id="20" name="Text 16"/>
          <p:cNvSpPr txBox="1"/>
          <p:nvPr/>
        </p:nvSpPr>
        <p:spPr>
          <a:xfrm>
            <a:off x="4005072" y="30358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1" name="Text 17"/>
          <p:cNvSpPr txBox="1"/>
          <p:nvPr/>
        </p:nvSpPr>
        <p:spPr>
          <a:xfrm>
            <a:off x="4572000" y="2935224"/>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If building cost nothing — what would you build?</a:t>
            </a:r>
            <a:endParaRPr lang="en-US" sz="1300" dirty="0"/>
          </a:p>
        </p:txBody>
      </p:sp>
      <p:sp>
        <p:nvSpPr>
          <p:cNvPr id="22" name="Shape 18"/>
          <p:cNvSpPr/>
          <p:nvPr/>
        </p:nvSpPr>
        <p:spPr>
          <a:xfrm>
            <a:off x="9601200" y="2953512"/>
            <a:ext cx="1874520" cy="219456"/>
          </a:xfrm>
          <a:prstGeom prst="roundRect">
            <a:avLst>
              <a:gd name="adj" fmla="val 33333"/>
            </a:avLst>
          </a:prstGeom>
          <a:solidFill>
            <a:srgbClr val="2E6FBF"/>
          </a:solidFill>
          <a:ln/>
        </p:spPr>
      </p:sp>
      <p:sp>
        <p:nvSpPr>
          <p:cNvPr id="23" name="Text 19"/>
          <p:cNvSpPr txBox="1"/>
          <p:nvPr/>
        </p:nvSpPr>
        <p:spPr>
          <a:xfrm>
            <a:off x="9601200" y="2953512"/>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WORD CLOUD</a:t>
            </a:r>
            <a:endParaRPr lang="en-US" sz="800" dirty="0"/>
          </a:p>
        </p:txBody>
      </p:sp>
      <p:sp>
        <p:nvSpPr>
          <p:cNvPr id="24" name="Text 20"/>
          <p:cNvSpPr txBox="1"/>
          <p:nvPr/>
        </p:nvSpPr>
        <p:spPr>
          <a:xfrm>
            <a:off x="9601200" y="3209544"/>
            <a:ext cx="1874520" cy="365760"/>
          </a:xfrm>
          <a:prstGeom prst="rect">
            <a:avLst/>
          </a:prstGeom>
          <a:noFill/>
          <a:ln/>
        </p:spPr>
        <p:txBody>
          <a:bodyPr wrap="square" lIns="0" tIns="0" rIns="0" bIns="0" rtlCol="0" anchor="t"/>
          <a:lstStyle/>
          <a:p>
            <a:pPr algn="l" indent="0" marL="0">
              <a:buNone/>
            </a:pPr>
            <a:endParaRPr lang="en-US" sz="900" dirty="0"/>
          </a:p>
        </p:txBody>
      </p:sp>
      <p:sp>
        <p:nvSpPr>
          <p:cNvPr id="25" name="Shape 21"/>
          <p:cNvSpPr/>
          <p:nvPr/>
        </p:nvSpPr>
        <p:spPr>
          <a:xfrm>
            <a:off x="3840480" y="3712464"/>
            <a:ext cx="7799832" cy="758952"/>
          </a:xfrm>
          <a:prstGeom prst="roundRect">
            <a:avLst>
              <a:gd name="adj" fmla="val 9639"/>
            </a:avLst>
          </a:prstGeom>
          <a:solidFill>
            <a:srgbClr val="1B2156"/>
          </a:solidFill>
          <a:ln/>
        </p:spPr>
      </p:sp>
      <p:sp>
        <p:nvSpPr>
          <p:cNvPr id="26" name="Shape 22"/>
          <p:cNvSpPr/>
          <p:nvPr/>
        </p:nvSpPr>
        <p:spPr>
          <a:xfrm>
            <a:off x="4005072" y="3886200"/>
            <a:ext cx="411480" cy="411480"/>
          </a:xfrm>
          <a:prstGeom prst="ellipse">
            <a:avLst/>
          </a:prstGeom>
          <a:solidFill>
            <a:srgbClr val="4A8FDB"/>
          </a:solidFill>
          <a:ln/>
        </p:spPr>
      </p:sp>
      <p:sp>
        <p:nvSpPr>
          <p:cNvPr id="27" name="Text 23"/>
          <p:cNvSpPr txBox="1"/>
          <p:nvPr/>
        </p:nvSpPr>
        <p:spPr>
          <a:xfrm>
            <a:off x="4005072" y="3886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8" name="Text 24"/>
          <p:cNvSpPr txBox="1"/>
          <p:nvPr/>
        </p:nvSpPr>
        <p:spPr>
          <a:xfrm>
            <a:off x="4572000" y="3785616"/>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Will a one-person company be worth $1 billion before 2030?</a:t>
            </a:r>
            <a:endParaRPr lang="en-US" sz="1300" dirty="0"/>
          </a:p>
        </p:txBody>
      </p:sp>
      <p:sp>
        <p:nvSpPr>
          <p:cNvPr id="29" name="Shape 25"/>
          <p:cNvSpPr/>
          <p:nvPr/>
        </p:nvSpPr>
        <p:spPr>
          <a:xfrm>
            <a:off x="9601200" y="3803904"/>
            <a:ext cx="1874520" cy="219456"/>
          </a:xfrm>
          <a:prstGeom prst="roundRect">
            <a:avLst>
              <a:gd name="adj" fmla="val 33333"/>
            </a:avLst>
          </a:prstGeom>
          <a:solidFill>
            <a:srgbClr val="2E6FBF"/>
          </a:solidFill>
          <a:ln/>
        </p:spPr>
      </p:sp>
      <p:sp>
        <p:nvSpPr>
          <p:cNvPr id="30" name="Text 26"/>
          <p:cNvSpPr txBox="1"/>
          <p:nvPr/>
        </p:nvSpPr>
        <p:spPr>
          <a:xfrm>
            <a:off x="9601200" y="3803904"/>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31" name="Text 27"/>
          <p:cNvSpPr txBox="1"/>
          <p:nvPr/>
        </p:nvSpPr>
        <p:spPr>
          <a:xfrm>
            <a:off x="9601200" y="4059936"/>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Yes · no · it already happened</a:t>
            </a:r>
            <a:endParaRPr lang="en-US" sz="900" dirty="0"/>
          </a:p>
        </p:txBody>
      </p:sp>
      <p:sp>
        <p:nvSpPr>
          <p:cNvPr id="32" name="Shape 28"/>
          <p:cNvSpPr/>
          <p:nvPr/>
        </p:nvSpPr>
        <p:spPr>
          <a:xfrm>
            <a:off x="3840480" y="4562856"/>
            <a:ext cx="7799832" cy="758952"/>
          </a:xfrm>
          <a:prstGeom prst="roundRect">
            <a:avLst>
              <a:gd name="adj" fmla="val 9639"/>
            </a:avLst>
          </a:prstGeom>
          <a:solidFill>
            <a:srgbClr val="1B2156"/>
          </a:solidFill>
          <a:ln/>
        </p:spPr>
      </p:sp>
      <p:sp>
        <p:nvSpPr>
          <p:cNvPr id="33" name="Shape 29"/>
          <p:cNvSpPr/>
          <p:nvPr/>
        </p:nvSpPr>
        <p:spPr>
          <a:xfrm>
            <a:off x="4005072" y="4736592"/>
            <a:ext cx="411480" cy="411480"/>
          </a:xfrm>
          <a:prstGeom prst="ellipse">
            <a:avLst/>
          </a:prstGeom>
          <a:solidFill>
            <a:srgbClr val="4A8FDB"/>
          </a:solidFill>
          <a:ln/>
        </p:spPr>
      </p:sp>
      <p:sp>
        <p:nvSpPr>
          <p:cNvPr id="34" name="Text 30"/>
          <p:cNvSpPr txBox="1"/>
          <p:nvPr/>
        </p:nvSpPr>
        <p:spPr>
          <a:xfrm>
            <a:off x="4005072" y="47365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35" name="Text 31"/>
          <p:cNvSpPr txBox="1"/>
          <p:nvPr/>
        </p:nvSpPr>
        <p:spPr>
          <a:xfrm>
            <a:off x="4572000" y="4636008"/>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What worries you more about AI and your career?</a:t>
            </a:r>
            <a:endParaRPr lang="en-US" sz="1300" dirty="0"/>
          </a:p>
        </p:txBody>
      </p:sp>
      <p:sp>
        <p:nvSpPr>
          <p:cNvPr id="36" name="Shape 32"/>
          <p:cNvSpPr/>
          <p:nvPr/>
        </p:nvSpPr>
        <p:spPr>
          <a:xfrm>
            <a:off x="9601200" y="4654296"/>
            <a:ext cx="1874520" cy="219456"/>
          </a:xfrm>
          <a:prstGeom prst="roundRect">
            <a:avLst>
              <a:gd name="adj" fmla="val 33333"/>
            </a:avLst>
          </a:prstGeom>
          <a:solidFill>
            <a:srgbClr val="2E6FBF"/>
          </a:solidFill>
          <a:ln/>
        </p:spPr>
      </p:sp>
      <p:sp>
        <p:nvSpPr>
          <p:cNvPr id="37" name="Text 33"/>
          <p:cNvSpPr txBox="1"/>
          <p:nvPr/>
        </p:nvSpPr>
        <p:spPr>
          <a:xfrm>
            <a:off x="9601200" y="4654296"/>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38" name="Text 34"/>
          <p:cNvSpPr txBox="1"/>
          <p:nvPr/>
        </p:nvSpPr>
        <p:spPr>
          <a:xfrm>
            <a:off x="9601200" y="4910328"/>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It takes my job · I don't use it well enough · nothing</a:t>
            </a:r>
            <a:endParaRPr lang="en-US" sz="900" dirty="0"/>
          </a:p>
        </p:txBody>
      </p:sp>
      <p:sp>
        <p:nvSpPr>
          <p:cNvPr id="39" name="Shape 35"/>
          <p:cNvSpPr/>
          <p:nvPr/>
        </p:nvSpPr>
        <p:spPr>
          <a:xfrm>
            <a:off x="3840480" y="5413248"/>
            <a:ext cx="7799832" cy="758952"/>
          </a:xfrm>
          <a:prstGeom prst="roundRect">
            <a:avLst>
              <a:gd name="adj" fmla="val 9639"/>
            </a:avLst>
          </a:prstGeom>
          <a:solidFill>
            <a:srgbClr val="1B2156"/>
          </a:solidFill>
          <a:ln/>
        </p:spPr>
      </p:sp>
      <p:sp>
        <p:nvSpPr>
          <p:cNvPr id="40" name="Shape 36"/>
          <p:cNvSpPr/>
          <p:nvPr/>
        </p:nvSpPr>
        <p:spPr>
          <a:xfrm>
            <a:off x="4005072" y="5586984"/>
            <a:ext cx="411480" cy="411480"/>
          </a:xfrm>
          <a:prstGeom prst="ellipse">
            <a:avLst/>
          </a:prstGeom>
          <a:solidFill>
            <a:srgbClr val="4A8FDB"/>
          </a:solidFill>
          <a:ln/>
        </p:spPr>
      </p:sp>
      <p:sp>
        <p:nvSpPr>
          <p:cNvPr id="41" name="Text 37"/>
          <p:cNvSpPr txBox="1"/>
          <p:nvPr/>
        </p:nvSpPr>
        <p:spPr>
          <a:xfrm>
            <a:off x="4005072" y="558698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42" name="Text 38"/>
          <p:cNvSpPr txBox="1"/>
          <p:nvPr/>
        </p:nvSpPr>
        <p:spPr>
          <a:xfrm>
            <a:off x="4572000" y="5486400"/>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After graduation, would you rather…</a:t>
            </a:r>
            <a:endParaRPr lang="en-US" sz="1300" dirty="0"/>
          </a:p>
        </p:txBody>
      </p:sp>
      <p:sp>
        <p:nvSpPr>
          <p:cNvPr id="43" name="Shape 39"/>
          <p:cNvSpPr/>
          <p:nvPr/>
        </p:nvSpPr>
        <p:spPr>
          <a:xfrm>
            <a:off x="9601200" y="5504688"/>
            <a:ext cx="1874520" cy="219456"/>
          </a:xfrm>
          <a:prstGeom prst="roundRect">
            <a:avLst>
              <a:gd name="adj" fmla="val 33333"/>
            </a:avLst>
          </a:prstGeom>
          <a:solidFill>
            <a:srgbClr val="2E6FBF"/>
          </a:solidFill>
          <a:ln/>
        </p:spPr>
      </p:sp>
      <p:sp>
        <p:nvSpPr>
          <p:cNvPr id="44" name="Text 40"/>
          <p:cNvSpPr txBox="1"/>
          <p:nvPr/>
        </p:nvSpPr>
        <p:spPr>
          <a:xfrm>
            <a:off x="9601200" y="5504688"/>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 · REPEAT</a:t>
            </a:r>
            <a:endParaRPr lang="en-US" sz="800" dirty="0"/>
          </a:p>
        </p:txBody>
      </p:sp>
      <p:sp>
        <p:nvSpPr>
          <p:cNvPr id="45" name="Text 41"/>
          <p:cNvSpPr txBox="1"/>
          <p:nvPr/>
        </p:nvSpPr>
        <p:spPr>
          <a:xfrm>
            <a:off x="9601200" y="5760720"/>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Start my own company · join a startup · join a corporate</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Live: AI linking millions of data points</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Emidio demonstrates a highly complex AI workflow we developed — turning millions of data points into a go / no-go for a new business idea.</a:t>
            </a:r>
            <a:endParaRPr lang="en-US" sz="1400" dirty="0"/>
          </a:p>
        </p:txBody>
      </p:sp>
      <p:sp>
        <p:nvSpPr>
          <p:cNvPr id="5" name="Shape 2"/>
          <p:cNvSpPr/>
          <p:nvPr/>
        </p:nvSpPr>
        <p:spPr>
          <a:xfrm>
            <a:off x="548640" y="2057400"/>
            <a:ext cx="7406640" cy="4114800"/>
          </a:xfrm>
          <a:prstGeom prst="roundRect">
            <a:avLst>
              <a:gd name="adj" fmla="val 1778"/>
            </a:avLst>
          </a:prstGeom>
          <a:solidFill>
            <a:srgbClr val="1B2156"/>
          </a:solidFill>
          <a:ln w="15875">
            <a:solidFill>
              <a:srgbClr val="4A8FDB"/>
            </a:solidFill>
            <a:prstDash val="dash"/>
          </a:ln>
        </p:spPr>
      </p:sp>
      <p:pic>
        <p:nvPicPr>
          <p:cNvPr id="6" name="Image 0" descr="/home/user/work/assets/network.png">    </p:cNvPr>
          <p:cNvPicPr>
            <a:picLocks noChangeAspect="1"/>
          </p:cNvPicPr>
          <p:nvPr/>
        </p:nvPicPr>
        <p:blipFill>
          <a:blip r:embed="rId1">
            <a:alphaModFix amt="75000"/>
          </a:blip>
          <a:stretch>
            <a:fillRect/>
          </a:stretch>
        </p:blipFill>
        <p:spPr>
          <a:xfrm>
            <a:off x="731520" y="2194560"/>
            <a:ext cx="7040880" cy="3840480"/>
          </a:xfrm>
          <a:prstGeom prst="rect">
            <a:avLst/>
          </a:prstGeom>
        </p:spPr>
      </p:pic>
      <p:sp>
        <p:nvSpPr>
          <p:cNvPr id="7" name="Shape 3"/>
          <p:cNvSpPr/>
          <p:nvPr/>
        </p:nvSpPr>
        <p:spPr>
          <a:xfrm>
            <a:off x="2331720" y="3566160"/>
            <a:ext cx="3840480" cy="1051560"/>
          </a:xfrm>
          <a:prstGeom prst="roundRect">
            <a:avLst>
              <a:gd name="adj" fmla="val 6957"/>
            </a:avLst>
          </a:prstGeom>
          <a:solidFill>
            <a:srgbClr val="0F1341"/>
          </a:solidFill>
          <a:ln w="12700">
            <a:solidFill>
              <a:srgbClr val="4A8FDB"/>
            </a:solidFill>
            <a:prstDash val="solid"/>
          </a:ln>
        </p:spPr>
      </p:sp>
      <p:sp>
        <p:nvSpPr>
          <p:cNvPr id="8" name="Shape 4"/>
          <p:cNvSpPr/>
          <p:nvPr/>
        </p:nvSpPr>
        <p:spPr>
          <a:xfrm>
            <a:off x="2971800" y="3685032"/>
            <a:ext cx="2560320" cy="274320"/>
          </a:xfrm>
          <a:prstGeom prst="roundRect">
            <a:avLst>
              <a:gd name="adj" fmla="val 26667"/>
            </a:avLst>
          </a:prstGeom>
          <a:solidFill>
            <a:srgbClr val="4A8FDB"/>
          </a:solidFill>
          <a:ln/>
        </p:spPr>
      </p:sp>
      <p:sp>
        <p:nvSpPr>
          <p:cNvPr id="9" name="Text 5"/>
          <p:cNvSpPr txBox="1"/>
          <p:nvPr/>
        </p:nvSpPr>
        <p:spPr>
          <a:xfrm>
            <a:off x="2971800" y="3685032"/>
            <a:ext cx="2560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PLACEHOLDER  ·  LIVE DEMO</a:t>
            </a:r>
            <a:endParaRPr lang="en-US" sz="900" dirty="0"/>
          </a:p>
        </p:txBody>
      </p:sp>
      <p:sp>
        <p:nvSpPr>
          <p:cNvPr id="10" name="Text 6"/>
          <p:cNvSpPr txBox="1"/>
          <p:nvPr/>
        </p:nvSpPr>
        <p:spPr>
          <a:xfrm>
            <a:off x="2377440" y="4069080"/>
            <a:ext cx="37490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Emidio · AI workflow on screen</a:t>
            </a:r>
            <a:endParaRPr lang="en-US" sz="1400" dirty="0"/>
          </a:p>
        </p:txBody>
      </p:sp>
      <p:sp>
        <p:nvSpPr>
          <p:cNvPr id="11" name="Shape 7"/>
          <p:cNvSpPr/>
          <p:nvPr/>
        </p:nvSpPr>
        <p:spPr>
          <a:xfrm>
            <a:off x="8229600" y="2057400"/>
            <a:ext cx="3410712" cy="1261872"/>
          </a:xfrm>
          <a:prstGeom prst="roundRect">
            <a:avLst>
              <a:gd name="adj" fmla="val 5797"/>
            </a:avLst>
          </a:prstGeom>
          <a:solidFill>
            <a:srgbClr val="1B2156"/>
          </a:solidFill>
          <a:ln/>
        </p:spPr>
      </p:sp>
      <p:sp>
        <p:nvSpPr>
          <p:cNvPr id="12" name="Shape 8"/>
          <p:cNvSpPr/>
          <p:nvPr/>
        </p:nvSpPr>
        <p:spPr>
          <a:xfrm>
            <a:off x="8412480" y="2441448"/>
            <a:ext cx="502920" cy="502920"/>
          </a:xfrm>
          <a:prstGeom prst="ellipse">
            <a:avLst/>
          </a:prstGeom>
          <a:solidFill>
            <a:srgbClr val="2E6FBF"/>
          </a:solidFill>
          <a:ln/>
        </p:spPr>
      </p:sp>
      <p:pic>
        <p:nvPicPr>
          <p:cNvPr id="13" name="Image 1" descr="preencoded.png">    </p:cNvPr>
          <p:cNvPicPr>
            <a:picLocks noChangeAspect="1"/>
          </p:cNvPicPr>
          <p:nvPr/>
        </p:nvPicPr>
        <p:blipFill>
          <a:blip r:embed="rId2"/>
          <a:stretch>
            <a:fillRect/>
          </a:stretch>
        </p:blipFill>
        <p:spPr>
          <a:xfrm>
            <a:off x="8522208" y="2551176"/>
            <a:ext cx="283464" cy="283464"/>
          </a:xfrm>
          <a:prstGeom prst="rect">
            <a:avLst/>
          </a:prstGeom>
        </p:spPr>
      </p:pic>
      <p:sp>
        <p:nvSpPr>
          <p:cNvPr id="14" name="Text 9"/>
          <p:cNvSpPr txBox="1"/>
          <p:nvPr/>
        </p:nvSpPr>
        <p:spPr>
          <a:xfrm>
            <a:off x="9098280" y="2258568"/>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Millions of data points</a:t>
            </a:r>
            <a:endParaRPr lang="en-US" sz="1300" dirty="0"/>
          </a:p>
        </p:txBody>
      </p:sp>
      <p:sp>
        <p:nvSpPr>
          <p:cNvPr id="15" name="Text 10"/>
          <p:cNvSpPr txBox="1"/>
          <p:nvPr/>
        </p:nvSpPr>
        <p:spPr>
          <a:xfrm>
            <a:off x="9098280" y="2624328"/>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Many sources linked in one model</a:t>
            </a:r>
            <a:endParaRPr lang="en-US" sz="1100" dirty="0"/>
          </a:p>
        </p:txBody>
      </p:sp>
      <p:sp>
        <p:nvSpPr>
          <p:cNvPr id="16" name="Shape 11"/>
          <p:cNvSpPr/>
          <p:nvPr/>
        </p:nvSpPr>
        <p:spPr>
          <a:xfrm>
            <a:off x="8229600" y="3456432"/>
            <a:ext cx="3410712" cy="1261872"/>
          </a:xfrm>
          <a:prstGeom prst="roundRect">
            <a:avLst>
              <a:gd name="adj" fmla="val 5797"/>
            </a:avLst>
          </a:prstGeom>
          <a:solidFill>
            <a:srgbClr val="1B2156"/>
          </a:solidFill>
          <a:ln/>
        </p:spPr>
      </p:sp>
      <p:sp>
        <p:nvSpPr>
          <p:cNvPr id="17" name="Shape 12"/>
          <p:cNvSpPr/>
          <p:nvPr/>
        </p:nvSpPr>
        <p:spPr>
          <a:xfrm>
            <a:off x="8412480" y="3840480"/>
            <a:ext cx="502920" cy="502920"/>
          </a:xfrm>
          <a:prstGeom prst="ellipse">
            <a:avLst/>
          </a:prstGeom>
          <a:solidFill>
            <a:srgbClr val="2E6FBF"/>
          </a:solidFill>
          <a:ln/>
        </p:spPr>
      </p:sp>
      <p:pic>
        <p:nvPicPr>
          <p:cNvPr id="18" name="Image 2" descr="preencoded.png">    </p:cNvPr>
          <p:cNvPicPr>
            <a:picLocks noChangeAspect="1"/>
          </p:cNvPicPr>
          <p:nvPr/>
        </p:nvPicPr>
        <p:blipFill>
          <a:blip r:embed="rId3"/>
          <a:stretch>
            <a:fillRect/>
          </a:stretch>
        </p:blipFill>
        <p:spPr>
          <a:xfrm>
            <a:off x="8522208" y="3950208"/>
            <a:ext cx="283464" cy="283464"/>
          </a:xfrm>
          <a:prstGeom prst="rect">
            <a:avLst/>
          </a:prstGeom>
        </p:spPr>
      </p:pic>
      <p:sp>
        <p:nvSpPr>
          <p:cNvPr id="19" name="Text 13"/>
          <p:cNvSpPr txBox="1"/>
          <p:nvPr/>
        </p:nvSpPr>
        <p:spPr>
          <a:xfrm>
            <a:off x="9098280" y="3657600"/>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Multiple AI agents</a:t>
            </a:r>
            <a:endParaRPr lang="en-US" sz="1300" dirty="0"/>
          </a:p>
        </p:txBody>
      </p:sp>
      <p:sp>
        <p:nvSpPr>
          <p:cNvPr id="20" name="Text 14"/>
          <p:cNvSpPr txBox="1"/>
          <p:nvPr/>
        </p:nvSpPr>
        <p:spPr>
          <a:xfrm>
            <a:off x="9098280" y="4023360"/>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Research, matching and scoring in one flow</a:t>
            </a:r>
            <a:endParaRPr lang="en-US" sz="1100" dirty="0"/>
          </a:p>
        </p:txBody>
      </p:sp>
      <p:sp>
        <p:nvSpPr>
          <p:cNvPr id="21" name="Shape 15"/>
          <p:cNvSpPr/>
          <p:nvPr/>
        </p:nvSpPr>
        <p:spPr>
          <a:xfrm>
            <a:off x="8229600" y="4855464"/>
            <a:ext cx="3410712" cy="1261872"/>
          </a:xfrm>
          <a:prstGeom prst="roundRect">
            <a:avLst>
              <a:gd name="adj" fmla="val 5797"/>
            </a:avLst>
          </a:prstGeom>
          <a:solidFill>
            <a:srgbClr val="1B2156"/>
          </a:solidFill>
          <a:ln/>
        </p:spPr>
      </p:sp>
      <p:sp>
        <p:nvSpPr>
          <p:cNvPr id="22" name="Shape 16"/>
          <p:cNvSpPr/>
          <p:nvPr/>
        </p:nvSpPr>
        <p:spPr>
          <a:xfrm>
            <a:off x="8412480" y="5239512"/>
            <a:ext cx="502920" cy="502920"/>
          </a:xfrm>
          <a:prstGeom prst="ellipse">
            <a:avLst/>
          </a:prstGeom>
          <a:solidFill>
            <a:srgbClr val="2E6FBF"/>
          </a:solidFill>
          <a:ln/>
        </p:spPr>
      </p:sp>
      <p:pic>
        <p:nvPicPr>
          <p:cNvPr id="23" name="Image 3" descr="preencoded.png">    </p:cNvPr>
          <p:cNvPicPr>
            <a:picLocks noChangeAspect="1"/>
          </p:cNvPicPr>
          <p:nvPr/>
        </p:nvPicPr>
        <p:blipFill>
          <a:blip r:embed="rId4"/>
          <a:stretch>
            <a:fillRect/>
          </a:stretch>
        </p:blipFill>
        <p:spPr>
          <a:xfrm>
            <a:off x="8522208" y="5349240"/>
            <a:ext cx="283464" cy="283464"/>
          </a:xfrm>
          <a:prstGeom prst="rect">
            <a:avLst/>
          </a:prstGeom>
        </p:spPr>
      </p:pic>
      <p:sp>
        <p:nvSpPr>
          <p:cNvPr id="24" name="Text 17"/>
          <p:cNvSpPr txBox="1"/>
          <p:nvPr/>
        </p:nvSpPr>
        <p:spPr>
          <a:xfrm>
            <a:off x="9098280" y="5056632"/>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From data to decision</a:t>
            </a:r>
            <a:endParaRPr lang="en-US" sz="1300" dirty="0"/>
          </a:p>
        </p:txBody>
      </p:sp>
      <p:sp>
        <p:nvSpPr>
          <p:cNvPr id="25" name="Text 18"/>
          <p:cNvSpPr txBox="1"/>
          <p:nvPr/>
        </p:nvSpPr>
        <p:spPr>
          <a:xfrm>
            <a:off x="9098280" y="5422392"/>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The output is a recommendation, not a dashboard</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2057400"/>
            <a:ext cx="6583680" cy="1737360"/>
          </a:xfrm>
          <a:prstGeom prst="rect">
            <a:avLst/>
          </a:prstGeom>
          <a:noFill/>
          <a:ln/>
        </p:spPr>
        <p:txBody>
          <a:bodyPr wrap="square" lIns="0" tIns="0" rIns="0" bIns="0" rtlCol="0" anchor="b"/>
          <a:lstStyle/>
          <a:p>
            <a:pPr indent="0" marL="0">
              <a:buNone/>
            </a:pPr>
            <a:r>
              <a:rPr lang="en-US" sz="4000" b="1" dirty="0">
                <a:solidFill>
                  <a:srgbClr val="0F1341"/>
                </a:solidFill>
                <a:latin typeface="Montserrat" pitchFamily="34" charset="0"/>
                <a:ea typeface="Montserrat" pitchFamily="34" charset="-122"/>
                <a:cs typeface="Montserrat" pitchFamily="34" charset="-120"/>
              </a:rPr>
              <a:t>From Idea to Market: Building an AI-Native Business</a:t>
            </a:r>
            <a:endParaRPr lang="en-US" sz="4000" dirty="0"/>
          </a:p>
        </p:txBody>
      </p:sp>
      <p:sp>
        <p:nvSpPr>
          <p:cNvPr id="3" name="Text 1"/>
          <p:cNvSpPr txBox="1"/>
          <p:nvPr/>
        </p:nvSpPr>
        <p:spPr>
          <a:xfrm>
            <a:off x="566928" y="3977640"/>
            <a:ext cx="6035040" cy="914400"/>
          </a:xfrm>
          <a:prstGeom prst="rect">
            <a:avLst/>
          </a:prstGeom>
          <a:noFill/>
          <a:ln/>
        </p:spPr>
        <p:txBody>
          <a:bodyPr wrap="square" lIns="0" tIns="0" rIns="0" bIns="0" rtlCol="0" anchor="t"/>
          <a:lstStyle/>
          <a:p>
            <a:pPr indent="0" marL="0">
              <a:buNone/>
            </a:pPr>
            <a:r>
              <a:rPr lang="en-US" sz="1600" dirty="0">
                <a:solidFill>
                  <a:srgbClr val="5B6270"/>
                </a:solidFill>
                <a:latin typeface="Montserrat" pitchFamily="34" charset="0"/>
                <a:ea typeface="Montserrat" pitchFamily="34" charset="-122"/>
                <a:cs typeface="Montserrat" pitchFamily="34" charset="-120"/>
              </a:rPr>
              <a:t>Why building is no longer the hard part — and what is.</a:t>
            </a:r>
            <a:endParaRPr lang="en-US" sz="1600" dirty="0"/>
          </a:p>
        </p:txBody>
      </p:sp>
      <p:sp>
        <p:nvSpPr>
          <p:cNvPr id="4" name="Text 2"/>
          <p:cNvSpPr txBox="1"/>
          <p:nvPr/>
        </p:nvSpPr>
        <p:spPr>
          <a:xfrm>
            <a:off x="566928" y="6080760"/>
            <a:ext cx="3657600" cy="320040"/>
          </a:xfrm>
          <a:prstGeom prst="rect">
            <a:avLst/>
          </a:prstGeom>
          <a:noFill/>
          <a:ln/>
        </p:spPr>
        <p:txBody>
          <a:bodyPr wrap="square" lIns="0" tIns="0" rIns="0" bIns="0" rtlCol="0" anchor="t"/>
          <a:lstStyle/>
          <a:p>
            <a:pPr indent="0" marL="0">
              <a:buNone/>
            </a:pPr>
            <a:r>
              <a:rPr lang="en-US" sz="1200" dirty="0">
                <a:solidFill>
                  <a:srgbClr val="8A93A3"/>
                </a:solidFill>
                <a:latin typeface="Montserrat" pitchFamily="34" charset="0"/>
                <a:ea typeface="Montserrat" pitchFamily="34" charset="-122"/>
                <a:cs typeface="Montserrat" pitchFamily="34" charset="-120"/>
              </a:rPr>
              <a:t>Rome, October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ChatGPT: 1 million users in just 5 days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Time it took to reach 1 million users</a:t>
            </a:r>
            <a:endParaRPr lang="en-US" sz="1300" dirty="0"/>
          </a:p>
        </p:txBody>
      </p:sp>
      <p:sp>
        <p:nvSpPr>
          <p:cNvPr id="5" name="Shape 2"/>
          <p:cNvSpPr/>
          <p:nvPr/>
        </p:nvSpPr>
        <p:spPr>
          <a:xfrm>
            <a:off x="2103120" y="1828800"/>
            <a:ext cx="0" cy="3730752"/>
          </a:xfrm>
          <a:prstGeom prst="line">
            <a:avLst/>
          </a:prstGeom>
          <a:noFill/>
          <a:ln w="12700">
            <a:solidFill>
              <a:srgbClr val="C9D3E3"/>
            </a:solidFill>
            <a:prstDash val="solid"/>
          </a:ln>
        </p:spPr>
      </p:sp>
      <p:sp>
        <p:nvSpPr>
          <p:cNvPr id="6" name="Text 3"/>
          <p:cNvSpPr txBox="1"/>
          <p:nvPr/>
        </p:nvSpPr>
        <p:spPr>
          <a:xfrm>
            <a:off x="548640" y="2011680"/>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Netflix</a:t>
            </a:r>
            <a:endParaRPr lang="en-US" sz="1500" dirty="0"/>
          </a:p>
        </p:txBody>
      </p:sp>
      <p:sp>
        <p:nvSpPr>
          <p:cNvPr id="7" name="Shape 4"/>
          <p:cNvSpPr/>
          <p:nvPr/>
        </p:nvSpPr>
        <p:spPr>
          <a:xfrm>
            <a:off x="2103120" y="2011680"/>
            <a:ext cx="5120640" cy="566928"/>
          </a:xfrm>
          <a:prstGeom prst="rect">
            <a:avLst/>
          </a:prstGeom>
          <a:solidFill>
            <a:srgbClr val="0F1341"/>
          </a:solidFill>
          <a:ln/>
        </p:spPr>
      </p:sp>
      <p:sp>
        <p:nvSpPr>
          <p:cNvPr id="8" name="Text 5"/>
          <p:cNvSpPr txBox="1"/>
          <p:nvPr/>
        </p:nvSpPr>
        <p:spPr>
          <a:xfrm>
            <a:off x="2103120" y="2011680"/>
            <a:ext cx="512064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3.5 years</a:t>
            </a:r>
            <a:endParaRPr lang="en-US" sz="1400" dirty="0"/>
          </a:p>
        </p:txBody>
      </p:sp>
      <p:sp>
        <p:nvSpPr>
          <p:cNvPr id="9" name="Text 6"/>
          <p:cNvSpPr txBox="1"/>
          <p:nvPr/>
        </p:nvSpPr>
        <p:spPr>
          <a:xfrm>
            <a:off x="548640" y="2944368"/>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Airbnb</a:t>
            </a:r>
            <a:endParaRPr lang="en-US" sz="1500" dirty="0"/>
          </a:p>
        </p:txBody>
      </p:sp>
      <p:sp>
        <p:nvSpPr>
          <p:cNvPr id="10" name="Shape 7"/>
          <p:cNvSpPr/>
          <p:nvPr/>
        </p:nvSpPr>
        <p:spPr>
          <a:xfrm>
            <a:off x="2103120" y="2944368"/>
            <a:ext cx="3657600" cy="566928"/>
          </a:xfrm>
          <a:prstGeom prst="rect">
            <a:avLst/>
          </a:prstGeom>
          <a:solidFill>
            <a:srgbClr val="283070"/>
          </a:solidFill>
          <a:ln/>
        </p:spPr>
      </p:sp>
      <p:sp>
        <p:nvSpPr>
          <p:cNvPr id="11" name="Text 8"/>
          <p:cNvSpPr txBox="1"/>
          <p:nvPr/>
        </p:nvSpPr>
        <p:spPr>
          <a:xfrm>
            <a:off x="2103120" y="2944368"/>
            <a:ext cx="365760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2.5 years</a:t>
            </a:r>
            <a:endParaRPr lang="en-US" sz="1400" dirty="0"/>
          </a:p>
        </p:txBody>
      </p:sp>
      <p:sp>
        <p:nvSpPr>
          <p:cNvPr id="12" name="Text 9"/>
          <p:cNvSpPr txBox="1"/>
          <p:nvPr/>
        </p:nvSpPr>
        <p:spPr>
          <a:xfrm>
            <a:off x="548640" y="3877056"/>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Twitter</a:t>
            </a:r>
            <a:endParaRPr lang="en-US" sz="1500" dirty="0"/>
          </a:p>
        </p:txBody>
      </p:sp>
      <p:sp>
        <p:nvSpPr>
          <p:cNvPr id="13" name="Shape 10"/>
          <p:cNvSpPr/>
          <p:nvPr/>
        </p:nvSpPr>
        <p:spPr>
          <a:xfrm>
            <a:off x="2103120" y="3877056"/>
            <a:ext cx="2926080" cy="566928"/>
          </a:xfrm>
          <a:prstGeom prst="rect">
            <a:avLst/>
          </a:prstGeom>
          <a:solidFill>
            <a:srgbClr val="6A7FA8"/>
          </a:solidFill>
          <a:ln/>
        </p:spPr>
      </p:sp>
      <p:sp>
        <p:nvSpPr>
          <p:cNvPr id="14" name="Text 11"/>
          <p:cNvSpPr txBox="1"/>
          <p:nvPr/>
        </p:nvSpPr>
        <p:spPr>
          <a:xfrm>
            <a:off x="2103120" y="3877056"/>
            <a:ext cx="292608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2 years</a:t>
            </a:r>
            <a:endParaRPr lang="en-US" sz="1400" dirty="0"/>
          </a:p>
        </p:txBody>
      </p:sp>
      <p:sp>
        <p:nvSpPr>
          <p:cNvPr id="15" name="Text 12"/>
          <p:cNvSpPr txBox="1"/>
          <p:nvPr/>
        </p:nvSpPr>
        <p:spPr>
          <a:xfrm>
            <a:off x="548640" y="4809744"/>
            <a:ext cx="1371600" cy="566928"/>
          </a:xfrm>
          <a:prstGeom prst="rect">
            <a:avLst/>
          </a:prstGeom>
          <a:noFill/>
          <a:ln/>
        </p:spPr>
        <p:txBody>
          <a:bodyPr wrap="square" lIns="0" tIns="0" rIns="0" bIns="0" rtlCol="0" anchor="ctr"/>
          <a:lstStyle/>
          <a:p>
            <a:pPr algn="r" indent="0" marL="0">
              <a:buNone/>
            </a:pPr>
            <a:r>
              <a:rPr lang="en-US" sz="1500" b="1" dirty="0">
                <a:solidFill>
                  <a:srgbClr val="2E6FBF"/>
                </a:solidFill>
                <a:latin typeface="Montserrat" pitchFamily="34" charset="0"/>
                <a:ea typeface="Montserrat" pitchFamily="34" charset="-122"/>
                <a:cs typeface="Montserrat" pitchFamily="34" charset="-120"/>
              </a:rPr>
              <a:t>ChatGPT</a:t>
            </a:r>
            <a:endParaRPr lang="en-US" sz="1500" dirty="0"/>
          </a:p>
        </p:txBody>
      </p:sp>
      <p:sp>
        <p:nvSpPr>
          <p:cNvPr id="16" name="Shape 13"/>
          <p:cNvSpPr/>
          <p:nvPr/>
        </p:nvSpPr>
        <p:spPr>
          <a:xfrm>
            <a:off x="2103120" y="4809744"/>
            <a:ext cx="82296" cy="566928"/>
          </a:xfrm>
          <a:prstGeom prst="rect">
            <a:avLst/>
          </a:prstGeom>
          <a:solidFill>
            <a:srgbClr val="2E6FBF"/>
          </a:solidFill>
          <a:ln/>
        </p:spPr>
      </p:sp>
      <p:sp>
        <p:nvSpPr>
          <p:cNvPr id="17" name="Text 14"/>
          <p:cNvSpPr txBox="1"/>
          <p:nvPr/>
        </p:nvSpPr>
        <p:spPr>
          <a:xfrm>
            <a:off x="2331720" y="4809744"/>
            <a:ext cx="1828800" cy="566928"/>
          </a:xfrm>
          <a:prstGeom prst="rect">
            <a:avLst/>
          </a:prstGeom>
          <a:noFill/>
          <a:ln/>
        </p:spPr>
        <p:txBody>
          <a:bodyPr wrap="square" lIns="0" tIns="0" rIns="0" bIns="0" rtlCol="0" anchor="ctr"/>
          <a:lstStyle/>
          <a:p>
            <a:pPr indent="0" marL="0">
              <a:buNone/>
            </a:pPr>
            <a:r>
              <a:rPr lang="en-US" sz="1500" b="1" dirty="0">
                <a:solidFill>
                  <a:srgbClr val="2E6FBF"/>
                </a:solidFill>
                <a:latin typeface="Montserrat" pitchFamily="34" charset="0"/>
                <a:ea typeface="Montserrat" pitchFamily="34" charset="-122"/>
                <a:cs typeface="Montserrat" pitchFamily="34" charset="-120"/>
              </a:rPr>
              <a:t>5 days</a:t>
            </a:r>
            <a:endParaRPr lang="en-US" sz="1500" dirty="0"/>
          </a:p>
        </p:txBody>
      </p:sp>
      <p:sp>
        <p:nvSpPr>
          <p:cNvPr id="18" name="Shape 15"/>
          <p:cNvSpPr/>
          <p:nvPr/>
        </p:nvSpPr>
        <p:spPr>
          <a:xfrm>
            <a:off x="7955280" y="1828800"/>
            <a:ext cx="3685032" cy="3520440"/>
          </a:xfrm>
          <a:prstGeom prst="roundRect">
            <a:avLst>
              <a:gd name="adj" fmla="val 2078"/>
            </a:avLst>
          </a:prstGeom>
          <a:solidFill>
            <a:srgbClr val="0F1341"/>
          </a:solidFill>
          <a:ln/>
        </p:spPr>
      </p:sp>
      <p:sp>
        <p:nvSpPr>
          <p:cNvPr id="19" name="Text 16"/>
          <p:cNvSpPr txBox="1"/>
          <p:nvPr/>
        </p:nvSpPr>
        <p:spPr>
          <a:xfrm>
            <a:off x="8183880" y="2011680"/>
            <a:ext cx="3291840" cy="1280160"/>
          </a:xfrm>
          <a:prstGeom prst="rect">
            <a:avLst/>
          </a:prstGeom>
          <a:noFill/>
          <a:ln/>
        </p:spPr>
        <p:txBody>
          <a:bodyPr wrap="square" lIns="0" tIns="0" rIns="0" bIns="0" rtlCol="0" anchor="t"/>
          <a:lstStyle/>
          <a:p>
            <a:pPr indent="0" marL="0">
              <a:buNone/>
            </a:pPr>
            <a:r>
              <a:rPr lang="en-US" sz="8800" b="1" dirty="0">
                <a:solidFill>
                  <a:srgbClr val="FFFFFF"/>
                </a:solidFill>
                <a:latin typeface="Montserrat" pitchFamily="34" charset="0"/>
                <a:ea typeface="Montserrat" pitchFamily="34" charset="-122"/>
                <a:cs typeface="Montserrat" pitchFamily="34" charset="-120"/>
              </a:rPr>
              <a:t>5</a:t>
            </a:r>
            <a:endParaRPr lang="en-US" sz="8800" dirty="0"/>
          </a:p>
        </p:txBody>
      </p:sp>
      <p:sp>
        <p:nvSpPr>
          <p:cNvPr id="20" name="Text 17"/>
          <p:cNvSpPr txBox="1"/>
          <p:nvPr/>
        </p:nvSpPr>
        <p:spPr>
          <a:xfrm>
            <a:off x="9144000" y="2606040"/>
            <a:ext cx="2194560" cy="548640"/>
          </a:xfrm>
          <a:prstGeom prst="rect">
            <a:avLst/>
          </a:prstGeom>
          <a:noFill/>
          <a:ln/>
        </p:spPr>
        <p:txBody>
          <a:bodyPr wrap="square" lIns="0" tIns="0" rIns="0" bIns="0" rtlCol="0" anchor="t"/>
          <a:lstStyle/>
          <a:p>
            <a:pPr indent="0" marL="0">
              <a:buNone/>
            </a:pPr>
            <a:r>
              <a:rPr lang="en-US" sz="2800" b="1" dirty="0">
                <a:solidFill>
                  <a:srgbClr val="4A8FDB"/>
                </a:solidFill>
                <a:latin typeface="Montserrat" pitchFamily="34" charset="0"/>
                <a:ea typeface="Montserrat" pitchFamily="34" charset="-122"/>
                <a:cs typeface="Montserrat" pitchFamily="34" charset="-120"/>
              </a:rPr>
              <a:t>days</a:t>
            </a:r>
            <a:endParaRPr lang="en-US" sz="2800" dirty="0"/>
          </a:p>
        </p:txBody>
      </p:sp>
      <p:sp>
        <p:nvSpPr>
          <p:cNvPr id="21" name="Text 18"/>
          <p:cNvSpPr txBox="1"/>
          <p:nvPr/>
        </p:nvSpPr>
        <p:spPr>
          <a:xfrm>
            <a:off x="8183880" y="3429000"/>
            <a:ext cx="3246120" cy="914400"/>
          </a:xfrm>
          <a:prstGeom prst="rect">
            <a:avLst/>
          </a:prstGeom>
          <a:noFill/>
          <a:ln/>
        </p:spPr>
        <p:txBody>
          <a:bodyPr wrap="square" lIns="0" tIns="0" rIns="0" bIns="0" rtlCol="0" anchor="t"/>
          <a:lstStyle/>
          <a:p>
            <a:pPr indent="0" marL="0">
              <a:buNone/>
            </a:pPr>
            <a:r>
              <a:rPr lang="en-US" sz="1400" dirty="0">
                <a:solidFill>
                  <a:srgbClr val="FFFFFF"/>
                </a:solidFill>
                <a:latin typeface="Montserrat" pitchFamily="34" charset="0"/>
                <a:ea typeface="Montserrat" pitchFamily="34" charset="-122"/>
                <a:cs typeface="Montserrat" pitchFamily="34" charset="-120"/>
              </a:rPr>
              <a:t>from launch to one million users — faster than any consumer product before it.</a:t>
            </a:r>
            <a:endParaRPr lang="en-US" sz="1400" dirty="0"/>
          </a:p>
        </p:txBody>
      </p:sp>
      <p:sp>
        <p:nvSpPr>
          <p:cNvPr id="22" name="Text 19"/>
          <p:cNvSpPr txBox="1"/>
          <p:nvPr/>
        </p:nvSpPr>
        <p:spPr>
          <a:xfrm>
            <a:off x="8183880" y="4434840"/>
            <a:ext cx="3246120" cy="77724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For founders: your market — and your competitors — can now move this fast too.</a:t>
            </a:r>
            <a:endParaRPr lang="en-US" sz="1200" dirty="0"/>
          </a:p>
        </p:txBody>
      </p:sp>
      <p:sp>
        <p:nvSpPr>
          <p:cNvPr id="23" name="Text 20"/>
          <p:cNvSpPr txBox="1"/>
          <p:nvPr/>
        </p:nvSpPr>
        <p:spPr>
          <a:xfrm>
            <a:off x="548640" y="5806440"/>
            <a:ext cx="694944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Statista, based on company announcements. ChatGPT launched on 30 November 2022.</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AI's IQ: from 96 to 136 in one year</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Best AI model on standardised IQ tests — one year apart</a:t>
            </a:r>
            <a:endParaRPr lang="en-US" sz="1300" dirty="0"/>
          </a:p>
        </p:txBody>
      </p:sp>
      <p:sp>
        <p:nvSpPr>
          <p:cNvPr id="5" name="Shape 2"/>
          <p:cNvSpPr/>
          <p:nvPr/>
        </p:nvSpPr>
        <p:spPr>
          <a:xfrm>
            <a:off x="548640" y="1828800"/>
            <a:ext cx="3291840" cy="1828800"/>
          </a:xfrm>
          <a:prstGeom prst="roundRect">
            <a:avLst>
              <a:gd name="adj" fmla="val 4000"/>
            </a:avLst>
          </a:prstGeom>
          <a:solidFill>
            <a:srgbClr val="F3F7FC"/>
          </a:solidFill>
          <a:ln/>
        </p:spPr>
      </p:sp>
      <p:sp>
        <p:nvSpPr>
          <p:cNvPr id="6" name="Text 3"/>
          <p:cNvSpPr txBox="1"/>
          <p:nvPr/>
        </p:nvSpPr>
        <p:spPr>
          <a:xfrm>
            <a:off x="777240" y="1965960"/>
            <a:ext cx="2743200" cy="320040"/>
          </a:xfrm>
          <a:prstGeom prst="rect">
            <a:avLst/>
          </a:prstGeom>
          <a:noFill/>
          <a:ln/>
        </p:spPr>
        <p:txBody>
          <a:bodyPr wrap="square" lIns="0" tIns="0" rIns="0" bIns="0" rtlCol="0" anchor="t"/>
          <a:lstStyle/>
          <a:p>
            <a:pPr indent="0" marL="0">
              <a:buNone/>
            </a:pPr>
            <a:r>
              <a:rPr lang="en-US" sz="1300" b="1" dirty="0">
                <a:solidFill>
                  <a:srgbClr val="8A93A3"/>
                </a:solidFill>
                <a:latin typeface="Montserrat" pitchFamily="34" charset="0"/>
                <a:ea typeface="Montserrat" pitchFamily="34" charset="-122"/>
                <a:cs typeface="Montserrat" pitchFamily="34" charset="-120"/>
              </a:rPr>
              <a:t>2024</a:t>
            </a:r>
            <a:endParaRPr lang="en-US" sz="1300" dirty="0"/>
          </a:p>
        </p:txBody>
      </p:sp>
      <p:sp>
        <p:nvSpPr>
          <p:cNvPr id="7" name="Text 4"/>
          <p:cNvSpPr txBox="1"/>
          <p:nvPr/>
        </p:nvSpPr>
        <p:spPr>
          <a:xfrm>
            <a:off x="777240" y="2286000"/>
            <a:ext cx="2926080" cy="822960"/>
          </a:xfrm>
          <a:prstGeom prst="rect">
            <a:avLst/>
          </a:prstGeom>
          <a:noFill/>
          <a:ln/>
        </p:spPr>
        <p:txBody>
          <a:bodyPr wrap="square" lIns="0" tIns="0" rIns="0" bIns="0" rtlCol="0" anchor="t"/>
          <a:lstStyle/>
          <a:p>
            <a:pPr indent="0" marL="0">
              <a:buNone/>
            </a:pPr>
            <a:r>
              <a:rPr lang="en-US" sz="4400" b="1" dirty="0">
                <a:solidFill>
                  <a:srgbClr val="6A7FA8"/>
                </a:solidFill>
                <a:latin typeface="Montserrat" pitchFamily="34" charset="0"/>
                <a:ea typeface="Montserrat" pitchFamily="34" charset="-122"/>
                <a:cs typeface="Montserrat" pitchFamily="34" charset="-120"/>
              </a:rPr>
              <a:t>IQ 96</a:t>
            </a:r>
            <a:endParaRPr lang="en-US" sz="4400" dirty="0"/>
          </a:p>
        </p:txBody>
      </p:sp>
      <p:sp>
        <p:nvSpPr>
          <p:cNvPr id="8" name="Text 5"/>
          <p:cNvSpPr txBox="1"/>
          <p:nvPr/>
        </p:nvSpPr>
        <p:spPr>
          <a:xfrm>
            <a:off x="777240" y="3154680"/>
            <a:ext cx="2926080" cy="32004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Best model, offline test</a:t>
            </a:r>
            <a:endParaRPr lang="en-US" sz="1200" dirty="0"/>
          </a:p>
        </p:txBody>
      </p:sp>
      <p:sp>
        <p:nvSpPr>
          <p:cNvPr id="9" name="Shape 6"/>
          <p:cNvSpPr/>
          <p:nvPr/>
        </p:nvSpPr>
        <p:spPr>
          <a:xfrm>
            <a:off x="548640" y="3840480"/>
            <a:ext cx="3291840" cy="1828800"/>
          </a:xfrm>
          <a:prstGeom prst="roundRect">
            <a:avLst>
              <a:gd name="adj" fmla="val 4000"/>
            </a:avLst>
          </a:prstGeom>
          <a:solidFill>
            <a:srgbClr val="0F1341"/>
          </a:solidFill>
          <a:ln/>
        </p:spPr>
      </p:sp>
      <p:sp>
        <p:nvSpPr>
          <p:cNvPr id="10" name="Text 7"/>
          <p:cNvSpPr txBox="1"/>
          <p:nvPr/>
        </p:nvSpPr>
        <p:spPr>
          <a:xfrm>
            <a:off x="777240" y="3977640"/>
            <a:ext cx="2743200" cy="320040"/>
          </a:xfrm>
          <a:prstGeom prst="rect">
            <a:avLst/>
          </a:prstGeom>
          <a:noFill/>
          <a:ln/>
        </p:spPr>
        <p:txBody>
          <a:bodyPr wrap="square" lIns="0" tIns="0" rIns="0" bIns="0" rtlCol="0" anchor="t"/>
          <a:lstStyle/>
          <a:p>
            <a:pPr indent="0" marL="0">
              <a:buNone/>
            </a:pPr>
            <a:r>
              <a:rPr lang="en-US" sz="1300" b="1" dirty="0">
                <a:solidFill>
                  <a:srgbClr val="4A8FDB"/>
                </a:solidFill>
                <a:latin typeface="Montserrat" pitchFamily="34" charset="0"/>
                <a:ea typeface="Montserrat" pitchFamily="34" charset="-122"/>
                <a:cs typeface="Montserrat" pitchFamily="34" charset="-120"/>
              </a:rPr>
              <a:t>2025</a:t>
            </a:r>
            <a:endParaRPr lang="en-US" sz="1300" dirty="0"/>
          </a:p>
        </p:txBody>
      </p:sp>
      <p:sp>
        <p:nvSpPr>
          <p:cNvPr id="11" name="Text 8"/>
          <p:cNvSpPr txBox="1"/>
          <p:nvPr/>
        </p:nvSpPr>
        <p:spPr>
          <a:xfrm>
            <a:off x="777240" y="4297680"/>
            <a:ext cx="2926080" cy="822960"/>
          </a:xfrm>
          <a:prstGeom prst="rect">
            <a:avLst/>
          </a:prstGeom>
          <a:noFill/>
          <a:ln/>
        </p:spPr>
        <p:txBody>
          <a:bodyPr wrap="square" lIns="0" tIns="0" rIns="0" bIns="0" rtlCol="0" anchor="t"/>
          <a:lstStyle/>
          <a:p>
            <a:pPr indent="0" marL="0">
              <a:buNone/>
            </a:pPr>
            <a:r>
              <a:rPr lang="en-US" sz="4400" b="1" dirty="0">
                <a:solidFill>
                  <a:srgbClr val="FFFFFF"/>
                </a:solidFill>
                <a:latin typeface="Montserrat" pitchFamily="34" charset="0"/>
                <a:ea typeface="Montserrat" pitchFamily="34" charset="-122"/>
                <a:cs typeface="Montserrat" pitchFamily="34" charset="-120"/>
              </a:rPr>
              <a:t>IQ 136</a:t>
            </a:r>
            <a:endParaRPr lang="en-US" sz="4400" dirty="0"/>
          </a:p>
        </p:txBody>
      </p:sp>
      <p:sp>
        <p:nvSpPr>
          <p:cNvPr id="12" name="Text 9"/>
          <p:cNvSpPr txBox="1"/>
          <p:nvPr/>
        </p:nvSpPr>
        <p:spPr>
          <a:xfrm>
            <a:off x="777240" y="5166360"/>
            <a:ext cx="2926080"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Best model, Mensa Norway test</a:t>
            </a:r>
            <a:endParaRPr lang="en-US" sz="1200" dirty="0"/>
          </a:p>
        </p:txBody>
      </p:sp>
      <p:sp>
        <p:nvSpPr>
          <p:cNvPr id="13" name="Shape 10"/>
          <p:cNvSpPr/>
          <p:nvPr/>
        </p:nvSpPr>
        <p:spPr>
          <a:xfrm>
            <a:off x="4160520" y="1828800"/>
            <a:ext cx="7479792" cy="1828800"/>
          </a:xfrm>
          <a:prstGeom prst="roundRect">
            <a:avLst>
              <a:gd name="adj" fmla="val 4000"/>
            </a:avLst>
          </a:prstGeom>
          <a:solidFill>
            <a:srgbClr val="FFFFFF"/>
          </a:solidFill>
          <a:ln w="12700">
            <a:solidFill>
              <a:srgbClr val="C9D3E3"/>
            </a:solidFill>
            <a:prstDash val="solid"/>
          </a:ln>
        </p:spPr>
      </p:sp>
      <p:pic>
        <p:nvPicPr>
          <p:cNvPr id="14" name="Image 0" descr="/home/user/work/assets/iq2024.png">    </p:cNvPr>
          <p:cNvPicPr>
            <a:picLocks noChangeAspect="1"/>
          </p:cNvPicPr>
          <p:nvPr/>
        </p:nvPicPr>
        <p:blipFill>
          <a:blip r:embed="rId1"/>
          <a:stretch>
            <a:fillRect/>
          </a:stretch>
        </p:blipFill>
        <p:spPr>
          <a:xfrm>
            <a:off x="4343400" y="2057400"/>
            <a:ext cx="5897880" cy="1499616"/>
          </a:xfrm>
          <a:prstGeom prst="rect">
            <a:avLst/>
          </a:prstGeom>
        </p:spPr>
      </p:pic>
      <p:sp>
        <p:nvSpPr>
          <p:cNvPr id="15" name="Text 11"/>
          <p:cNvSpPr txBox="1"/>
          <p:nvPr/>
        </p:nvSpPr>
        <p:spPr>
          <a:xfrm>
            <a:off x="10332720" y="2011680"/>
            <a:ext cx="1188720" cy="365760"/>
          </a:xfrm>
          <a:prstGeom prst="rect">
            <a:avLst/>
          </a:prstGeom>
          <a:noFill/>
          <a:ln/>
        </p:spPr>
        <p:txBody>
          <a:bodyPr wrap="square" lIns="0" tIns="0" rIns="0" bIns="0" rtlCol="0" anchor="t"/>
          <a:lstStyle/>
          <a:p>
            <a:pPr algn="r" indent="0" marL="0">
              <a:buNone/>
            </a:pPr>
            <a:r>
              <a:rPr lang="en-US" sz="1600" b="1" dirty="0">
                <a:solidFill>
                  <a:srgbClr val="6A7FA8"/>
                </a:solidFill>
                <a:latin typeface="Montserrat" pitchFamily="34" charset="0"/>
                <a:ea typeface="Montserrat" pitchFamily="34" charset="-122"/>
                <a:cs typeface="Montserrat" pitchFamily="34" charset="-120"/>
              </a:rPr>
              <a:t>2024</a:t>
            </a:r>
            <a:endParaRPr lang="en-US" sz="1600" dirty="0"/>
          </a:p>
        </p:txBody>
      </p:sp>
      <p:sp>
        <p:nvSpPr>
          <p:cNvPr id="16" name="Shape 12"/>
          <p:cNvSpPr/>
          <p:nvPr/>
        </p:nvSpPr>
        <p:spPr>
          <a:xfrm>
            <a:off x="4160520" y="3840480"/>
            <a:ext cx="7479792" cy="1828800"/>
          </a:xfrm>
          <a:prstGeom prst="roundRect">
            <a:avLst>
              <a:gd name="adj" fmla="val 4000"/>
            </a:avLst>
          </a:prstGeom>
          <a:solidFill>
            <a:srgbClr val="FFFFFF"/>
          </a:solidFill>
          <a:ln w="12700">
            <a:solidFill>
              <a:srgbClr val="C9D3E3"/>
            </a:solidFill>
            <a:prstDash val="solid"/>
          </a:ln>
        </p:spPr>
      </p:sp>
      <p:pic>
        <p:nvPicPr>
          <p:cNvPr id="17" name="Image 1" descr="/home/user/work/assets/iq2025.png">    </p:cNvPr>
          <p:cNvPicPr>
            <a:picLocks noChangeAspect="1"/>
          </p:cNvPicPr>
          <p:nvPr/>
        </p:nvPicPr>
        <p:blipFill>
          <a:blip r:embed="rId2"/>
          <a:stretch>
            <a:fillRect/>
          </a:stretch>
        </p:blipFill>
        <p:spPr>
          <a:xfrm>
            <a:off x="4800600" y="3913632"/>
            <a:ext cx="4690872" cy="1700784"/>
          </a:xfrm>
          <a:prstGeom prst="rect">
            <a:avLst/>
          </a:prstGeom>
        </p:spPr>
      </p:pic>
      <p:sp>
        <p:nvSpPr>
          <p:cNvPr id="18" name="Text 13"/>
          <p:cNvSpPr txBox="1"/>
          <p:nvPr/>
        </p:nvSpPr>
        <p:spPr>
          <a:xfrm>
            <a:off x="10332720" y="4023360"/>
            <a:ext cx="1188720" cy="365760"/>
          </a:xfrm>
          <a:prstGeom prst="rect">
            <a:avLst/>
          </a:prstGeom>
          <a:noFill/>
          <a:ln/>
        </p:spPr>
        <p:txBody>
          <a:bodyPr wrap="square" lIns="0" tIns="0" rIns="0" bIns="0" rtlCol="0" anchor="t"/>
          <a:lstStyle/>
          <a:p>
            <a:pPr algn="r" indent="0" marL="0">
              <a:buNone/>
            </a:pPr>
            <a:r>
              <a:rPr lang="en-US" sz="1600" b="1" dirty="0">
                <a:solidFill>
                  <a:srgbClr val="2E6FBF"/>
                </a:solidFill>
                <a:latin typeface="Montserrat" pitchFamily="34" charset="0"/>
                <a:ea typeface="Montserrat" pitchFamily="34" charset="-122"/>
                <a:cs typeface="Montserrat" pitchFamily="34" charset="-120"/>
              </a:rPr>
              <a:t>2025</a:t>
            </a:r>
            <a:endParaRPr lang="en-US" sz="1600" dirty="0"/>
          </a:p>
        </p:txBody>
      </p:sp>
      <p:sp>
        <p:nvSpPr>
          <p:cNvPr id="19" name="Text 14"/>
          <p:cNvSpPr txBox="1"/>
          <p:nvPr/>
        </p:nvSpPr>
        <p:spPr>
          <a:xfrm>
            <a:off x="548640" y="5806440"/>
            <a:ext cx="109728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TrackingAI.org (MaximumTruth.org) — IQ scores, average of last 7 tests. Average human = 100.</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Why AI is (still) hardly replacing jobs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Capability is rising fast — but real work is messy</a:t>
            </a:r>
            <a:endParaRPr lang="en-US" sz="1300" dirty="0"/>
          </a:p>
        </p:txBody>
      </p:sp>
      <p:sp>
        <p:nvSpPr>
          <p:cNvPr id="5" name="Shape 2"/>
          <p:cNvSpPr/>
          <p:nvPr/>
        </p:nvSpPr>
        <p:spPr>
          <a:xfrm>
            <a:off x="548640" y="1874520"/>
            <a:ext cx="566928" cy="566928"/>
          </a:xfrm>
          <a:prstGeom prst="ellipse">
            <a:avLst/>
          </a:prstGeom>
          <a:solidFill>
            <a:srgbClr val="D9E8F8"/>
          </a:solidFill>
          <a:ln/>
        </p:spPr>
      </p:sp>
      <p:sp>
        <p:nvSpPr>
          <p:cNvPr id="6" name="Text 3"/>
          <p:cNvSpPr txBox="1"/>
          <p:nvPr/>
        </p:nvSpPr>
        <p:spPr>
          <a:xfrm>
            <a:off x="1325880" y="1874520"/>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So far, hardly any job losses from AI</a:t>
            </a:r>
            <a:endParaRPr lang="en-US" sz="1600" dirty="0"/>
          </a:p>
        </p:txBody>
      </p:sp>
      <p:sp>
        <p:nvSpPr>
          <p:cNvPr id="7" name="Shape 4"/>
          <p:cNvSpPr/>
          <p:nvPr/>
        </p:nvSpPr>
        <p:spPr>
          <a:xfrm>
            <a:off x="548640" y="2770632"/>
            <a:ext cx="566928" cy="566928"/>
          </a:xfrm>
          <a:prstGeom prst="ellipse">
            <a:avLst/>
          </a:prstGeom>
          <a:solidFill>
            <a:srgbClr val="D9E8F8"/>
          </a:solidFill>
          <a:ln/>
        </p:spPr>
      </p:sp>
      <p:sp>
        <p:nvSpPr>
          <p:cNvPr id="8" name="Text 5"/>
          <p:cNvSpPr txBox="1"/>
          <p:nvPr/>
        </p:nvSpPr>
        <p:spPr>
          <a:xfrm>
            <a:off x="1325880" y="2770632"/>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AI hits its limits in complex, dynamic workflows</a:t>
            </a:r>
            <a:endParaRPr lang="en-US" sz="1600" dirty="0"/>
          </a:p>
        </p:txBody>
      </p:sp>
      <p:sp>
        <p:nvSpPr>
          <p:cNvPr id="9" name="Shape 6"/>
          <p:cNvSpPr/>
          <p:nvPr/>
        </p:nvSpPr>
        <p:spPr>
          <a:xfrm>
            <a:off x="548640" y="3666744"/>
            <a:ext cx="566928" cy="566928"/>
          </a:xfrm>
          <a:prstGeom prst="ellipse">
            <a:avLst/>
          </a:prstGeom>
          <a:solidFill>
            <a:srgbClr val="D9E8F8"/>
          </a:solidFill>
          <a:ln/>
        </p:spPr>
      </p:sp>
      <p:sp>
        <p:nvSpPr>
          <p:cNvPr id="10" name="Text 7"/>
          <p:cNvSpPr txBox="1"/>
          <p:nvPr/>
        </p:nvSpPr>
        <p:spPr>
          <a:xfrm>
            <a:off x="1325880" y="3666744"/>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Office and routine work stable so far — despite automation risk</a:t>
            </a:r>
            <a:endParaRPr lang="en-US" sz="1600" dirty="0"/>
          </a:p>
        </p:txBody>
      </p:sp>
      <p:sp>
        <p:nvSpPr>
          <p:cNvPr id="11" name="Shape 8"/>
          <p:cNvSpPr/>
          <p:nvPr/>
        </p:nvSpPr>
        <p:spPr>
          <a:xfrm>
            <a:off x="548640" y="4562856"/>
            <a:ext cx="566928" cy="566928"/>
          </a:xfrm>
          <a:prstGeom prst="ellipse">
            <a:avLst/>
          </a:prstGeom>
          <a:solidFill>
            <a:srgbClr val="D9E8F8"/>
          </a:solidFill>
          <a:ln/>
        </p:spPr>
      </p:sp>
      <p:sp>
        <p:nvSpPr>
          <p:cNvPr id="12" name="Text 9"/>
          <p:cNvSpPr txBox="1"/>
          <p:nvPr/>
        </p:nvSpPr>
        <p:spPr>
          <a:xfrm>
            <a:off x="1325880" y="4562856"/>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Demand for AI skills is growing sharply</a:t>
            </a:r>
            <a:endParaRPr lang="en-US" sz="1600" dirty="0"/>
          </a:p>
        </p:txBody>
      </p:sp>
      <p:sp>
        <p:nvSpPr>
          <p:cNvPr id="13" name="Shape 10"/>
          <p:cNvSpPr/>
          <p:nvPr/>
        </p:nvSpPr>
        <p:spPr>
          <a:xfrm>
            <a:off x="548640" y="5486400"/>
            <a:ext cx="5897880" cy="566928"/>
          </a:xfrm>
          <a:prstGeom prst="roundRect">
            <a:avLst>
              <a:gd name="adj" fmla="val 12903"/>
            </a:avLst>
          </a:prstGeom>
          <a:solidFill>
            <a:srgbClr val="F3F7FC"/>
          </a:solidFill>
          <a:ln/>
        </p:spPr>
      </p:sp>
      <p:sp>
        <p:nvSpPr>
          <p:cNvPr id="14" name="Text 11"/>
          <p:cNvSpPr txBox="1"/>
          <p:nvPr/>
        </p:nvSpPr>
        <p:spPr>
          <a:xfrm>
            <a:off x="731520" y="5486400"/>
            <a:ext cx="5577840" cy="566928"/>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For you: </a:t>
            </a:r>
            <a:pPr indent="0" marL="0">
              <a:buNone/>
            </a:pPr>
            <a:r>
              <a:rPr lang="en-US" sz="1200" dirty="0">
                <a:solidFill>
                  <a:srgbClr val="0F1341"/>
                </a:solidFill>
                <a:latin typeface="Montserrat" pitchFamily="34" charset="0"/>
                <a:ea typeface="Montserrat" pitchFamily="34" charset="-122"/>
                <a:cs typeface="Montserrat" pitchFamily="34" charset="-120"/>
              </a:rPr>
              <a:t>AI takes the clean tasks. Building a company is messy work — that is where you add value.</a:t>
            </a:r>
            <a:endParaRPr lang="en-US" sz="1200" dirty="0"/>
          </a:p>
        </p:txBody>
      </p:sp>
      <p:sp>
        <p:nvSpPr>
          <p:cNvPr id="15" name="Shape 12"/>
          <p:cNvSpPr/>
          <p:nvPr/>
        </p:nvSpPr>
        <p:spPr>
          <a:xfrm>
            <a:off x="6766560" y="1737360"/>
            <a:ext cx="4873752" cy="4526280"/>
          </a:xfrm>
          <a:prstGeom prst="roundRect">
            <a:avLst>
              <a:gd name="adj" fmla="val 1616"/>
            </a:avLst>
          </a:prstGeom>
          <a:solidFill>
            <a:srgbClr val="0F1341"/>
          </a:solidFill>
          <a:ln/>
        </p:spPr>
      </p:sp>
      <p:sp>
        <p:nvSpPr>
          <p:cNvPr id="16" name="Text 13"/>
          <p:cNvSpPr txBox="1"/>
          <p:nvPr/>
        </p:nvSpPr>
        <p:spPr>
          <a:xfrm>
            <a:off x="6995160" y="1874520"/>
            <a:ext cx="4480560" cy="54864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AI's ability to automate jobs is constrained by task “messiness”</a:t>
            </a:r>
            <a:endParaRPr lang="en-US" sz="1300" dirty="0"/>
          </a:p>
        </p:txBody>
      </p:sp>
      <p:sp>
        <p:nvSpPr>
          <p:cNvPr id="17" name="Text 14"/>
          <p:cNvSpPr txBox="1"/>
          <p:nvPr/>
        </p:nvSpPr>
        <p:spPr>
          <a:xfrm>
            <a:off x="6995160" y="2423160"/>
            <a:ext cx="4480560" cy="274320"/>
          </a:xfrm>
          <a:prstGeom prst="rect">
            <a:avLst/>
          </a:prstGeom>
          <a:noFill/>
          <a:ln/>
        </p:spPr>
        <p:txBody>
          <a:bodyPr wrap="square" lIns="0" tIns="0" rIns="0" bIns="0" rtlCol="0" anchor="t"/>
          <a:lstStyle/>
          <a:p>
            <a:pPr indent="0" marL="0">
              <a:buNone/>
            </a:pPr>
            <a:r>
              <a:rPr lang="en-US" sz="1000" dirty="0">
                <a:solidFill>
                  <a:srgbClr val="C9D3E3"/>
                </a:solidFill>
                <a:latin typeface="Montserrat" pitchFamily="34" charset="0"/>
                <a:ea typeface="Montserrat" pitchFamily="34" charset="-122"/>
                <a:cs typeface="Montserrat" pitchFamily="34" charset="-120"/>
              </a:rPr>
              <a:t>AI task success rate by messiness of the task (%)</a:t>
            </a:r>
            <a:endParaRPr lang="en-US" sz="1000" dirty="0"/>
          </a:p>
        </p:txBody>
      </p:sp>
      <p:graphicFrame>
        <p:nvGraphicFramePr>
          <p:cNvPr id="18" name="Chart 0" descr=""/>
          <p:cNvGraphicFramePr/>
          <p:nvPr/>
        </p:nvGraphicFramePr>
        <p:xfrm>
          <a:off x="6858000" y="2697480"/>
          <a:ext cx="4663440" cy="3063240"/>
        </p:xfrm>
        <a:graphic xmlns:a="http://schemas.openxmlformats.org/drawingml/2006/main">
          <a:graphicData uri="http://schemas.openxmlformats.org/drawingml/2006/chart">
            <c:chart xmlns:c="http://schemas.openxmlformats.org/drawingml/2006/chart" r:id="rId1"/>
          </a:graphicData>
        </a:graphic>
      </p:graphicFrame>
      <p:sp>
        <p:nvSpPr>
          <p:cNvPr id="19" name="Text 15"/>
          <p:cNvSpPr txBox="1"/>
          <p:nvPr/>
        </p:nvSpPr>
        <p:spPr>
          <a:xfrm>
            <a:off x="6995160" y="5760720"/>
            <a:ext cx="4480560" cy="411480"/>
          </a:xfrm>
          <a:prstGeom prst="rect">
            <a:avLst/>
          </a:prstGeom>
          <a:noFill/>
          <a:ln/>
        </p:spPr>
        <p:txBody>
          <a:bodyPr wrap="square" lIns="0" tIns="0" rIns="0" bIns="0" rtlCol="0" anchor="t"/>
          <a:lstStyle/>
          <a:p>
            <a:pPr indent="0" marL="0">
              <a:buNone/>
            </a:pPr>
            <a:r>
              <a:rPr lang="en-US" sz="900" i="1" dirty="0">
                <a:solidFill>
                  <a:srgbClr val="C9D3E3"/>
                </a:solidFill>
                <a:latin typeface="Montserrat" pitchFamily="34" charset="0"/>
                <a:ea typeface="Montserrat" pitchFamily="34" charset="-122"/>
                <a:cs typeface="Montserrat" pitchFamily="34" charset="-120"/>
              </a:rPr>
              <a:t>Tasks taking a human professional ≤ 1 hour. Source: METR / Measuring AI Ability (values read from published chart).</a:t>
            </a:r>
            <a:endParaRPr lang="en-US" sz="900" dirty="0"/>
          </a:p>
        </p:txBody>
      </p:sp>
      <p:pic>
        <p:nvPicPr>
          <p:cNvPr id="20" name="Image 0" descr="preencoded.png">    </p:cNvPr>
          <p:cNvPicPr>
            <a:picLocks noChangeAspect="1"/>
          </p:cNvPicPr>
          <p:nvPr/>
        </p:nvPicPr>
        <p:blipFill>
          <a:blip r:embed="rId2"/>
          <a:stretch>
            <a:fillRect/>
          </a:stretch>
        </p:blipFill>
        <p:spPr>
          <a:xfrm>
            <a:off x="676656" y="2002536"/>
            <a:ext cx="310896" cy="310896"/>
          </a:xfrm>
          <a:prstGeom prst="rect">
            <a:avLst/>
          </a:prstGeom>
        </p:spPr>
      </p:pic>
      <p:pic>
        <p:nvPicPr>
          <p:cNvPr id="21" name="Image 1" descr="preencoded.png">    </p:cNvPr>
          <p:cNvPicPr>
            <a:picLocks noChangeAspect="1"/>
          </p:cNvPicPr>
          <p:nvPr/>
        </p:nvPicPr>
        <p:blipFill>
          <a:blip r:embed="rId3"/>
          <a:stretch>
            <a:fillRect/>
          </a:stretch>
        </p:blipFill>
        <p:spPr>
          <a:xfrm>
            <a:off x="676656" y="2898648"/>
            <a:ext cx="310896" cy="310896"/>
          </a:xfrm>
          <a:prstGeom prst="rect">
            <a:avLst/>
          </a:prstGeom>
        </p:spPr>
      </p:pic>
      <p:pic>
        <p:nvPicPr>
          <p:cNvPr id="22" name="Image 2" descr="preencoded.png">    </p:cNvPr>
          <p:cNvPicPr>
            <a:picLocks noChangeAspect="1"/>
          </p:cNvPicPr>
          <p:nvPr/>
        </p:nvPicPr>
        <p:blipFill>
          <a:blip r:embed="rId4"/>
          <a:stretch>
            <a:fillRect/>
          </a:stretch>
        </p:blipFill>
        <p:spPr>
          <a:xfrm>
            <a:off x="676656" y="3794760"/>
            <a:ext cx="310896" cy="310896"/>
          </a:xfrm>
          <a:prstGeom prst="rect">
            <a:avLst/>
          </a:prstGeom>
        </p:spPr>
      </p:pic>
      <p:pic>
        <p:nvPicPr>
          <p:cNvPr id="23" name="Image 3" descr="preencoded.png">    </p:cNvPr>
          <p:cNvPicPr>
            <a:picLocks noChangeAspect="1"/>
          </p:cNvPicPr>
          <p:nvPr/>
        </p:nvPicPr>
        <p:blipFill>
          <a:blip r:embed="rId5"/>
          <a:stretch>
            <a:fillRect/>
          </a:stretch>
        </p:blipFill>
        <p:spPr>
          <a:xfrm>
            <a:off x="676656" y="4690872"/>
            <a:ext cx="310896" cy="310896"/>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Core skills in 2030</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Share of employers calling a skill core today (x) vs expecting it to grow by 2030 (y)</a:t>
            </a:r>
            <a:endParaRPr lang="en-US" sz="1300" dirty="0"/>
          </a:p>
        </p:txBody>
      </p:sp>
      <p:sp>
        <p:nvSpPr>
          <p:cNvPr id="5" name="Shape 2"/>
          <p:cNvSpPr/>
          <p:nvPr/>
        </p:nvSpPr>
        <p:spPr>
          <a:xfrm>
            <a:off x="548640" y="1719072"/>
            <a:ext cx="5897880" cy="4315968"/>
          </a:xfrm>
          <a:prstGeom prst="roundRect">
            <a:avLst>
              <a:gd name="adj" fmla="val 1695"/>
            </a:avLst>
          </a:prstGeom>
          <a:solidFill>
            <a:srgbClr val="FFFFFF"/>
          </a:solidFill>
          <a:ln w="12700">
            <a:solidFill>
              <a:srgbClr val="C9D3E3"/>
            </a:solidFill>
            <a:prstDash val="solid"/>
          </a:ln>
        </p:spPr>
      </p:sp>
      <p:pic>
        <p:nvPicPr>
          <p:cNvPr id="6" name="Image 0" descr="/home/user/work/assets/wef.png">    </p:cNvPr>
          <p:cNvPicPr>
            <a:picLocks noChangeAspect="1"/>
          </p:cNvPicPr>
          <p:nvPr/>
        </p:nvPicPr>
        <p:blipFill>
          <a:blip r:embed="rId1"/>
          <a:stretch>
            <a:fillRect/>
          </a:stretch>
        </p:blipFill>
        <p:spPr>
          <a:xfrm>
            <a:off x="640080" y="1783080"/>
            <a:ext cx="5715000" cy="4187952"/>
          </a:xfrm>
          <a:prstGeom prst="rect">
            <a:avLst/>
          </a:prstGeom>
        </p:spPr>
      </p:pic>
      <p:sp>
        <p:nvSpPr>
          <p:cNvPr id="7" name="Shape 3"/>
          <p:cNvSpPr/>
          <p:nvPr/>
        </p:nvSpPr>
        <p:spPr>
          <a:xfrm>
            <a:off x="6812280" y="1783080"/>
            <a:ext cx="384048" cy="384048"/>
          </a:xfrm>
          <a:prstGeom prst="ellipse">
            <a:avLst/>
          </a:prstGeom>
          <a:solidFill>
            <a:srgbClr val="2E6FBF"/>
          </a:solidFill>
          <a:ln/>
        </p:spPr>
      </p:sp>
      <p:sp>
        <p:nvSpPr>
          <p:cNvPr id="8" name="Text 4"/>
          <p:cNvSpPr txBox="1"/>
          <p:nvPr/>
        </p:nvSpPr>
        <p:spPr>
          <a:xfrm>
            <a:off x="6812280" y="17830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9" name="Text 5"/>
          <p:cNvSpPr txBox="1"/>
          <p:nvPr/>
        </p:nvSpPr>
        <p:spPr>
          <a:xfrm>
            <a:off x="7360920" y="1737360"/>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AI and big data</a:t>
            </a:r>
            <a:endParaRPr lang="en-US" sz="1400" dirty="0"/>
          </a:p>
        </p:txBody>
      </p:sp>
      <p:sp>
        <p:nvSpPr>
          <p:cNvPr id="10" name="Text 6"/>
          <p:cNvSpPr txBox="1"/>
          <p:nvPr/>
        </p:nvSpPr>
        <p:spPr>
          <a:xfrm>
            <a:off x="7360920" y="2084832"/>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the fastest-growing skill of all — almost 9 in 10 employers expect it to grow</a:t>
            </a:r>
            <a:endParaRPr lang="en-US" sz="1200" dirty="0"/>
          </a:p>
        </p:txBody>
      </p:sp>
      <p:sp>
        <p:nvSpPr>
          <p:cNvPr id="11" name="Shape 7"/>
          <p:cNvSpPr/>
          <p:nvPr/>
        </p:nvSpPr>
        <p:spPr>
          <a:xfrm>
            <a:off x="6812280" y="2807208"/>
            <a:ext cx="384048" cy="384048"/>
          </a:xfrm>
          <a:prstGeom prst="ellipse">
            <a:avLst/>
          </a:prstGeom>
          <a:solidFill>
            <a:srgbClr val="2E6FBF"/>
          </a:solidFill>
          <a:ln/>
        </p:spPr>
      </p:sp>
      <p:sp>
        <p:nvSpPr>
          <p:cNvPr id="12" name="Text 8"/>
          <p:cNvSpPr txBox="1"/>
          <p:nvPr/>
        </p:nvSpPr>
        <p:spPr>
          <a:xfrm>
            <a:off x="6812280" y="28072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3" name="Text 9"/>
          <p:cNvSpPr txBox="1"/>
          <p:nvPr/>
        </p:nvSpPr>
        <p:spPr>
          <a:xfrm>
            <a:off x="7360920" y="2761488"/>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Thinking skills stay core</a:t>
            </a:r>
            <a:endParaRPr lang="en-US" sz="1400" dirty="0"/>
          </a:p>
        </p:txBody>
      </p:sp>
      <p:sp>
        <p:nvSpPr>
          <p:cNvPr id="14" name="Text 10"/>
          <p:cNvSpPr txBox="1"/>
          <p:nvPr/>
        </p:nvSpPr>
        <p:spPr>
          <a:xfrm>
            <a:off x="7360920" y="3108960"/>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analytical thinking, creative thinking, systems thinking</a:t>
            </a:r>
            <a:endParaRPr lang="en-US" sz="1200" dirty="0"/>
          </a:p>
        </p:txBody>
      </p:sp>
      <p:sp>
        <p:nvSpPr>
          <p:cNvPr id="15" name="Shape 11"/>
          <p:cNvSpPr/>
          <p:nvPr/>
        </p:nvSpPr>
        <p:spPr>
          <a:xfrm>
            <a:off x="6812280" y="3831336"/>
            <a:ext cx="384048" cy="384048"/>
          </a:xfrm>
          <a:prstGeom prst="ellipse">
            <a:avLst/>
          </a:prstGeom>
          <a:solidFill>
            <a:srgbClr val="2E6FBF"/>
          </a:solidFill>
          <a:ln/>
        </p:spPr>
      </p:sp>
      <p:sp>
        <p:nvSpPr>
          <p:cNvPr id="16" name="Text 12"/>
          <p:cNvSpPr txBox="1"/>
          <p:nvPr/>
        </p:nvSpPr>
        <p:spPr>
          <a:xfrm>
            <a:off x="6812280" y="38313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7" name="Text 13"/>
          <p:cNvSpPr txBox="1"/>
          <p:nvPr/>
        </p:nvSpPr>
        <p:spPr>
          <a:xfrm>
            <a:off x="7360920" y="3785616"/>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Human skills rise with AI</a:t>
            </a:r>
            <a:endParaRPr lang="en-US" sz="1400" dirty="0"/>
          </a:p>
        </p:txBody>
      </p:sp>
      <p:sp>
        <p:nvSpPr>
          <p:cNvPr id="18" name="Text 14"/>
          <p:cNvSpPr txBox="1"/>
          <p:nvPr/>
        </p:nvSpPr>
        <p:spPr>
          <a:xfrm>
            <a:off x="7360920" y="4133088"/>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resilience, curiosity and lifelong learning, leadership</a:t>
            </a:r>
            <a:endParaRPr lang="en-US" sz="1200" dirty="0"/>
          </a:p>
        </p:txBody>
      </p:sp>
      <p:sp>
        <p:nvSpPr>
          <p:cNvPr id="19" name="Shape 15"/>
          <p:cNvSpPr/>
          <p:nvPr/>
        </p:nvSpPr>
        <p:spPr>
          <a:xfrm>
            <a:off x="6812280" y="4846320"/>
            <a:ext cx="4828032" cy="1188720"/>
          </a:xfrm>
          <a:prstGeom prst="roundRect">
            <a:avLst>
              <a:gd name="adj" fmla="val 6154"/>
            </a:avLst>
          </a:prstGeom>
          <a:solidFill>
            <a:srgbClr val="0F1341"/>
          </a:solidFill>
          <a:ln/>
        </p:spPr>
      </p:sp>
      <p:sp>
        <p:nvSpPr>
          <p:cNvPr id="20" name="Text 16"/>
          <p:cNvSpPr txBox="1"/>
          <p:nvPr/>
        </p:nvSpPr>
        <p:spPr>
          <a:xfrm>
            <a:off x="7040880" y="4846320"/>
            <a:ext cx="4434840" cy="1188720"/>
          </a:xfrm>
          <a:prstGeom prst="rect">
            <a:avLst/>
          </a:prstGeom>
          <a:noFill/>
          <a:ln/>
        </p:spPr>
        <p:txBody>
          <a:bodyPr wrap="square" lIns="0" tIns="0" rIns="0" bIns="0" rtlCol="0" anchor="ctr"/>
          <a:lstStyle/>
          <a:p>
            <a:pPr indent="0" marL="0">
              <a:buNone/>
            </a:pPr>
            <a:r>
              <a:rPr lang="en-US" sz="1300" dirty="0">
                <a:solidFill>
                  <a:srgbClr val="FFFFFF"/>
                </a:solidFill>
                <a:latin typeface="Montserrat" pitchFamily="34" charset="0"/>
                <a:ea typeface="Montserrat" pitchFamily="34" charset="-122"/>
                <a:cs typeface="Montserrat" pitchFamily="34" charset="-120"/>
              </a:rPr>
              <a:t>The founder profile of 2030: AI-literate, analytical, creative — and curious enough to test.</a:t>
            </a:r>
            <a:endParaRPr lang="en-US" sz="1300" dirty="0"/>
          </a:p>
        </p:txBody>
      </p:sp>
      <p:sp>
        <p:nvSpPr>
          <p:cNvPr id="21" name="Text 17"/>
          <p:cNvSpPr txBox="1"/>
          <p:nvPr/>
        </p:nvSpPr>
        <p:spPr>
          <a:xfrm>
            <a:off x="1920240" y="6080760"/>
            <a:ext cx="54864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World Economic Forum, Future of Jobs Report 2025, Figure 3.6.</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“Augmented Intelligence”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Not human or machine — the value sits in the overlap</a:t>
            </a:r>
            <a:endParaRPr lang="en-US" sz="1300" dirty="0"/>
          </a:p>
        </p:txBody>
      </p:sp>
      <p:sp>
        <p:nvSpPr>
          <p:cNvPr id="5" name="Shape 2"/>
          <p:cNvSpPr/>
          <p:nvPr/>
        </p:nvSpPr>
        <p:spPr>
          <a:xfrm>
            <a:off x="822960" y="1783080"/>
            <a:ext cx="4572000" cy="4343400"/>
          </a:xfrm>
          <a:prstGeom prst="ellipse">
            <a:avLst/>
          </a:prstGeom>
          <a:solidFill>
            <a:srgbClr val="D9E8F8">
              <a:alpha val="85000"/>
            </a:srgbClr>
          </a:solidFill>
          <a:ln w="38100">
            <a:solidFill>
              <a:srgbClr val="4A8FDB"/>
            </a:solidFill>
            <a:prstDash val="solid"/>
          </a:ln>
        </p:spPr>
      </p:sp>
      <p:sp>
        <p:nvSpPr>
          <p:cNvPr id="6" name="Shape 3"/>
          <p:cNvSpPr/>
          <p:nvPr/>
        </p:nvSpPr>
        <p:spPr>
          <a:xfrm>
            <a:off x="3566160" y="1783080"/>
            <a:ext cx="4572000" cy="4343400"/>
          </a:xfrm>
          <a:prstGeom prst="ellipse">
            <a:avLst/>
          </a:prstGeom>
          <a:solidFill>
            <a:srgbClr val="6A7FA8">
              <a:alpha val="55000"/>
            </a:srgbClr>
          </a:solidFill>
          <a:ln w="38100">
            <a:solidFill>
              <a:srgbClr val="0F1341"/>
            </a:solidFill>
            <a:prstDash val="solid"/>
          </a:ln>
        </p:spPr>
      </p:sp>
      <p:sp>
        <p:nvSpPr>
          <p:cNvPr id="7" name="Text 4"/>
          <p:cNvSpPr txBox="1"/>
          <p:nvPr/>
        </p:nvSpPr>
        <p:spPr>
          <a:xfrm>
            <a:off x="1097280" y="3520440"/>
            <a:ext cx="2377440" cy="822960"/>
          </a:xfrm>
          <a:prstGeom prst="rect">
            <a:avLst/>
          </a:prstGeom>
          <a:noFill/>
          <a:ln/>
        </p:spPr>
        <p:txBody>
          <a:bodyPr wrap="square" lIns="0" tIns="0" rIns="0" bIns="0" rtlCol="0" anchor="ctr"/>
          <a:lstStyle/>
          <a:p>
            <a:pPr algn="ctr" indent="0" marL="0">
              <a:buNone/>
            </a:pPr>
            <a:r>
              <a:rPr lang="en-US" sz="1800" b="1" dirty="0">
                <a:solidFill>
                  <a:srgbClr val="2E6FBF"/>
                </a:solidFill>
                <a:latin typeface="Montserrat" pitchFamily="34" charset="0"/>
                <a:ea typeface="Montserrat" pitchFamily="34" charset="-122"/>
                <a:cs typeface="Montserrat" pitchFamily="34" charset="-120"/>
              </a:rPr>
              <a:t>Human</a:t>
            </a:r>
            <a:endParaRPr lang="en-US" sz="1800" dirty="0"/>
          </a:p>
          <a:p>
            <a:pPr algn="ctr" indent="0" marL="0">
              <a:buNone/>
            </a:pPr>
            <a:r>
              <a:rPr lang="en-US" sz="1800" b="1" dirty="0">
                <a:solidFill>
                  <a:srgbClr val="2E6FBF"/>
                </a:solidFill>
                <a:latin typeface="Montserrat" pitchFamily="34" charset="0"/>
                <a:ea typeface="Montserrat" pitchFamily="34" charset="-122"/>
                <a:cs typeface="Montserrat" pitchFamily="34" charset="-120"/>
              </a:rPr>
              <a:t>Intelligence</a:t>
            </a:r>
            <a:endParaRPr lang="en-US" sz="1800" dirty="0"/>
          </a:p>
        </p:txBody>
      </p:sp>
      <p:sp>
        <p:nvSpPr>
          <p:cNvPr id="8" name="Text 5"/>
          <p:cNvSpPr txBox="1"/>
          <p:nvPr/>
        </p:nvSpPr>
        <p:spPr>
          <a:xfrm>
            <a:off x="3611880" y="3520440"/>
            <a:ext cx="17373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Augmented</a:t>
            </a:r>
            <a:endParaRPr lang="en-US" sz="1600" dirty="0"/>
          </a:p>
          <a:p>
            <a:pPr algn="ctr" indent="0" marL="0">
              <a:buNone/>
            </a:pPr>
            <a:r>
              <a:rPr lang="en-US" sz="1600" b="1" dirty="0">
                <a:solidFill>
                  <a:srgbClr val="FFFFFF"/>
                </a:solidFill>
                <a:latin typeface="Montserrat" pitchFamily="34" charset="0"/>
                <a:ea typeface="Montserrat" pitchFamily="34" charset="-122"/>
                <a:cs typeface="Montserrat" pitchFamily="34" charset="-120"/>
              </a:rPr>
              <a:t>Intelligence</a:t>
            </a:r>
            <a:endParaRPr lang="en-US" sz="1600" dirty="0"/>
          </a:p>
        </p:txBody>
      </p:sp>
      <p:sp>
        <p:nvSpPr>
          <p:cNvPr id="9" name="Text 6"/>
          <p:cNvSpPr txBox="1"/>
          <p:nvPr/>
        </p:nvSpPr>
        <p:spPr>
          <a:xfrm>
            <a:off x="5486400" y="3520440"/>
            <a:ext cx="2377440" cy="822960"/>
          </a:xfrm>
          <a:prstGeom prst="rect">
            <a:avLst/>
          </a:prstGeom>
          <a:noFill/>
          <a:ln/>
        </p:spPr>
        <p:txBody>
          <a:bodyPr wrap="square" lIns="0" tIns="0" rIns="0" bIns="0" rtlCol="0" anchor="ctr"/>
          <a:lstStyle/>
          <a:p>
            <a:pPr algn="ctr" indent="0" marL="0">
              <a:buNone/>
            </a:pPr>
            <a:r>
              <a:rPr lang="en-US" sz="1800" b="1" dirty="0">
                <a:solidFill>
                  <a:srgbClr val="0F1341"/>
                </a:solidFill>
                <a:latin typeface="Montserrat" pitchFamily="34" charset="0"/>
                <a:ea typeface="Montserrat" pitchFamily="34" charset="-122"/>
                <a:cs typeface="Montserrat" pitchFamily="34" charset="-120"/>
              </a:rPr>
              <a:t>Artificial</a:t>
            </a:r>
            <a:endParaRPr lang="en-US" sz="1800" dirty="0"/>
          </a:p>
          <a:p>
            <a:pPr algn="ctr" indent="0" marL="0">
              <a:buNone/>
            </a:pPr>
            <a:r>
              <a:rPr lang="en-US" sz="1800" b="1" dirty="0">
                <a:solidFill>
                  <a:srgbClr val="0F1341"/>
                </a:solidFill>
                <a:latin typeface="Montserrat" pitchFamily="34" charset="0"/>
                <a:ea typeface="Montserrat" pitchFamily="34" charset="-122"/>
                <a:cs typeface="Montserrat" pitchFamily="34" charset="-120"/>
              </a:rPr>
              <a:t>Intelligence</a:t>
            </a:r>
            <a:endParaRPr lang="en-US" sz="1800" dirty="0"/>
          </a:p>
        </p:txBody>
      </p:sp>
      <p:sp>
        <p:nvSpPr>
          <p:cNvPr id="10" name="Shape 7"/>
          <p:cNvSpPr/>
          <p:nvPr/>
        </p:nvSpPr>
        <p:spPr>
          <a:xfrm>
            <a:off x="8595360" y="1874520"/>
            <a:ext cx="1280160" cy="274320"/>
          </a:xfrm>
          <a:prstGeom prst="roundRect">
            <a:avLst>
              <a:gd name="adj" fmla="val 26667"/>
            </a:avLst>
          </a:prstGeom>
          <a:solidFill>
            <a:srgbClr val="2E6FBF"/>
          </a:solidFill>
          <a:ln/>
        </p:spPr>
      </p:sp>
      <p:sp>
        <p:nvSpPr>
          <p:cNvPr id="11" name="Text 8"/>
          <p:cNvSpPr txBox="1"/>
          <p:nvPr/>
        </p:nvSpPr>
        <p:spPr>
          <a:xfrm>
            <a:off x="8595360" y="1874520"/>
            <a:ext cx="12801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HUMAN</a:t>
            </a:r>
            <a:endParaRPr lang="en-US" sz="900" dirty="0"/>
          </a:p>
        </p:txBody>
      </p:sp>
      <p:sp>
        <p:nvSpPr>
          <p:cNvPr id="12" name="Text 9"/>
          <p:cNvSpPr txBox="1"/>
          <p:nvPr/>
        </p:nvSpPr>
        <p:spPr>
          <a:xfrm>
            <a:off x="8595360" y="22585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Judgement, context, trust, responsibility</a:t>
            </a:r>
            <a:endParaRPr lang="en-US" sz="1300" dirty="0"/>
          </a:p>
        </p:txBody>
      </p:sp>
      <p:sp>
        <p:nvSpPr>
          <p:cNvPr id="13" name="Shape 10"/>
          <p:cNvSpPr/>
          <p:nvPr/>
        </p:nvSpPr>
        <p:spPr>
          <a:xfrm>
            <a:off x="8595360" y="3246120"/>
            <a:ext cx="1280160" cy="274320"/>
          </a:xfrm>
          <a:prstGeom prst="roundRect">
            <a:avLst>
              <a:gd name="adj" fmla="val 26667"/>
            </a:avLst>
          </a:prstGeom>
          <a:solidFill>
            <a:srgbClr val="0F1341"/>
          </a:solidFill>
          <a:ln/>
        </p:spPr>
      </p:sp>
      <p:sp>
        <p:nvSpPr>
          <p:cNvPr id="14" name="Text 11"/>
          <p:cNvSpPr txBox="1"/>
          <p:nvPr/>
        </p:nvSpPr>
        <p:spPr>
          <a:xfrm>
            <a:off x="8595360" y="3246120"/>
            <a:ext cx="12801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AI</a:t>
            </a:r>
            <a:endParaRPr lang="en-US" sz="900" dirty="0"/>
          </a:p>
        </p:txBody>
      </p:sp>
      <p:sp>
        <p:nvSpPr>
          <p:cNvPr id="15" name="Text 12"/>
          <p:cNvSpPr txBox="1"/>
          <p:nvPr/>
        </p:nvSpPr>
        <p:spPr>
          <a:xfrm>
            <a:off x="8595360" y="36301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Speed, scale, pattern recognition, tireless testing</a:t>
            </a:r>
            <a:endParaRPr lang="en-US" sz="1300" dirty="0"/>
          </a:p>
        </p:txBody>
      </p:sp>
      <p:sp>
        <p:nvSpPr>
          <p:cNvPr id="16" name="Shape 13"/>
          <p:cNvSpPr/>
          <p:nvPr/>
        </p:nvSpPr>
        <p:spPr>
          <a:xfrm>
            <a:off x="8595360" y="4617720"/>
            <a:ext cx="3044952" cy="274320"/>
          </a:xfrm>
          <a:prstGeom prst="roundRect">
            <a:avLst>
              <a:gd name="adj" fmla="val 26667"/>
            </a:avLst>
          </a:prstGeom>
          <a:solidFill>
            <a:srgbClr val="6A7FA8"/>
          </a:solidFill>
          <a:ln/>
        </p:spPr>
      </p:sp>
      <p:sp>
        <p:nvSpPr>
          <p:cNvPr id="17" name="Text 14"/>
          <p:cNvSpPr txBox="1"/>
          <p:nvPr/>
        </p:nvSpPr>
        <p:spPr>
          <a:xfrm>
            <a:off x="8595360" y="4617720"/>
            <a:ext cx="3044952"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AUGMENTED — FOUNDERS</a:t>
            </a:r>
            <a:endParaRPr lang="en-US" sz="900" dirty="0"/>
          </a:p>
        </p:txBody>
      </p:sp>
      <p:sp>
        <p:nvSpPr>
          <p:cNvPr id="18" name="Text 15"/>
          <p:cNvSpPr txBox="1"/>
          <p:nvPr/>
        </p:nvSpPr>
        <p:spPr>
          <a:xfrm>
            <a:off x="8595360" y="50017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A founder who lets AI research, build and test — and keeps judgement on what is worth building.</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2015 vs. 2026: what it takes to launch</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Same idea, same goal — first real customer signal</a:t>
            </a:r>
            <a:endParaRPr lang="en-US" sz="1300" dirty="0"/>
          </a:p>
        </p:txBody>
      </p:sp>
      <p:sp>
        <p:nvSpPr>
          <p:cNvPr id="5" name="Shape 2"/>
          <p:cNvSpPr/>
          <p:nvPr/>
        </p:nvSpPr>
        <p:spPr>
          <a:xfrm>
            <a:off x="548640" y="1783080"/>
            <a:ext cx="1463040" cy="274320"/>
          </a:xfrm>
          <a:prstGeom prst="roundRect">
            <a:avLst>
              <a:gd name="adj" fmla="val 26667"/>
            </a:avLst>
          </a:prstGeom>
          <a:solidFill>
            <a:srgbClr val="C9D3E3"/>
          </a:solidFill>
          <a:ln/>
        </p:spPr>
      </p:sp>
      <p:sp>
        <p:nvSpPr>
          <p:cNvPr id="6" name="Text 3"/>
          <p:cNvSpPr txBox="1"/>
          <p:nvPr/>
        </p:nvSpPr>
        <p:spPr>
          <a:xfrm>
            <a:off x="548640" y="1783080"/>
            <a:ext cx="146304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ILLUSTRATIVE</a:t>
            </a:r>
            <a:endParaRPr lang="en-US" sz="900" dirty="0"/>
          </a:p>
        </p:txBody>
      </p:sp>
      <p:sp>
        <p:nvSpPr>
          <p:cNvPr id="7" name="Text 4"/>
          <p:cNvSpPr txBox="1"/>
          <p:nvPr/>
        </p:nvSpPr>
        <p:spPr>
          <a:xfrm>
            <a:off x="548640" y="2286000"/>
            <a:ext cx="1371600" cy="731520"/>
          </a:xfrm>
          <a:prstGeom prst="rect">
            <a:avLst/>
          </a:prstGeom>
          <a:noFill/>
          <a:ln/>
        </p:spPr>
        <p:txBody>
          <a:bodyPr wrap="square" lIns="0" tIns="0" rIns="0" bIns="0" rtlCol="0" anchor="ctr"/>
          <a:lstStyle/>
          <a:p>
            <a:pPr indent="0" marL="0">
              <a:buNone/>
            </a:pPr>
            <a:r>
              <a:rPr lang="en-US" sz="2600" b="1" dirty="0">
                <a:solidFill>
                  <a:srgbClr val="6A7FA8"/>
                </a:solidFill>
                <a:latin typeface="Montserrat" pitchFamily="34" charset="0"/>
                <a:ea typeface="Montserrat" pitchFamily="34" charset="-122"/>
                <a:cs typeface="Montserrat" pitchFamily="34" charset="-120"/>
              </a:rPr>
              <a:t>2015</a:t>
            </a:r>
            <a:endParaRPr lang="en-US" sz="2600" dirty="0"/>
          </a:p>
        </p:txBody>
      </p:sp>
      <p:sp>
        <p:nvSpPr>
          <p:cNvPr id="8" name="Shape 5"/>
          <p:cNvSpPr/>
          <p:nvPr/>
        </p:nvSpPr>
        <p:spPr>
          <a:xfrm>
            <a:off x="2103120" y="2286000"/>
            <a:ext cx="1800188" cy="731520"/>
          </a:xfrm>
          <a:prstGeom prst="rect">
            <a:avLst/>
          </a:prstGeom>
          <a:solidFill>
            <a:srgbClr val="283070"/>
          </a:solidFill>
          <a:ln/>
        </p:spPr>
      </p:sp>
      <p:sp>
        <p:nvSpPr>
          <p:cNvPr id="9" name="Text 6"/>
          <p:cNvSpPr txBox="1"/>
          <p:nvPr/>
        </p:nvSpPr>
        <p:spPr>
          <a:xfrm>
            <a:off x="2194560" y="2286000"/>
            <a:ext cx="1663028" cy="7315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Research</a:t>
            </a:r>
            <a:endParaRPr lang="en-US" sz="1100" dirty="0"/>
          </a:p>
          <a:p>
            <a:pPr indent="0" marL="0">
              <a:buNone/>
            </a:pPr>
            <a:r>
              <a:rPr lang="en-US" sz="1100" dirty="0">
                <a:solidFill>
                  <a:srgbClr val="FFFFFF"/>
                </a:solidFill>
                <a:latin typeface="Montserrat" pitchFamily="34" charset="0"/>
                <a:ea typeface="Montserrat" pitchFamily="34" charset="-122"/>
                <a:cs typeface="Montserrat" pitchFamily="34" charset="-120"/>
              </a:rPr>
              <a:t>6 weeks</a:t>
            </a:r>
            <a:endParaRPr lang="en-US" sz="1100" dirty="0"/>
          </a:p>
        </p:txBody>
      </p:sp>
      <p:sp>
        <p:nvSpPr>
          <p:cNvPr id="10" name="Shape 7"/>
          <p:cNvSpPr/>
          <p:nvPr/>
        </p:nvSpPr>
        <p:spPr>
          <a:xfrm>
            <a:off x="3949028" y="2286000"/>
            <a:ext cx="3953748" cy="731520"/>
          </a:xfrm>
          <a:prstGeom prst="rect">
            <a:avLst/>
          </a:prstGeom>
          <a:solidFill>
            <a:srgbClr val="6A7FA8"/>
          </a:solidFill>
          <a:ln/>
        </p:spPr>
      </p:sp>
      <p:sp>
        <p:nvSpPr>
          <p:cNvPr id="11" name="Text 8"/>
          <p:cNvSpPr txBox="1"/>
          <p:nvPr/>
        </p:nvSpPr>
        <p:spPr>
          <a:xfrm>
            <a:off x="4040468" y="2286000"/>
            <a:ext cx="3816588" cy="7315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Prototype</a:t>
            </a:r>
            <a:endParaRPr lang="en-US" sz="1100" dirty="0"/>
          </a:p>
          <a:p>
            <a:pPr indent="0" marL="0">
              <a:buNone/>
            </a:pPr>
            <a:r>
              <a:rPr lang="en-US" sz="1100" dirty="0">
                <a:solidFill>
                  <a:srgbClr val="FFFFFF"/>
                </a:solidFill>
                <a:latin typeface="Montserrat" pitchFamily="34" charset="0"/>
                <a:ea typeface="Montserrat" pitchFamily="34" charset="-122"/>
                <a:cs typeface="Montserrat" pitchFamily="34" charset="-120"/>
              </a:rPr>
              <a:t>3 months</a:t>
            </a:r>
            <a:endParaRPr lang="en-US" sz="1100" dirty="0"/>
          </a:p>
        </p:txBody>
      </p:sp>
      <p:sp>
        <p:nvSpPr>
          <p:cNvPr id="12" name="Shape 9"/>
          <p:cNvSpPr/>
          <p:nvPr/>
        </p:nvSpPr>
        <p:spPr>
          <a:xfrm>
            <a:off x="7948496" y="2286000"/>
            <a:ext cx="1184885" cy="731520"/>
          </a:xfrm>
          <a:prstGeom prst="rect">
            <a:avLst/>
          </a:prstGeom>
          <a:solidFill>
            <a:srgbClr val="8796B8"/>
          </a:solidFill>
          <a:ln/>
        </p:spPr>
      </p:sp>
      <p:sp>
        <p:nvSpPr>
          <p:cNvPr id="13" name="Text 10"/>
          <p:cNvSpPr txBox="1"/>
          <p:nvPr/>
        </p:nvSpPr>
        <p:spPr>
          <a:xfrm>
            <a:off x="8039936" y="2286000"/>
            <a:ext cx="1047725" cy="7315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Launch</a:t>
            </a:r>
            <a:endParaRPr lang="en-US" sz="1100" dirty="0"/>
          </a:p>
          <a:p>
            <a:pPr indent="0" marL="0">
              <a:buNone/>
            </a:pPr>
            <a:r>
              <a:rPr lang="en-US" sz="1100" dirty="0">
                <a:solidFill>
                  <a:srgbClr val="FFFFFF"/>
                </a:solidFill>
                <a:latin typeface="Montserrat" pitchFamily="34" charset="0"/>
                <a:ea typeface="Montserrat" pitchFamily="34" charset="-122"/>
                <a:cs typeface="Montserrat" pitchFamily="34" charset="-120"/>
              </a:rPr>
              <a:t>4 weeks</a:t>
            </a:r>
            <a:endParaRPr lang="en-US" sz="1100" dirty="0"/>
          </a:p>
        </p:txBody>
      </p:sp>
      <p:sp>
        <p:nvSpPr>
          <p:cNvPr id="14" name="Shape 11"/>
          <p:cNvSpPr/>
          <p:nvPr/>
        </p:nvSpPr>
        <p:spPr>
          <a:xfrm>
            <a:off x="9179101" y="2286000"/>
            <a:ext cx="2415491" cy="731520"/>
          </a:xfrm>
          <a:prstGeom prst="rect">
            <a:avLst/>
          </a:prstGeom>
          <a:solidFill>
            <a:srgbClr val="C9D3E3"/>
          </a:solidFill>
          <a:ln/>
        </p:spPr>
      </p:sp>
      <p:sp>
        <p:nvSpPr>
          <p:cNvPr id="15" name="Text 12"/>
          <p:cNvSpPr txBox="1"/>
          <p:nvPr/>
        </p:nvSpPr>
        <p:spPr>
          <a:xfrm>
            <a:off x="9270541" y="2286000"/>
            <a:ext cx="2278331" cy="731520"/>
          </a:xfrm>
          <a:prstGeom prst="rect">
            <a:avLst/>
          </a:prstGeom>
          <a:noFill/>
          <a:ln/>
        </p:spPr>
        <p:txBody>
          <a:bodyPr wrap="square" lIns="0" tIns="0" rIns="0" bIns="0" rtlCol="0" anchor="ctr"/>
          <a:lstStyle/>
          <a:p>
            <a:pPr indent="0" marL="0">
              <a:buNone/>
            </a:pPr>
            <a:r>
              <a:rPr lang="en-US" sz="1100" b="1" dirty="0">
                <a:solidFill>
                  <a:srgbClr val="0F1341"/>
                </a:solidFill>
                <a:latin typeface="Montserrat" pitchFamily="34" charset="0"/>
                <a:ea typeface="Montserrat" pitchFamily="34" charset="-122"/>
                <a:cs typeface="Montserrat" pitchFamily="34" charset="-120"/>
              </a:rPr>
              <a:t>First feedback</a:t>
            </a:r>
            <a:endParaRPr lang="en-US" sz="1100" dirty="0"/>
          </a:p>
          <a:p>
            <a:pPr indent="0" marL="0">
              <a:buNone/>
            </a:pPr>
            <a:r>
              <a:rPr lang="en-US" sz="1100" dirty="0">
                <a:solidFill>
                  <a:srgbClr val="0F1341"/>
                </a:solidFill>
                <a:latin typeface="Montserrat" pitchFamily="34" charset="0"/>
                <a:ea typeface="Montserrat" pitchFamily="34" charset="-122"/>
                <a:cs typeface="Montserrat" pitchFamily="34" charset="-120"/>
              </a:rPr>
              <a:t>2 months</a:t>
            </a:r>
            <a:endParaRPr lang="en-US" sz="1100" dirty="0"/>
          </a:p>
        </p:txBody>
      </p:sp>
      <p:sp>
        <p:nvSpPr>
          <p:cNvPr id="16" name="Text 13"/>
          <p:cNvSpPr txBox="1"/>
          <p:nvPr/>
        </p:nvSpPr>
        <p:spPr>
          <a:xfrm>
            <a:off x="548640" y="3246120"/>
            <a:ext cx="1371600" cy="731520"/>
          </a:xfrm>
          <a:prstGeom prst="rect">
            <a:avLst/>
          </a:prstGeom>
          <a:noFill/>
          <a:ln/>
        </p:spPr>
        <p:txBody>
          <a:bodyPr wrap="square" lIns="0" tIns="0" rIns="0" bIns="0" rtlCol="0" anchor="ctr"/>
          <a:lstStyle/>
          <a:p>
            <a:pPr indent="0" marL="0">
              <a:buNone/>
            </a:pPr>
            <a:r>
              <a:rPr lang="en-US" sz="2600" b="1" dirty="0">
                <a:solidFill>
                  <a:srgbClr val="2E6FBF"/>
                </a:solidFill>
                <a:latin typeface="Montserrat" pitchFamily="34" charset="0"/>
                <a:ea typeface="Montserrat" pitchFamily="34" charset="-122"/>
                <a:cs typeface="Montserrat" pitchFamily="34" charset="-120"/>
              </a:rPr>
              <a:t>2026</a:t>
            </a:r>
            <a:endParaRPr lang="en-US" sz="2600" dirty="0"/>
          </a:p>
        </p:txBody>
      </p:sp>
      <p:sp>
        <p:nvSpPr>
          <p:cNvPr id="17" name="Shape 14"/>
          <p:cNvSpPr/>
          <p:nvPr/>
        </p:nvSpPr>
        <p:spPr>
          <a:xfrm>
            <a:off x="2103120" y="3246120"/>
            <a:ext cx="109728" cy="731520"/>
          </a:xfrm>
          <a:prstGeom prst="rect">
            <a:avLst/>
          </a:prstGeom>
          <a:solidFill>
            <a:srgbClr val="2E6FBF"/>
          </a:solidFill>
          <a:ln/>
        </p:spPr>
      </p:sp>
      <p:sp>
        <p:nvSpPr>
          <p:cNvPr id="18" name="Text 15"/>
          <p:cNvSpPr txBox="1"/>
          <p:nvPr/>
        </p:nvSpPr>
        <p:spPr>
          <a:xfrm>
            <a:off x="2377440" y="3246120"/>
            <a:ext cx="9144000" cy="731520"/>
          </a:xfrm>
          <a:prstGeom prst="rect">
            <a:avLst/>
          </a:prstGeom>
          <a:noFill/>
          <a:ln/>
        </p:spPr>
        <p:txBody>
          <a:bodyPr wrap="square" lIns="0" tIns="0" rIns="0" bIns="0" rtlCol="0" anchor="ctr"/>
          <a:lstStyle/>
          <a:p>
            <a:pPr indent="0" marL="0">
              <a:buNone/>
            </a:pPr>
            <a:r>
              <a:rPr lang="en-US" sz="1300" b="1" dirty="0">
                <a:solidFill>
                  <a:srgbClr val="2E6FBF"/>
                </a:solidFill>
                <a:latin typeface="Montserrat" pitchFamily="34" charset="0"/>
                <a:ea typeface="Montserrat" pitchFamily="34" charset="-122"/>
                <a:cs typeface="Montserrat" pitchFamily="34" charset="-120"/>
              </a:rPr>
              <a:t>The whole loop: one weekend.</a:t>
            </a:r>
            <a:pPr indent="0" marL="0">
              <a:buNone/>
            </a:pPr>
            <a:r>
              <a:rPr lang="en-US" sz="1300" dirty="0">
                <a:solidFill>
                  <a:srgbClr val="5B6270"/>
                </a:solidFill>
                <a:latin typeface="Montserrat" pitchFamily="34" charset="0"/>
                <a:ea typeface="Montserrat" pitchFamily="34" charset="-122"/>
                <a:cs typeface="Montserrat" pitchFamily="34" charset="-120"/>
              </a:rPr>
              <a:t>  Research 30 min · prototype 3 h · launch 1 h · first signal 48 h</a:t>
            </a:r>
            <a:endParaRPr lang="en-US" sz="1300" dirty="0"/>
          </a:p>
        </p:txBody>
      </p:sp>
      <p:sp>
        <p:nvSpPr>
          <p:cNvPr id="19" name="Shape 16"/>
          <p:cNvSpPr/>
          <p:nvPr/>
        </p:nvSpPr>
        <p:spPr>
          <a:xfrm>
            <a:off x="548640" y="4343400"/>
            <a:ext cx="3520440" cy="1508760"/>
          </a:xfrm>
          <a:prstGeom prst="roundRect">
            <a:avLst>
              <a:gd name="adj" fmla="val 4848"/>
            </a:avLst>
          </a:prstGeom>
          <a:solidFill>
            <a:srgbClr val="F3F7FC"/>
          </a:solidFill>
          <a:ln/>
        </p:spPr>
      </p:sp>
      <p:sp>
        <p:nvSpPr>
          <p:cNvPr id="20" name="Text 17"/>
          <p:cNvSpPr txBox="1"/>
          <p:nvPr/>
        </p:nvSpPr>
        <p:spPr>
          <a:xfrm>
            <a:off x="777240" y="4480560"/>
            <a:ext cx="3108960" cy="274320"/>
          </a:xfrm>
          <a:prstGeom prst="rect">
            <a:avLst/>
          </a:prstGeom>
          <a:noFill/>
          <a:ln/>
        </p:spPr>
        <p:txBody>
          <a:bodyPr wrap="square" lIns="0" tIns="0" rIns="0" bIns="0" rtlCol="0" anchor="t"/>
          <a:lstStyle/>
          <a:p>
            <a:pPr indent="0" marL="0">
              <a:buNone/>
            </a:pPr>
            <a:r>
              <a:rPr lang="en-US" sz="1000" b="1" spc="100" kern="0" dirty="0">
                <a:solidFill>
                  <a:srgbClr val="8A93A3"/>
                </a:solidFill>
                <a:latin typeface="Montserrat" pitchFamily="34" charset="0"/>
                <a:ea typeface="Montserrat" pitchFamily="34" charset="-122"/>
                <a:cs typeface="Montserrat" pitchFamily="34" charset="-120"/>
              </a:rPr>
              <a:t>TEAM</a:t>
            </a:r>
            <a:endParaRPr lang="en-US" sz="1000" dirty="0"/>
          </a:p>
        </p:txBody>
      </p:sp>
      <p:sp>
        <p:nvSpPr>
          <p:cNvPr id="21" name="Text 18"/>
          <p:cNvSpPr txBox="1"/>
          <p:nvPr/>
        </p:nvSpPr>
        <p:spPr>
          <a:xfrm>
            <a:off x="777240" y="4800600"/>
            <a:ext cx="3108960" cy="320040"/>
          </a:xfrm>
          <a:prstGeom prst="rect">
            <a:avLst/>
          </a:prstGeom>
          <a:noFill/>
          <a:ln/>
        </p:spPr>
        <p:txBody>
          <a:bodyPr wrap="square" lIns="0" tIns="0" rIns="0" bIns="0" rtlCol="0" anchor="t"/>
          <a:lstStyle/>
          <a:p>
            <a:pPr indent="0" marL="0">
              <a:buNone/>
            </a:pPr>
            <a:r>
              <a:rPr lang="en-US" sz="1400" strike="sngStrike" dirty="0">
                <a:solidFill>
                  <a:srgbClr val="8A93A3"/>
                </a:solidFill>
                <a:latin typeface="Montserrat" pitchFamily="34" charset="0"/>
                <a:ea typeface="Montserrat" pitchFamily="34" charset="-122"/>
                <a:cs typeface="Montserrat" pitchFamily="34" charset="-120"/>
              </a:rPr>
              <a:t>5 people</a:t>
            </a:r>
            <a:endParaRPr lang="en-US" sz="1400" dirty="0"/>
          </a:p>
        </p:txBody>
      </p:sp>
      <p:sp>
        <p:nvSpPr>
          <p:cNvPr id="22" name="Text 19"/>
          <p:cNvSpPr txBox="1"/>
          <p:nvPr/>
        </p:nvSpPr>
        <p:spPr>
          <a:xfrm>
            <a:off x="777240" y="5138928"/>
            <a:ext cx="3108960" cy="548640"/>
          </a:xfrm>
          <a:prstGeom prst="rect">
            <a:avLst/>
          </a:prstGeom>
          <a:noFill/>
          <a:ln/>
        </p:spPr>
        <p:txBody>
          <a:bodyPr wrap="square" lIns="0" tIns="0" rIns="0" bIns="0" rtlCol="0" anchor="t"/>
          <a:lstStyle/>
          <a:p>
            <a:pPr indent="0" marL="0">
              <a:buNone/>
            </a:pPr>
            <a:r>
              <a:rPr lang="en-US" sz="2200" b="1" dirty="0">
                <a:solidFill>
                  <a:srgbClr val="0F1341"/>
                </a:solidFill>
                <a:latin typeface="Montserrat" pitchFamily="34" charset="0"/>
                <a:ea typeface="Montserrat" pitchFamily="34" charset="-122"/>
                <a:cs typeface="Montserrat" pitchFamily="34" charset="-120"/>
              </a:rPr>
              <a:t>1 founder + agents</a:t>
            </a:r>
            <a:endParaRPr lang="en-US" sz="2200" dirty="0"/>
          </a:p>
        </p:txBody>
      </p:sp>
      <p:sp>
        <p:nvSpPr>
          <p:cNvPr id="23" name="Shape 20"/>
          <p:cNvSpPr/>
          <p:nvPr/>
        </p:nvSpPr>
        <p:spPr>
          <a:xfrm>
            <a:off x="4297680" y="4343400"/>
            <a:ext cx="3520440" cy="1508760"/>
          </a:xfrm>
          <a:prstGeom prst="roundRect">
            <a:avLst>
              <a:gd name="adj" fmla="val 4848"/>
            </a:avLst>
          </a:prstGeom>
          <a:solidFill>
            <a:srgbClr val="F3F7FC"/>
          </a:solidFill>
          <a:ln/>
        </p:spPr>
      </p:sp>
      <p:sp>
        <p:nvSpPr>
          <p:cNvPr id="24" name="Text 21"/>
          <p:cNvSpPr txBox="1"/>
          <p:nvPr/>
        </p:nvSpPr>
        <p:spPr>
          <a:xfrm>
            <a:off x="4526280" y="4480560"/>
            <a:ext cx="3108960" cy="274320"/>
          </a:xfrm>
          <a:prstGeom prst="rect">
            <a:avLst/>
          </a:prstGeom>
          <a:noFill/>
          <a:ln/>
        </p:spPr>
        <p:txBody>
          <a:bodyPr wrap="square" lIns="0" tIns="0" rIns="0" bIns="0" rtlCol="0" anchor="t"/>
          <a:lstStyle/>
          <a:p>
            <a:pPr indent="0" marL="0">
              <a:buNone/>
            </a:pPr>
            <a:r>
              <a:rPr lang="en-US" sz="1000" b="1" spc="100" kern="0" dirty="0">
                <a:solidFill>
                  <a:srgbClr val="8A93A3"/>
                </a:solidFill>
                <a:latin typeface="Montserrat" pitchFamily="34" charset="0"/>
                <a:ea typeface="Montserrat" pitchFamily="34" charset="-122"/>
                <a:cs typeface="Montserrat" pitchFamily="34" charset="-120"/>
              </a:rPr>
              <a:t>BUDGET</a:t>
            </a:r>
            <a:endParaRPr lang="en-US" sz="1000" dirty="0"/>
          </a:p>
        </p:txBody>
      </p:sp>
      <p:sp>
        <p:nvSpPr>
          <p:cNvPr id="25" name="Text 22"/>
          <p:cNvSpPr txBox="1"/>
          <p:nvPr/>
        </p:nvSpPr>
        <p:spPr>
          <a:xfrm>
            <a:off x="4526280" y="4800600"/>
            <a:ext cx="3108960" cy="320040"/>
          </a:xfrm>
          <a:prstGeom prst="rect">
            <a:avLst/>
          </a:prstGeom>
          <a:noFill/>
          <a:ln/>
        </p:spPr>
        <p:txBody>
          <a:bodyPr wrap="square" lIns="0" tIns="0" rIns="0" bIns="0" rtlCol="0" anchor="t"/>
          <a:lstStyle/>
          <a:p>
            <a:pPr indent="0" marL="0">
              <a:buNone/>
            </a:pPr>
            <a:r>
              <a:rPr lang="en-US" sz="1400" strike="sngStrike" dirty="0">
                <a:solidFill>
                  <a:srgbClr val="8A93A3"/>
                </a:solidFill>
                <a:latin typeface="Montserrat" pitchFamily="34" charset="0"/>
                <a:ea typeface="Montserrat" pitchFamily="34" charset="-122"/>
                <a:cs typeface="Montserrat" pitchFamily="34" charset="-120"/>
              </a:rPr>
              <a:t>€100,000+</a:t>
            </a:r>
            <a:endParaRPr lang="en-US" sz="1400" dirty="0"/>
          </a:p>
        </p:txBody>
      </p:sp>
      <p:sp>
        <p:nvSpPr>
          <p:cNvPr id="26" name="Text 23"/>
          <p:cNvSpPr txBox="1"/>
          <p:nvPr/>
        </p:nvSpPr>
        <p:spPr>
          <a:xfrm>
            <a:off x="4526280" y="5138928"/>
            <a:ext cx="3108960" cy="548640"/>
          </a:xfrm>
          <a:prstGeom prst="rect">
            <a:avLst/>
          </a:prstGeom>
          <a:noFill/>
          <a:ln/>
        </p:spPr>
        <p:txBody>
          <a:bodyPr wrap="square" lIns="0" tIns="0" rIns="0" bIns="0" rtlCol="0" anchor="t"/>
          <a:lstStyle/>
          <a:p>
            <a:pPr indent="0" marL="0">
              <a:buNone/>
            </a:pPr>
            <a:r>
              <a:rPr lang="en-US" sz="2200" b="1" dirty="0">
                <a:solidFill>
                  <a:srgbClr val="0F1341"/>
                </a:solidFill>
                <a:latin typeface="Montserrat" pitchFamily="34" charset="0"/>
                <a:ea typeface="Montserrat" pitchFamily="34" charset="-122"/>
                <a:cs typeface="Montserrat" pitchFamily="34" charset="-120"/>
              </a:rPr>
              <a:t>&lt; €500</a:t>
            </a:r>
            <a:endParaRPr lang="en-US" sz="2200" dirty="0"/>
          </a:p>
        </p:txBody>
      </p:sp>
      <p:sp>
        <p:nvSpPr>
          <p:cNvPr id="27" name="Shape 24"/>
          <p:cNvSpPr/>
          <p:nvPr/>
        </p:nvSpPr>
        <p:spPr>
          <a:xfrm>
            <a:off x="8046720" y="4343400"/>
            <a:ext cx="3520440" cy="1508760"/>
          </a:xfrm>
          <a:prstGeom prst="roundRect">
            <a:avLst>
              <a:gd name="adj" fmla="val 4848"/>
            </a:avLst>
          </a:prstGeom>
          <a:solidFill>
            <a:srgbClr val="0F1341"/>
          </a:solidFill>
          <a:ln/>
        </p:spPr>
      </p:sp>
      <p:sp>
        <p:nvSpPr>
          <p:cNvPr id="28" name="Text 25"/>
          <p:cNvSpPr txBox="1"/>
          <p:nvPr/>
        </p:nvSpPr>
        <p:spPr>
          <a:xfrm>
            <a:off x="8275320" y="4480560"/>
            <a:ext cx="310896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TIME TO FIRST SIGNAL</a:t>
            </a:r>
            <a:endParaRPr lang="en-US" sz="1000" dirty="0"/>
          </a:p>
        </p:txBody>
      </p:sp>
      <p:sp>
        <p:nvSpPr>
          <p:cNvPr id="29" name="Text 26"/>
          <p:cNvSpPr txBox="1"/>
          <p:nvPr/>
        </p:nvSpPr>
        <p:spPr>
          <a:xfrm>
            <a:off x="8275320" y="4800600"/>
            <a:ext cx="3108960" cy="320040"/>
          </a:xfrm>
          <a:prstGeom prst="rect">
            <a:avLst/>
          </a:prstGeom>
          <a:noFill/>
          <a:ln/>
        </p:spPr>
        <p:txBody>
          <a:bodyPr wrap="square" lIns="0" tIns="0" rIns="0" bIns="0" rtlCol="0" anchor="t"/>
          <a:lstStyle/>
          <a:p>
            <a:pPr indent="0" marL="0">
              <a:buNone/>
            </a:pPr>
            <a:r>
              <a:rPr lang="en-US" sz="1400" strike="sngStrike" dirty="0">
                <a:solidFill>
                  <a:srgbClr val="C9D3E3"/>
                </a:solidFill>
                <a:latin typeface="Montserrat" pitchFamily="34" charset="0"/>
                <a:ea typeface="Montserrat" pitchFamily="34" charset="-122"/>
                <a:cs typeface="Montserrat" pitchFamily="34" charset="-120"/>
              </a:rPr>
              <a:t>~ 6 months</a:t>
            </a:r>
            <a:endParaRPr lang="en-US" sz="1400" dirty="0"/>
          </a:p>
        </p:txBody>
      </p:sp>
      <p:sp>
        <p:nvSpPr>
          <p:cNvPr id="30" name="Text 27"/>
          <p:cNvSpPr txBox="1"/>
          <p:nvPr/>
        </p:nvSpPr>
        <p:spPr>
          <a:xfrm>
            <a:off x="8275320" y="5138928"/>
            <a:ext cx="3108960" cy="548640"/>
          </a:xfrm>
          <a:prstGeom prst="rect">
            <a:avLst/>
          </a:prstGeom>
          <a:noFill/>
          <a:ln/>
        </p:spPr>
        <p:txBody>
          <a:bodyPr wrap="square" lIns="0" tIns="0" rIns="0" bIns="0" rtlCol="0" anchor="t"/>
          <a:lstStyle/>
          <a:p>
            <a:pPr indent="0" marL="0">
              <a:buNone/>
            </a:pPr>
            <a:r>
              <a:rPr lang="en-US" sz="2200" b="1" dirty="0">
                <a:solidFill>
                  <a:srgbClr val="FFFFFF"/>
                </a:solidFill>
                <a:latin typeface="Montserrat" pitchFamily="34" charset="0"/>
                <a:ea typeface="Montserrat" pitchFamily="34" charset="-122"/>
                <a:cs typeface="Montserrat" pitchFamily="34" charset="-120"/>
              </a:rPr>
              <a:t>1 weekend</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Tiny teams, giant outcomes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The first generation of AI-native companies — reported figures</a:t>
            </a:r>
            <a:endParaRPr lang="en-US" sz="1300" dirty="0"/>
          </a:p>
        </p:txBody>
      </p:sp>
      <p:sp>
        <p:nvSpPr>
          <p:cNvPr id="5" name="Shape 2"/>
          <p:cNvSpPr/>
          <p:nvPr/>
        </p:nvSpPr>
        <p:spPr>
          <a:xfrm>
            <a:off x="548640" y="1783080"/>
            <a:ext cx="3520440" cy="3337560"/>
          </a:xfrm>
          <a:prstGeom prst="roundRect">
            <a:avLst>
              <a:gd name="adj" fmla="val 2192"/>
            </a:avLst>
          </a:prstGeom>
          <a:solidFill>
            <a:srgbClr val="F3F7FC"/>
          </a:solidFill>
          <a:ln/>
        </p:spPr>
      </p:sp>
      <p:sp>
        <p:nvSpPr>
          <p:cNvPr id="6" name="Text 3"/>
          <p:cNvSpPr txBox="1"/>
          <p:nvPr/>
        </p:nvSpPr>
        <p:spPr>
          <a:xfrm>
            <a:off x="822960" y="1965960"/>
            <a:ext cx="3017520" cy="457200"/>
          </a:xfrm>
          <a:prstGeom prst="rect">
            <a:avLst/>
          </a:prstGeom>
          <a:noFill/>
          <a:ln/>
        </p:spPr>
        <p:txBody>
          <a:bodyPr wrap="square" lIns="0" tIns="0" rIns="0" bIns="0" rtlCol="0" anchor="t"/>
          <a:lstStyle/>
          <a:p>
            <a:pPr indent="0" marL="0">
              <a:buNone/>
            </a:pPr>
            <a:r>
              <a:rPr lang="en-US" sz="2200" b="1" dirty="0">
                <a:solidFill>
                  <a:srgbClr val="0F1341"/>
                </a:solidFill>
                <a:latin typeface="Montserrat" pitchFamily="34" charset="0"/>
                <a:ea typeface="Montserrat" pitchFamily="34" charset="-122"/>
                <a:cs typeface="Montserrat" pitchFamily="34" charset="-120"/>
              </a:rPr>
              <a:t>Lovable</a:t>
            </a:r>
            <a:endParaRPr lang="en-US" sz="2200" dirty="0"/>
          </a:p>
        </p:txBody>
      </p:sp>
      <p:sp>
        <p:nvSpPr>
          <p:cNvPr id="7" name="Text 4"/>
          <p:cNvSpPr txBox="1"/>
          <p:nvPr/>
        </p:nvSpPr>
        <p:spPr>
          <a:xfrm>
            <a:off x="822960" y="2423160"/>
            <a:ext cx="3017520" cy="274320"/>
          </a:xfrm>
          <a:prstGeom prst="rect">
            <a:avLst/>
          </a:prstGeom>
          <a:noFill/>
          <a:ln/>
        </p:spPr>
        <p:txBody>
          <a:bodyPr wrap="square" lIns="0" tIns="0" rIns="0" bIns="0" rtlCol="0" anchor="t"/>
          <a:lstStyle/>
          <a:p>
            <a:pPr indent="0" marL="0">
              <a:buNone/>
            </a:pPr>
            <a:r>
              <a:rPr lang="en-US" sz="1100" dirty="0">
                <a:solidFill>
                  <a:srgbClr val="5B6270"/>
                </a:solidFill>
                <a:latin typeface="Montserrat" pitchFamily="34" charset="0"/>
                <a:ea typeface="Montserrat" pitchFamily="34" charset="-122"/>
                <a:cs typeface="Montserrat" pitchFamily="34" charset="-120"/>
              </a:rPr>
              <a:t>Sweden · AI app builder</a:t>
            </a:r>
            <a:endParaRPr lang="en-US" sz="1100" dirty="0"/>
          </a:p>
        </p:txBody>
      </p:sp>
      <p:sp>
        <p:nvSpPr>
          <p:cNvPr id="8" name="Text 5"/>
          <p:cNvSpPr txBox="1"/>
          <p:nvPr/>
        </p:nvSpPr>
        <p:spPr>
          <a:xfrm>
            <a:off x="822960" y="2926080"/>
            <a:ext cx="3017520" cy="914400"/>
          </a:xfrm>
          <a:prstGeom prst="rect">
            <a:avLst/>
          </a:prstGeom>
          <a:noFill/>
          <a:ln/>
        </p:spPr>
        <p:txBody>
          <a:bodyPr wrap="square" lIns="0" tIns="0" rIns="0" bIns="0" rtlCol="0" anchor="t"/>
          <a:lstStyle/>
          <a:p>
            <a:pPr indent="0" marL="0">
              <a:buNone/>
            </a:pPr>
            <a:r>
              <a:rPr lang="en-US" sz="4800" b="1" dirty="0">
                <a:solidFill>
                  <a:srgbClr val="2E6FBF"/>
                </a:solidFill>
                <a:latin typeface="Montserrat" pitchFamily="34" charset="0"/>
                <a:ea typeface="Montserrat" pitchFamily="34" charset="-122"/>
                <a:cs typeface="Montserrat" pitchFamily="34" charset="-120"/>
              </a:rPr>
              <a:t>$100M</a:t>
            </a:r>
            <a:endParaRPr lang="en-US" sz="4800" dirty="0"/>
          </a:p>
        </p:txBody>
      </p:sp>
      <p:sp>
        <p:nvSpPr>
          <p:cNvPr id="9" name="Text 6"/>
          <p:cNvSpPr txBox="1"/>
          <p:nvPr/>
        </p:nvSpPr>
        <p:spPr>
          <a:xfrm>
            <a:off x="822960" y="3931920"/>
            <a:ext cx="3017520" cy="82296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annual recurring revenue about 8 months after launch</a:t>
            </a:r>
            <a:endParaRPr lang="en-US" sz="1300" dirty="0"/>
          </a:p>
        </p:txBody>
      </p:sp>
      <p:sp>
        <p:nvSpPr>
          <p:cNvPr id="10" name="Text 7"/>
          <p:cNvSpPr txBox="1"/>
          <p:nvPr/>
        </p:nvSpPr>
        <p:spPr>
          <a:xfrm>
            <a:off x="822960" y="4754880"/>
            <a:ext cx="301752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REPORTED</a:t>
            </a:r>
            <a:endParaRPr lang="en-US" sz="900" dirty="0"/>
          </a:p>
        </p:txBody>
      </p:sp>
      <p:sp>
        <p:nvSpPr>
          <p:cNvPr id="11" name="Shape 8"/>
          <p:cNvSpPr/>
          <p:nvPr/>
        </p:nvSpPr>
        <p:spPr>
          <a:xfrm>
            <a:off x="4297680" y="1783080"/>
            <a:ext cx="3520440" cy="3337560"/>
          </a:xfrm>
          <a:prstGeom prst="roundRect">
            <a:avLst>
              <a:gd name="adj" fmla="val 2192"/>
            </a:avLst>
          </a:prstGeom>
          <a:solidFill>
            <a:srgbClr val="0F1341"/>
          </a:solidFill>
          <a:ln/>
        </p:spPr>
      </p:sp>
      <p:sp>
        <p:nvSpPr>
          <p:cNvPr id="12" name="Text 9"/>
          <p:cNvSpPr txBox="1"/>
          <p:nvPr/>
        </p:nvSpPr>
        <p:spPr>
          <a:xfrm>
            <a:off x="4572000" y="1965960"/>
            <a:ext cx="3017520" cy="457200"/>
          </a:xfrm>
          <a:prstGeom prst="rect">
            <a:avLst/>
          </a:prstGeom>
          <a:noFill/>
          <a:ln/>
        </p:spPr>
        <p:txBody>
          <a:bodyPr wrap="square" lIns="0" tIns="0" rIns="0" bIns="0" rtlCol="0" anchor="t"/>
          <a:lstStyle/>
          <a:p>
            <a:pPr indent="0" marL="0">
              <a:buNone/>
            </a:pPr>
            <a:r>
              <a:rPr lang="en-US" sz="2200" b="1" dirty="0">
                <a:solidFill>
                  <a:srgbClr val="FFFFFF"/>
                </a:solidFill>
                <a:latin typeface="Montserrat" pitchFamily="34" charset="0"/>
                <a:ea typeface="Montserrat" pitchFamily="34" charset="-122"/>
                <a:cs typeface="Montserrat" pitchFamily="34" charset="-120"/>
              </a:rPr>
              <a:t>Cursor</a:t>
            </a:r>
            <a:endParaRPr lang="en-US" sz="2200" dirty="0"/>
          </a:p>
        </p:txBody>
      </p:sp>
      <p:sp>
        <p:nvSpPr>
          <p:cNvPr id="13" name="Text 10"/>
          <p:cNvSpPr txBox="1"/>
          <p:nvPr/>
        </p:nvSpPr>
        <p:spPr>
          <a:xfrm>
            <a:off x="4572000" y="2423160"/>
            <a:ext cx="3017520" cy="274320"/>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USA · AI code editor</a:t>
            </a:r>
            <a:endParaRPr lang="en-US" sz="1100" dirty="0"/>
          </a:p>
        </p:txBody>
      </p:sp>
      <p:sp>
        <p:nvSpPr>
          <p:cNvPr id="14" name="Text 11"/>
          <p:cNvSpPr txBox="1"/>
          <p:nvPr/>
        </p:nvSpPr>
        <p:spPr>
          <a:xfrm>
            <a:off x="4572000" y="2926080"/>
            <a:ext cx="3017520" cy="914400"/>
          </a:xfrm>
          <a:prstGeom prst="rect">
            <a:avLst/>
          </a:prstGeom>
          <a:noFill/>
          <a:ln/>
        </p:spPr>
        <p:txBody>
          <a:bodyPr wrap="square" lIns="0" tIns="0" rIns="0" bIns="0" rtlCol="0" anchor="t"/>
          <a:lstStyle/>
          <a:p>
            <a:pPr indent="0" marL="0">
              <a:buNone/>
            </a:pPr>
            <a:r>
              <a:rPr lang="en-US" sz="4800" b="1" dirty="0">
                <a:solidFill>
                  <a:srgbClr val="4A8FDB"/>
                </a:solidFill>
                <a:latin typeface="Montserrat" pitchFamily="34" charset="0"/>
                <a:ea typeface="Montserrat" pitchFamily="34" charset="-122"/>
                <a:cs typeface="Montserrat" pitchFamily="34" charset="-120"/>
              </a:rPr>
              <a:t>$100M</a:t>
            </a:r>
            <a:endParaRPr lang="en-US" sz="4800" dirty="0"/>
          </a:p>
        </p:txBody>
      </p:sp>
      <p:sp>
        <p:nvSpPr>
          <p:cNvPr id="15" name="Text 12"/>
          <p:cNvSpPr txBox="1"/>
          <p:nvPr/>
        </p:nvSpPr>
        <p:spPr>
          <a:xfrm>
            <a:off x="4572000" y="3931920"/>
            <a:ext cx="3017520" cy="822960"/>
          </a:xfrm>
          <a:prstGeom prst="rect">
            <a:avLst/>
          </a:prstGeom>
          <a:noFill/>
          <a:ln/>
        </p:spPr>
        <p:txBody>
          <a:bodyPr wrap="square" lIns="0" tIns="0" rIns="0" bIns="0" rtlCol="0" anchor="t"/>
          <a:lstStyle/>
          <a:p>
            <a:pPr indent="0" marL="0">
              <a:buNone/>
            </a:pPr>
            <a:r>
              <a:rPr lang="en-US" sz="1300" dirty="0">
                <a:solidFill>
                  <a:srgbClr val="FFFFFF"/>
                </a:solidFill>
                <a:latin typeface="Montserrat" pitchFamily="34" charset="0"/>
                <a:ea typeface="Montserrat" pitchFamily="34" charset="-122"/>
                <a:cs typeface="Montserrat" pitchFamily="34" charset="-120"/>
              </a:rPr>
              <a:t>annual recurring revenue in roughly a year, with a small team</a:t>
            </a:r>
            <a:endParaRPr lang="en-US" sz="1300" dirty="0"/>
          </a:p>
        </p:txBody>
      </p:sp>
      <p:sp>
        <p:nvSpPr>
          <p:cNvPr id="16" name="Text 13"/>
          <p:cNvSpPr txBox="1"/>
          <p:nvPr/>
        </p:nvSpPr>
        <p:spPr>
          <a:xfrm>
            <a:off x="4572000" y="4754880"/>
            <a:ext cx="3017520" cy="228600"/>
          </a:xfrm>
          <a:prstGeom prst="rect">
            <a:avLst/>
          </a:prstGeom>
          <a:noFill/>
          <a:ln/>
        </p:spPr>
        <p:txBody>
          <a:bodyPr wrap="square" lIns="0" tIns="0" rIns="0" bIns="0" rtlCol="0" anchor="t"/>
          <a:lstStyle/>
          <a:p>
            <a:pPr indent="0" marL="0">
              <a:buNone/>
            </a:pPr>
            <a:r>
              <a:rPr lang="en-US" sz="900" b="1" spc="100" kern="0" dirty="0">
                <a:solidFill>
                  <a:srgbClr val="6A7FA8"/>
                </a:solidFill>
                <a:latin typeface="Montserrat" pitchFamily="34" charset="0"/>
                <a:ea typeface="Montserrat" pitchFamily="34" charset="-122"/>
                <a:cs typeface="Montserrat" pitchFamily="34" charset="-120"/>
              </a:rPr>
              <a:t>REPORTED</a:t>
            </a:r>
            <a:endParaRPr lang="en-US" sz="900" dirty="0"/>
          </a:p>
        </p:txBody>
      </p:sp>
      <p:sp>
        <p:nvSpPr>
          <p:cNvPr id="17" name="Shape 14"/>
          <p:cNvSpPr/>
          <p:nvPr/>
        </p:nvSpPr>
        <p:spPr>
          <a:xfrm>
            <a:off x="8046720" y="1783080"/>
            <a:ext cx="3520440" cy="3337560"/>
          </a:xfrm>
          <a:prstGeom prst="roundRect">
            <a:avLst>
              <a:gd name="adj" fmla="val 2192"/>
            </a:avLst>
          </a:prstGeom>
          <a:solidFill>
            <a:srgbClr val="F3F7FC"/>
          </a:solidFill>
          <a:ln/>
        </p:spPr>
      </p:sp>
      <p:sp>
        <p:nvSpPr>
          <p:cNvPr id="18" name="Text 15"/>
          <p:cNvSpPr txBox="1"/>
          <p:nvPr/>
        </p:nvSpPr>
        <p:spPr>
          <a:xfrm>
            <a:off x="8321040" y="1965960"/>
            <a:ext cx="3017520" cy="457200"/>
          </a:xfrm>
          <a:prstGeom prst="rect">
            <a:avLst/>
          </a:prstGeom>
          <a:noFill/>
          <a:ln/>
        </p:spPr>
        <p:txBody>
          <a:bodyPr wrap="square" lIns="0" tIns="0" rIns="0" bIns="0" rtlCol="0" anchor="t"/>
          <a:lstStyle/>
          <a:p>
            <a:pPr indent="0" marL="0">
              <a:buNone/>
            </a:pPr>
            <a:r>
              <a:rPr lang="en-US" sz="2200" b="1" dirty="0">
                <a:solidFill>
                  <a:srgbClr val="0F1341"/>
                </a:solidFill>
                <a:latin typeface="Montserrat" pitchFamily="34" charset="0"/>
                <a:ea typeface="Montserrat" pitchFamily="34" charset="-122"/>
                <a:cs typeface="Montserrat" pitchFamily="34" charset="-120"/>
              </a:rPr>
              <a:t>Midjourney</a:t>
            </a:r>
            <a:endParaRPr lang="en-US" sz="2200" dirty="0"/>
          </a:p>
        </p:txBody>
      </p:sp>
      <p:sp>
        <p:nvSpPr>
          <p:cNvPr id="19" name="Text 16"/>
          <p:cNvSpPr txBox="1"/>
          <p:nvPr/>
        </p:nvSpPr>
        <p:spPr>
          <a:xfrm>
            <a:off x="8321040" y="2423160"/>
            <a:ext cx="3017520" cy="274320"/>
          </a:xfrm>
          <a:prstGeom prst="rect">
            <a:avLst/>
          </a:prstGeom>
          <a:noFill/>
          <a:ln/>
        </p:spPr>
        <p:txBody>
          <a:bodyPr wrap="square" lIns="0" tIns="0" rIns="0" bIns="0" rtlCol="0" anchor="t"/>
          <a:lstStyle/>
          <a:p>
            <a:pPr indent="0" marL="0">
              <a:buNone/>
            </a:pPr>
            <a:r>
              <a:rPr lang="en-US" sz="1100" dirty="0">
                <a:solidFill>
                  <a:srgbClr val="5B6270"/>
                </a:solidFill>
                <a:latin typeface="Montserrat" pitchFamily="34" charset="0"/>
                <a:ea typeface="Montserrat" pitchFamily="34" charset="-122"/>
                <a:cs typeface="Montserrat" pitchFamily="34" charset="-120"/>
              </a:rPr>
              <a:t>USA · AI image generation</a:t>
            </a:r>
            <a:endParaRPr lang="en-US" sz="1100" dirty="0"/>
          </a:p>
        </p:txBody>
      </p:sp>
      <p:sp>
        <p:nvSpPr>
          <p:cNvPr id="20" name="Text 17"/>
          <p:cNvSpPr txBox="1"/>
          <p:nvPr/>
        </p:nvSpPr>
        <p:spPr>
          <a:xfrm>
            <a:off x="8321040" y="2926080"/>
            <a:ext cx="3017520" cy="914400"/>
          </a:xfrm>
          <a:prstGeom prst="rect">
            <a:avLst/>
          </a:prstGeom>
          <a:noFill/>
          <a:ln/>
        </p:spPr>
        <p:txBody>
          <a:bodyPr wrap="square" lIns="0" tIns="0" rIns="0" bIns="0" rtlCol="0" anchor="t"/>
          <a:lstStyle/>
          <a:p>
            <a:pPr indent="0" marL="0">
              <a:buNone/>
            </a:pPr>
            <a:r>
              <a:rPr lang="en-US" sz="4800" b="1" dirty="0">
                <a:solidFill>
                  <a:srgbClr val="2E6FBF"/>
                </a:solidFill>
                <a:latin typeface="Montserrat" pitchFamily="34" charset="0"/>
                <a:ea typeface="Montserrat" pitchFamily="34" charset="-122"/>
                <a:cs typeface="Montserrat" pitchFamily="34" charset="-120"/>
              </a:rPr>
              <a:t>~$200M</a:t>
            </a:r>
            <a:endParaRPr lang="en-US" sz="4800" dirty="0"/>
          </a:p>
        </p:txBody>
      </p:sp>
      <p:sp>
        <p:nvSpPr>
          <p:cNvPr id="21" name="Text 18"/>
          <p:cNvSpPr txBox="1"/>
          <p:nvPr/>
        </p:nvSpPr>
        <p:spPr>
          <a:xfrm>
            <a:off x="8321040" y="3931920"/>
            <a:ext cx="3017520" cy="82296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revenue in 2023 with a team of around 40, no outside funding</a:t>
            </a:r>
            <a:endParaRPr lang="en-US" sz="1300" dirty="0"/>
          </a:p>
        </p:txBody>
      </p:sp>
      <p:sp>
        <p:nvSpPr>
          <p:cNvPr id="22" name="Text 19"/>
          <p:cNvSpPr txBox="1"/>
          <p:nvPr/>
        </p:nvSpPr>
        <p:spPr>
          <a:xfrm>
            <a:off x="8321040" y="4754880"/>
            <a:ext cx="301752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REPORTED</a:t>
            </a:r>
            <a:endParaRPr lang="en-US" sz="900" dirty="0"/>
          </a:p>
        </p:txBody>
      </p:sp>
      <p:sp>
        <p:nvSpPr>
          <p:cNvPr id="23" name="Shape 20"/>
          <p:cNvSpPr/>
          <p:nvPr/>
        </p:nvSpPr>
        <p:spPr>
          <a:xfrm>
            <a:off x="548640" y="5349240"/>
            <a:ext cx="11091672" cy="548640"/>
          </a:xfrm>
          <a:prstGeom prst="roundRect">
            <a:avLst>
              <a:gd name="adj" fmla="val 13333"/>
            </a:avLst>
          </a:prstGeom>
          <a:solidFill>
            <a:srgbClr val="0F1341"/>
          </a:solidFill>
          <a:ln/>
        </p:spPr>
      </p:sp>
      <p:sp>
        <p:nvSpPr>
          <p:cNvPr id="24" name="Text 21"/>
          <p:cNvSpPr txBox="1"/>
          <p:nvPr/>
        </p:nvSpPr>
        <p:spPr>
          <a:xfrm>
            <a:off x="777240" y="5349240"/>
            <a:ext cx="10698480" cy="54864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What they share: </a:t>
            </a:r>
            <a:pPr indent="0" marL="0">
              <a:buNone/>
            </a:pPr>
            <a:r>
              <a:rPr lang="en-US" sz="1300" dirty="0">
                <a:solidFill>
                  <a:srgbClr val="FFFFFF"/>
                </a:solidFill>
                <a:latin typeface="Montserrat" pitchFamily="34" charset="0"/>
                <a:ea typeface="Montserrat" pitchFamily="34" charset="-122"/>
                <a:cs typeface="Montserrat" pitchFamily="34" charset="-120"/>
              </a:rPr>
              <a:t>AI is not only in the product — it runs the company. Small teams, agents everywhere, shipping every day.</a:t>
            </a:r>
            <a:endParaRPr lang="en-US" sz="1300" dirty="0"/>
          </a:p>
        </p:txBody>
      </p:sp>
      <p:sp>
        <p:nvSpPr>
          <p:cNvPr id="25" name="Text 22"/>
          <p:cNvSpPr txBox="1"/>
          <p:nvPr/>
        </p:nvSpPr>
        <p:spPr>
          <a:xfrm>
            <a:off x="1920240" y="5989320"/>
            <a:ext cx="82296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Sources: company statements and press reports, 2023–2025. Figures as reported, not audited.</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What we mean by “AI-native”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AI-native is not using more AI tools — it is building the company around them</a:t>
            </a:r>
            <a:endParaRPr lang="en-US" sz="1300" dirty="0"/>
          </a:p>
        </p:txBody>
      </p:sp>
      <p:sp>
        <p:nvSpPr>
          <p:cNvPr id="5" name="Shape 2"/>
          <p:cNvSpPr/>
          <p:nvPr/>
        </p:nvSpPr>
        <p:spPr>
          <a:xfrm>
            <a:off x="548640" y="1783080"/>
            <a:ext cx="5120640" cy="1691640"/>
          </a:xfrm>
          <a:prstGeom prst="roundRect">
            <a:avLst>
              <a:gd name="adj" fmla="val 4324"/>
            </a:avLst>
          </a:prstGeom>
          <a:solidFill>
            <a:srgbClr val="F3F7FC"/>
          </a:solidFill>
          <a:ln/>
        </p:spPr>
      </p:sp>
      <p:sp>
        <p:nvSpPr>
          <p:cNvPr id="6" name="Shape 3"/>
          <p:cNvSpPr/>
          <p:nvPr/>
        </p:nvSpPr>
        <p:spPr>
          <a:xfrm>
            <a:off x="777240" y="1965960"/>
            <a:ext cx="1554480" cy="274320"/>
          </a:xfrm>
          <a:prstGeom prst="roundRect">
            <a:avLst>
              <a:gd name="adj" fmla="val 26667"/>
            </a:avLst>
          </a:prstGeom>
          <a:solidFill>
            <a:srgbClr val="C9D3E3"/>
          </a:solidFill>
          <a:ln/>
        </p:spPr>
      </p:sp>
      <p:sp>
        <p:nvSpPr>
          <p:cNvPr id="7" name="Text 4"/>
          <p:cNvSpPr txBox="1"/>
          <p:nvPr/>
        </p:nvSpPr>
        <p:spPr>
          <a:xfrm>
            <a:off x="777240" y="1965960"/>
            <a:ext cx="155448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AI-ENABLED</a:t>
            </a:r>
            <a:endParaRPr lang="en-US" sz="900" dirty="0"/>
          </a:p>
        </p:txBody>
      </p:sp>
      <p:sp>
        <p:nvSpPr>
          <p:cNvPr id="8" name="Text 5"/>
          <p:cNvSpPr txBox="1"/>
          <p:nvPr/>
        </p:nvSpPr>
        <p:spPr>
          <a:xfrm>
            <a:off x="777240" y="2331720"/>
            <a:ext cx="4754880" cy="365760"/>
          </a:xfrm>
          <a:prstGeom prst="rect">
            <a:avLst/>
          </a:prstGeom>
          <a:noFill/>
          <a:ln/>
        </p:spPr>
        <p:txBody>
          <a:bodyPr wrap="square" lIns="0" tIns="0" rIns="0" bIns="0" rtlCol="0" anchor="t"/>
          <a:lstStyle/>
          <a:p>
            <a:pPr indent="0" marL="0">
              <a:buNone/>
            </a:pPr>
            <a:r>
              <a:rPr lang="en-US" sz="1500" b="1" dirty="0">
                <a:solidFill>
                  <a:srgbClr val="0F1341"/>
                </a:solidFill>
                <a:latin typeface="Montserrat" pitchFamily="34" charset="0"/>
                <a:ea typeface="Montserrat" pitchFamily="34" charset="-122"/>
                <a:cs typeface="Montserrat" pitchFamily="34" charset="-120"/>
              </a:rPr>
              <a:t>The old process, plus an AI tool</a:t>
            </a:r>
            <a:endParaRPr lang="en-US" sz="1500" dirty="0"/>
          </a:p>
        </p:txBody>
      </p:sp>
      <p:sp>
        <p:nvSpPr>
          <p:cNvPr id="9" name="Text 6"/>
          <p:cNvSpPr txBox="1"/>
          <p:nvPr/>
        </p:nvSpPr>
        <p:spPr>
          <a:xfrm>
            <a:off x="777240" y="2724912"/>
            <a:ext cx="4754880" cy="68580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ChatGPT writes the pitch deck, the copy and the business plan. The steps and the decisions stay the same — just faster.</a:t>
            </a:r>
            <a:endParaRPr lang="en-US" sz="1200" dirty="0"/>
          </a:p>
        </p:txBody>
      </p:sp>
      <p:sp>
        <p:nvSpPr>
          <p:cNvPr id="10" name="Shape 7"/>
          <p:cNvSpPr/>
          <p:nvPr/>
        </p:nvSpPr>
        <p:spPr>
          <a:xfrm>
            <a:off x="548640" y="3657600"/>
            <a:ext cx="5120640" cy="1874520"/>
          </a:xfrm>
          <a:prstGeom prst="roundRect">
            <a:avLst>
              <a:gd name="adj" fmla="val 3902"/>
            </a:avLst>
          </a:prstGeom>
          <a:solidFill>
            <a:srgbClr val="0F1341"/>
          </a:solidFill>
          <a:ln/>
        </p:spPr>
      </p:sp>
      <p:sp>
        <p:nvSpPr>
          <p:cNvPr id="11" name="Shape 8"/>
          <p:cNvSpPr/>
          <p:nvPr/>
        </p:nvSpPr>
        <p:spPr>
          <a:xfrm>
            <a:off x="777240" y="3840480"/>
            <a:ext cx="1554480" cy="274320"/>
          </a:xfrm>
          <a:prstGeom prst="roundRect">
            <a:avLst>
              <a:gd name="adj" fmla="val 26667"/>
            </a:avLst>
          </a:prstGeom>
          <a:solidFill>
            <a:srgbClr val="4A8FDB"/>
          </a:solidFill>
          <a:ln/>
        </p:spPr>
      </p:sp>
      <p:sp>
        <p:nvSpPr>
          <p:cNvPr id="12" name="Text 9"/>
          <p:cNvSpPr txBox="1"/>
          <p:nvPr/>
        </p:nvSpPr>
        <p:spPr>
          <a:xfrm>
            <a:off x="777240" y="3840480"/>
            <a:ext cx="15544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AI-NATIVE</a:t>
            </a:r>
            <a:endParaRPr lang="en-US" sz="900" dirty="0"/>
          </a:p>
        </p:txBody>
      </p:sp>
      <p:sp>
        <p:nvSpPr>
          <p:cNvPr id="13" name="Text 10"/>
          <p:cNvSpPr txBox="1"/>
          <p:nvPr/>
        </p:nvSpPr>
        <p:spPr>
          <a:xfrm>
            <a:off x="777240" y="4206240"/>
            <a:ext cx="4754880" cy="59436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The process redesigned around what AI makes cheap</a:t>
            </a:r>
            <a:endParaRPr lang="en-US" sz="1500" dirty="0"/>
          </a:p>
        </p:txBody>
      </p:sp>
      <p:sp>
        <p:nvSpPr>
          <p:cNvPr id="14" name="Text 11"/>
          <p:cNvSpPr txBox="1"/>
          <p:nvPr/>
        </p:nvSpPr>
        <p:spPr>
          <a:xfrm>
            <a:off x="777240" y="4800600"/>
            <a:ext cx="4754880" cy="68580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Agents research, build and test continuously; founders set hypotheses and decide on evidence. Small teams do what took 20 people.</a:t>
            </a:r>
            <a:endParaRPr lang="en-US" sz="1200" dirty="0"/>
          </a:p>
        </p:txBody>
      </p:sp>
      <p:sp>
        <p:nvSpPr>
          <p:cNvPr id="15" name="Shape 12"/>
          <p:cNvSpPr/>
          <p:nvPr/>
        </p:nvSpPr>
        <p:spPr>
          <a:xfrm>
            <a:off x="6035040" y="1892808"/>
            <a:ext cx="548640" cy="548640"/>
          </a:xfrm>
          <a:prstGeom prst="ellipse">
            <a:avLst/>
          </a:prstGeom>
          <a:solidFill>
            <a:srgbClr val="D9E8F8"/>
          </a:solidFill>
          <a:ln/>
        </p:spPr>
      </p:sp>
      <p:pic>
        <p:nvPicPr>
          <p:cNvPr id="16" name="Image 0" descr="preencoded.png">    </p:cNvPr>
          <p:cNvPicPr>
            <a:picLocks noChangeAspect="1"/>
          </p:cNvPicPr>
          <p:nvPr/>
        </p:nvPicPr>
        <p:blipFill>
          <a:blip r:embed="rId1"/>
          <a:stretch>
            <a:fillRect/>
          </a:stretch>
        </p:blipFill>
        <p:spPr>
          <a:xfrm>
            <a:off x="6163056" y="2020824"/>
            <a:ext cx="292608" cy="292608"/>
          </a:xfrm>
          <a:prstGeom prst="rect">
            <a:avLst/>
          </a:prstGeom>
        </p:spPr>
      </p:pic>
      <p:sp>
        <p:nvSpPr>
          <p:cNvPr id="17" name="Text 13"/>
          <p:cNvSpPr txBox="1"/>
          <p:nvPr/>
        </p:nvSpPr>
        <p:spPr>
          <a:xfrm>
            <a:off x="6766560" y="1828800"/>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Agents do the work, humans set direction</a:t>
            </a:r>
            <a:endParaRPr lang="en-US" sz="1400" dirty="0"/>
          </a:p>
        </p:txBody>
      </p:sp>
      <p:sp>
        <p:nvSpPr>
          <p:cNvPr id="18" name="Text 14"/>
          <p:cNvSpPr txBox="1"/>
          <p:nvPr/>
        </p:nvSpPr>
        <p:spPr>
          <a:xfrm>
            <a:off x="6766560" y="2167128"/>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Founders choose what to test — agents research, build and run it</a:t>
            </a:r>
            <a:endParaRPr lang="en-US" sz="1200" dirty="0"/>
          </a:p>
        </p:txBody>
      </p:sp>
      <p:sp>
        <p:nvSpPr>
          <p:cNvPr id="19" name="Shape 15"/>
          <p:cNvSpPr/>
          <p:nvPr/>
        </p:nvSpPr>
        <p:spPr>
          <a:xfrm>
            <a:off x="6035040" y="2843784"/>
            <a:ext cx="548640" cy="548640"/>
          </a:xfrm>
          <a:prstGeom prst="ellipse">
            <a:avLst/>
          </a:prstGeom>
          <a:solidFill>
            <a:srgbClr val="D9E8F8"/>
          </a:solidFill>
          <a:ln/>
        </p:spPr>
      </p:sp>
      <p:pic>
        <p:nvPicPr>
          <p:cNvPr id="20" name="Image 1" descr="preencoded.png">    </p:cNvPr>
          <p:cNvPicPr>
            <a:picLocks noChangeAspect="1"/>
          </p:cNvPicPr>
          <p:nvPr/>
        </p:nvPicPr>
        <p:blipFill>
          <a:blip r:embed="rId2"/>
          <a:stretch>
            <a:fillRect/>
          </a:stretch>
        </p:blipFill>
        <p:spPr>
          <a:xfrm>
            <a:off x="6163056" y="2971800"/>
            <a:ext cx="292608" cy="292608"/>
          </a:xfrm>
          <a:prstGeom prst="rect">
            <a:avLst/>
          </a:prstGeom>
        </p:spPr>
      </p:pic>
      <p:sp>
        <p:nvSpPr>
          <p:cNvPr id="21" name="Text 16"/>
          <p:cNvSpPr txBox="1"/>
          <p:nvPr/>
        </p:nvSpPr>
        <p:spPr>
          <a:xfrm>
            <a:off x="6766560" y="2779776"/>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Every decision is a hypothesis</a:t>
            </a:r>
            <a:endParaRPr lang="en-US" sz="1400" dirty="0"/>
          </a:p>
        </p:txBody>
      </p:sp>
      <p:sp>
        <p:nvSpPr>
          <p:cNvPr id="22" name="Text 17"/>
          <p:cNvSpPr txBox="1"/>
          <p:nvPr/>
        </p:nvSpPr>
        <p:spPr>
          <a:xfrm>
            <a:off x="6766560" y="3118104"/>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“Students will pay for this” is an assumption with a kill criterion</a:t>
            </a:r>
            <a:endParaRPr lang="en-US" sz="1200" dirty="0"/>
          </a:p>
        </p:txBody>
      </p:sp>
      <p:sp>
        <p:nvSpPr>
          <p:cNvPr id="23" name="Shape 18"/>
          <p:cNvSpPr/>
          <p:nvPr/>
        </p:nvSpPr>
        <p:spPr>
          <a:xfrm>
            <a:off x="6035040" y="3794760"/>
            <a:ext cx="548640" cy="548640"/>
          </a:xfrm>
          <a:prstGeom prst="ellipse">
            <a:avLst/>
          </a:prstGeom>
          <a:solidFill>
            <a:srgbClr val="D9E8F8"/>
          </a:solidFill>
          <a:ln/>
        </p:spPr>
      </p:sp>
      <p:pic>
        <p:nvPicPr>
          <p:cNvPr id="24" name="Image 2" descr="preencoded.png">    </p:cNvPr>
          <p:cNvPicPr>
            <a:picLocks noChangeAspect="1"/>
          </p:cNvPicPr>
          <p:nvPr/>
        </p:nvPicPr>
        <p:blipFill>
          <a:blip r:embed="rId3"/>
          <a:stretch>
            <a:fillRect/>
          </a:stretch>
        </p:blipFill>
        <p:spPr>
          <a:xfrm>
            <a:off x="6163056" y="3922776"/>
            <a:ext cx="292608" cy="292608"/>
          </a:xfrm>
          <a:prstGeom prst="rect">
            <a:avLst/>
          </a:prstGeom>
        </p:spPr>
      </p:pic>
      <p:sp>
        <p:nvSpPr>
          <p:cNvPr id="25" name="Text 19"/>
          <p:cNvSpPr txBox="1"/>
          <p:nvPr/>
        </p:nvSpPr>
        <p:spPr>
          <a:xfrm>
            <a:off x="6766560" y="3730752"/>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Every loop makes the system smarter</a:t>
            </a:r>
            <a:endParaRPr lang="en-US" sz="1400" dirty="0"/>
          </a:p>
        </p:txBody>
      </p:sp>
      <p:sp>
        <p:nvSpPr>
          <p:cNvPr id="26" name="Text 20"/>
          <p:cNvSpPr txBox="1"/>
          <p:nvPr/>
        </p:nvSpPr>
        <p:spPr>
          <a:xfrm>
            <a:off x="6766560" y="4069080"/>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Each experiment sharpens the next — learning compounds</a:t>
            </a:r>
            <a:endParaRPr lang="en-US" sz="1200" dirty="0"/>
          </a:p>
        </p:txBody>
      </p:sp>
      <p:sp>
        <p:nvSpPr>
          <p:cNvPr id="27" name="Shape 21"/>
          <p:cNvSpPr/>
          <p:nvPr/>
        </p:nvSpPr>
        <p:spPr>
          <a:xfrm>
            <a:off x="6035040" y="4745736"/>
            <a:ext cx="548640" cy="548640"/>
          </a:xfrm>
          <a:prstGeom prst="ellipse">
            <a:avLst/>
          </a:prstGeom>
          <a:solidFill>
            <a:srgbClr val="D9E8F8"/>
          </a:solidFill>
          <a:ln/>
        </p:spPr>
      </p:sp>
      <p:pic>
        <p:nvPicPr>
          <p:cNvPr id="28" name="Image 3" descr="preencoded.png">    </p:cNvPr>
          <p:cNvPicPr>
            <a:picLocks noChangeAspect="1"/>
          </p:cNvPicPr>
          <p:nvPr/>
        </p:nvPicPr>
        <p:blipFill>
          <a:blip r:embed="rId4"/>
          <a:stretch>
            <a:fillRect/>
          </a:stretch>
        </p:blipFill>
        <p:spPr>
          <a:xfrm>
            <a:off x="6163056" y="4873752"/>
            <a:ext cx="292608" cy="292608"/>
          </a:xfrm>
          <a:prstGeom prst="rect">
            <a:avLst/>
          </a:prstGeom>
        </p:spPr>
      </p:pic>
      <p:sp>
        <p:nvSpPr>
          <p:cNvPr id="29" name="Text 22"/>
          <p:cNvSpPr txBox="1"/>
          <p:nvPr/>
        </p:nvSpPr>
        <p:spPr>
          <a:xfrm>
            <a:off x="6766560" y="4681728"/>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Evidence beats opinion</a:t>
            </a:r>
            <a:endParaRPr lang="en-US" sz="1400" dirty="0"/>
          </a:p>
        </p:txBody>
      </p:sp>
      <p:sp>
        <p:nvSpPr>
          <p:cNvPr id="30" name="Text 23"/>
          <p:cNvSpPr txBox="1"/>
          <p:nvPr/>
        </p:nvSpPr>
        <p:spPr>
          <a:xfrm>
            <a:off x="6766560" y="5020056"/>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 click, sign-up or payment outweighs any AI-generated forecast</a:t>
            </a:r>
            <a:endParaRPr lang="en-US" sz="1200" dirty="0"/>
          </a:p>
        </p:txBody>
      </p:sp>
      <p:sp>
        <p:nvSpPr>
          <p:cNvPr id="31" name="Shape 24"/>
          <p:cNvSpPr/>
          <p:nvPr/>
        </p:nvSpPr>
        <p:spPr>
          <a:xfrm>
            <a:off x="548640" y="5669280"/>
            <a:ext cx="11091672" cy="502920"/>
          </a:xfrm>
          <a:prstGeom prst="roundRect">
            <a:avLst>
              <a:gd name="adj" fmla="val 14545"/>
            </a:avLst>
          </a:prstGeom>
          <a:solidFill>
            <a:srgbClr val="0F1341"/>
          </a:solidFill>
          <a:ln/>
        </p:spPr>
      </p:sp>
      <p:sp>
        <p:nvSpPr>
          <p:cNvPr id="32" name="Text 25"/>
          <p:cNvSpPr txBox="1"/>
          <p:nvPr/>
        </p:nvSpPr>
        <p:spPr>
          <a:xfrm>
            <a:off x="777240" y="5669280"/>
            <a:ext cx="10698480" cy="50292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In one line: </a:t>
            </a:r>
            <a:pPr indent="0" marL="0">
              <a:buNone/>
            </a:pPr>
            <a:r>
              <a:rPr lang="en-US" sz="1300" dirty="0">
                <a:solidFill>
                  <a:srgbClr val="FFFFFF"/>
                </a:solidFill>
                <a:latin typeface="Montserrat" pitchFamily="34" charset="0"/>
                <a:ea typeface="Montserrat" pitchFamily="34" charset="-122"/>
                <a:cs typeface="Montserrat" pitchFamily="34" charset="-120"/>
              </a:rPr>
              <a:t>an AI-native company does not just generate answers faster — it tests its assumptions faster than anyone else.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Build – Measure – Learn, AI edition</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Lean Startup (Ries, 2011): AI collapses “build” — “learn” becomes the bottleneck</a:t>
            </a:r>
            <a:endParaRPr lang="en-US" sz="1300" dirty="0"/>
          </a:p>
        </p:txBody>
      </p:sp>
      <p:sp>
        <p:nvSpPr>
          <p:cNvPr id="5" name="Shape 2"/>
          <p:cNvSpPr/>
          <p:nvPr/>
        </p:nvSpPr>
        <p:spPr>
          <a:xfrm>
            <a:off x="2148840" y="1783080"/>
            <a:ext cx="1874520" cy="1874520"/>
          </a:xfrm>
          <a:prstGeom prst="ellipse">
            <a:avLst/>
          </a:prstGeom>
          <a:solidFill>
            <a:srgbClr val="F3F7FC"/>
          </a:solidFill>
          <a:ln w="25400">
            <a:solidFill>
              <a:srgbClr val="C9D3E3"/>
            </a:solidFill>
            <a:prstDash val="solid"/>
          </a:ln>
        </p:spPr>
      </p:sp>
      <p:sp>
        <p:nvSpPr>
          <p:cNvPr id="6" name="Text 3"/>
          <p:cNvSpPr txBox="1"/>
          <p:nvPr/>
        </p:nvSpPr>
        <p:spPr>
          <a:xfrm>
            <a:off x="2148840" y="2240280"/>
            <a:ext cx="1874520" cy="411480"/>
          </a:xfrm>
          <a:prstGeom prst="rect">
            <a:avLst/>
          </a:prstGeom>
          <a:noFill/>
          <a:ln/>
        </p:spPr>
        <p:txBody>
          <a:bodyPr wrap="square" lIns="0" tIns="0" rIns="0" bIns="0" rtlCol="0" anchor="t"/>
          <a:lstStyle/>
          <a:p>
            <a:pPr algn="ctr" indent="0" marL="0">
              <a:buNone/>
            </a:pPr>
            <a:r>
              <a:rPr lang="en-US" sz="1800" b="1" dirty="0">
                <a:solidFill>
                  <a:srgbClr val="0F1341"/>
                </a:solidFill>
                <a:latin typeface="Montserrat" pitchFamily="34" charset="0"/>
                <a:ea typeface="Montserrat" pitchFamily="34" charset="-122"/>
                <a:cs typeface="Montserrat" pitchFamily="34" charset="-120"/>
              </a:rPr>
              <a:t>Build</a:t>
            </a:r>
            <a:endParaRPr lang="en-US" sz="1800" dirty="0"/>
          </a:p>
        </p:txBody>
      </p:sp>
      <p:sp>
        <p:nvSpPr>
          <p:cNvPr id="7" name="Text 4"/>
          <p:cNvSpPr txBox="1"/>
          <p:nvPr/>
        </p:nvSpPr>
        <p:spPr>
          <a:xfrm>
            <a:off x="2331720" y="2679192"/>
            <a:ext cx="1508760" cy="548640"/>
          </a:xfrm>
          <a:prstGeom prst="rect">
            <a:avLst/>
          </a:prstGeom>
          <a:noFill/>
          <a:ln/>
        </p:spPr>
        <p:txBody>
          <a:bodyPr wrap="square" lIns="0" tIns="0" rIns="0" bIns="0" rtlCol="0" anchor="t"/>
          <a:lstStyle/>
          <a:p>
            <a:pPr algn="ctr" indent="0" marL="0">
              <a:buNone/>
            </a:pPr>
            <a:r>
              <a:rPr lang="en-US" sz="1100" b="1" dirty="0">
                <a:solidFill>
                  <a:srgbClr val="2E6FBF"/>
                </a:solidFill>
                <a:latin typeface="Montserrat" pitchFamily="34" charset="0"/>
                <a:ea typeface="Montserrat" pitchFamily="34" charset="-122"/>
                <a:cs typeface="Montserrat" pitchFamily="34" charset="-120"/>
              </a:rPr>
              <a:t>months → hours</a:t>
            </a:r>
            <a:endParaRPr lang="en-US" sz="1100" dirty="0"/>
          </a:p>
        </p:txBody>
      </p:sp>
      <p:sp>
        <p:nvSpPr>
          <p:cNvPr id="8" name="Shape 5"/>
          <p:cNvSpPr/>
          <p:nvPr/>
        </p:nvSpPr>
        <p:spPr>
          <a:xfrm>
            <a:off x="3931920" y="3749040"/>
            <a:ext cx="1874520" cy="1874520"/>
          </a:xfrm>
          <a:prstGeom prst="ellipse">
            <a:avLst/>
          </a:prstGeom>
          <a:solidFill>
            <a:srgbClr val="F3F7FC"/>
          </a:solidFill>
          <a:ln w="25400">
            <a:solidFill>
              <a:srgbClr val="C9D3E3"/>
            </a:solidFill>
            <a:prstDash val="solid"/>
          </a:ln>
        </p:spPr>
      </p:sp>
      <p:sp>
        <p:nvSpPr>
          <p:cNvPr id="9" name="Text 6"/>
          <p:cNvSpPr txBox="1"/>
          <p:nvPr/>
        </p:nvSpPr>
        <p:spPr>
          <a:xfrm>
            <a:off x="3931920" y="4206240"/>
            <a:ext cx="1874520" cy="411480"/>
          </a:xfrm>
          <a:prstGeom prst="rect">
            <a:avLst/>
          </a:prstGeom>
          <a:noFill/>
          <a:ln/>
        </p:spPr>
        <p:txBody>
          <a:bodyPr wrap="square" lIns="0" tIns="0" rIns="0" bIns="0" rtlCol="0" anchor="t"/>
          <a:lstStyle/>
          <a:p>
            <a:pPr algn="ctr" indent="0" marL="0">
              <a:buNone/>
            </a:pPr>
            <a:r>
              <a:rPr lang="en-US" sz="1800" b="1" dirty="0">
                <a:solidFill>
                  <a:srgbClr val="0F1341"/>
                </a:solidFill>
                <a:latin typeface="Montserrat" pitchFamily="34" charset="0"/>
                <a:ea typeface="Montserrat" pitchFamily="34" charset="-122"/>
                <a:cs typeface="Montserrat" pitchFamily="34" charset="-120"/>
              </a:rPr>
              <a:t>Measure</a:t>
            </a:r>
            <a:endParaRPr lang="en-US" sz="1800" dirty="0"/>
          </a:p>
        </p:txBody>
      </p:sp>
      <p:sp>
        <p:nvSpPr>
          <p:cNvPr id="10" name="Text 7"/>
          <p:cNvSpPr txBox="1"/>
          <p:nvPr/>
        </p:nvSpPr>
        <p:spPr>
          <a:xfrm>
            <a:off x="4114800" y="4645152"/>
            <a:ext cx="1508760" cy="548640"/>
          </a:xfrm>
          <a:prstGeom prst="rect">
            <a:avLst/>
          </a:prstGeom>
          <a:noFill/>
          <a:ln/>
        </p:spPr>
        <p:txBody>
          <a:bodyPr wrap="square" lIns="0" tIns="0" rIns="0" bIns="0" rtlCol="0" anchor="t"/>
          <a:lstStyle/>
          <a:p>
            <a:pPr algn="ctr" indent="0" marL="0">
              <a:buNone/>
            </a:pPr>
            <a:r>
              <a:rPr lang="en-US" sz="1100" b="1" dirty="0">
                <a:solidFill>
                  <a:srgbClr val="2E6FBF"/>
                </a:solidFill>
                <a:latin typeface="Montserrat" pitchFamily="34" charset="0"/>
                <a:ea typeface="Montserrat" pitchFamily="34" charset="-122"/>
                <a:cs typeface="Montserrat" pitchFamily="34" charset="-120"/>
              </a:rPr>
              <a:t>weeks → days</a:t>
            </a:r>
            <a:endParaRPr lang="en-US" sz="1100" dirty="0"/>
          </a:p>
        </p:txBody>
      </p:sp>
      <p:sp>
        <p:nvSpPr>
          <p:cNvPr id="11" name="Shape 8"/>
          <p:cNvSpPr/>
          <p:nvPr/>
        </p:nvSpPr>
        <p:spPr>
          <a:xfrm>
            <a:off x="365760" y="3749040"/>
            <a:ext cx="1874520" cy="1874520"/>
          </a:xfrm>
          <a:prstGeom prst="ellipse">
            <a:avLst/>
          </a:prstGeom>
          <a:solidFill>
            <a:srgbClr val="0F1341"/>
          </a:solidFill>
          <a:ln w="25400">
            <a:solidFill>
              <a:srgbClr val="4A8FDB"/>
            </a:solidFill>
            <a:prstDash val="solid"/>
          </a:ln>
        </p:spPr>
      </p:sp>
      <p:sp>
        <p:nvSpPr>
          <p:cNvPr id="12" name="Text 9"/>
          <p:cNvSpPr txBox="1"/>
          <p:nvPr/>
        </p:nvSpPr>
        <p:spPr>
          <a:xfrm>
            <a:off x="365760" y="4206240"/>
            <a:ext cx="187452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Learn</a:t>
            </a:r>
            <a:endParaRPr lang="en-US" sz="1800" dirty="0"/>
          </a:p>
        </p:txBody>
      </p:sp>
      <p:sp>
        <p:nvSpPr>
          <p:cNvPr id="13" name="Text 10"/>
          <p:cNvSpPr txBox="1"/>
          <p:nvPr/>
        </p:nvSpPr>
        <p:spPr>
          <a:xfrm>
            <a:off x="548640" y="4645152"/>
            <a:ext cx="1508760" cy="548640"/>
          </a:xfrm>
          <a:prstGeom prst="rect">
            <a:avLst/>
          </a:prstGeom>
          <a:noFill/>
          <a:ln/>
        </p:spPr>
        <p:txBody>
          <a:bodyPr wrap="square" lIns="0" tIns="0" rIns="0" bIns="0" rtlCol="0" anchor="t"/>
          <a:lstStyle/>
          <a:p>
            <a:pPr algn="ctr" indent="0" marL="0">
              <a:buNone/>
            </a:pPr>
            <a:r>
              <a:rPr lang="en-US" sz="1100" b="1" dirty="0">
                <a:solidFill>
                  <a:srgbClr val="4A8FDB"/>
                </a:solidFill>
                <a:latin typeface="Montserrat" pitchFamily="34" charset="0"/>
                <a:ea typeface="Montserrat" pitchFamily="34" charset="-122"/>
                <a:cs typeface="Montserrat" pitchFamily="34" charset="-120"/>
              </a:rPr>
              <a:t>still human — the new bottleneck</a:t>
            </a:r>
            <a:endParaRPr lang="en-US" sz="1100" dirty="0"/>
          </a:p>
        </p:txBody>
      </p:sp>
      <p:sp>
        <p:nvSpPr>
          <p:cNvPr id="14" name="Shape 11"/>
          <p:cNvSpPr/>
          <p:nvPr/>
        </p:nvSpPr>
        <p:spPr>
          <a:xfrm>
            <a:off x="3931920" y="3246120"/>
            <a:ext cx="502920" cy="548640"/>
          </a:xfrm>
          <a:prstGeom prst="line">
            <a:avLst/>
          </a:prstGeom>
          <a:noFill/>
          <a:ln w="25400">
            <a:solidFill>
              <a:srgbClr val="6A7FA8"/>
            </a:solidFill>
            <a:prstDash val="solid"/>
            <a:tailEnd type="triangle"/>
          </a:ln>
        </p:spPr>
      </p:sp>
      <p:sp>
        <p:nvSpPr>
          <p:cNvPr id="15" name="Shape 12"/>
          <p:cNvSpPr/>
          <p:nvPr/>
        </p:nvSpPr>
        <p:spPr>
          <a:xfrm flipH="1">
            <a:off x="2331720" y="5120640"/>
            <a:ext cx="1554480" cy="0"/>
          </a:xfrm>
          <a:prstGeom prst="line">
            <a:avLst/>
          </a:prstGeom>
          <a:noFill/>
          <a:ln w="25400">
            <a:solidFill>
              <a:srgbClr val="6A7FA8"/>
            </a:solidFill>
            <a:prstDash val="solid"/>
            <a:tailEnd type="triangle"/>
          </a:ln>
        </p:spPr>
      </p:sp>
      <p:sp>
        <p:nvSpPr>
          <p:cNvPr id="16" name="Shape 13"/>
          <p:cNvSpPr/>
          <p:nvPr/>
        </p:nvSpPr>
        <p:spPr>
          <a:xfrm flipV="1">
            <a:off x="1600200" y="3154680"/>
            <a:ext cx="548640" cy="594360"/>
          </a:xfrm>
          <a:prstGeom prst="line">
            <a:avLst/>
          </a:prstGeom>
          <a:noFill/>
          <a:ln w="25400">
            <a:solidFill>
              <a:srgbClr val="6A7FA8"/>
            </a:solidFill>
            <a:prstDash val="solid"/>
            <a:tailEnd type="triangle"/>
          </a:ln>
        </p:spPr>
      </p:sp>
      <p:sp>
        <p:nvSpPr>
          <p:cNvPr id="17" name="Shape 14"/>
          <p:cNvSpPr/>
          <p:nvPr/>
        </p:nvSpPr>
        <p:spPr>
          <a:xfrm>
            <a:off x="6629400" y="1783080"/>
            <a:ext cx="5010912" cy="2331720"/>
          </a:xfrm>
          <a:prstGeom prst="roundRect">
            <a:avLst>
              <a:gd name="adj" fmla="val 3137"/>
            </a:avLst>
          </a:prstGeom>
          <a:solidFill>
            <a:srgbClr val="0F1341"/>
          </a:solidFill>
          <a:ln/>
        </p:spPr>
      </p:sp>
      <p:sp>
        <p:nvSpPr>
          <p:cNvPr id="18" name="Text 15"/>
          <p:cNvSpPr txBox="1"/>
          <p:nvPr/>
        </p:nvSpPr>
        <p:spPr>
          <a:xfrm>
            <a:off x="6858000" y="1920240"/>
            <a:ext cx="2743200" cy="1005840"/>
          </a:xfrm>
          <a:prstGeom prst="rect">
            <a:avLst/>
          </a:prstGeom>
          <a:noFill/>
          <a:ln/>
        </p:spPr>
        <p:txBody>
          <a:bodyPr wrap="square" lIns="0" tIns="0" rIns="0" bIns="0" rtlCol="0" anchor="t"/>
          <a:lstStyle/>
          <a:p>
            <a:pPr indent="0" marL="0">
              <a:buNone/>
            </a:pPr>
            <a:r>
              <a:rPr lang="en-US" sz="6000" b="1" dirty="0">
                <a:solidFill>
                  <a:srgbClr val="FFFFFF"/>
                </a:solidFill>
                <a:latin typeface="Montserrat" pitchFamily="34" charset="0"/>
                <a:ea typeface="Montserrat" pitchFamily="34" charset="-122"/>
                <a:cs typeface="Montserrat" pitchFamily="34" charset="-120"/>
              </a:rPr>
              <a:t>35%</a:t>
            </a:r>
            <a:endParaRPr lang="en-US" sz="6000" dirty="0"/>
          </a:p>
        </p:txBody>
      </p:sp>
      <p:sp>
        <p:nvSpPr>
          <p:cNvPr id="19" name="Text 16"/>
          <p:cNvSpPr txBox="1"/>
          <p:nvPr/>
        </p:nvSpPr>
        <p:spPr>
          <a:xfrm>
            <a:off x="6858000" y="2971800"/>
            <a:ext cx="4572000" cy="822960"/>
          </a:xfrm>
          <a:prstGeom prst="rect">
            <a:avLst/>
          </a:prstGeom>
          <a:noFill/>
          <a:ln/>
        </p:spPr>
        <p:txBody>
          <a:bodyPr wrap="square" lIns="0" tIns="0" rIns="0" bIns="0" rtlCol="0" anchor="t"/>
          <a:lstStyle/>
          <a:p>
            <a:pPr indent="0" marL="0">
              <a:buNone/>
            </a:pPr>
            <a:r>
              <a:rPr lang="en-US" sz="1400" dirty="0">
                <a:solidFill>
                  <a:srgbClr val="C9D3E3"/>
                </a:solidFill>
                <a:latin typeface="Montserrat" pitchFamily="34" charset="0"/>
                <a:ea typeface="Montserrat" pitchFamily="34" charset="-122"/>
                <a:cs typeface="Montserrat" pitchFamily="34" charset="-120"/>
              </a:rPr>
              <a:t>of failed startups name “no market need” as a reason — they built something nobody wanted.</a:t>
            </a:r>
            <a:endParaRPr lang="en-US" sz="1400" dirty="0"/>
          </a:p>
        </p:txBody>
      </p:sp>
      <p:sp>
        <p:nvSpPr>
          <p:cNvPr id="20" name="Text 17"/>
          <p:cNvSpPr txBox="1"/>
          <p:nvPr/>
        </p:nvSpPr>
        <p:spPr>
          <a:xfrm>
            <a:off x="6858000" y="3767328"/>
            <a:ext cx="4572000" cy="274320"/>
          </a:xfrm>
          <a:prstGeom prst="rect">
            <a:avLst/>
          </a:prstGeom>
          <a:noFill/>
          <a:ln/>
        </p:spPr>
        <p:txBody>
          <a:bodyPr wrap="square" lIns="0" tIns="0" rIns="0" bIns="0" rtlCol="0" anchor="t"/>
          <a:lstStyle/>
          <a:p>
            <a:pPr indent="0" marL="0">
              <a:buNone/>
            </a:pPr>
            <a:r>
              <a:rPr lang="en-US" sz="900" i="1" dirty="0">
                <a:solidFill>
                  <a:srgbClr val="6A7FA8"/>
                </a:solidFill>
                <a:latin typeface="Montserrat" pitchFamily="34" charset="0"/>
                <a:ea typeface="Montserrat" pitchFamily="34" charset="-122"/>
                <a:cs typeface="Montserrat" pitchFamily="34" charset="-120"/>
              </a:rPr>
              <a:t>Source: CB Insights, startup post-mortems (2021).</a:t>
            </a:r>
            <a:endParaRPr lang="en-US" sz="900" dirty="0"/>
          </a:p>
        </p:txBody>
      </p:sp>
      <p:sp>
        <p:nvSpPr>
          <p:cNvPr id="21" name="Shape 18"/>
          <p:cNvSpPr/>
          <p:nvPr/>
        </p:nvSpPr>
        <p:spPr>
          <a:xfrm>
            <a:off x="6629400" y="4297680"/>
            <a:ext cx="5010912" cy="1554480"/>
          </a:xfrm>
          <a:prstGeom prst="roundRect">
            <a:avLst>
              <a:gd name="adj" fmla="val 4706"/>
            </a:avLst>
          </a:prstGeom>
          <a:solidFill>
            <a:srgbClr val="F3F7FC"/>
          </a:solidFill>
          <a:ln/>
        </p:spPr>
      </p:sp>
      <p:sp>
        <p:nvSpPr>
          <p:cNvPr id="22" name="Text 19"/>
          <p:cNvSpPr txBox="1"/>
          <p:nvPr/>
        </p:nvSpPr>
        <p:spPr>
          <a:xfrm>
            <a:off x="6858000" y="4434840"/>
            <a:ext cx="457200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The new founder question</a:t>
            </a:r>
            <a:endParaRPr lang="en-US" sz="1400" dirty="0"/>
          </a:p>
        </p:txBody>
      </p:sp>
      <p:sp>
        <p:nvSpPr>
          <p:cNvPr id="23" name="Text 20"/>
          <p:cNvSpPr txBox="1"/>
          <p:nvPr/>
        </p:nvSpPr>
        <p:spPr>
          <a:xfrm>
            <a:off x="6858000" y="4800600"/>
            <a:ext cx="4572000" cy="914400"/>
          </a:xfrm>
          <a:prstGeom prst="rect">
            <a:avLst/>
          </a:prstGeom>
          <a:noFill/>
          <a:ln/>
        </p:spPr>
        <p:txBody>
          <a:bodyPr wrap="square" lIns="0" tIns="0" rIns="0" bIns="0" rtlCol="0" anchor="t"/>
          <a:lstStyle/>
          <a:p>
            <a:pPr indent="0" marL="0">
              <a:buNone/>
            </a:pPr>
            <a:r>
              <a:rPr lang="en-US" sz="1400" dirty="0">
                <a:solidFill>
                  <a:srgbClr val="5B6270"/>
                </a:solidFill>
                <a:latin typeface="Montserrat" pitchFamily="34" charset="0"/>
                <a:ea typeface="Montserrat" pitchFamily="34" charset="-122"/>
                <a:cs typeface="Montserrat" pitchFamily="34" charset="-120"/>
              </a:rPr>
              <a:t>Not “can we build it?” — </a:t>
            </a:r>
            <a:pPr indent="0" marL="0">
              <a:buNone/>
            </a:pPr>
            <a:r>
              <a:rPr lang="en-US" sz="1400" b="1" dirty="0">
                <a:solidFill>
                  <a:srgbClr val="2E6FBF"/>
                </a:solidFill>
                <a:latin typeface="Montserrat" pitchFamily="34" charset="0"/>
                <a:ea typeface="Montserrat" pitchFamily="34" charset="-122"/>
                <a:cs typeface="Montserrat" pitchFamily="34" charset="-120"/>
              </a:rPr>
              <a:t>“what is the cheapest test that could prove us wrong this week?”</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Live: from your idea to a tested product</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The room picks the idea — AI builds it and puts it in front of you</a:t>
            </a:r>
            <a:endParaRPr lang="en-US" sz="1300" dirty="0"/>
          </a:p>
        </p:txBody>
      </p:sp>
      <p:sp>
        <p:nvSpPr>
          <p:cNvPr id="5" name="Shape 2"/>
          <p:cNvSpPr/>
          <p:nvPr/>
        </p:nvSpPr>
        <p:spPr>
          <a:xfrm>
            <a:off x="548640" y="1783080"/>
            <a:ext cx="2615184" cy="1828800"/>
          </a:xfrm>
          <a:prstGeom prst="roundRect">
            <a:avLst>
              <a:gd name="adj" fmla="val 4000"/>
            </a:avLst>
          </a:prstGeom>
          <a:solidFill>
            <a:srgbClr val="F3F7FC"/>
          </a:solidFill>
          <a:ln/>
        </p:spPr>
      </p:sp>
      <p:sp>
        <p:nvSpPr>
          <p:cNvPr id="6" name="Shape 3"/>
          <p:cNvSpPr/>
          <p:nvPr/>
        </p:nvSpPr>
        <p:spPr>
          <a:xfrm>
            <a:off x="749808" y="1965960"/>
            <a:ext cx="384048" cy="384048"/>
          </a:xfrm>
          <a:prstGeom prst="ellipse">
            <a:avLst/>
          </a:prstGeom>
          <a:solidFill>
            <a:srgbClr val="2E6FBF"/>
          </a:solidFill>
          <a:ln/>
        </p:spPr>
      </p:sp>
      <p:sp>
        <p:nvSpPr>
          <p:cNvPr id="7" name="Text 4"/>
          <p:cNvSpPr txBox="1"/>
          <p:nvPr/>
        </p:nvSpPr>
        <p:spPr>
          <a:xfrm>
            <a:off x="749808"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pic>
        <p:nvPicPr>
          <p:cNvPr id="8" name="Image 0" descr="preencoded.png">    </p:cNvPr>
          <p:cNvPicPr>
            <a:picLocks noChangeAspect="1"/>
          </p:cNvPicPr>
          <p:nvPr/>
        </p:nvPicPr>
        <p:blipFill>
          <a:blip r:embed="rId1"/>
          <a:stretch>
            <a:fillRect/>
          </a:stretch>
        </p:blipFill>
        <p:spPr>
          <a:xfrm>
            <a:off x="2606040" y="1965960"/>
            <a:ext cx="365760" cy="365760"/>
          </a:xfrm>
          <a:prstGeom prst="rect">
            <a:avLst/>
          </a:prstGeom>
        </p:spPr>
      </p:pic>
      <p:sp>
        <p:nvSpPr>
          <p:cNvPr id="9" name="Text 5"/>
          <p:cNvSpPr txBox="1"/>
          <p:nvPr/>
        </p:nvSpPr>
        <p:spPr>
          <a:xfrm>
            <a:off x="749808" y="2514600"/>
            <a:ext cx="22402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You pick the idea</a:t>
            </a:r>
            <a:endParaRPr lang="en-US" sz="1400" dirty="0"/>
          </a:p>
        </p:txBody>
      </p:sp>
      <p:sp>
        <p:nvSpPr>
          <p:cNvPr id="10" name="Text 6"/>
          <p:cNvSpPr txBox="1"/>
          <p:nvPr/>
        </p:nvSpPr>
        <p:spPr>
          <a:xfrm>
            <a:off x="749808" y="2880360"/>
            <a:ext cx="2240280" cy="64008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Top answer from Menti question 2</a:t>
            </a:r>
            <a:endParaRPr lang="en-US" sz="1200" dirty="0"/>
          </a:p>
        </p:txBody>
      </p:sp>
      <p:sp>
        <p:nvSpPr>
          <p:cNvPr id="11" name="Shape 7"/>
          <p:cNvSpPr/>
          <p:nvPr/>
        </p:nvSpPr>
        <p:spPr>
          <a:xfrm>
            <a:off x="3374136" y="1783080"/>
            <a:ext cx="2615184" cy="1828800"/>
          </a:xfrm>
          <a:prstGeom prst="roundRect">
            <a:avLst>
              <a:gd name="adj" fmla="val 4000"/>
            </a:avLst>
          </a:prstGeom>
          <a:solidFill>
            <a:srgbClr val="F3F7FC"/>
          </a:solidFill>
          <a:ln/>
        </p:spPr>
      </p:sp>
      <p:sp>
        <p:nvSpPr>
          <p:cNvPr id="12" name="Shape 8"/>
          <p:cNvSpPr/>
          <p:nvPr/>
        </p:nvSpPr>
        <p:spPr>
          <a:xfrm>
            <a:off x="3575304" y="1965960"/>
            <a:ext cx="384048" cy="384048"/>
          </a:xfrm>
          <a:prstGeom prst="ellipse">
            <a:avLst/>
          </a:prstGeom>
          <a:solidFill>
            <a:srgbClr val="2E6FBF"/>
          </a:solidFill>
          <a:ln/>
        </p:spPr>
      </p:sp>
      <p:sp>
        <p:nvSpPr>
          <p:cNvPr id="13" name="Text 9"/>
          <p:cNvSpPr txBox="1"/>
          <p:nvPr/>
        </p:nvSpPr>
        <p:spPr>
          <a:xfrm>
            <a:off x="3575304"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pic>
        <p:nvPicPr>
          <p:cNvPr id="14" name="Image 1" descr="preencoded.png">    </p:cNvPr>
          <p:cNvPicPr>
            <a:picLocks noChangeAspect="1"/>
          </p:cNvPicPr>
          <p:nvPr/>
        </p:nvPicPr>
        <p:blipFill>
          <a:blip r:embed="rId2"/>
          <a:stretch>
            <a:fillRect/>
          </a:stretch>
        </p:blipFill>
        <p:spPr>
          <a:xfrm>
            <a:off x="5431536" y="1965960"/>
            <a:ext cx="365760" cy="365760"/>
          </a:xfrm>
          <a:prstGeom prst="rect">
            <a:avLst/>
          </a:prstGeom>
        </p:spPr>
      </p:pic>
      <p:sp>
        <p:nvSpPr>
          <p:cNvPr id="15" name="Text 10"/>
          <p:cNvSpPr txBox="1"/>
          <p:nvPr/>
        </p:nvSpPr>
        <p:spPr>
          <a:xfrm>
            <a:off x="3575304" y="2514600"/>
            <a:ext cx="22402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AI builds it</a:t>
            </a:r>
            <a:endParaRPr lang="en-US" sz="1400" dirty="0"/>
          </a:p>
        </p:txBody>
      </p:sp>
      <p:sp>
        <p:nvSpPr>
          <p:cNvPr id="16" name="Text 11"/>
          <p:cNvSpPr txBox="1"/>
          <p:nvPr/>
        </p:nvSpPr>
        <p:spPr>
          <a:xfrm>
            <a:off x="3575304" y="2880360"/>
            <a:ext cx="2240280" cy="64008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Landing page and two value propositions</a:t>
            </a:r>
            <a:endParaRPr lang="en-US" sz="1200" dirty="0"/>
          </a:p>
        </p:txBody>
      </p:sp>
      <p:sp>
        <p:nvSpPr>
          <p:cNvPr id="17" name="Shape 12"/>
          <p:cNvSpPr/>
          <p:nvPr/>
        </p:nvSpPr>
        <p:spPr>
          <a:xfrm>
            <a:off x="6199632" y="1783080"/>
            <a:ext cx="2615184" cy="1828800"/>
          </a:xfrm>
          <a:prstGeom prst="roundRect">
            <a:avLst>
              <a:gd name="adj" fmla="val 4000"/>
            </a:avLst>
          </a:prstGeom>
          <a:solidFill>
            <a:srgbClr val="F3F7FC"/>
          </a:solidFill>
          <a:ln/>
        </p:spPr>
      </p:sp>
      <p:sp>
        <p:nvSpPr>
          <p:cNvPr id="18" name="Shape 13"/>
          <p:cNvSpPr/>
          <p:nvPr/>
        </p:nvSpPr>
        <p:spPr>
          <a:xfrm>
            <a:off x="6400800" y="1965960"/>
            <a:ext cx="384048" cy="384048"/>
          </a:xfrm>
          <a:prstGeom prst="ellipse">
            <a:avLst/>
          </a:prstGeom>
          <a:solidFill>
            <a:srgbClr val="2E6FBF"/>
          </a:solidFill>
          <a:ln/>
        </p:spPr>
      </p:sp>
      <p:sp>
        <p:nvSpPr>
          <p:cNvPr id="19" name="Text 14"/>
          <p:cNvSpPr txBox="1"/>
          <p:nvPr/>
        </p:nvSpPr>
        <p:spPr>
          <a:xfrm>
            <a:off x="6400800"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pic>
        <p:nvPicPr>
          <p:cNvPr id="20" name="Image 2" descr="preencoded.png">    </p:cNvPr>
          <p:cNvPicPr>
            <a:picLocks noChangeAspect="1"/>
          </p:cNvPicPr>
          <p:nvPr/>
        </p:nvPicPr>
        <p:blipFill>
          <a:blip r:embed="rId3"/>
          <a:stretch>
            <a:fillRect/>
          </a:stretch>
        </p:blipFill>
        <p:spPr>
          <a:xfrm>
            <a:off x="8257032" y="1965960"/>
            <a:ext cx="365760" cy="365760"/>
          </a:xfrm>
          <a:prstGeom prst="rect">
            <a:avLst/>
          </a:prstGeom>
        </p:spPr>
      </p:pic>
      <p:sp>
        <p:nvSpPr>
          <p:cNvPr id="21" name="Text 15"/>
          <p:cNvSpPr txBox="1"/>
          <p:nvPr/>
        </p:nvSpPr>
        <p:spPr>
          <a:xfrm>
            <a:off x="6400800" y="2514600"/>
            <a:ext cx="22402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You visit it</a:t>
            </a:r>
            <a:endParaRPr lang="en-US" sz="1400" dirty="0"/>
          </a:p>
        </p:txBody>
      </p:sp>
      <p:sp>
        <p:nvSpPr>
          <p:cNvPr id="22" name="Text 16"/>
          <p:cNvSpPr txBox="1"/>
          <p:nvPr/>
        </p:nvSpPr>
        <p:spPr>
          <a:xfrm>
            <a:off x="6400800" y="2880360"/>
            <a:ext cx="2240280" cy="64008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QR code — every phone in the room</a:t>
            </a:r>
            <a:endParaRPr lang="en-US" sz="1200" dirty="0"/>
          </a:p>
        </p:txBody>
      </p:sp>
      <p:sp>
        <p:nvSpPr>
          <p:cNvPr id="23" name="Shape 17"/>
          <p:cNvSpPr/>
          <p:nvPr/>
        </p:nvSpPr>
        <p:spPr>
          <a:xfrm>
            <a:off x="9025128" y="1783080"/>
            <a:ext cx="2615184" cy="1828800"/>
          </a:xfrm>
          <a:prstGeom prst="roundRect">
            <a:avLst>
              <a:gd name="adj" fmla="val 4000"/>
            </a:avLst>
          </a:prstGeom>
          <a:solidFill>
            <a:srgbClr val="0F1341"/>
          </a:solidFill>
          <a:ln/>
        </p:spPr>
      </p:sp>
      <p:sp>
        <p:nvSpPr>
          <p:cNvPr id="24" name="Shape 18"/>
          <p:cNvSpPr/>
          <p:nvPr/>
        </p:nvSpPr>
        <p:spPr>
          <a:xfrm>
            <a:off x="9226296" y="1965960"/>
            <a:ext cx="384048" cy="384048"/>
          </a:xfrm>
          <a:prstGeom prst="ellipse">
            <a:avLst/>
          </a:prstGeom>
          <a:solidFill>
            <a:srgbClr val="4A8FDB"/>
          </a:solidFill>
          <a:ln/>
        </p:spPr>
      </p:sp>
      <p:sp>
        <p:nvSpPr>
          <p:cNvPr id="25" name="Text 19"/>
          <p:cNvSpPr txBox="1"/>
          <p:nvPr/>
        </p:nvSpPr>
        <p:spPr>
          <a:xfrm>
            <a:off x="9226296"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pic>
        <p:nvPicPr>
          <p:cNvPr id="26" name="Image 3" descr="preencoded.png">    </p:cNvPr>
          <p:cNvPicPr>
            <a:picLocks noChangeAspect="1"/>
          </p:cNvPicPr>
          <p:nvPr/>
        </p:nvPicPr>
        <p:blipFill>
          <a:blip r:embed="rId4"/>
          <a:stretch>
            <a:fillRect/>
          </a:stretch>
        </p:blipFill>
        <p:spPr>
          <a:xfrm>
            <a:off x="11082528" y="1965960"/>
            <a:ext cx="365760" cy="365760"/>
          </a:xfrm>
          <a:prstGeom prst="rect">
            <a:avLst/>
          </a:prstGeom>
        </p:spPr>
      </p:pic>
      <p:sp>
        <p:nvSpPr>
          <p:cNvPr id="27" name="Text 20"/>
          <p:cNvSpPr txBox="1"/>
          <p:nvPr/>
        </p:nvSpPr>
        <p:spPr>
          <a:xfrm>
            <a:off x="9226296" y="2514600"/>
            <a:ext cx="2240280" cy="365760"/>
          </a:xfrm>
          <a:prstGeom prst="rect">
            <a:avLst/>
          </a:prstGeom>
          <a:noFill/>
          <a:ln/>
        </p:spPr>
        <p:txBody>
          <a:bodyPr wrap="square" lIns="0" tIns="0" rIns="0" bIns="0" rtlCol="0" anchor="t"/>
          <a:lstStyle/>
          <a:p>
            <a:pPr indent="0" marL="0">
              <a:buNone/>
            </a:pPr>
            <a:r>
              <a:rPr lang="en-US" sz="1400" b="1" dirty="0">
                <a:solidFill>
                  <a:srgbClr val="FFFFFF"/>
                </a:solidFill>
                <a:latin typeface="Montserrat" pitchFamily="34" charset="0"/>
                <a:ea typeface="Montserrat" pitchFamily="34" charset="-122"/>
                <a:cs typeface="Montserrat" pitchFamily="34" charset="-120"/>
              </a:rPr>
              <a:t>We measure</a:t>
            </a:r>
            <a:endParaRPr lang="en-US" sz="1400" dirty="0"/>
          </a:p>
        </p:txBody>
      </p:sp>
      <p:sp>
        <p:nvSpPr>
          <p:cNvPr id="28" name="Text 21"/>
          <p:cNvSpPr txBox="1"/>
          <p:nvPr/>
        </p:nvSpPr>
        <p:spPr>
          <a:xfrm>
            <a:off x="9226296" y="2880360"/>
            <a:ext cx="2240280" cy="6400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Clicks on “Get early access”, live</a:t>
            </a:r>
            <a:endParaRPr lang="en-US" sz="1200" dirty="0"/>
          </a:p>
        </p:txBody>
      </p:sp>
      <p:sp>
        <p:nvSpPr>
          <p:cNvPr id="29" name="Shape 22"/>
          <p:cNvSpPr/>
          <p:nvPr/>
        </p:nvSpPr>
        <p:spPr>
          <a:xfrm>
            <a:off x="548640" y="3931920"/>
            <a:ext cx="2560320" cy="274320"/>
          </a:xfrm>
          <a:prstGeom prst="roundRect">
            <a:avLst>
              <a:gd name="adj" fmla="val 26667"/>
            </a:avLst>
          </a:prstGeom>
          <a:solidFill>
            <a:srgbClr val="2E6FBF"/>
          </a:solidFill>
          <a:ln/>
        </p:spPr>
      </p:sp>
      <p:sp>
        <p:nvSpPr>
          <p:cNvPr id="30" name="Text 23"/>
          <p:cNvSpPr txBox="1"/>
          <p:nvPr/>
        </p:nvSpPr>
        <p:spPr>
          <a:xfrm>
            <a:off x="548640" y="3931920"/>
            <a:ext cx="2560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LIVE DEMO  ·  CLAUDE CODE</a:t>
            </a:r>
            <a:endParaRPr lang="en-US" sz="900" dirty="0"/>
          </a:p>
        </p:txBody>
      </p:sp>
      <p:sp>
        <p:nvSpPr>
          <p:cNvPr id="31" name="Text 24"/>
          <p:cNvSpPr txBox="1"/>
          <p:nvPr/>
        </p:nvSpPr>
        <p:spPr>
          <a:xfrm>
            <a:off x="548640" y="4343400"/>
            <a:ext cx="5394960" cy="1280160"/>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You ask, the product changes. </a:t>
            </a:r>
            <a:pPr indent="0" marL="0">
              <a:buNone/>
            </a:pPr>
            <a:r>
              <a:rPr lang="en-US" sz="1300" dirty="0">
                <a:solidFill>
                  <a:srgbClr val="0F1341"/>
                </a:solidFill>
                <a:latin typeface="Montserrat" pitchFamily="34" charset="0"/>
                <a:ea typeface="Montserrat" pitchFamily="34" charset="-122"/>
                <a:cs typeface="Montserrat" pitchFamily="34" charset="-120"/>
              </a:rPr>
              <a:t>Name a change — a new audience, a new headline, a third variant. Claude Code builds it into the running page in minutes. We open the result, not the code.</a:t>
            </a:r>
            <a:endParaRPr lang="en-US" sz="1300" dirty="0"/>
          </a:p>
        </p:txBody>
      </p:sp>
      <p:sp>
        <p:nvSpPr>
          <p:cNvPr id="32" name="Shape 25"/>
          <p:cNvSpPr/>
          <p:nvPr/>
        </p:nvSpPr>
        <p:spPr>
          <a:xfrm>
            <a:off x="6263640" y="3931920"/>
            <a:ext cx="5376672" cy="1691640"/>
          </a:xfrm>
          <a:prstGeom prst="roundRect">
            <a:avLst>
              <a:gd name="adj" fmla="val 4324"/>
            </a:avLst>
          </a:prstGeom>
          <a:solidFill>
            <a:srgbClr val="0F1341"/>
          </a:solidFill>
          <a:ln/>
        </p:spPr>
      </p:sp>
      <p:sp>
        <p:nvSpPr>
          <p:cNvPr id="33" name="Text 26"/>
          <p:cNvSpPr txBox="1"/>
          <p:nvPr/>
        </p:nvSpPr>
        <p:spPr>
          <a:xfrm>
            <a:off x="6492240" y="4041648"/>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THE PROMPT ON STAGE</a:t>
            </a:r>
            <a:endParaRPr lang="en-US" sz="1000" dirty="0"/>
          </a:p>
        </p:txBody>
      </p:sp>
      <p:sp>
        <p:nvSpPr>
          <p:cNvPr id="34" name="Text 27"/>
          <p:cNvSpPr txBox="1"/>
          <p:nvPr/>
        </p:nvSpPr>
        <p:spPr>
          <a:xfrm>
            <a:off x="6492240" y="4343400"/>
            <a:ext cx="4937760" cy="118872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Build a landing page for [idea]. Create variant A and B with two different value propositions, each with a measurable “Get early access” button. Show clicks per variant in a live dashboard.</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How we validate at AI speed: five engines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Our system for the “learn” step — three kinds of evidence in one ledger</a:t>
            </a:r>
            <a:endParaRPr lang="en-US" sz="1300" dirty="0"/>
          </a:p>
        </p:txBody>
      </p:sp>
      <p:sp>
        <p:nvSpPr>
          <p:cNvPr id="5" name="Text 2"/>
          <p:cNvSpPr txBox="1"/>
          <p:nvPr/>
        </p:nvSpPr>
        <p:spPr>
          <a:xfrm>
            <a:off x="54864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ENGINE  ·  AI MECHANISM</a:t>
            </a:r>
            <a:endParaRPr lang="en-US" sz="900" dirty="0"/>
          </a:p>
        </p:txBody>
      </p:sp>
      <p:sp>
        <p:nvSpPr>
          <p:cNvPr id="6" name="Text 3"/>
          <p:cNvSpPr txBox="1"/>
          <p:nvPr/>
        </p:nvSpPr>
        <p:spPr>
          <a:xfrm>
            <a:off x="416052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WHAT IT DOES</a:t>
            </a:r>
            <a:endParaRPr lang="en-US" sz="900" dirty="0"/>
          </a:p>
        </p:txBody>
      </p:sp>
      <p:sp>
        <p:nvSpPr>
          <p:cNvPr id="7" name="Text 4"/>
          <p:cNvSpPr txBox="1"/>
          <p:nvPr/>
        </p:nvSpPr>
        <p:spPr>
          <a:xfrm>
            <a:off x="8092440" y="1755648"/>
            <a:ext cx="356616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FOR YOUR STARTUP</a:t>
            </a:r>
            <a:endParaRPr lang="en-US" sz="900" dirty="0"/>
          </a:p>
        </p:txBody>
      </p:sp>
      <p:sp>
        <p:nvSpPr>
          <p:cNvPr id="8" name="Shape 5"/>
          <p:cNvSpPr/>
          <p:nvPr/>
        </p:nvSpPr>
        <p:spPr>
          <a:xfrm>
            <a:off x="548640" y="2029968"/>
            <a:ext cx="11091672" cy="676656"/>
          </a:xfrm>
          <a:prstGeom prst="roundRect">
            <a:avLst>
              <a:gd name="adj" fmla="val 10811"/>
            </a:avLst>
          </a:prstGeom>
          <a:solidFill>
            <a:srgbClr val="F3F7FC"/>
          </a:solidFill>
          <a:ln/>
        </p:spPr>
      </p:sp>
      <p:sp>
        <p:nvSpPr>
          <p:cNvPr id="9" name="Shape 6"/>
          <p:cNvSpPr/>
          <p:nvPr/>
        </p:nvSpPr>
        <p:spPr>
          <a:xfrm>
            <a:off x="685800" y="2157984"/>
            <a:ext cx="420624" cy="420624"/>
          </a:xfrm>
          <a:prstGeom prst="ellipse">
            <a:avLst/>
          </a:prstGeom>
          <a:solidFill>
            <a:srgbClr val="0F1341"/>
          </a:solidFill>
          <a:ln/>
        </p:spPr>
      </p:sp>
      <p:sp>
        <p:nvSpPr>
          <p:cNvPr id="10" name="Text 7"/>
          <p:cNvSpPr txBox="1"/>
          <p:nvPr/>
        </p:nvSpPr>
        <p:spPr>
          <a:xfrm>
            <a:off x="685800" y="215798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E4</a:t>
            </a:r>
            <a:endParaRPr lang="en-US" sz="1100" dirty="0"/>
          </a:p>
        </p:txBody>
      </p:sp>
      <p:sp>
        <p:nvSpPr>
          <p:cNvPr id="11" name="Text 8"/>
          <p:cNvSpPr txBox="1"/>
          <p:nvPr/>
        </p:nvSpPr>
        <p:spPr>
          <a:xfrm>
            <a:off x="1234440" y="2103120"/>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Context Engine</a:t>
            </a:r>
            <a:endParaRPr lang="en-US" sz="1300" dirty="0"/>
          </a:p>
        </p:txBody>
      </p:sp>
      <p:sp>
        <p:nvSpPr>
          <p:cNvPr id="12" name="Text 9"/>
          <p:cNvSpPr txBox="1"/>
          <p:nvPr/>
        </p:nvSpPr>
        <p:spPr>
          <a:xfrm>
            <a:off x="1234440" y="2414016"/>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LLM RESEARCH AGENT</a:t>
            </a:r>
            <a:endParaRPr lang="en-US" sz="900" dirty="0"/>
          </a:p>
        </p:txBody>
      </p:sp>
      <p:sp>
        <p:nvSpPr>
          <p:cNvPr id="13" name="Text 10"/>
          <p:cNvSpPr txBox="1"/>
          <p:nvPr/>
        </p:nvSpPr>
        <p:spPr>
          <a:xfrm>
            <a:off x="4160520" y="2029968"/>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Reads competitor sites, reviews, regulation and news — extracts only what sources state</a:t>
            </a:r>
            <a:endParaRPr lang="en-US" sz="1100" dirty="0"/>
          </a:p>
        </p:txBody>
      </p:sp>
      <p:sp>
        <p:nvSpPr>
          <p:cNvPr id="14" name="Text 11"/>
          <p:cNvSpPr txBox="1"/>
          <p:nvPr/>
        </p:nvSpPr>
        <p:spPr>
          <a:xfrm>
            <a:off x="8092440" y="2029968"/>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Who are the competitors and what do they charge?</a:t>
            </a:r>
            <a:endParaRPr lang="en-US" sz="1200" dirty="0"/>
          </a:p>
        </p:txBody>
      </p:sp>
      <p:sp>
        <p:nvSpPr>
          <p:cNvPr id="15" name="Shape 12"/>
          <p:cNvSpPr/>
          <p:nvPr/>
        </p:nvSpPr>
        <p:spPr>
          <a:xfrm>
            <a:off x="548640" y="2779776"/>
            <a:ext cx="11091672" cy="676656"/>
          </a:xfrm>
          <a:prstGeom prst="roundRect">
            <a:avLst>
              <a:gd name="adj" fmla="val 10811"/>
            </a:avLst>
          </a:prstGeom>
          <a:solidFill>
            <a:srgbClr val="F3F7FC"/>
          </a:solidFill>
          <a:ln/>
        </p:spPr>
      </p:sp>
      <p:sp>
        <p:nvSpPr>
          <p:cNvPr id="16" name="Shape 13"/>
          <p:cNvSpPr/>
          <p:nvPr/>
        </p:nvSpPr>
        <p:spPr>
          <a:xfrm>
            <a:off x="685800" y="2907792"/>
            <a:ext cx="420624" cy="420624"/>
          </a:xfrm>
          <a:prstGeom prst="ellipse">
            <a:avLst/>
          </a:prstGeom>
          <a:solidFill>
            <a:srgbClr val="0F1341"/>
          </a:solidFill>
          <a:ln/>
        </p:spPr>
      </p:sp>
      <p:sp>
        <p:nvSpPr>
          <p:cNvPr id="17" name="Text 14"/>
          <p:cNvSpPr txBox="1"/>
          <p:nvPr/>
        </p:nvSpPr>
        <p:spPr>
          <a:xfrm>
            <a:off x="685800" y="290779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E5</a:t>
            </a:r>
            <a:endParaRPr lang="en-US" sz="1100" dirty="0"/>
          </a:p>
        </p:txBody>
      </p:sp>
      <p:sp>
        <p:nvSpPr>
          <p:cNvPr id="18" name="Text 15"/>
          <p:cNvSpPr txBox="1"/>
          <p:nvPr/>
        </p:nvSpPr>
        <p:spPr>
          <a:xfrm>
            <a:off x="1234440" y="2852928"/>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Aggregate Research</a:t>
            </a:r>
            <a:endParaRPr lang="en-US" sz="1300" dirty="0"/>
          </a:p>
        </p:txBody>
      </p:sp>
      <p:sp>
        <p:nvSpPr>
          <p:cNvPr id="19" name="Text 16"/>
          <p:cNvSpPr txBox="1"/>
          <p:nvPr/>
        </p:nvSpPr>
        <p:spPr>
          <a:xfrm>
            <a:off x="1234440" y="3163824"/>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STATISTICAL AGENT</a:t>
            </a:r>
            <a:endParaRPr lang="en-US" sz="900" dirty="0"/>
          </a:p>
        </p:txBody>
      </p:sp>
      <p:sp>
        <p:nvSpPr>
          <p:cNvPr id="20" name="Text 17"/>
          <p:cNvSpPr txBox="1"/>
          <p:nvPr/>
        </p:nvSpPr>
        <p:spPr>
          <a:xfrm>
            <a:off x="4160520" y="2779776"/>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Official statistics, TAM / SAM / SOM — top-down and bottom-up</a:t>
            </a:r>
            <a:endParaRPr lang="en-US" sz="1100" dirty="0"/>
          </a:p>
        </p:txBody>
      </p:sp>
      <p:sp>
        <p:nvSpPr>
          <p:cNvPr id="21" name="Text 18"/>
          <p:cNvSpPr txBox="1"/>
          <p:nvPr/>
        </p:nvSpPr>
        <p:spPr>
          <a:xfrm>
            <a:off x="8092440" y="2779776"/>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How many people really have the problem?</a:t>
            </a:r>
            <a:endParaRPr lang="en-US" sz="1200" dirty="0"/>
          </a:p>
        </p:txBody>
      </p:sp>
      <p:sp>
        <p:nvSpPr>
          <p:cNvPr id="22" name="Shape 19"/>
          <p:cNvSpPr/>
          <p:nvPr/>
        </p:nvSpPr>
        <p:spPr>
          <a:xfrm>
            <a:off x="548640" y="3529584"/>
            <a:ext cx="11091672" cy="676656"/>
          </a:xfrm>
          <a:prstGeom prst="roundRect">
            <a:avLst>
              <a:gd name="adj" fmla="val 10811"/>
            </a:avLst>
          </a:prstGeom>
          <a:solidFill>
            <a:srgbClr val="F3F7FC"/>
          </a:solidFill>
          <a:ln/>
        </p:spPr>
      </p:sp>
      <p:sp>
        <p:nvSpPr>
          <p:cNvPr id="23" name="Shape 20"/>
          <p:cNvSpPr/>
          <p:nvPr/>
        </p:nvSpPr>
        <p:spPr>
          <a:xfrm>
            <a:off x="685800" y="3657600"/>
            <a:ext cx="420624" cy="420624"/>
          </a:xfrm>
          <a:prstGeom prst="ellipse">
            <a:avLst/>
          </a:prstGeom>
          <a:solidFill>
            <a:srgbClr val="0F1341"/>
          </a:solidFill>
          <a:ln/>
        </p:spPr>
      </p:sp>
      <p:sp>
        <p:nvSpPr>
          <p:cNvPr id="24" name="Text 21"/>
          <p:cNvSpPr txBox="1"/>
          <p:nvPr/>
        </p:nvSpPr>
        <p:spPr>
          <a:xfrm>
            <a:off x="685800" y="36576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E2</a:t>
            </a:r>
            <a:endParaRPr lang="en-US" sz="1100" dirty="0"/>
          </a:p>
        </p:txBody>
      </p:sp>
      <p:sp>
        <p:nvSpPr>
          <p:cNvPr id="25" name="Text 22"/>
          <p:cNvSpPr txBox="1"/>
          <p:nvPr/>
        </p:nvSpPr>
        <p:spPr>
          <a:xfrm>
            <a:off x="1234440" y="3602736"/>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Simulated Mind</a:t>
            </a:r>
            <a:endParaRPr lang="en-US" sz="1300" dirty="0"/>
          </a:p>
        </p:txBody>
      </p:sp>
      <p:sp>
        <p:nvSpPr>
          <p:cNvPr id="26" name="Text 23"/>
          <p:cNvSpPr txBox="1"/>
          <p:nvPr/>
        </p:nvSpPr>
        <p:spPr>
          <a:xfrm>
            <a:off x="1234440" y="3913632"/>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NEURO-AI MODEL</a:t>
            </a:r>
            <a:endParaRPr lang="en-US" sz="900" dirty="0"/>
          </a:p>
        </p:txBody>
      </p:sp>
      <p:sp>
        <p:nvSpPr>
          <p:cNvPr id="27" name="Text 24"/>
          <p:cNvSpPr txBox="1"/>
          <p:nvPr/>
        </p:nvSpPr>
        <p:spPr>
          <a:xfrm>
            <a:off x="4160520" y="3529584"/>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Predicts a segment's attention and valuation response to a message or price</a:t>
            </a:r>
            <a:endParaRPr lang="en-US" sz="1100" dirty="0"/>
          </a:p>
        </p:txBody>
      </p:sp>
      <p:sp>
        <p:nvSpPr>
          <p:cNvPr id="28" name="Text 25"/>
          <p:cNvSpPr txBox="1"/>
          <p:nvPr/>
        </p:nvSpPr>
        <p:spPr>
          <a:xfrm>
            <a:off x="8092440" y="3529584"/>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Which message gets attention — before you spend?</a:t>
            </a:r>
            <a:endParaRPr lang="en-US" sz="1200" dirty="0"/>
          </a:p>
        </p:txBody>
      </p:sp>
      <p:sp>
        <p:nvSpPr>
          <p:cNvPr id="29" name="Shape 26"/>
          <p:cNvSpPr/>
          <p:nvPr/>
        </p:nvSpPr>
        <p:spPr>
          <a:xfrm>
            <a:off x="548640" y="4279392"/>
            <a:ext cx="11091672" cy="676656"/>
          </a:xfrm>
          <a:prstGeom prst="roundRect">
            <a:avLst>
              <a:gd name="adj" fmla="val 10811"/>
            </a:avLst>
          </a:prstGeom>
          <a:solidFill>
            <a:srgbClr val="F3F7FC"/>
          </a:solidFill>
          <a:ln/>
        </p:spPr>
      </p:sp>
      <p:sp>
        <p:nvSpPr>
          <p:cNvPr id="30" name="Shape 27"/>
          <p:cNvSpPr/>
          <p:nvPr/>
        </p:nvSpPr>
        <p:spPr>
          <a:xfrm>
            <a:off x="685800" y="4407408"/>
            <a:ext cx="420624" cy="420624"/>
          </a:xfrm>
          <a:prstGeom prst="ellipse">
            <a:avLst/>
          </a:prstGeom>
          <a:solidFill>
            <a:srgbClr val="0F1341"/>
          </a:solidFill>
          <a:ln/>
        </p:spPr>
      </p:sp>
      <p:sp>
        <p:nvSpPr>
          <p:cNvPr id="31" name="Text 28"/>
          <p:cNvSpPr txBox="1"/>
          <p:nvPr/>
        </p:nvSpPr>
        <p:spPr>
          <a:xfrm>
            <a:off x="685800" y="440740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E3</a:t>
            </a:r>
            <a:endParaRPr lang="en-US" sz="1100" dirty="0"/>
          </a:p>
        </p:txBody>
      </p:sp>
      <p:sp>
        <p:nvSpPr>
          <p:cNvPr id="32" name="Text 29"/>
          <p:cNvSpPr txBox="1"/>
          <p:nvPr/>
        </p:nvSpPr>
        <p:spPr>
          <a:xfrm>
            <a:off x="1234440" y="4352544"/>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Market World</a:t>
            </a:r>
            <a:endParaRPr lang="en-US" sz="1300" dirty="0"/>
          </a:p>
        </p:txBody>
      </p:sp>
      <p:sp>
        <p:nvSpPr>
          <p:cNvPr id="33" name="Text 30"/>
          <p:cNvSpPr txBox="1"/>
          <p:nvPr/>
        </p:nvSpPr>
        <p:spPr>
          <a:xfrm>
            <a:off x="1234440" y="4663440"/>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MULTI-AGENT SIMULATION</a:t>
            </a:r>
            <a:endParaRPr lang="en-US" sz="900" dirty="0"/>
          </a:p>
        </p:txBody>
      </p:sp>
      <p:sp>
        <p:nvSpPr>
          <p:cNvPr id="34" name="Text 31"/>
          <p:cNvSpPr txBox="1"/>
          <p:nvPr/>
        </p:nvSpPr>
        <p:spPr>
          <a:xfrm>
            <a:off x="4160520" y="4279392"/>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A synthetic market of buyer archetypes — trusted only once calibrated</a:t>
            </a:r>
            <a:endParaRPr lang="en-US" sz="1100" dirty="0"/>
          </a:p>
        </p:txBody>
      </p:sp>
      <p:sp>
        <p:nvSpPr>
          <p:cNvPr id="35" name="Text 32"/>
          <p:cNvSpPr txBox="1"/>
          <p:nvPr/>
        </p:nvSpPr>
        <p:spPr>
          <a:xfrm>
            <a:off x="8092440" y="4279392"/>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How does the market react to a different price?</a:t>
            </a:r>
            <a:endParaRPr lang="en-US" sz="1200" dirty="0"/>
          </a:p>
        </p:txBody>
      </p:sp>
      <p:sp>
        <p:nvSpPr>
          <p:cNvPr id="36" name="Shape 33"/>
          <p:cNvSpPr/>
          <p:nvPr/>
        </p:nvSpPr>
        <p:spPr>
          <a:xfrm>
            <a:off x="548640" y="5029200"/>
            <a:ext cx="11091672" cy="676656"/>
          </a:xfrm>
          <a:prstGeom prst="roundRect">
            <a:avLst>
              <a:gd name="adj" fmla="val 10811"/>
            </a:avLst>
          </a:prstGeom>
          <a:solidFill>
            <a:srgbClr val="D9E8F8"/>
          </a:solidFill>
          <a:ln/>
        </p:spPr>
      </p:sp>
      <p:sp>
        <p:nvSpPr>
          <p:cNvPr id="37" name="Shape 34"/>
          <p:cNvSpPr/>
          <p:nvPr/>
        </p:nvSpPr>
        <p:spPr>
          <a:xfrm>
            <a:off x="685800" y="5157216"/>
            <a:ext cx="420624" cy="420624"/>
          </a:xfrm>
          <a:prstGeom prst="ellipse">
            <a:avLst/>
          </a:prstGeom>
          <a:solidFill>
            <a:srgbClr val="2E6FBF"/>
          </a:solidFill>
          <a:ln/>
        </p:spPr>
      </p:sp>
      <p:sp>
        <p:nvSpPr>
          <p:cNvPr id="38" name="Text 35"/>
          <p:cNvSpPr txBox="1"/>
          <p:nvPr/>
        </p:nvSpPr>
        <p:spPr>
          <a:xfrm>
            <a:off x="685800" y="515721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E1</a:t>
            </a:r>
            <a:endParaRPr lang="en-US" sz="1100" dirty="0"/>
          </a:p>
        </p:txBody>
      </p:sp>
      <p:sp>
        <p:nvSpPr>
          <p:cNvPr id="39" name="Text 36"/>
          <p:cNvSpPr txBox="1"/>
          <p:nvPr/>
        </p:nvSpPr>
        <p:spPr>
          <a:xfrm>
            <a:off x="1234440" y="5102352"/>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Cold Email Engine</a:t>
            </a:r>
            <a:endParaRPr lang="en-US" sz="1300" dirty="0"/>
          </a:p>
        </p:txBody>
      </p:sp>
      <p:sp>
        <p:nvSpPr>
          <p:cNvPr id="40" name="Text 37"/>
          <p:cNvSpPr txBox="1"/>
          <p:nvPr/>
        </p:nvSpPr>
        <p:spPr>
          <a:xfrm>
            <a:off x="1234440" y="5413248"/>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AUTONOMOUS EXPERIMENT</a:t>
            </a:r>
            <a:endParaRPr lang="en-US" sz="900" dirty="0"/>
          </a:p>
        </p:txBody>
      </p:sp>
      <p:sp>
        <p:nvSpPr>
          <p:cNvPr id="41" name="Text 38"/>
          <p:cNvSpPr txBox="1"/>
          <p:nvPr/>
        </p:nvSpPr>
        <p:spPr>
          <a:xfrm>
            <a:off x="4160520" y="5029200"/>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Finds, writes, sends, classifies replies — real behaviour, measured</a:t>
            </a:r>
            <a:endParaRPr lang="en-US" sz="1100" dirty="0"/>
          </a:p>
        </p:txBody>
      </p:sp>
      <p:sp>
        <p:nvSpPr>
          <p:cNvPr id="42" name="Text 39"/>
          <p:cNvSpPr txBox="1"/>
          <p:nvPr/>
        </p:nvSpPr>
        <p:spPr>
          <a:xfrm>
            <a:off x="8092440" y="5029200"/>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Do real people sign up, book or pay?</a:t>
            </a:r>
            <a:endParaRPr lang="en-US" sz="1200" dirty="0"/>
          </a:p>
        </p:txBody>
      </p:sp>
      <p:sp>
        <p:nvSpPr>
          <p:cNvPr id="43" name="Shape 40"/>
          <p:cNvSpPr/>
          <p:nvPr/>
        </p:nvSpPr>
        <p:spPr>
          <a:xfrm>
            <a:off x="548640" y="5852160"/>
            <a:ext cx="11091672" cy="384048"/>
          </a:xfrm>
          <a:prstGeom prst="roundRect">
            <a:avLst>
              <a:gd name="adj" fmla="val 19048"/>
            </a:avLst>
          </a:prstGeom>
          <a:solidFill>
            <a:srgbClr val="0F1341"/>
          </a:solidFill>
          <a:ln/>
        </p:spPr>
      </p:sp>
      <p:sp>
        <p:nvSpPr>
          <p:cNvPr id="44" name="Text 41"/>
          <p:cNvSpPr txBox="1"/>
          <p:nvPr/>
        </p:nvSpPr>
        <p:spPr>
          <a:xfrm>
            <a:off x="777240" y="5852160"/>
            <a:ext cx="10698480" cy="384048"/>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Behaviour over opinion: </a:t>
            </a:r>
            <a:pPr indent="0" marL="0">
              <a:buNone/>
            </a:pPr>
            <a:r>
              <a:rPr lang="en-US" sz="1300" dirty="0">
                <a:solidFill>
                  <a:srgbClr val="FFFFFF"/>
                </a:solidFill>
                <a:latin typeface="Montserrat" pitchFamily="34" charset="0"/>
                <a:ea typeface="Montserrat" pitchFamily="34" charset="-122"/>
                <a:cs typeface="Montserrat" pitchFamily="34" charset="-120"/>
              </a:rPr>
              <a:t>interviews explain — only a real test shows whether people click, sign up or pay.</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The 10-Minute Startup Speed-Run</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Groups of 3–4, AI on your phone — from a problem you know to a test you could run this week</a:t>
            </a:r>
            <a:endParaRPr lang="en-US" sz="1400" dirty="0"/>
          </a:p>
        </p:txBody>
      </p:sp>
      <p:sp>
        <p:nvSpPr>
          <p:cNvPr id="5" name="Shape 2"/>
          <p:cNvSpPr/>
          <p:nvPr/>
        </p:nvSpPr>
        <p:spPr>
          <a:xfrm>
            <a:off x="548640" y="2011680"/>
            <a:ext cx="2615184" cy="2331720"/>
          </a:xfrm>
          <a:prstGeom prst="roundRect">
            <a:avLst>
              <a:gd name="adj" fmla="val 3137"/>
            </a:avLst>
          </a:prstGeom>
          <a:solidFill>
            <a:srgbClr val="1B2156"/>
          </a:solidFill>
          <a:ln/>
        </p:spPr>
      </p:sp>
      <p:sp>
        <p:nvSpPr>
          <p:cNvPr id="6" name="Shape 3"/>
          <p:cNvSpPr/>
          <p:nvPr/>
        </p:nvSpPr>
        <p:spPr>
          <a:xfrm>
            <a:off x="731520" y="2194560"/>
            <a:ext cx="868680" cy="274320"/>
          </a:xfrm>
          <a:prstGeom prst="roundRect">
            <a:avLst>
              <a:gd name="adj" fmla="val 26667"/>
            </a:avLst>
          </a:prstGeom>
          <a:solidFill>
            <a:srgbClr val="4A8FDB"/>
          </a:solidFill>
          <a:ln/>
        </p:spPr>
      </p:sp>
      <p:sp>
        <p:nvSpPr>
          <p:cNvPr id="7" name="Text 4"/>
          <p:cNvSpPr txBox="1"/>
          <p:nvPr/>
        </p:nvSpPr>
        <p:spPr>
          <a:xfrm>
            <a:off x="731520"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2 min</a:t>
            </a:r>
            <a:endParaRPr lang="en-US" sz="900" dirty="0"/>
          </a:p>
        </p:txBody>
      </p:sp>
      <p:sp>
        <p:nvSpPr>
          <p:cNvPr id="8" name="Text 5"/>
          <p:cNvSpPr txBox="1"/>
          <p:nvPr/>
        </p:nvSpPr>
        <p:spPr>
          <a:xfrm>
            <a:off x="731520"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Problem</a:t>
            </a:r>
            <a:endParaRPr lang="en-US" sz="1800" dirty="0"/>
          </a:p>
        </p:txBody>
      </p:sp>
      <p:sp>
        <p:nvSpPr>
          <p:cNvPr id="9" name="Text 6"/>
          <p:cNvSpPr txBox="1"/>
          <p:nvPr/>
        </p:nvSpPr>
        <p:spPr>
          <a:xfrm>
            <a:off x="731520"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A problem someone in your group really has. Who else has it?</a:t>
            </a:r>
            <a:endParaRPr lang="en-US" sz="1200" dirty="0"/>
          </a:p>
        </p:txBody>
      </p:sp>
      <p:sp>
        <p:nvSpPr>
          <p:cNvPr id="10" name="Shape 7"/>
          <p:cNvSpPr/>
          <p:nvPr/>
        </p:nvSpPr>
        <p:spPr>
          <a:xfrm>
            <a:off x="3374136" y="2011680"/>
            <a:ext cx="2615184" cy="2331720"/>
          </a:xfrm>
          <a:prstGeom prst="roundRect">
            <a:avLst>
              <a:gd name="adj" fmla="val 3137"/>
            </a:avLst>
          </a:prstGeom>
          <a:solidFill>
            <a:srgbClr val="1B2156"/>
          </a:solidFill>
          <a:ln/>
        </p:spPr>
      </p:sp>
      <p:sp>
        <p:nvSpPr>
          <p:cNvPr id="11" name="Shape 8"/>
          <p:cNvSpPr/>
          <p:nvPr/>
        </p:nvSpPr>
        <p:spPr>
          <a:xfrm>
            <a:off x="3557016" y="2194560"/>
            <a:ext cx="868680" cy="274320"/>
          </a:xfrm>
          <a:prstGeom prst="roundRect">
            <a:avLst>
              <a:gd name="adj" fmla="val 26667"/>
            </a:avLst>
          </a:prstGeom>
          <a:solidFill>
            <a:srgbClr val="4A8FDB"/>
          </a:solidFill>
          <a:ln/>
        </p:spPr>
      </p:sp>
      <p:sp>
        <p:nvSpPr>
          <p:cNvPr id="12" name="Text 9"/>
          <p:cNvSpPr txBox="1"/>
          <p:nvPr/>
        </p:nvSpPr>
        <p:spPr>
          <a:xfrm>
            <a:off x="3557016"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3 min</a:t>
            </a:r>
            <a:endParaRPr lang="en-US" sz="900" dirty="0"/>
          </a:p>
        </p:txBody>
      </p:sp>
      <p:sp>
        <p:nvSpPr>
          <p:cNvPr id="13" name="Text 10"/>
          <p:cNvSpPr txBox="1"/>
          <p:nvPr/>
        </p:nvSpPr>
        <p:spPr>
          <a:xfrm>
            <a:off x="3557016"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Size it</a:t>
            </a:r>
            <a:endParaRPr lang="en-US" sz="1800" dirty="0"/>
          </a:p>
        </p:txBody>
      </p:sp>
      <p:sp>
        <p:nvSpPr>
          <p:cNvPr id="14" name="Text 11"/>
          <p:cNvSpPr txBox="1"/>
          <p:nvPr/>
        </p:nvSpPr>
        <p:spPr>
          <a:xfrm>
            <a:off x="3557016"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Let AI estimate the market and a price. Tag every number: researched or estimated.</a:t>
            </a:r>
            <a:endParaRPr lang="en-US" sz="1200" dirty="0"/>
          </a:p>
        </p:txBody>
      </p:sp>
      <p:sp>
        <p:nvSpPr>
          <p:cNvPr id="15" name="Shape 12"/>
          <p:cNvSpPr/>
          <p:nvPr/>
        </p:nvSpPr>
        <p:spPr>
          <a:xfrm>
            <a:off x="6199632" y="2011680"/>
            <a:ext cx="2615184" cy="2331720"/>
          </a:xfrm>
          <a:prstGeom prst="roundRect">
            <a:avLst>
              <a:gd name="adj" fmla="val 3137"/>
            </a:avLst>
          </a:prstGeom>
          <a:solidFill>
            <a:srgbClr val="1B2156"/>
          </a:solidFill>
          <a:ln/>
        </p:spPr>
      </p:sp>
      <p:sp>
        <p:nvSpPr>
          <p:cNvPr id="16" name="Shape 13"/>
          <p:cNvSpPr/>
          <p:nvPr/>
        </p:nvSpPr>
        <p:spPr>
          <a:xfrm>
            <a:off x="6382512" y="2194560"/>
            <a:ext cx="868680" cy="274320"/>
          </a:xfrm>
          <a:prstGeom prst="roundRect">
            <a:avLst>
              <a:gd name="adj" fmla="val 26667"/>
            </a:avLst>
          </a:prstGeom>
          <a:solidFill>
            <a:srgbClr val="4A8FDB"/>
          </a:solidFill>
          <a:ln/>
        </p:spPr>
      </p:sp>
      <p:sp>
        <p:nvSpPr>
          <p:cNvPr id="17" name="Text 14"/>
          <p:cNvSpPr txBox="1"/>
          <p:nvPr/>
        </p:nvSpPr>
        <p:spPr>
          <a:xfrm>
            <a:off x="6382512"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3 min</a:t>
            </a:r>
            <a:endParaRPr lang="en-US" sz="900" dirty="0"/>
          </a:p>
        </p:txBody>
      </p:sp>
      <p:sp>
        <p:nvSpPr>
          <p:cNvPr id="18" name="Text 15"/>
          <p:cNvSpPr txBox="1"/>
          <p:nvPr/>
        </p:nvSpPr>
        <p:spPr>
          <a:xfrm>
            <a:off x="6382512"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Test it</a:t>
            </a:r>
            <a:endParaRPr lang="en-US" sz="1800" dirty="0"/>
          </a:p>
        </p:txBody>
      </p:sp>
      <p:sp>
        <p:nvSpPr>
          <p:cNvPr id="19" name="Text 16"/>
          <p:cNvSpPr txBox="1"/>
          <p:nvPr/>
        </p:nvSpPr>
        <p:spPr>
          <a:xfrm>
            <a:off x="6382512"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Your riskiest assumption — and a 48-hour test with a kill criterion.</a:t>
            </a:r>
            <a:endParaRPr lang="en-US" sz="1200" dirty="0"/>
          </a:p>
        </p:txBody>
      </p:sp>
      <p:sp>
        <p:nvSpPr>
          <p:cNvPr id="20" name="Shape 17"/>
          <p:cNvSpPr/>
          <p:nvPr/>
        </p:nvSpPr>
        <p:spPr>
          <a:xfrm>
            <a:off x="9025128" y="2011680"/>
            <a:ext cx="2615184" cy="2331720"/>
          </a:xfrm>
          <a:prstGeom prst="roundRect">
            <a:avLst>
              <a:gd name="adj" fmla="val 3137"/>
            </a:avLst>
          </a:prstGeom>
          <a:solidFill>
            <a:srgbClr val="1B2156"/>
          </a:solidFill>
          <a:ln/>
        </p:spPr>
      </p:sp>
      <p:sp>
        <p:nvSpPr>
          <p:cNvPr id="21" name="Shape 18"/>
          <p:cNvSpPr/>
          <p:nvPr/>
        </p:nvSpPr>
        <p:spPr>
          <a:xfrm>
            <a:off x="9208008" y="2194560"/>
            <a:ext cx="868680" cy="274320"/>
          </a:xfrm>
          <a:prstGeom prst="roundRect">
            <a:avLst>
              <a:gd name="adj" fmla="val 26667"/>
            </a:avLst>
          </a:prstGeom>
          <a:solidFill>
            <a:srgbClr val="4A8FDB"/>
          </a:solidFill>
          <a:ln/>
        </p:spPr>
      </p:sp>
      <p:sp>
        <p:nvSpPr>
          <p:cNvPr id="22" name="Text 19"/>
          <p:cNvSpPr txBox="1"/>
          <p:nvPr/>
        </p:nvSpPr>
        <p:spPr>
          <a:xfrm>
            <a:off x="9208008"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2 min</a:t>
            </a:r>
            <a:endParaRPr lang="en-US" sz="900" dirty="0"/>
          </a:p>
        </p:txBody>
      </p:sp>
      <p:sp>
        <p:nvSpPr>
          <p:cNvPr id="23" name="Text 20"/>
          <p:cNvSpPr txBox="1"/>
          <p:nvPr/>
        </p:nvSpPr>
        <p:spPr>
          <a:xfrm>
            <a:off x="9208008"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Pitch</a:t>
            </a:r>
            <a:endParaRPr lang="en-US" sz="1800" dirty="0"/>
          </a:p>
        </p:txBody>
      </p:sp>
      <p:sp>
        <p:nvSpPr>
          <p:cNvPr id="24" name="Text 21"/>
          <p:cNvSpPr txBox="1"/>
          <p:nvPr/>
        </p:nvSpPr>
        <p:spPr>
          <a:xfrm>
            <a:off x="9208008"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30 seconds: problem, customer, assumption, test, kill criterion.</a:t>
            </a:r>
            <a:endParaRPr lang="en-US" sz="1200" dirty="0"/>
          </a:p>
        </p:txBody>
      </p:sp>
      <p:sp>
        <p:nvSpPr>
          <p:cNvPr id="25" name="Text 22"/>
          <p:cNvSpPr txBox="1"/>
          <p:nvPr/>
        </p:nvSpPr>
        <p:spPr>
          <a:xfrm>
            <a:off x="548640" y="4617720"/>
            <a:ext cx="54864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WHAT EVERY GROUP HANDS IN (MENTI)</a:t>
            </a:r>
            <a:endParaRPr lang="en-US" sz="1000" dirty="0"/>
          </a:p>
        </p:txBody>
      </p:sp>
      <p:sp>
        <p:nvSpPr>
          <p:cNvPr id="26" name="Shape 23"/>
          <p:cNvSpPr/>
          <p:nvPr/>
        </p:nvSpPr>
        <p:spPr>
          <a:xfrm>
            <a:off x="548640" y="4956048"/>
            <a:ext cx="1517904" cy="548640"/>
          </a:xfrm>
          <a:prstGeom prst="roundRect">
            <a:avLst>
              <a:gd name="adj" fmla="val 13333"/>
            </a:avLst>
          </a:prstGeom>
          <a:solidFill>
            <a:srgbClr val="0F1341"/>
          </a:solidFill>
          <a:ln w="12700">
            <a:solidFill>
              <a:srgbClr val="6A7FA8"/>
            </a:solidFill>
            <a:prstDash val="solid"/>
          </a:ln>
        </p:spPr>
      </p:sp>
      <p:sp>
        <p:nvSpPr>
          <p:cNvPr id="27" name="Text 24"/>
          <p:cNvSpPr txBox="1"/>
          <p:nvPr/>
        </p:nvSpPr>
        <p:spPr>
          <a:xfrm>
            <a:off x="548640"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Problem</a:t>
            </a:r>
            <a:endParaRPr lang="en-US" sz="1200" dirty="0"/>
          </a:p>
        </p:txBody>
      </p:sp>
      <p:sp>
        <p:nvSpPr>
          <p:cNvPr id="28" name="Shape 25"/>
          <p:cNvSpPr/>
          <p:nvPr/>
        </p:nvSpPr>
        <p:spPr>
          <a:xfrm>
            <a:off x="2203704" y="4956048"/>
            <a:ext cx="1517904" cy="548640"/>
          </a:xfrm>
          <a:prstGeom prst="roundRect">
            <a:avLst>
              <a:gd name="adj" fmla="val 13333"/>
            </a:avLst>
          </a:prstGeom>
          <a:solidFill>
            <a:srgbClr val="0F1341"/>
          </a:solidFill>
          <a:ln w="12700">
            <a:solidFill>
              <a:srgbClr val="6A7FA8"/>
            </a:solidFill>
            <a:prstDash val="solid"/>
          </a:ln>
        </p:spPr>
      </p:sp>
      <p:sp>
        <p:nvSpPr>
          <p:cNvPr id="29" name="Text 26"/>
          <p:cNvSpPr txBox="1"/>
          <p:nvPr/>
        </p:nvSpPr>
        <p:spPr>
          <a:xfrm>
            <a:off x="2203704"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Customer</a:t>
            </a:r>
            <a:endParaRPr lang="en-US" sz="1200" dirty="0"/>
          </a:p>
        </p:txBody>
      </p:sp>
      <p:sp>
        <p:nvSpPr>
          <p:cNvPr id="30" name="Shape 27"/>
          <p:cNvSpPr/>
          <p:nvPr/>
        </p:nvSpPr>
        <p:spPr>
          <a:xfrm>
            <a:off x="3858768" y="4956048"/>
            <a:ext cx="1517904" cy="548640"/>
          </a:xfrm>
          <a:prstGeom prst="roundRect">
            <a:avLst>
              <a:gd name="adj" fmla="val 13333"/>
            </a:avLst>
          </a:prstGeom>
          <a:solidFill>
            <a:srgbClr val="0F1341"/>
          </a:solidFill>
          <a:ln w="12700">
            <a:solidFill>
              <a:srgbClr val="6A7FA8"/>
            </a:solidFill>
            <a:prstDash val="solid"/>
          </a:ln>
        </p:spPr>
      </p:sp>
      <p:sp>
        <p:nvSpPr>
          <p:cNvPr id="31" name="Text 28"/>
          <p:cNvSpPr txBox="1"/>
          <p:nvPr/>
        </p:nvSpPr>
        <p:spPr>
          <a:xfrm>
            <a:off x="3858768"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Riskiest assumption</a:t>
            </a:r>
            <a:endParaRPr lang="en-US" sz="1200" dirty="0"/>
          </a:p>
        </p:txBody>
      </p:sp>
      <p:sp>
        <p:nvSpPr>
          <p:cNvPr id="32" name="Shape 29"/>
          <p:cNvSpPr/>
          <p:nvPr/>
        </p:nvSpPr>
        <p:spPr>
          <a:xfrm>
            <a:off x="5513832" y="4956048"/>
            <a:ext cx="1517904" cy="548640"/>
          </a:xfrm>
          <a:prstGeom prst="roundRect">
            <a:avLst>
              <a:gd name="adj" fmla="val 13333"/>
            </a:avLst>
          </a:prstGeom>
          <a:solidFill>
            <a:srgbClr val="0F1341"/>
          </a:solidFill>
          <a:ln w="12700">
            <a:solidFill>
              <a:srgbClr val="6A7FA8"/>
            </a:solidFill>
            <a:prstDash val="solid"/>
          </a:ln>
        </p:spPr>
      </p:sp>
      <p:sp>
        <p:nvSpPr>
          <p:cNvPr id="33" name="Text 30"/>
          <p:cNvSpPr txBox="1"/>
          <p:nvPr/>
        </p:nvSpPr>
        <p:spPr>
          <a:xfrm>
            <a:off x="5513832"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48-hour test</a:t>
            </a:r>
            <a:endParaRPr lang="en-US" sz="1200" dirty="0"/>
          </a:p>
        </p:txBody>
      </p:sp>
      <p:sp>
        <p:nvSpPr>
          <p:cNvPr id="34" name="Shape 31"/>
          <p:cNvSpPr/>
          <p:nvPr/>
        </p:nvSpPr>
        <p:spPr>
          <a:xfrm>
            <a:off x="7168896" y="4956048"/>
            <a:ext cx="1517904" cy="548640"/>
          </a:xfrm>
          <a:prstGeom prst="roundRect">
            <a:avLst>
              <a:gd name="adj" fmla="val 13333"/>
            </a:avLst>
          </a:prstGeom>
          <a:solidFill>
            <a:srgbClr val="0F1341"/>
          </a:solidFill>
          <a:ln w="12700">
            <a:solidFill>
              <a:srgbClr val="6A7FA8"/>
            </a:solidFill>
            <a:prstDash val="solid"/>
          </a:ln>
        </p:spPr>
      </p:sp>
      <p:sp>
        <p:nvSpPr>
          <p:cNvPr id="35" name="Text 32"/>
          <p:cNvSpPr txBox="1"/>
          <p:nvPr/>
        </p:nvSpPr>
        <p:spPr>
          <a:xfrm>
            <a:off x="7168896"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Kill criterion</a:t>
            </a:r>
            <a:endParaRPr lang="en-US" sz="1200" dirty="0"/>
          </a:p>
        </p:txBody>
      </p:sp>
      <p:sp>
        <p:nvSpPr>
          <p:cNvPr id="36" name="Shape 33"/>
          <p:cNvSpPr/>
          <p:nvPr/>
        </p:nvSpPr>
        <p:spPr>
          <a:xfrm>
            <a:off x="9006840" y="4617720"/>
            <a:ext cx="2633472" cy="914400"/>
          </a:xfrm>
          <a:prstGeom prst="roundRect">
            <a:avLst>
              <a:gd name="adj" fmla="val 8000"/>
            </a:avLst>
          </a:prstGeom>
          <a:solidFill>
            <a:srgbClr val="2E6FBF"/>
          </a:solidFill>
          <a:ln/>
        </p:spPr>
      </p:sp>
      <p:pic>
        <p:nvPicPr>
          <p:cNvPr id="37" name="Image 0" descr="preencoded.png">    </p:cNvPr>
          <p:cNvPicPr>
            <a:picLocks noChangeAspect="1"/>
          </p:cNvPicPr>
          <p:nvPr/>
        </p:nvPicPr>
        <p:blipFill>
          <a:blip r:embed="rId1"/>
          <a:stretch>
            <a:fillRect/>
          </a:stretch>
        </p:blipFill>
        <p:spPr>
          <a:xfrm>
            <a:off x="9144000" y="4754880"/>
            <a:ext cx="640080" cy="640080"/>
          </a:xfrm>
          <a:prstGeom prst="rect">
            <a:avLst/>
          </a:prstGeom>
        </p:spPr>
      </p:pic>
      <p:sp>
        <p:nvSpPr>
          <p:cNvPr id="38" name="Text 34"/>
          <p:cNvSpPr txBox="1"/>
          <p:nvPr/>
        </p:nvSpPr>
        <p:spPr>
          <a:xfrm>
            <a:off x="9875520" y="4663440"/>
            <a:ext cx="1691640" cy="822960"/>
          </a:xfrm>
          <a:prstGeom prst="rect">
            <a:avLst/>
          </a:prstGeom>
          <a:noFill/>
          <a:ln/>
        </p:spPr>
        <p:txBody>
          <a:bodyPr wrap="square" lIns="0" tIns="0" rIns="0" bIns="0" rtlCol="0" anchor="ctr"/>
          <a:lstStyle/>
          <a:p>
            <a:pPr indent="0" marL="0">
              <a:buNone/>
            </a:pPr>
            <a:r>
              <a:rPr lang="en-US" sz="1000" dirty="0">
                <a:solidFill>
                  <a:srgbClr val="FFFFFF"/>
                </a:solidFill>
                <a:latin typeface="Montserrat" pitchFamily="34" charset="0"/>
                <a:ea typeface="Montserrat" pitchFamily="34" charset="-122"/>
                <a:cs typeface="Montserrat" pitchFamily="34" charset="-120"/>
              </a:rPr>
              <a:t>QR → data sheet + prompt</a:t>
            </a:r>
            <a:endParaRPr lang="en-US" sz="1000" dirty="0"/>
          </a:p>
          <a:p>
            <a:pPr indent="0" marL="0">
              <a:buNone/>
            </a:pPr>
            <a:r>
              <a:rPr lang="en-US" sz="1000" dirty="0">
                <a:solidFill>
                  <a:srgbClr val="FFFFFF"/>
                </a:solidFill>
                <a:latin typeface="Montserrat" pitchFamily="34" charset="0"/>
                <a:ea typeface="Montserrat" pitchFamily="34" charset="-122"/>
                <a:cs typeface="Montserrat" pitchFamily="34" charset="-120"/>
              </a:rPr>
              <a:t>skeptical-investor prompt included</a:t>
            </a:r>
            <a:endParaRPr lang="en-US" sz="1000" dirty="0"/>
          </a:p>
        </p:txBody>
      </p:sp>
      <p:sp>
        <p:nvSpPr>
          <p:cNvPr id="39" name="Text 35"/>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The best pitch is not the best idea — it is the cheapest test that could prove you wrong.</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Said vs. did: your live result</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What the room said in Menti vs. what the room clicked on the landing page</a:t>
            </a:r>
            <a:endParaRPr lang="en-US" sz="1300" dirty="0"/>
          </a:p>
        </p:txBody>
      </p:sp>
      <p:sp>
        <p:nvSpPr>
          <p:cNvPr id="5" name="Shape 2"/>
          <p:cNvSpPr/>
          <p:nvPr/>
        </p:nvSpPr>
        <p:spPr>
          <a:xfrm>
            <a:off x="548640" y="1783080"/>
            <a:ext cx="4206240" cy="274320"/>
          </a:xfrm>
          <a:prstGeom prst="roundRect">
            <a:avLst>
              <a:gd name="adj" fmla="val 26667"/>
            </a:avLst>
          </a:prstGeom>
          <a:solidFill>
            <a:srgbClr val="C9D3E3"/>
          </a:solidFill>
          <a:ln/>
        </p:spPr>
      </p:sp>
      <p:sp>
        <p:nvSpPr>
          <p:cNvPr id="6" name="Text 3"/>
          <p:cNvSpPr txBox="1"/>
          <p:nvPr/>
        </p:nvSpPr>
        <p:spPr>
          <a:xfrm>
            <a:off x="548640" y="1783080"/>
            <a:ext cx="420624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EXAMPLE VALUES — REPLACE WITH LIVE RESULT</a:t>
            </a:r>
            <a:endParaRPr lang="en-US" sz="900" dirty="0"/>
          </a:p>
        </p:txBody>
      </p:sp>
      <p:graphicFrame>
        <p:nvGraphicFramePr>
          <p:cNvPr id="7" name="Chart 0" descr=""/>
          <p:cNvGraphicFramePr/>
          <p:nvPr/>
        </p:nvGraphicFramePr>
        <p:xfrm>
          <a:off x="457200" y="2194560"/>
          <a:ext cx="6583680" cy="33832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406640" y="1783080"/>
            <a:ext cx="4233672" cy="2331720"/>
          </a:xfrm>
          <a:prstGeom prst="roundRect">
            <a:avLst>
              <a:gd name="adj" fmla="val 3137"/>
            </a:avLst>
          </a:prstGeom>
          <a:solidFill>
            <a:srgbClr val="0F1341"/>
          </a:solidFill>
          <a:ln/>
        </p:spPr>
      </p:sp>
      <p:sp>
        <p:nvSpPr>
          <p:cNvPr id="9" name="Text 5"/>
          <p:cNvSpPr txBox="1"/>
          <p:nvPr/>
        </p:nvSpPr>
        <p:spPr>
          <a:xfrm>
            <a:off x="7635240" y="1920240"/>
            <a:ext cx="3749040"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The say–do gap</a:t>
            </a:r>
            <a:endParaRPr lang="en-US" sz="1800" dirty="0"/>
          </a:p>
        </p:txBody>
      </p:sp>
      <p:sp>
        <p:nvSpPr>
          <p:cNvPr id="10" name="Text 6"/>
          <p:cNvSpPr txBox="1"/>
          <p:nvPr/>
        </p:nvSpPr>
        <p:spPr>
          <a:xfrm>
            <a:off x="7635240" y="2377440"/>
            <a:ext cx="3749040" cy="1554480"/>
          </a:xfrm>
          <a:prstGeom prst="rect">
            <a:avLst/>
          </a:prstGeom>
          <a:noFill/>
          <a:ln/>
        </p:spPr>
        <p:txBody>
          <a:bodyPr wrap="square" lIns="0" tIns="0" rIns="0" bIns="0" rtlCol="0" anchor="t"/>
          <a:lstStyle/>
          <a:p>
            <a:pPr indent="0" marL="0">
              <a:buNone/>
            </a:pPr>
            <a:r>
              <a:rPr lang="en-US" sz="1300" dirty="0">
                <a:solidFill>
                  <a:srgbClr val="C9D3E3"/>
                </a:solidFill>
                <a:latin typeface="Montserrat" pitchFamily="34" charset="0"/>
                <a:ea typeface="Montserrat" pitchFamily="34" charset="-122"/>
                <a:cs typeface="Montserrat" pitchFamily="34" charset="-120"/>
              </a:rPr>
              <a:t>People are kind in surveys and honest with their clicks — and even more honest with their money. This gap is where most startups die.</a:t>
            </a:r>
            <a:endParaRPr lang="en-US" sz="1300" dirty="0"/>
          </a:p>
        </p:txBody>
      </p:sp>
      <p:sp>
        <p:nvSpPr>
          <p:cNvPr id="11" name="Shape 7"/>
          <p:cNvSpPr/>
          <p:nvPr/>
        </p:nvSpPr>
        <p:spPr>
          <a:xfrm>
            <a:off x="7406640" y="4297680"/>
            <a:ext cx="4233672" cy="1280160"/>
          </a:xfrm>
          <a:prstGeom prst="roundRect">
            <a:avLst>
              <a:gd name="adj" fmla="val 5714"/>
            </a:avLst>
          </a:prstGeom>
          <a:solidFill>
            <a:srgbClr val="F3F7FC"/>
          </a:solidFill>
          <a:ln/>
        </p:spPr>
      </p:sp>
      <p:sp>
        <p:nvSpPr>
          <p:cNvPr id="12" name="Text 8"/>
          <p:cNvSpPr txBox="1"/>
          <p:nvPr/>
        </p:nvSpPr>
        <p:spPr>
          <a:xfrm>
            <a:off x="7635240" y="4389120"/>
            <a:ext cx="3657600" cy="320040"/>
          </a:xfrm>
          <a:prstGeom prst="rect">
            <a:avLst/>
          </a:prstGeom>
          <a:noFill/>
          <a:ln/>
        </p:spPr>
        <p:txBody>
          <a:bodyPr wrap="square" lIns="0" tIns="0" rIns="0" bIns="0" rtlCol="0" anchor="t"/>
          <a:lstStyle/>
          <a:p>
            <a:pPr indent="0" marL="0">
              <a:buNone/>
            </a:pPr>
            <a:r>
              <a:rPr lang="en-US" sz="1200" b="1" dirty="0">
                <a:solidFill>
                  <a:srgbClr val="0F1341"/>
                </a:solidFill>
                <a:latin typeface="Montserrat" pitchFamily="34" charset="0"/>
                <a:ea typeface="Montserrat" pitchFamily="34" charset="-122"/>
                <a:cs typeface="Montserrat" pitchFamily="34" charset="-120"/>
              </a:rPr>
              <a:t>Weight of evidence</a:t>
            </a:r>
            <a:endParaRPr lang="en-US" sz="1200" dirty="0"/>
          </a:p>
        </p:txBody>
      </p:sp>
      <p:sp>
        <p:nvSpPr>
          <p:cNvPr id="13" name="Text 9"/>
          <p:cNvSpPr txBox="1"/>
          <p:nvPr/>
        </p:nvSpPr>
        <p:spPr>
          <a:xfrm>
            <a:off x="7635240" y="4754880"/>
            <a:ext cx="2926080" cy="310896"/>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What people say (Menti)</a:t>
            </a:r>
            <a:endParaRPr lang="en-US" sz="1200" dirty="0"/>
          </a:p>
        </p:txBody>
      </p:sp>
      <p:sp>
        <p:nvSpPr>
          <p:cNvPr id="14" name="Text 10"/>
          <p:cNvSpPr txBox="1"/>
          <p:nvPr/>
        </p:nvSpPr>
        <p:spPr>
          <a:xfrm>
            <a:off x="10607040" y="4754880"/>
            <a:ext cx="822960" cy="310896"/>
          </a:xfrm>
          <a:prstGeom prst="rect">
            <a:avLst/>
          </a:prstGeom>
          <a:noFill/>
          <a:ln/>
        </p:spPr>
        <p:txBody>
          <a:bodyPr wrap="square" lIns="0" tIns="0" rIns="0" bIns="0" rtlCol="0" anchor="t"/>
          <a:lstStyle/>
          <a:p>
            <a:pPr algn="r" indent="0" marL="0">
              <a:buNone/>
            </a:pPr>
            <a:r>
              <a:rPr lang="en-US" sz="1300" b="1" dirty="0">
                <a:solidFill>
                  <a:srgbClr val="0F1341"/>
                </a:solidFill>
                <a:latin typeface="Montserrat" pitchFamily="34" charset="0"/>
                <a:ea typeface="Montserrat" pitchFamily="34" charset="-122"/>
                <a:cs typeface="Montserrat" pitchFamily="34" charset="-120"/>
              </a:rPr>
              <a:t>0.7</a:t>
            </a:r>
            <a:endParaRPr lang="en-US" sz="1300" dirty="0"/>
          </a:p>
        </p:txBody>
      </p:sp>
      <p:sp>
        <p:nvSpPr>
          <p:cNvPr id="15" name="Text 11"/>
          <p:cNvSpPr txBox="1"/>
          <p:nvPr/>
        </p:nvSpPr>
        <p:spPr>
          <a:xfrm>
            <a:off x="7635240" y="5102352"/>
            <a:ext cx="2926080" cy="310896"/>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What people do (click)</a:t>
            </a:r>
            <a:endParaRPr lang="en-US" sz="1200" dirty="0"/>
          </a:p>
        </p:txBody>
      </p:sp>
      <p:sp>
        <p:nvSpPr>
          <p:cNvPr id="16" name="Text 12"/>
          <p:cNvSpPr txBox="1"/>
          <p:nvPr/>
        </p:nvSpPr>
        <p:spPr>
          <a:xfrm>
            <a:off x="10607040" y="5102352"/>
            <a:ext cx="822960" cy="310896"/>
          </a:xfrm>
          <a:prstGeom prst="rect">
            <a:avLst/>
          </a:prstGeom>
          <a:noFill/>
          <a:ln/>
        </p:spPr>
        <p:txBody>
          <a:bodyPr wrap="square" lIns="0" tIns="0" rIns="0" bIns="0" rtlCol="0" anchor="t"/>
          <a:lstStyle/>
          <a:p>
            <a:pPr algn="r" indent="0" marL="0">
              <a:buNone/>
            </a:pPr>
            <a:r>
              <a:rPr lang="en-US" sz="1300" b="1" dirty="0">
                <a:solidFill>
                  <a:srgbClr val="0F1341"/>
                </a:solidFill>
                <a:latin typeface="Montserrat" pitchFamily="34" charset="0"/>
                <a:ea typeface="Montserrat" pitchFamily="34" charset="-122"/>
                <a:cs typeface="Montserrat" pitchFamily="34" charset="-120"/>
              </a:rPr>
              <a:t>1.0</a:t>
            </a:r>
            <a:endParaRPr lang="en-US" sz="1300" dirty="0"/>
          </a:p>
        </p:txBody>
      </p:sp>
      <p:sp>
        <p:nvSpPr>
          <p:cNvPr id="17" name="Shape 13"/>
          <p:cNvSpPr/>
          <p:nvPr/>
        </p:nvSpPr>
        <p:spPr>
          <a:xfrm>
            <a:off x="548640" y="5715000"/>
            <a:ext cx="11091672" cy="457200"/>
          </a:xfrm>
          <a:prstGeom prst="roundRect">
            <a:avLst>
              <a:gd name="adj" fmla="val 16000"/>
            </a:avLst>
          </a:prstGeom>
          <a:solidFill>
            <a:srgbClr val="0F1341"/>
          </a:solidFill>
          <a:ln/>
        </p:spPr>
      </p:sp>
      <p:sp>
        <p:nvSpPr>
          <p:cNvPr id="18" name="Text 14"/>
          <p:cNvSpPr txBox="1"/>
          <p:nvPr/>
        </p:nvSpPr>
        <p:spPr>
          <a:xfrm>
            <a:off x="777240" y="5715000"/>
            <a:ext cx="10698480" cy="45720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Repeat Menti question 5: </a:t>
            </a:r>
            <a:pPr indent="0" marL="0">
              <a:buNone/>
            </a:pPr>
            <a:r>
              <a:rPr lang="en-US" sz="1300" dirty="0">
                <a:solidFill>
                  <a:srgbClr val="FFFFFF"/>
                </a:solidFill>
                <a:latin typeface="Montserrat" pitchFamily="34" charset="0"/>
                <a:ea typeface="Montserrat" pitchFamily="34" charset="-122"/>
                <a:cs typeface="Montserrat" pitchFamily="34" charset="-120"/>
              </a:rPr>
              <a:t>start your own company, join a startup or a corporate — did today change your answer?</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What this means for you</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Four shifts for anyone who wants to build something in the next five years</a:t>
            </a:r>
            <a:endParaRPr lang="en-US" sz="1300" dirty="0"/>
          </a:p>
        </p:txBody>
      </p:sp>
      <p:sp>
        <p:nvSpPr>
          <p:cNvPr id="5" name="Shape 2"/>
          <p:cNvSpPr/>
          <p:nvPr/>
        </p:nvSpPr>
        <p:spPr>
          <a:xfrm>
            <a:off x="548640" y="1783080"/>
            <a:ext cx="5440680" cy="1783080"/>
          </a:xfrm>
          <a:prstGeom prst="roundRect">
            <a:avLst>
              <a:gd name="adj" fmla="val 4103"/>
            </a:avLst>
          </a:prstGeom>
          <a:solidFill>
            <a:srgbClr val="F3F7FC"/>
          </a:solidFill>
          <a:ln/>
        </p:spPr>
      </p:sp>
      <p:sp>
        <p:nvSpPr>
          <p:cNvPr id="6" name="Shape 3"/>
          <p:cNvSpPr/>
          <p:nvPr/>
        </p:nvSpPr>
        <p:spPr>
          <a:xfrm>
            <a:off x="777240" y="2039112"/>
            <a:ext cx="603504" cy="603504"/>
          </a:xfrm>
          <a:prstGeom prst="ellipse">
            <a:avLst/>
          </a:prstGeom>
          <a:solidFill>
            <a:srgbClr val="D9E8F8"/>
          </a:solidFill>
          <a:ln/>
        </p:spPr>
      </p:sp>
      <p:pic>
        <p:nvPicPr>
          <p:cNvPr id="7" name="Image 0" descr="preencoded.png">    </p:cNvPr>
          <p:cNvPicPr>
            <a:picLocks noChangeAspect="1"/>
          </p:cNvPicPr>
          <p:nvPr/>
        </p:nvPicPr>
        <p:blipFill>
          <a:blip r:embed="rId1"/>
          <a:stretch>
            <a:fillRect/>
          </a:stretch>
        </p:blipFill>
        <p:spPr>
          <a:xfrm>
            <a:off x="923544" y="2185416"/>
            <a:ext cx="310896" cy="310896"/>
          </a:xfrm>
          <a:prstGeom prst="rect">
            <a:avLst/>
          </a:prstGeom>
        </p:spPr>
      </p:pic>
      <p:sp>
        <p:nvSpPr>
          <p:cNvPr id="8" name="Text 4"/>
          <p:cNvSpPr txBox="1"/>
          <p:nvPr/>
        </p:nvSpPr>
        <p:spPr>
          <a:xfrm>
            <a:off x="1600200" y="201168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You can start before you graduate</a:t>
            </a:r>
            <a:endParaRPr lang="en-US" sz="1500" dirty="0"/>
          </a:p>
        </p:txBody>
      </p:sp>
      <p:sp>
        <p:nvSpPr>
          <p:cNvPr id="9" name="Text 5"/>
          <p:cNvSpPr txBox="1"/>
          <p:nvPr/>
        </p:nvSpPr>
        <p:spPr>
          <a:xfrm>
            <a:off x="1600200" y="251460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A product, a landing page, first customers — the barrier is no longer money or a dev team.</a:t>
            </a:r>
            <a:endParaRPr lang="en-US" sz="1250" dirty="0"/>
          </a:p>
        </p:txBody>
      </p:sp>
      <p:sp>
        <p:nvSpPr>
          <p:cNvPr id="10" name="Shape 6"/>
          <p:cNvSpPr/>
          <p:nvPr/>
        </p:nvSpPr>
        <p:spPr>
          <a:xfrm>
            <a:off x="6199632" y="1783080"/>
            <a:ext cx="5440680" cy="1783080"/>
          </a:xfrm>
          <a:prstGeom prst="roundRect">
            <a:avLst>
              <a:gd name="adj" fmla="val 4103"/>
            </a:avLst>
          </a:prstGeom>
          <a:solidFill>
            <a:srgbClr val="F3F7FC"/>
          </a:solidFill>
          <a:ln/>
        </p:spPr>
      </p:sp>
      <p:sp>
        <p:nvSpPr>
          <p:cNvPr id="11" name="Shape 7"/>
          <p:cNvSpPr/>
          <p:nvPr/>
        </p:nvSpPr>
        <p:spPr>
          <a:xfrm>
            <a:off x="6428232" y="2039112"/>
            <a:ext cx="603504" cy="603504"/>
          </a:xfrm>
          <a:prstGeom prst="ellipse">
            <a:avLst/>
          </a:prstGeom>
          <a:solidFill>
            <a:srgbClr val="D9E8F8"/>
          </a:solidFill>
          <a:ln/>
        </p:spPr>
      </p:sp>
      <p:pic>
        <p:nvPicPr>
          <p:cNvPr id="12" name="Image 1" descr="preencoded.png">    </p:cNvPr>
          <p:cNvPicPr>
            <a:picLocks noChangeAspect="1"/>
          </p:cNvPicPr>
          <p:nvPr/>
        </p:nvPicPr>
        <p:blipFill>
          <a:blip r:embed="rId2"/>
          <a:stretch>
            <a:fillRect/>
          </a:stretch>
        </p:blipFill>
        <p:spPr>
          <a:xfrm>
            <a:off x="6574536" y="2185416"/>
            <a:ext cx="310896" cy="310896"/>
          </a:xfrm>
          <a:prstGeom prst="rect">
            <a:avLst/>
          </a:prstGeom>
        </p:spPr>
      </p:pic>
      <p:sp>
        <p:nvSpPr>
          <p:cNvPr id="13" name="Text 8"/>
          <p:cNvSpPr txBox="1"/>
          <p:nvPr/>
        </p:nvSpPr>
        <p:spPr>
          <a:xfrm>
            <a:off x="7251192" y="201168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Your first hires may be agents</a:t>
            </a:r>
            <a:endParaRPr lang="en-US" sz="1500" dirty="0"/>
          </a:p>
        </p:txBody>
      </p:sp>
      <p:sp>
        <p:nvSpPr>
          <p:cNvPr id="14" name="Text 9"/>
          <p:cNvSpPr txBox="1"/>
          <p:nvPr/>
        </p:nvSpPr>
        <p:spPr>
          <a:xfrm>
            <a:off x="7251192" y="251460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Research, design, code, outreach. Your job: direct them — and check their work.</a:t>
            </a:r>
            <a:endParaRPr lang="en-US" sz="1250" dirty="0"/>
          </a:p>
        </p:txBody>
      </p:sp>
      <p:sp>
        <p:nvSpPr>
          <p:cNvPr id="15" name="Shape 10"/>
          <p:cNvSpPr/>
          <p:nvPr/>
        </p:nvSpPr>
        <p:spPr>
          <a:xfrm>
            <a:off x="548640" y="3749040"/>
            <a:ext cx="5440680" cy="1783080"/>
          </a:xfrm>
          <a:prstGeom prst="roundRect">
            <a:avLst>
              <a:gd name="adj" fmla="val 4103"/>
            </a:avLst>
          </a:prstGeom>
          <a:solidFill>
            <a:srgbClr val="F3F7FC"/>
          </a:solidFill>
          <a:ln/>
        </p:spPr>
      </p:sp>
      <p:sp>
        <p:nvSpPr>
          <p:cNvPr id="16" name="Shape 11"/>
          <p:cNvSpPr/>
          <p:nvPr/>
        </p:nvSpPr>
        <p:spPr>
          <a:xfrm>
            <a:off x="777240" y="4005072"/>
            <a:ext cx="603504" cy="603504"/>
          </a:xfrm>
          <a:prstGeom prst="ellipse">
            <a:avLst/>
          </a:prstGeom>
          <a:solidFill>
            <a:srgbClr val="D9E8F8"/>
          </a:solidFill>
          <a:ln/>
        </p:spPr>
      </p:sp>
      <p:pic>
        <p:nvPicPr>
          <p:cNvPr id="17" name="Image 2" descr="preencoded.png">    </p:cNvPr>
          <p:cNvPicPr>
            <a:picLocks noChangeAspect="1"/>
          </p:cNvPicPr>
          <p:nvPr/>
        </p:nvPicPr>
        <p:blipFill>
          <a:blip r:embed="rId3"/>
          <a:stretch>
            <a:fillRect/>
          </a:stretch>
        </p:blipFill>
        <p:spPr>
          <a:xfrm>
            <a:off x="923544" y="4151376"/>
            <a:ext cx="310896" cy="310896"/>
          </a:xfrm>
          <a:prstGeom prst="rect">
            <a:avLst/>
          </a:prstGeom>
        </p:spPr>
      </p:pic>
      <p:sp>
        <p:nvSpPr>
          <p:cNvPr id="18" name="Text 12"/>
          <p:cNvSpPr txBox="1"/>
          <p:nvPr/>
        </p:nvSpPr>
        <p:spPr>
          <a:xfrm>
            <a:off x="1600200" y="397764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Taste and judgement become the edge</a:t>
            </a:r>
            <a:endParaRPr lang="en-US" sz="1500" dirty="0"/>
          </a:p>
        </p:txBody>
      </p:sp>
      <p:sp>
        <p:nvSpPr>
          <p:cNvPr id="19" name="Text 13"/>
          <p:cNvSpPr txBox="1"/>
          <p:nvPr/>
        </p:nvSpPr>
        <p:spPr>
          <a:xfrm>
            <a:off x="1600200" y="448056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Anyone can build. Choosing the right problem and reading evidence honestly is what remains scarce.</a:t>
            </a:r>
            <a:endParaRPr lang="en-US" sz="1250" dirty="0"/>
          </a:p>
        </p:txBody>
      </p:sp>
      <p:sp>
        <p:nvSpPr>
          <p:cNvPr id="20" name="Shape 14"/>
          <p:cNvSpPr/>
          <p:nvPr/>
        </p:nvSpPr>
        <p:spPr>
          <a:xfrm>
            <a:off x="6199632" y="3749040"/>
            <a:ext cx="5440680" cy="1783080"/>
          </a:xfrm>
          <a:prstGeom prst="roundRect">
            <a:avLst>
              <a:gd name="adj" fmla="val 4103"/>
            </a:avLst>
          </a:prstGeom>
          <a:solidFill>
            <a:srgbClr val="0F1341"/>
          </a:solidFill>
          <a:ln/>
        </p:spPr>
      </p:sp>
      <p:sp>
        <p:nvSpPr>
          <p:cNvPr id="21" name="Shape 15"/>
          <p:cNvSpPr/>
          <p:nvPr/>
        </p:nvSpPr>
        <p:spPr>
          <a:xfrm>
            <a:off x="6428232" y="4005072"/>
            <a:ext cx="603504" cy="603504"/>
          </a:xfrm>
          <a:prstGeom prst="ellipse">
            <a:avLst/>
          </a:prstGeom>
          <a:solidFill>
            <a:srgbClr val="2E6FBF"/>
          </a:solidFill>
          <a:ln/>
        </p:spPr>
      </p:sp>
      <p:pic>
        <p:nvPicPr>
          <p:cNvPr id="22" name="Image 3" descr="preencoded.png">    </p:cNvPr>
          <p:cNvPicPr>
            <a:picLocks noChangeAspect="1"/>
          </p:cNvPicPr>
          <p:nvPr/>
        </p:nvPicPr>
        <p:blipFill>
          <a:blip r:embed="rId4"/>
          <a:stretch>
            <a:fillRect/>
          </a:stretch>
        </p:blipFill>
        <p:spPr>
          <a:xfrm>
            <a:off x="6574536" y="4151376"/>
            <a:ext cx="310896" cy="310896"/>
          </a:xfrm>
          <a:prstGeom prst="rect">
            <a:avLst/>
          </a:prstGeom>
        </p:spPr>
      </p:pic>
      <p:sp>
        <p:nvSpPr>
          <p:cNvPr id="23" name="Text 16"/>
          <p:cNvSpPr txBox="1"/>
          <p:nvPr/>
        </p:nvSpPr>
        <p:spPr>
          <a:xfrm>
            <a:off x="7251192" y="3977640"/>
            <a:ext cx="4160520" cy="45720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Learn faster than the market</a:t>
            </a:r>
            <a:endParaRPr lang="en-US" sz="1500" dirty="0"/>
          </a:p>
        </p:txBody>
      </p:sp>
      <p:sp>
        <p:nvSpPr>
          <p:cNvPr id="24" name="Text 17"/>
          <p:cNvSpPr txBox="1"/>
          <p:nvPr/>
        </p:nvSpPr>
        <p:spPr>
          <a:xfrm>
            <a:off x="7251192" y="4480560"/>
            <a:ext cx="4160520" cy="960120"/>
          </a:xfrm>
          <a:prstGeom prst="rect">
            <a:avLst/>
          </a:prstGeom>
          <a:noFill/>
          <a:ln/>
        </p:spPr>
        <p:txBody>
          <a:bodyPr wrap="square" lIns="0" tIns="0" rIns="0" bIns="0" rtlCol="0" anchor="t"/>
          <a:lstStyle/>
          <a:p>
            <a:pPr indent="0" marL="0">
              <a:buNone/>
            </a:pPr>
            <a:r>
              <a:rPr lang="en-US" sz="1250" dirty="0">
                <a:solidFill>
                  <a:srgbClr val="C9D3E3"/>
                </a:solidFill>
                <a:latin typeface="Montserrat" pitchFamily="34" charset="0"/>
                <a:ea typeface="Montserrat" pitchFamily="34" charset="-122"/>
                <a:cs typeface="Montserrat" pitchFamily="34" charset="-120"/>
              </a:rPr>
              <a:t>The winner is not who builds fastest, but who learns fastest which idea really works.</a:t>
            </a:r>
            <a:endParaRPr lang="en-US" sz="1250" dirty="0"/>
          </a:p>
        </p:txBody>
      </p:sp>
      <p:sp>
        <p:nvSpPr>
          <p:cNvPr id="25" name="Text 18"/>
          <p:cNvSpPr txBox="1"/>
          <p:nvPr/>
        </p:nvSpPr>
        <p:spPr>
          <a:xfrm>
            <a:off x="548640" y="5779008"/>
            <a:ext cx="11064240" cy="365760"/>
          </a:xfrm>
          <a:prstGeom prst="rect">
            <a:avLst/>
          </a:prstGeom>
          <a:noFill/>
          <a:ln/>
        </p:spPr>
        <p:txBody>
          <a:bodyPr wrap="square" lIns="0" tIns="0" rIns="0" bIns="0" rtlCol="0" anchor="t"/>
          <a:lstStyle/>
          <a:p>
            <a:pPr indent="0" marL="0">
              <a:buNone/>
            </a:pPr>
            <a:r>
              <a:rPr lang="en-US" sz="1200" b="1" dirty="0">
                <a:solidFill>
                  <a:srgbClr val="2E6FBF"/>
                </a:solidFill>
                <a:latin typeface="Montserrat" pitchFamily="34" charset="0"/>
                <a:ea typeface="Montserrat" pitchFamily="34" charset="-122"/>
                <a:cs typeface="Montserrat" pitchFamily="34" charset="-120"/>
              </a:rPr>
              <a:t>Next step: take one assumption from your own project and design a 48-hour test with a kill criterion.</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685800"/>
            <a:ext cx="9509760" cy="1280160"/>
          </a:xfrm>
          <a:prstGeom prst="rect">
            <a:avLst/>
          </a:prstGeom>
          <a:noFill/>
          <a:ln/>
        </p:spPr>
        <p:txBody>
          <a:bodyPr wrap="square" lIns="0" tIns="0" rIns="0" bIns="0" rtlCol="0" anchor="t"/>
          <a:lstStyle/>
          <a:p>
            <a:pPr algn="l" indent="0" marL="0">
              <a:buNone/>
            </a:pPr>
            <a:r>
              <a:rPr lang="en-US" sz="3400" b="1" dirty="0">
                <a:solidFill>
                  <a:srgbClr val="FFFFFF"/>
                </a:solidFill>
                <a:latin typeface="Montserrat" pitchFamily="34" charset="0"/>
                <a:ea typeface="Montserrat" pitchFamily="34" charset="-122"/>
                <a:cs typeface="Montserrat" pitchFamily="34" charset="-120"/>
              </a:rPr>
              <a:t>AI can generate a strategy. Evidence tells you whether it works.</a:t>
            </a:r>
            <a:endParaRPr lang="en-US" sz="3400" dirty="0"/>
          </a:p>
        </p:txBody>
      </p:sp>
      <p:sp>
        <p:nvSpPr>
          <p:cNvPr id="3" name="Text 0"/>
          <p:cNvSpPr/>
          <p:nvPr>
            <p:ph idx="102" type="body" hasCustomPrompt="1"/>
          </p:nvPr>
        </p:nvSpPr>
        <p:spPr>
          <a:xfrm>
            <a:off x="548640" y="2057400"/>
            <a:ext cx="9509760" cy="411480"/>
          </a:xfrm>
          <a:prstGeom prst="rect">
            <a:avLst/>
          </a:prstGeom>
          <a:noFill/>
          <a:ln/>
        </p:spPr>
        <p:txBody>
          <a:bodyPr wrap="square" lIns="0" tIns="0" rIns="0" bIns="0" rtlCol="0" anchor="t"/>
          <a:lstStyle/>
          <a:p>
            <a:pPr algn="l" indent="0" marL="0">
              <a:buNone/>
            </a:pPr>
            <a:r>
              <a:rPr lang="en-US" sz="1600" dirty="0">
                <a:solidFill>
                  <a:srgbClr val="4A8FDB"/>
                </a:solidFill>
                <a:latin typeface="Montserrat" pitchFamily="34" charset="0"/>
                <a:ea typeface="Montserrat" pitchFamily="34" charset="-122"/>
                <a:cs typeface="Montserrat" pitchFamily="34" charset="-120"/>
              </a:rPr>
              <a:t>The advantage is not generating answers faster — it is testing assumptions faster.</a:t>
            </a:r>
            <a:endParaRPr lang="en-US" sz="1600" dirty="0"/>
          </a:p>
        </p:txBody>
      </p:sp>
      <p:sp>
        <p:nvSpPr>
          <p:cNvPr id="5" name="Shape 2"/>
          <p:cNvSpPr/>
          <p:nvPr/>
        </p:nvSpPr>
        <p:spPr>
          <a:xfrm>
            <a:off x="548640" y="2834640"/>
            <a:ext cx="2615184" cy="1325880"/>
          </a:xfrm>
          <a:prstGeom prst="roundRect">
            <a:avLst>
              <a:gd name="adj" fmla="val 5517"/>
            </a:avLst>
          </a:prstGeom>
          <a:solidFill>
            <a:srgbClr val="1B2156"/>
          </a:solidFill>
          <a:ln/>
        </p:spPr>
      </p:sp>
      <p:sp>
        <p:nvSpPr>
          <p:cNvPr id="6" name="Text 3"/>
          <p:cNvSpPr txBox="1"/>
          <p:nvPr/>
        </p:nvSpPr>
        <p:spPr>
          <a:xfrm>
            <a:off x="749808"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01</a:t>
            </a:r>
            <a:endParaRPr lang="en-US" sz="1400" dirty="0"/>
          </a:p>
        </p:txBody>
      </p:sp>
      <p:sp>
        <p:nvSpPr>
          <p:cNvPr id="7" name="Text 4"/>
          <p:cNvSpPr txBox="1"/>
          <p:nvPr/>
        </p:nvSpPr>
        <p:spPr>
          <a:xfrm>
            <a:off x="749808"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Identify</a:t>
            </a:r>
            <a:endParaRPr lang="en-US" sz="1700" dirty="0"/>
          </a:p>
        </p:txBody>
      </p:sp>
      <p:sp>
        <p:nvSpPr>
          <p:cNvPr id="8" name="Text 5"/>
          <p:cNvSpPr txBox="1"/>
          <p:nvPr/>
        </p:nvSpPr>
        <p:spPr>
          <a:xfrm>
            <a:off x="749808"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Find the opportunity</a:t>
            </a:r>
            <a:endParaRPr lang="en-US" sz="1200" dirty="0"/>
          </a:p>
        </p:txBody>
      </p:sp>
      <p:sp>
        <p:nvSpPr>
          <p:cNvPr id="9" name="Shape 6"/>
          <p:cNvSpPr/>
          <p:nvPr/>
        </p:nvSpPr>
        <p:spPr>
          <a:xfrm>
            <a:off x="3374136" y="2834640"/>
            <a:ext cx="2615184" cy="1325880"/>
          </a:xfrm>
          <a:prstGeom prst="roundRect">
            <a:avLst>
              <a:gd name="adj" fmla="val 5517"/>
            </a:avLst>
          </a:prstGeom>
          <a:solidFill>
            <a:srgbClr val="1B2156"/>
          </a:solidFill>
          <a:ln/>
        </p:spPr>
      </p:sp>
      <p:sp>
        <p:nvSpPr>
          <p:cNvPr id="10" name="Text 7"/>
          <p:cNvSpPr txBox="1"/>
          <p:nvPr/>
        </p:nvSpPr>
        <p:spPr>
          <a:xfrm>
            <a:off x="3575304"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02</a:t>
            </a:r>
            <a:endParaRPr lang="en-US" sz="1400" dirty="0"/>
          </a:p>
        </p:txBody>
      </p:sp>
      <p:sp>
        <p:nvSpPr>
          <p:cNvPr id="11" name="Text 8"/>
          <p:cNvSpPr txBox="1"/>
          <p:nvPr/>
        </p:nvSpPr>
        <p:spPr>
          <a:xfrm>
            <a:off x="3575304"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Quantify</a:t>
            </a:r>
            <a:endParaRPr lang="en-US" sz="1700" dirty="0"/>
          </a:p>
        </p:txBody>
      </p:sp>
      <p:sp>
        <p:nvSpPr>
          <p:cNvPr id="12" name="Text 9"/>
          <p:cNvSpPr txBox="1"/>
          <p:nvPr/>
        </p:nvSpPr>
        <p:spPr>
          <a:xfrm>
            <a:off x="3575304"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Build the business case</a:t>
            </a:r>
            <a:endParaRPr lang="en-US" sz="1200" dirty="0"/>
          </a:p>
        </p:txBody>
      </p:sp>
      <p:sp>
        <p:nvSpPr>
          <p:cNvPr id="13" name="Shape 10"/>
          <p:cNvSpPr/>
          <p:nvPr/>
        </p:nvSpPr>
        <p:spPr>
          <a:xfrm>
            <a:off x="6199632" y="2834640"/>
            <a:ext cx="2615184" cy="1325880"/>
          </a:xfrm>
          <a:prstGeom prst="roundRect">
            <a:avLst>
              <a:gd name="adj" fmla="val 5517"/>
            </a:avLst>
          </a:prstGeom>
          <a:solidFill>
            <a:srgbClr val="1B2156"/>
          </a:solidFill>
          <a:ln/>
        </p:spPr>
      </p:sp>
      <p:sp>
        <p:nvSpPr>
          <p:cNvPr id="14" name="Text 11"/>
          <p:cNvSpPr txBox="1"/>
          <p:nvPr/>
        </p:nvSpPr>
        <p:spPr>
          <a:xfrm>
            <a:off x="6400800"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03</a:t>
            </a:r>
            <a:endParaRPr lang="en-US" sz="1400" dirty="0"/>
          </a:p>
        </p:txBody>
      </p:sp>
      <p:sp>
        <p:nvSpPr>
          <p:cNvPr id="15" name="Text 12"/>
          <p:cNvSpPr txBox="1"/>
          <p:nvPr/>
        </p:nvSpPr>
        <p:spPr>
          <a:xfrm>
            <a:off x="6400800"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Experiment</a:t>
            </a:r>
            <a:endParaRPr lang="en-US" sz="1700" dirty="0"/>
          </a:p>
        </p:txBody>
      </p:sp>
      <p:sp>
        <p:nvSpPr>
          <p:cNvPr id="16" name="Text 13"/>
          <p:cNvSpPr txBox="1"/>
          <p:nvPr/>
        </p:nvSpPr>
        <p:spPr>
          <a:xfrm>
            <a:off x="6400800"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Collect real evidence</a:t>
            </a:r>
            <a:endParaRPr lang="en-US" sz="1200" dirty="0"/>
          </a:p>
        </p:txBody>
      </p:sp>
      <p:sp>
        <p:nvSpPr>
          <p:cNvPr id="17" name="Shape 14"/>
          <p:cNvSpPr/>
          <p:nvPr/>
        </p:nvSpPr>
        <p:spPr>
          <a:xfrm>
            <a:off x="9025128" y="2834640"/>
            <a:ext cx="2615184" cy="1325880"/>
          </a:xfrm>
          <a:prstGeom prst="roundRect">
            <a:avLst>
              <a:gd name="adj" fmla="val 5517"/>
            </a:avLst>
          </a:prstGeom>
          <a:solidFill>
            <a:srgbClr val="1B2156"/>
          </a:solidFill>
          <a:ln/>
        </p:spPr>
      </p:sp>
      <p:sp>
        <p:nvSpPr>
          <p:cNvPr id="18" name="Text 15"/>
          <p:cNvSpPr txBox="1"/>
          <p:nvPr/>
        </p:nvSpPr>
        <p:spPr>
          <a:xfrm>
            <a:off x="9226296"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04</a:t>
            </a:r>
            <a:endParaRPr lang="en-US" sz="1400" dirty="0"/>
          </a:p>
        </p:txBody>
      </p:sp>
      <p:sp>
        <p:nvSpPr>
          <p:cNvPr id="19" name="Text 16"/>
          <p:cNvSpPr txBox="1"/>
          <p:nvPr/>
        </p:nvSpPr>
        <p:spPr>
          <a:xfrm>
            <a:off x="9226296"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Decide</a:t>
            </a:r>
            <a:endParaRPr lang="en-US" sz="1700" dirty="0"/>
          </a:p>
        </p:txBody>
      </p:sp>
      <p:sp>
        <p:nvSpPr>
          <p:cNvPr id="20" name="Text 17"/>
          <p:cNvSpPr txBox="1"/>
          <p:nvPr/>
        </p:nvSpPr>
        <p:spPr>
          <a:xfrm>
            <a:off x="9226296"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Go, iterate or stop</a:t>
            </a:r>
            <a:endParaRPr lang="en-US" sz="1200" dirty="0"/>
          </a:p>
        </p:txBody>
      </p:sp>
      <p:sp>
        <p:nvSpPr>
          <p:cNvPr id="21" name="Text 18"/>
          <p:cNvSpPr txBox="1"/>
          <p:nvPr/>
        </p:nvSpPr>
        <p:spPr>
          <a:xfrm>
            <a:off x="548640" y="4526280"/>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WHO WE ARE</a:t>
            </a:r>
            <a:endParaRPr lang="en-US" sz="1000" dirty="0"/>
          </a:p>
        </p:txBody>
      </p:sp>
      <p:sp>
        <p:nvSpPr>
          <p:cNvPr id="22" name="Text 19"/>
          <p:cNvSpPr txBox="1"/>
          <p:nvPr/>
        </p:nvSpPr>
        <p:spPr>
          <a:xfrm>
            <a:off x="548640" y="4846320"/>
            <a:ext cx="5394960" cy="10972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EE-Partner (Milan) and asuno (Singapore) build AI-native systems for B2B companies — process automation for the DACH Mittelstand, and the Business Model Validator: an AI validation layer between idea and investment.</a:t>
            </a:r>
            <a:endParaRPr lang="en-US" sz="1200" dirty="0"/>
          </a:p>
        </p:txBody>
      </p:sp>
      <p:sp>
        <p:nvSpPr>
          <p:cNvPr id="23" name="Text 20"/>
          <p:cNvSpPr txBox="1"/>
          <p:nvPr/>
        </p:nvSpPr>
        <p:spPr>
          <a:xfrm>
            <a:off x="6263640" y="4526280"/>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WORK WITH US</a:t>
            </a:r>
            <a:endParaRPr lang="en-US" sz="1000" dirty="0"/>
          </a:p>
        </p:txBody>
      </p:sp>
      <p:sp>
        <p:nvSpPr>
          <p:cNvPr id="24" name="Text 21"/>
          <p:cNvSpPr txBox="1"/>
          <p:nvPr/>
        </p:nvSpPr>
        <p:spPr>
          <a:xfrm>
            <a:off x="6263640" y="4846320"/>
            <a:ext cx="5376672" cy="6400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Thesis topics, internships and pilot participation for students.</a:t>
            </a:r>
            <a:endParaRPr lang="en-US" sz="1200" dirty="0"/>
          </a:p>
        </p:txBody>
      </p:sp>
      <p:sp>
        <p:nvSpPr>
          <p:cNvPr id="25" name="Text 22"/>
          <p:cNvSpPr txBox="1"/>
          <p:nvPr/>
        </p:nvSpPr>
        <p:spPr>
          <a:xfrm>
            <a:off x="6263640" y="5532120"/>
            <a:ext cx="5376672" cy="320040"/>
          </a:xfrm>
          <a:prstGeom prst="rect">
            <a:avLst/>
          </a:prstGeom>
          <a:noFill/>
          <a:ln/>
        </p:spPr>
        <p:txBody>
          <a:bodyPr wrap="square" lIns="0" tIns="0" rIns="0" bIns="0" rtlCol="0" anchor="t"/>
          <a:lstStyle/>
          <a:p>
            <a:pPr indent="0" marL="0">
              <a:buNone/>
            </a:pPr>
            <a:r>
              <a:rPr lang="en-US" sz="1200" b="1" dirty="0">
                <a:solidFill>
                  <a:srgbClr val="FFFFFF"/>
                </a:solidFill>
                <a:latin typeface="Montserrat" pitchFamily="34" charset="0"/>
                <a:ea typeface="Montserrat" pitchFamily="34" charset="-122"/>
                <a:cs typeface="Montserrat" pitchFamily="34" charset="-120"/>
              </a:rPr>
              <a:t>Contact: [e-mail / LinkedIn]</a:t>
            </a:r>
            <a:endParaRPr lang="en-US" sz="1200" dirty="0"/>
          </a:p>
        </p:txBody>
      </p:sp>
      <p:pic>
        <p:nvPicPr>
          <p:cNvPr id="26" name="Image 0" descr="/home/user/work/assets/logo_w.png">    </p:cNvPr>
          <p:cNvPicPr>
            <a:picLocks noChangeAspect="1"/>
          </p:cNvPicPr>
          <p:nvPr/>
        </p:nvPicPr>
        <p:blipFill>
          <a:blip r:embed="rId1"/>
          <a:stretch>
            <a:fillRect/>
          </a:stretch>
        </p:blipFill>
        <p:spPr>
          <a:xfrm>
            <a:off x="566928" y="6053328"/>
            <a:ext cx="1143000" cy="42062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EE-Partner Lecture">
  <a:themeElements>
    <a:clrScheme name="EE-Partner Lecture">
      <a:dk1>
        <a:srgbClr val="0F1341"/>
      </a:dk1>
      <a:lt1>
        <a:srgbClr val="FFFFFF"/>
      </a:lt1>
      <a:dk2>
        <a:srgbClr val="5B6270"/>
      </a:dk2>
      <a:lt2>
        <a:srgbClr val="F3F7FC"/>
      </a:lt2>
      <a:accent1>
        <a:srgbClr val="2E6FBF"/>
      </a:accent1>
      <a:accent2>
        <a:srgbClr val="4A8FDB"/>
      </a:accent2>
      <a:accent3>
        <a:srgbClr val="8A93A3"/>
      </a:accent3>
      <a:accent4>
        <a:srgbClr val="D9E8F8"/>
      </a:accent4>
      <a:accent5>
        <a:srgbClr val="C9D3E3"/>
      </a:accent5>
      <a:accent6>
        <a:srgbClr val="6A7FA8"/>
      </a:accent6>
      <a:hlink>
        <a:srgbClr val="2E6FBF"/>
      </a:hlink>
      <a:folHlink>
        <a:srgbClr val="6A7FA8"/>
      </a:folHlink>
    </a:clrScheme>
    <a:fontScheme name="EE-Partner Lectur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EE-Partner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Idea to Market: Building an AI-Native Business</dc:title>
  <dc:subject>PptxGenJS Presentation</dc:subject>
  <dc:creator>EE-Partner</dc:creator>
  <cp:lastModifiedBy>EE-Partner</cp:lastModifiedBy>
  <cp:revision>1</cp:revision>
  <dcterms:created xsi:type="dcterms:W3CDTF">2026-10-03T22:23:43Z</dcterms:created>
  <dcterms:modified xsi:type="dcterms:W3CDTF">2026-10-03T22:23:43Z</dcterms:modified>
</cp:coreProperties>
</file>