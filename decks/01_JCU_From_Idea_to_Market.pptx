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Least messy</c:v>
                </c:pt>
              </c:strCache>
            </c:strRef>
          </c:tx>
          <c:spPr>
            <a:solidFill>
              <a:srgbClr val="D9E8F8"/>
            </a:solidFill>
            <a:ln>
              <a:noFill/>
            </a:ln>
            <a:effectLst/>
          </c:spPr>
          <c:marker>
            <c:symbol val="circle"/>
            <c:size val="9"/>
            <c:spPr>
              <a:solidFill>
                <a:srgbClr val="D9E8F8"/>
              </a:solidFill>
              <a:ln w="9525" cap="flat">
                <a:solidFill>
                  <a:srgbClr val="D9E8F8"/>
                </a:solidFill>
                <a:prstDash val="solid"/>
                <a:round/>
              </a:ln>
              <a:effectLst/>
            </c:spPr>
          </c:marker>
          <c:xVal>
            <c:numRef>
              <c:f>Sheet1!$A$2:$A$10</c:f>
              <c:numCache>
                <c:formatCode>General</c:formatCode>
                <c:ptCount val="9"/>
                <c:pt idx="0">
                  <c:v>2022.15</c:v>
                </c:pt>
                <c:pt idx="1">
                  <c:v>2023.05</c:v>
                </c:pt>
                <c:pt idx="2">
                  <c:v>2023.65</c:v>
                </c:pt>
                <c:pt idx="3">
                  <c:v>2024.1</c:v>
                </c:pt>
                <c:pt idx="4">
                  <c:v>2024.2</c:v>
                </c:pt>
                <c:pt idx="5">
                  <c:v>2024.42</c:v>
                </c:pt>
                <c:pt idx="6">
                  <c:v>2024.52</c:v>
                </c:pt>
                <c:pt idx="7">
                  <c:v>2024.62</c:v>
                </c:pt>
                <c:pt idx="8">
                  <c:v>2024.83</c:v>
                </c:pt>
              </c:numCache>
            </c:numRef>
          </c:xVal>
          <c:yVal>
            <c:numRef>
              <c:f>Sheet1!$B$2:$B$10</c:f>
              <c:numCache>
                <c:formatCode>General</c:formatCode>
                <c:ptCount val="9"/>
                <c:pt idx="0">
                  <c:v>1</c:v>
                </c:pt>
                <c:pt idx="1">
                  <c:v>47</c:v>
                </c:pt>
                <c:pt idx="2">
                  <c:v>64</c:v>
                </c:pt>
                <c:pt idx="3">
                  <c:v>64</c:v>
                </c:pt>
                <c:pt idx="4">
                  <c:v>71</c:v>
                </c:pt>
                <c:pt idx="5">
                  <c:v>73</c:v>
                </c:pt>
                <c:pt idx="6">
                  <c:v>84</c:v>
                </c:pt>
                <c:pt idx="7">
                  <c:v>81</c:v>
                </c:pt>
                <c:pt idx="8">
                  <c:v>95</c:v>
                </c:pt>
              </c:numCache>
            </c:numRef>
          </c:yVal>
          <c:smooth val="0"/>
        </c:ser>
        <c:ser>
          <c:idx val="1"/>
          <c:order val="1"/>
          <c:tx>
            <c:strRef>
              <c:f>Sheet1!$C$1</c:f>
              <c:strCache>
                <c:ptCount val="1"/>
                <c:pt idx="0">
                  <c:v>Messiest</c:v>
                </c:pt>
              </c:strCache>
            </c:strRef>
          </c:tx>
          <c:spPr>
            <a:solidFill>
              <a:srgbClr val="4A8FDB"/>
            </a:solidFill>
            <a:ln>
              <a:noFill/>
            </a:ln>
            <a:effectLst/>
          </c:spPr>
          <c:marker>
            <c:symbol val="circle"/>
            <c:size val="9"/>
            <c:spPr>
              <a:solidFill>
                <a:srgbClr val="4A8FDB"/>
              </a:solidFill>
              <a:ln w="9525" cap="flat">
                <a:solidFill>
                  <a:srgbClr val="4A8FDB"/>
                </a:solidFill>
                <a:prstDash val="solid"/>
                <a:round/>
              </a:ln>
              <a:effectLst/>
            </c:spPr>
          </c:marker>
          <c:xVal>
            <c:numRef>
              <c:f>Sheet1!$A$2:$A$10</c:f>
              <c:numCache>
                <c:formatCode>General</c:formatCode>
                <c:ptCount val="9"/>
                <c:pt idx="0">
                  <c:v>2022.15</c:v>
                </c:pt>
                <c:pt idx="1">
                  <c:v>2023.05</c:v>
                </c:pt>
                <c:pt idx="2">
                  <c:v>2023.65</c:v>
                </c:pt>
                <c:pt idx="3">
                  <c:v>2024.1</c:v>
                </c:pt>
                <c:pt idx="4">
                  <c:v>2024.2</c:v>
                </c:pt>
                <c:pt idx="5">
                  <c:v>2024.42</c:v>
                </c:pt>
                <c:pt idx="6">
                  <c:v>2024.52</c:v>
                </c:pt>
                <c:pt idx="7">
                  <c:v>2024.62</c:v>
                </c:pt>
                <c:pt idx="8">
                  <c:v>2024.83</c:v>
                </c:pt>
              </c:numCache>
            </c:numRef>
          </c:xVal>
          <c:yVal>
            <c:numRef>
              <c:f>Sheet1!$C$2:$C$10</c:f>
              <c:numCache>
                <c:formatCode>General</c:formatCode>
                <c:ptCount val="9"/>
                <c:pt idx="0">
                  <c:v>0.5</c:v>
                </c:pt>
                <c:pt idx="1">
                  <c:v>21</c:v>
                </c:pt>
                <c:pt idx="2">
                  <c:v>22</c:v>
                </c:pt>
                <c:pt idx="3">
                  <c:v>17</c:v>
                </c:pt>
                <c:pt idx="4">
                  <c:v>36</c:v>
                </c:pt>
                <c:pt idx="5">
                  <c:v>42</c:v>
                </c:pt>
                <c:pt idx="6">
                  <c:v>40</c:v>
                </c:pt>
                <c:pt idx="7">
                  <c:v>50</c:v>
                </c:pt>
                <c:pt idx="8">
                  <c:v>62</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025.5"/>
          <c:min val="2022"/>
        </c:scaling>
        <c:delete val="0"/>
        <c:axPos val="b"/>
        <c:majorGridlines>
          <c:spPr>
            <a:ln w="9525" cap="flat">
              <a:solidFill>
                <a:srgbClr val="2A3170"/>
              </a:solidFill>
              <a:prstDash val="solid"/>
              <a:round/>
            </a:ln>
          </c:spPr>
        </c:majorGridlines>
        <c:numFmt formatCode="General"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C9D3E3"/>
                </a:solidFill>
                <a:latin typeface="+mn-lt"/>
              </a:defRPr>
            </a:pPr>
            <a:endParaRPr lang="en-US"/>
          </a:p>
        </c:txPr>
        <c:crossAx val="2094734552"/>
        <c:crosses val="autoZero"/>
        <c:auto val="1"/>
        <c:lblAlgn val="ctr"/>
        <c:noMultiLvlLbl val="1"/>
        <c:majorUnit val="1"/>
      </c:valAx>
      <c:valAx>
        <c:axId val="2094734552"/>
        <c:scaling>
          <c:orientation val="minMax"/>
          <c:max val="100"/>
          <c:min val="0"/>
        </c:scaling>
        <c:delete val="0"/>
        <c:axPos val="l"/>
        <c:majorGridlines>
          <c:spPr>
            <a:ln w="9525" cap="flat">
              <a:solidFill>
                <a:srgbClr val="2A3170"/>
              </a:solidFill>
              <a:prstDash val="solid"/>
              <a:round/>
            </a:ln>
          </c:spPr>
        </c:majorGridlines>
        <c:numFmt formatCode="General"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C9D3E3"/>
                </a:solidFill>
                <a:latin typeface="+mn-lt"/>
              </a:defRPr>
            </a:pPr>
            <a:endParaRPr lang="en-US"/>
          </a:p>
        </c:txPr>
        <c:crossAx val="2094734554"/>
        <c:crosses val="autoZero"/>
        <c:crossBetween val="midCat"/>
        <c:majorUnit val="20"/>
      </c:valAx>
      <c:spPr>
        <a:solidFill>
          <a:srgbClr val="0F1341"/>
        </a:solidFill>
        <a:ln>
          <a:noFill/>
        </a:ln>
        <a:effectLst/>
      </c:spPr>
    </c:plotArea>
    <c:legend>
      <c:legendPos val="b"/>
      <c:overlay val="0"/>
      <c:txPr>
        <a:bodyPr/>
        <a:lstStyle/>
        <a:p>
          <a:pPr>
            <a:defRPr sz="1000">
              <a:solidFill>
                <a:srgbClr val="FFFFFF"/>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Annual revenue (€)</c:v>
                </c:pt>
              </c:strCache>
            </c:strRef>
          </c:tx>
          <c:spPr>
            <a:solidFill>
              <a:srgbClr val="2E6FBF"/>
            </a:solidFill>
            <a:effectLst/>
          </c:spPr>
          <c:invertIfNegative val="0"/>
          <c:dLbls>
            <c:numFmt formatCode="€#,##0" sourceLinked="0"/>
            <c:txPr>
              <a:bodyPr/>
              <a:lstStyle/>
              <a:p>
                <a:pPr>
                  <a:defRPr b="0" i="0" strike="noStrike" sz="1100" u="none">
                    <a:solidFill>
                      <a:srgbClr val="0F1341"/>
                    </a:solidFill>
                    <a:latin typeface="+mn-lt"/>
                  </a:defRPr>
                </a:pPr>
              </a:p>
            </c:txPr>
            <c:showLegendKey val="0"/>
            <c:showVal val="1"/>
            <c:showCatName val="0"/>
            <c:showSerName val="0"/>
            <c:showPercent val="0"/>
            <c:showBubbleSize val="0"/>
            <c:showLeaderLines val="0"/>
          </c:dLbls>
          <c:cat>
            <c:multiLvlStrRef>
              <c:f>Sheet1!$A$2:$A$4</c:f>
              <c:multiLvlStrCache>
                <c:ptCount val="3"/>
                <c:lvl>
                  <c:pt idx="0">
                    <c:v>Pessimistic</c:v>
                  </c:pt>
                  <c:pt idx="1">
                    <c:v>Realistic</c:v>
                  </c:pt>
                  <c:pt idx="2">
                    <c:v>Optimistic</c:v>
                  </c:pt>
                </c:lvl>
              </c:multiLvlStrCache>
            </c:multiLvlStrRef>
          </c:cat>
          <c:val>
            <c:numRef>
              <c:f>Sheet1!$B$2:$B$4</c:f>
              <c:numCache>
                <c:formatCode>General</c:formatCode>
                <c:ptCount val="3"/>
                <c:pt idx="0">
                  <c:v>18000</c:v>
                </c:pt>
                <c:pt idx="1">
                  <c:v>60000</c:v>
                </c:pt>
                <c:pt idx="2">
                  <c:v>144000</c:v>
                </c:pt>
              </c:numCache>
            </c:numRef>
          </c:val>
        </c:ser>
        <c:dLbls>
          <c:numFmt formatCode="€#,##0" sourceLinked="0"/>
          <c:txPr>
            <a:bodyPr/>
            <a:lstStyle/>
            <a:p>
              <a:pPr>
                <a:defRPr b="0" i="0" strike="noStrike" sz="1100" u="none">
                  <a:solidFill>
                    <a:srgbClr val="0F1341"/>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27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Interactive Menti survey (placeholder — insert join code and QR). Run the five questions back to back, about 60 seconds each. Read out one surprising answer per question. Save the results: questions marked “repeat” are asked again at the end.
1. How often do you use AI tools like ChatGPT, Claude or Gemini?  Options: Never · weekly · daily · all the time
2. One word: what makes a company “AI-native”?
3. How long would it take you today to go from an idea to a working prototype?  Options: 1 day · 1 week · 1 month · 6+ months
4. Which step of launching a startup will AI change the most?  Options: Research · product · marketing · validation
5. Would you invest €100,000 in a startup idea an AI helped you build?  Options: Yes · no · need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 live demo by Emidio (approx. 5–7 minutes). The workflow connects millions of data points from many sources into one decision. Frame it with the lecture's lens: applied to a new business idea, from market data to a go / no-go.
Afterwards ask the room: what would this have taken a team ten years ago? Bridge to the title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after the opening demo. Promise: by the end of this session the room has rethought how a company goes from idea to market — and tested one assumption with real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impulse 1 — adoption speed. Netflix needed 3.5 years, Airbnb 2.5, Twitter 2. ChatGPT needed five days (launch Nov 30, 2022). The bar for ChatGPT is barely visible — that is the point. For founders: your customers adopt new tools this fast — and so do your competitors.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impulse 2 — capability speed. In 2024 the best model scored around 96 on an offline IQ test (not in any training data). In 2025 the best model (o3) reached 136 on the Mensa Norway test — roughly the top 1% of people. Caveat to say out loud: IQ tests measure pattern reasoning, not judgement or experience. Ask: if the AI in your pocket outscores most people on reasoning, what is still your job as a founder?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impulse 3 — reality check. METR measured AI success on tasks that take a human professional one hour or less. On clean, well-defined tasks success went from ~0 to ~95% within three years; on messy tasks — unclear goals, many tools, changing context — it is around 60%. Most real jobs are messy. For students: AI raises the bar on clean tasks; your edge is the messy work — ambiguity, customers,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impulse 4 — what becomes valuable. Top right quadrant = core now and growing: AI and big data leads by far, followed by technological literacy, creative and analytical thinking, resilience, curiosity and lifelong learning. Programming sits lower than people expect — AI writes code. Link to their studies: analytical thinking + AI literacy + curiosity is the founder's skill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impulse 5 — the bridge to today's topic. Human intelligence brings judgement, context, trust and responsibility. Artificial intelligence brings speed, scale and pattern recognition. Augmented intelligence is the overlap — and that is where the rest of this lecture lives. 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rows left to right. The middle column is what most companies do today: the same process, faster. The right column is the rethink: the company is built as a testing system. Ask: which column describes the last student project you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used for the rest of the session. Example contrast: an AI-enabled startup writes its pitch deck with ChatGPT; an AI-native startup has agents that research, test and report every week, and the founders decide 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live how AI researches and quantifies in 60 seconds — then how easily it fabricates a figure. Rule for the rest of the day: a number without a tag does not go on a pitch. Menti scale: how confident are you in the 20,000?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Prepared base: landing page, two variants, QR code, click tracking, live dashboard. A student names a change — new audience, new headline, a third variant. Claude Code makes it in the running page; open the result in the browser, not the code. Say what took how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each engine to what the groups will do by hand with ChatGPT. This is what systematic, AI-native validation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Bachelors: keep it to the three stages and one rule — nothing is “validated” without real behaviour. Mention a real anonymised campaign figure next to the classroom click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countdown. Minute 3–5: every group runs the skeptical-investor prompt. Validation: group propositions become the two landing-page variants; the room clicks. Remaining groups submit the four fields via 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rethink. Four shifts, then the closing slide. Ask: which of these shifts scares you, which excites you? Then repeat Menti question 5 and compare with the first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no pitch. Q&amp;A. Photograph the Menti results for the follow-up post.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home/user/work/assets/wave_content.png">    </p:cNvPr>
          <p:cNvPicPr>
            <a:picLocks noChangeAspect="1"/>
          </p:cNvPicPr>
          <p:nvPr/>
        </p:nvPicPr>
        <p:blipFill>
          <a:blip r:embed="rId1"/>
          <a:stretch>
            <a:fillRect/>
          </a:stretch>
        </p:blipFill>
        <p:spPr>
          <a:xfrm>
            <a:off x="6339535" y="0"/>
            <a:ext cx="5852160" cy="2011680"/>
          </a:xfrm>
          <a:prstGeom prst="rect">
            <a:avLst/>
          </a:prstGeom>
        </p:spPr>
      </p:pic>
      <p:pic>
        <p:nvPicPr>
          <p:cNvPr id="3" name="Image 1" descr="/home/user/work/assets/logo_t.png">    </p:cNvPr>
          <p:cNvPicPr>
            <a:picLocks noChangeAspect="1"/>
          </p:cNvPicPr>
          <p:nvPr/>
        </p:nvPicPr>
        <p:blipFill>
          <a:blip r:embed="rId2"/>
          <a:stretch>
            <a:fillRect/>
          </a:stretch>
        </p:blipFill>
        <p:spPr>
          <a:xfrm>
            <a:off x="566928" y="6291072"/>
            <a:ext cx="1143000" cy="420624"/>
          </a:xfrm>
          <a:prstGeom prst="rect">
            <a:avLst/>
          </a:prstGeom>
        </p:spPr>
      </p:pic>
      <p:sp>
        <p:nvSpPr>
          <p:cNvPr id="4" name="Text 0"/>
          <p:cNvSpPr/>
          <p:nvPr>
            <p:ph idx="102" type="title" hasCustomPrompt="1"/>
          </p:nvPr>
        </p:nvSpPr>
        <p:spPr>
          <a:xfrm>
            <a:off x="548640" y="502920"/>
            <a:ext cx="7863840" cy="685800"/>
          </a:xfrm>
          <a:prstGeom prst="rect">
            <a:avLst/>
          </a:prstGeom>
          <a:noFill/>
          <a:ln/>
        </p:spPr>
        <p:txBody>
          <a:bodyPr wrap="square" rtlCol="0"/>
          <a:lstStyle>
            <a:lvl1pPr algn="l" indent="0" marL="0">
              <a:buNone/>
              <a:defRPr lang="en-US" sz="2800" b="1" dirty="0">
                <a:solidFill>
                  <a:srgbClr val="0F1341"/>
                </a:solidFill>
                <a:latin typeface="Montserrat" pitchFamily="34" charset="0"/>
                <a:ea typeface="Montserrat" pitchFamily="34" charset="-122"/>
                <a:cs typeface="Montserrat" pitchFamily="34" charset="-120"/>
              </a:defRPr>
            </a:lvl1pPr>
          </a:lstStyle>
          <a:p>
            <a:pPr algn="l" indent="0" marL="0">
              <a:buNone/>
            </a:pPr>
            <a:r>
              <a:rPr lang="en-US" sz="2800" b="1" dirty="0">
                <a:solidFill>
                  <a:srgbClr val="0F1341"/>
                </a:solidFill>
                <a:latin typeface="Montserrat" pitchFamily="34" charset="0"/>
                <a:ea typeface="Montserrat" pitchFamily="34" charset="-122"/>
                <a:cs typeface="Montserrat" pitchFamily="34" charset="-120"/>
              </a:rPr>
              <a:t>Title</a:t>
            </a:r>
            <a:endParaRPr lang="en-US" sz="2800" dirty="0"/>
          </a:p>
        </p:txBody>
      </p:sp>
      <p:sp>
        <p:nvSpPr>
          <p:cNvPr id="5" name="Text 0"/>
          <p:cNvSpPr/>
          <p:nvPr>
            <p:ph idx="103" type="body" hasCustomPrompt="1"/>
          </p:nvPr>
        </p:nvSpPr>
        <p:spPr>
          <a:xfrm>
            <a:off x="548640" y="1207008"/>
            <a:ext cx="8778240" cy="365760"/>
          </a:xfrm>
          <a:prstGeom prst="rect">
            <a:avLst/>
          </a:prstGeom>
          <a:noFill/>
          <a:ln/>
        </p:spPr>
        <p:txBody>
          <a:bodyPr wrap="square" rtlCol="0"/>
          <a:lstStyle>
            <a:lvl1pPr algn="l" indent="0" marL="0">
              <a:buNone/>
              <a:defRPr lang="en-US" sz="1300" dirty="0">
                <a:solidFill>
                  <a:srgbClr val="5B6270"/>
                </a:solidFill>
                <a:latin typeface="Montserrat" pitchFamily="34" charset="0"/>
                <a:ea typeface="Montserrat" pitchFamily="34" charset="-122"/>
                <a:cs typeface="Montserrat" pitchFamily="34" charset="-120"/>
              </a:defRPr>
            </a:lvl1pPr>
          </a:lstStyle>
          <a:p>
            <a:pPr algn="l" indent="0" marL="0">
              <a:buNone/>
            </a:pPr>
            <a:r>
              <a:rPr lang="en-US" sz="1300" dirty="0">
                <a:solidFill>
                  <a:srgbClr val="5B6270"/>
                </a:solidFill>
                <a:latin typeface="Montserrat" pitchFamily="34" charset="0"/>
                <a:ea typeface="Montserrat" pitchFamily="34" charset="-122"/>
                <a:cs typeface="Montserrat" pitchFamily="34" charset="-120"/>
              </a:rPr>
              <a:t>Subtitle</a:t>
            </a:r>
            <a:endParaRPr lang="en-US" sz="13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3A3"/>
                </a:solidFill>
                <a:latin typeface="Montserrat"/>
                <a:ea typeface="Montserrat"/>
                <a:cs typeface="Montserra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F1341"/>
        </a:solidFill>
      </p:bgPr>
    </p:bg>
    <p:spTree>
      <p:nvGrpSpPr>
        <p:cNvPr id="1" name=""/>
        <p:cNvGrpSpPr/>
        <p:nvPr/>
      </p:nvGrpSpPr>
      <p:grpSpPr>
        <a:xfrm>
          <a:off x="0" y="0"/>
          <a:ext cx="0" cy="0"/>
          <a:chOff x="0" y="0"/>
          <a:chExt cx="0" cy="0"/>
        </a:xfrm>
      </p:grpSpPr>
      <p:pic>
        <p:nvPicPr>
          <p:cNvPr id="2" name="Image 0" descr="/home/user/work/assets/wave_content_dark.png">    </p:cNvPr>
          <p:cNvPicPr>
            <a:picLocks noChangeAspect="1"/>
          </p:cNvPicPr>
          <p:nvPr/>
        </p:nvPicPr>
        <p:blipFill>
          <a:blip r:embed="rId1"/>
          <a:stretch>
            <a:fillRect/>
          </a:stretch>
        </p:blipFill>
        <p:spPr>
          <a:xfrm>
            <a:off x="6339535" y="0"/>
            <a:ext cx="5852160" cy="2011680"/>
          </a:xfrm>
          <a:prstGeom prst="rect">
            <a:avLst/>
          </a:prstGeom>
        </p:spPr>
      </p:pic>
      <p:sp>
        <p:nvSpPr>
          <p:cNvPr id="3" name="Text 0"/>
          <p:cNvSpPr/>
          <p:nvPr>
            <p:ph idx="101" type="title" hasCustomPrompt="1"/>
          </p:nvPr>
        </p:nvSpPr>
        <p:spPr>
          <a:xfrm>
            <a:off x="548640" y="502920"/>
            <a:ext cx="8412480" cy="777240"/>
          </a:xfrm>
          <a:prstGeom prst="rect">
            <a:avLst/>
          </a:prstGeom>
          <a:noFill/>
          <a:ln/>
        </p:spPr>
        <p:txBody>
          <a:bodyPr wrap="square" rtlCol="0"/>
          <a:lstStyle>
            <a:lvl1pPr algn="l" indent="0" marL="0">
              <a:buNone/>
              <a:defRPr lang="en-US" sz="3000" b="1" dirty="0">
                <a:solidFill>
                  <a:srgbClr val="FFFFFF"/>
                </a:solidFill>
                <a:latin typeface="Montserrat" pitchFamily="34" charset="0"/>
                <a:ea typeface="Montserrat" pitchFamily="34" charset="-122"/>
                <a:cs typeface="Montserrat" pitchFamily="34" charset="-120"/>
              </a:defRPr>
            </a:lvl1pPr>
          </a:lstStyle>
          <a:p>
            <a:pPr algn="l" indent="0" marL="0">
              <a:buNone/>
            </a:pPr>
            <a:r>
              <a:rPr lang="en-US" sz="3000" b="1" dirty="0">
                <a:solidFill>
                  <a:srgbClr val="FFFFFF"/>
                </a:solidFill>
                <a:latin typeface="Montserrat" pitchFamily="34" charset="0"/>
                <a:ea typeface="Montserrat" pitchFamily="34" charset="-122"/>
                <a:cs typeface="Montserrat" pitchFamily="34" charset="-120"/>
              </a:rPr>
              <a:t>Title</a:t>
            </a:r>
            <a:endParaRPr lang="en-US" sz="3000" dirty="0"/>
          </a:p>
        </p:txBody>
      </p:sp>
      <p:sp>
        <p:nvSpPr>
          <p:cNvPr id="4" name="Text 0"/>
          <p:cNvSpPr/>
          <p:nvPr>
            <p:ph idx="102" type="body" hasCustomPrompt="1"/>
          </p:nvPr>
        </p:nvSpPr>
        <p:spPr>
          <a:xfrm>
            <a:off x="548640" y="1298448"/>
            <a:ext cx="9326880" cy="411480"/>
          </a:xfrm>
          <a:prstGeom prst="rect">
            <a:avLst/>
          </a:prstGeom>
          <a:noFill/>
          <a:ln/>
        </p:spPr>
        <p:txBody>
          <a:bodyPr wrap="square" rtlCol="0"/>
          <a:lstStyle>
            <a:lvl1pPr algn="l" indent="0" marL="0">
              <a:buNone/>
              <a:defRPr lang="en-US" sz="1400" dirty="0">
                <a:solidFill>
                  <a:srgbClr val="C9D3E3"/>
                </a:solidFill>
                <a:latin typeface="Montserrat" pitchFamily="34" charset="0"/>
                <a:ea typeface="Montserrat" pitchFamily="34" charset="-122"/>
                <a:cs typeface="Montserrat" pitchFamily="34" charset="-120"/>
              </a:defRPr>
            </a:lvl1pPr>
          </a:lstStyle>
          <a:p>
            <a:pPr algn="l" indent="0" marL="0">
              <a:buNone/>
            </a:pPr>
            <a:r>
              <a:rPr lang="en-US" sz="1400" dirty="0">
                <a:solidFill>
                  <a:srgbClr val="C9D3E3"/>
                </a:solidFill>
                <a:latin typeface="Montserrat" pitchFamily="34" charset="0"/>
                <a:ea typeface="Montserrat" pitchFamily="34" charset="-122"/>
                <a:cs typeface="Montserrat" pitchFamily="34" charset="-120"/>
              </a:rPr>
              <a:t>Subtitle</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A7FA8"/>
                </a:solidFill>
                <a:latin typeface="Montserrat"/>
                <a:ea typeface="Montserrat"/>
                <a:cs typeface="Montserrat"/>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0F1341"/>
        </a:solidFill>
      </p:bgPr>
    </p:bg>
    <p:spTree>
      <p:nvGrpSpPr>
        <p:cNvPr id="1" name=""/>
        <p:cNvGrpSpPr/>
        <p:nvPr/>
      </p:nvGrpSpPr>
      <p:grpSpPr>
        <a:xfrm>
          <a:off x="0" y="0"/>
          <a:ext cx="0" cy="0"/>
          <a:chOff x="0" y="0"/>
          <a:chExt cx="0" cy="0"/>
        </a:xfrm>
      </p:grpSpPr>
      <p:pic>
        <p:nvPicPr>
          <p:cNvPr id="2" name="Image 0" descr="/home/user/work/assets/wave_content_dark.png">    </p:cNvPr>
          <p:cNvPicPr>
            <a:picLocks noChangeAspect="1"/>
          </p:cNvPicPr>
          <p:nvPr/>
        </p:nvPicPr>
        <p:blipFill>
          <a:blip r:embed="rId1"/>
          <a:stretch>
            <a:fillRect/>
          </a:stretch>
        </p:blipFill>
        <p:spPr>
          <a:xfrm>
            <a:off x="6339535" y="0"/>
            <a:ext cx="5852160" cy="2011680"/>
          </a:xfrm>
          <a:prstGeom prst="rect">
            <a:avLst/>
          </a:prstGeom>
        </p:spPr>
      </p:pic>
      <p:sp>
        <p:nvSpPr>
          <p:cNvPr id="3" name="Text 0"/>
          <p:cNvSpPr/>
          <p:nvPr>
            <p:ph idx="101" type="title" hasCustomPrompt="1"/>
          </p:nvPr>
        </p:nvSpPr>
        <p:spPr>
          <a:xfrm>
            <a:off x="548640" y="685800"/>
            <a:ext cx="9509760" cy="1280160"/>
          </a:xfrm>
          <a:prstGeom prst="rect">
            <a:avLst/>
          </a:prstGeom>
          <a:noFill/>
          <a:ln/>
        </p:spPr>
        <p:txBody>
          <a:bodyPr wrap="square" rtlCol="0"/>
          <a:lstStyle>
            <a:lvl1pPr algn="l" indent="0" marL="0">
              <a:buNone/>
              <a:defRPr lang="en-US" sz="3400" b="1" dirty="0">
                <a:solidFill>
                  <a:srgbClr val="FFFFFF"/>
                </a:solidFill>
                <a:latin typeface="Montserrat" pitchFamily="34" charset="0"/>
                <a:ea typeface="Montserrat" pitchFamily="34" charset="-122"/>
                <a:cs typeface="Montserrat" pitchFamily="34" charset="-120"/>
              </a:defRPr>
            </a:lvl1pPr>
          </a:lstStyle>
          <a:p>
            <a:pPr algn="l" indent="0" marL="0">
              <a:buNone/>
            </a:pPr>
            <a:r>
              <a:rPr lang="en-US" sz="3400" b="1" dirty="0">
                <a:solidFill>
                  <a:srgbClr val="FFFFFF"/>
                </a:solidFill>
                <a:latin typeface="Montserrat" pitchFamily="34" charset="0"/>
                <a:ea typeface="Montserrat" pitchFamily="34" charset="-122"/>
                <a:cs typeface="Montserrat" pitchFamily="34" charset="-120"/>
              </a:rPr>
              <a:t>Title</a:t>
            </a:r>
            <a:endParaRPr lang="en-US" sz="3400" dirty="0"/>
          </a:p>
        </p:txBody>
      </p:sp>
      <p:sp>
        <p:nvSpPr>
          <p:cNvPr id="4" name="Text 0"/>
          <p:cNvSpPr/>
          <p:nvPr>
            <p:ph idx="102" type="body" hasCustomPrompt="1"/>
          </p:nvPr>
        </p:nvSpPr>
        <p:spPr>
          <a:xfrm>
            <a:off x="548640" y="2057400"/>
            <a:ext cx="9509760" cy="411480"/>
          </a:xfrm>
          <a:prstGeom prst="rect">
            <a:avLst/>
          </a:prstGeom>
          <a:noFill/>
          <a:ln/>
        </p:spPr>
        <p:txBody>
          <a:bodyPr wrap="square" rtlCol="0"/>
          <a:lstStyle>
            <a:lvl1pPr algn="l" indent="0" marL="0">
              <a:buNone/>
              <a:defRPr lang="en-US" sz="1600" dirty="0">
                <a:solidFill>
                  <a:srgbClr val="4A8FDB"/>
                </a:solidFill>
                <a:latin typeface="Montserrat" pitchFamily="34" charset="0"/>
                <a:ea typeface="Montserrat" pitchFamily="34" charset="-122"/>
                <a:cs typeface="Montserrat" pitchFamily="34" charset="-120"/>
              </a:defRPr>
            </a:lvl1pPr>
          </a:lstStyle>
          <a:p>
            <a:pPr algn="l" indent="0" marL="0">
              <a:buNone/>
            </a:pPr>
            <a:r>
              <a:rPr lang="en-US" sz="1600" dirty="0">
                <a:solidFill>
                  <a:srgbClr val="4A8FDB"/>
                </a:solidFill>
                <a:latin typeface="Montserrat" pitchFamily="34" charset="0"/>
                <a:ea typeface="Montserrat" pitchFamily="34" charset="-122"/>
                <a:cs typeface="Montserrat" pitchFamily="34" charset="-120"/>
              </a:rPr>
              <a:t>Subtitle</a:t>
            </a:r>
            <a:endParaRPr lang="en-US" sz="16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A7FA8"/>
                </a:solidFill>
                <a:latin typeface="Montserrat"/>
                <a:ea typeface="Montserrat"/>
                <a:cs typeface="Montserrat"/>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pic>
        <p:nvPicPr>
          <p:cNvPr id="2" name="Image 0" descr="/home/user/work/assets/wave_title.png">    </p:cNvPr>
          <p:cNvPicPr>
            <a:picLocks noChangeAspect="1"/>
          </p:cNvPicPr>
          <p:nvPr/>
        </p:nvPicPr>
        <p:blipFill>
          <a:blip r:embed="rId1"/>
          <a:stretch>
            <a:fillRect/>
          </a:stretch>
        </p:blipFill>
        <p:spPr>
          <a:xfrm>
            <a:off x="5333695" y="0"/>
            <a:ext cx="6858000" cy="6858000"/>
          </a:xfrm>
          <a:prstGeom prst="rect">
            <a:avLst/>
          </a:prstGeom>
        </p:spPr>
      </p:pic>
      <p:pic>
        <p:nvPicPr>
          <p:cNvPr id="3" name="Image 1" descr="/home/user/work/assets/logo_t.png">    </p:cNvPr>
          <p:cNvPicPr>
            <a:picLocks noChangeAspect="1"/>
          </p:cNvPicPr>
          <p:nvPr/>
        </p:nvPicPr>
        <p:blipFill>
          <a:blip r:embed="rId2"/>
          <a:stretch>
            <a:fillRect/>
          </a:stretch>
        </p:blipFill>
        <p:spPr>
          <a:xfrm>
            <a:off x="566928" y="292608"/>
            <a:ext cx="1792224" cy="658368"/>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3A3"/>
                </a:solidFill>
                <a:latin typeface="Montserrat"/>
                <a:ea typeface="Montserrat"/>
                <a:cs typeface="Montserra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548640" y="502920"/>
            <a:ext cx="8412480" cy="777240"/>
          </a:xfrm>
          <a:prstGeom prst="rect">
            <a:avLst/>
          </a:prstGeom>
          <a:noFill/>
          <a:ln/>
        </p:spPr>
        <p:txBody>
          <a:bodyPr wrap="square" lIns="0" tIns="0" rIns="0" bIns="0" rtlCol="0" anchor="t"/>
          <a:lstStyle/>
          <a:p>
            <a:pPr algn="l" indent="0" marL="0">
              <a:buNone/>
            </a:pPr>
            <a:r>
              <a:rPr lang="en-US" sz="3000" b="1" dirty="0">
                <a:solidFill>
                  <a:srgbClr val="FFFFFF"/>
                </a:solidFill>
                <a:latin typeface="Montserrat" pitchFamily="34" charset="0"/>
                <a:ea typeface="Montserrat" pitchFamily="34" charset="-122"/>
                <a:cs typeface="Montserrat" pitchFamily="34" charset="-120"/>
              </a:rPr>
              <a:t>Before we start: your view on AI</a:t>
            </a:r>
            <a:endParaRPr lang="en-US" sz="3000" dirty="0"/>
          </a:p>
        </p:txBody>
      </p:sp>
      <p:sp>
        <p:nvSpPr>
          <p:cNvPr id="3" name="Text 0"/>
          <p:cNvSpPr/>
          <p:nvPr>
            <p:ph idx="102" type="body" hasCustomPrompt="1"/>
          </p:nvPr>
        </p:nvSpPr>
        <p:spPr>
          <a:xfrm>
            <a:off x="548640" y="1298448"/>
            <a:ext cx="9326880" cy="411480"/>
          </a:xfrm>
          <a:prstGeom prst="rect">
            <a:avLst/>
          </a:prstGeom>
          <a:noFill/>
          <a:ln/>
        </p:spPr>
        <p:txBody>
          <a:bodyPr wrap="square" lIns="0" tIns="0" rIns="0" bIns="0" rtlCol="0" anchor="t"/>
          <a:lstStyle/>
          <a:p>
            <a:pPr algn="l" indent="0" marL="0">
              <a:buNone/>
            </a:pPr>
            <a:r>
              <a:rPr lang="en-US" sz="1400" dirty="0">
                <a:solidFill>
                  <a:srgbClr val="C9D3E3"/>
                </a:solidFill>
                <a:latin typeface="Montserrat" pitchFamily="34" charset="0"/>
                <a:ea typeface="Montserrat" pitchFamily="34" charset="-122"/>
                <a:cs typeface="Montserrat" pitchFamily="34" charset="-120"/>
              </a:rPr>
              <a:t>Five quick questions on Menti — answers stay on screen and we come back to them at the end.</a:t>
            </a:r>
            <a:endParaRPr lang="en-US" sz="1400" dirty="0"/>
          </a:p>
        </p:txBody>
      </p:sp>
      <p:sp>
        <p:nvSpPr>
          <p:cNvPr id="5" name="Shape 2"/>
          <p:cNvSpPr/>
          <p:nvPr/>
        </p:nvSpPr>
        <p:spPr>
          <a:xfrm>
            <a:off x="548640" y="2011680"/>
            <a:ext cx="3017520" cy="4160520"/>
          </a:xfrm>
          <a:prstGeom prst="roundRect">
            <a:avLst>
              <a:gd name="adj" fmla="val 2424"/>
            </a:avLst>
          </a:prstGeom>
          <a:solidFill>
            <a:srgbClr val="1B2156"/>
          </a:solidFill>
          <a:ln w="15875">
            <a:solidFill>
              <a:srgbClr val="4A8FDB"/>
            </a:solidFill>
            <a:prstDash val="dash"/>
          </a:ln>
        </p:spPr>
      </p:sp>
      <p:pic>
        <p:nvPicPr>
          <p:cNvPr id="6" name="Image 0" descr="preencoded.png">    </p:cNvPr>
          <p:cNvPicPr>
            <a:picLocks noChangeAspect="1"/>
          </p:cNvPicPr>
          <p:nvPr/>
        </p:nvPicPr>
        <p:blipFill>
          <a:blip r:embed="rId1"/>
          <a:stretch>
            <a:fillRect/>
          </a:stretch>
        </p:blipFill>
        <p:spPr>
          <a:xfrm>
            <a:off x="1371600" y="2423160"/>
            <a:ext cx="1371600" cy="1371600"/>
          </a:xfrm>
          <a:prstGeom prst="rect">
            <a:avLst/>
          </a:prstGeom>
        </p:spPr>
      </p:pic>
      <p:sp>
        <p:nvSpPr>
          <p:cNvPr id="7" name="Shape 3"/>
          <p:cNvSpPr/>
          <p:nvPr/>
        </p:nvSpPr>
        <p:spPr>
          <a:xfrm>
            <a:off x="1188720" y="4023360"/>
            <a:ext cx="1737360" cy="274320"/>
          </a:xfrm>
          <a:prstGeom prst="roundRect">
            <a:avLst>
              <a:gd name="adj" fmla="val 26667"/>
            </a:avLst>
          </a:prstGeom>
          <a:solidFill>
            <a:srgbClr val="4A8FDB"/>
          </a:solidFill>
          <a:ln/>
        </p:spPr>
      </p:sp>
      <p:sp>
        <p:nvSpPr>
          <p:cNvPr id="8" name="Text 4"/>
          <p:cNvSpPr txBox="1"/>
          <p:nvPr/>
        </p:nvSpPr>
        <p:spPr>
          <a:xfrm>
            <a:off x="1188720" y="4023360"/>
            <a:ext cx="173736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Montserrat" pitchFamily="34" charset="0"/>
                <a:ea typeface="Montserrat" pitchFamily="34" charset="-122"/>
                <a:cs typeface="Montserrat" pitchFamily="34" charset="-120"/>
              </a:rPr>
              <a:t>PLACEHOLDER</a:t>
            </a:r>
            <a:endParaRPr lang="en-US" sz="900" dirty="0"/>
          </a:p>
        </p:txBody>
      </p:sp>
      <p:sp>
        <p:nvSpPr>
          <p:cNvPr id="9" name="Text 5"/>
          <p:cNvSpPr txBox="1"/>
          <p:nvPr/>
        </p:nvSpPr>
        <p:spPr>
          <a:xfrm>
            <a:off x="731520" y="4480560"/>
            <a:ext cx="2651760" cy="320040"/>
          </a:xfrm>
          <a:prstGeom prst="rect">
            <a:avLst/>
          </a:prstGeom>
          <a:noFill/>
          <a:ln/>
        </p:spPr>
        <p:txBody>
          <a:bodyPr wrap="square" lIns="0" tIns="0" rIns="0" bIns="0" rtlCol="0" anchor="t"/>
          <a:lstStyle/>
          <a:p>
            <a:pPr algn="ctr" indent="0" marL="0">
              <a:buNone/>
            </a:pPr>
            <a:r>
              <a:rPr lang="en-US" sz="1400" b="1" dirty="0">
                <a:solidFill>
                  <a:srgbClr val="FFFFFF"/>
                </a:solidFill>
                <a:latin typeface="Montserrat" pitchFamily="34" charset="0"/>
                <a:ea typeface="Montserrat" pitchFamily="34" charset="-122"/>
                <a:cs typeface="Montserrat" pitchFamily="34" charset="-120"/>
              </a:rPr>
              <a:t>Interactive Menti survey</a:t>
            </a:r>
            <a:endParaRPr lang="en-US" sz="1400" dirty="0"/>
          </a:p>
        </p:txBody>
      </p:sp>
      <p:sp>
        <p:nvSpPr>
          <p:cNvPr id="10" name="Text 6"/>
          <p:cNvSpPr txBox="1"/>
          <p:nvPr/>
        </p:nvSpPr>
        <p:spPr>
          <a:xfrm>
            <a:off x="731520" y="4846320"/>
            <a:ext cx="2651760" cy="731520"/>
          </a:xfrm>
          <a:prstGeom prst="rect">
            <a:avLst/>
          </a:prstGeom>
          <a:noFill/>
          <a:ln/>
        </p:spPr>
        <p:txBody>
          <a:bodyPr wrap="square" lIns="0" tIns="0" rIns="0" bIns="0" rtlCol="0" anchor="t"/>
          <a:lstStyle/>
          <a:p>
            <a:pPr algn="ctr" indent="0" marL="0">
              <a:buNone/>
            </a:pPr>
            <a:r>
              <a:rPr lang="en-US" sz="1200" dirty="0">
                <a:solidFill>
                  <a:srgbClr val="C9D3E3"/>
                </a:solidFill>
                <a:latin typeface="Montserrat" pitchFamily="34" charset="0"/>
                <a:ea typeface="Montserrat" pitchFamily="34" charset="-122"/>
                <a:cs typeface="Montserrat" pitchFamily="34" charset="-120"/>
              </a:rPr>
              <a:t>menti.com  ·  code [ ____ ]</a:t>
            </a:r>
            <a:endParaRPr lang="en-US" sz="1200" dirty="0"/>
          </a:p>
          <a:p>
            <a:pPr algn="ctr" indent="0" marL="0">
              <a:buNone/>
            </a:pPr>
            <a:r>
              <a:rPr lang="en-US" sz="1200" dirty="0">
                <a:solidFill>
                  <a:srgbClr val="C9D3E3"/>
                </a:solidFill>
                <a:latin typeface="Montserrat" pitchFamily="34" charset="0"/>
                <a:ea typeface="Montserrat" pitchFamily="34" charset="-122"/>
                <a:cs typeface="Montserrat" pitchFamily="34" charset="-120"/>
              </a:rPr>
              <a:t>QR code + live results</a:t>
            </a:r>
            <a:endParaRPr lang="en-US" sz="1200" dirty="0"/>
          </a:p>
        </p:txBody>
      </p:sp>
      <p:sp>
        <p:nvSpPr>
          <p:cNvPr id="11" name="Shape 7"/>
          <p:cNvSpPr/>
          <p:nvPr/>
        </p:nvSpPr>
        <p:spPr>
          <a:xfrm>
            <a:off x="3840480" y="2011680"/>
            <a:ext cx="7799832" cy="758952"/>
          </a:xfrm>
          <a:prstGeom prst="roundRect">
            <a:avLst>
              <a:gd name="adj" fmla="val 9639"/>
            </a:avLst>
          </a:prstGeom>
          <a:solidFill>
            <a:srgbClr val="1B2156"/>
          </a:solidFill>
          <a:ln/>
        </p:spPr>
      </p:sp>
      <p:sp>
        <p:nvSpPr>
          <p:cNvPr id="12" name="Shape 8"/>
          <p:cNvSpPr/>
          <p:nvPr/>
        </p:nvSpPr>
        <p:spPr>
          <a:xfrm>
            <a:off x="4005072" y="2185416"/>
            <a:ext cx="411480" cy="411480"/>
          </a:xfrm>
          <a:prstGeom prst="ellipse">
            <a:avLst/>
          </a:prstGeom>
          <a:solidFill>
            <a:srgbClr val="4A8FDB"/>
          </a:solidFill>
          <a:ln/>
        </p:spPr>
      </p:sp>
      <p:sp>
        <p:nvSpPr>
          <p:cNvPr id="13" name="Text 9"/>
          <p:cNvSpPr txBox="1"/>
          <p:nvPr/>
        </p:nvSpPr>
        <p:spPr>
          <a:xfrm>
            <a:off x="4005072" y="2185416"/>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1</a:t>
            </a:r>
            <a:endParaRPr lang="en-US" sz="1300" dirty="0"/>
          </a:p>
        </p:txBody>
      </p:sp>
      <p:sp>
        <p:nvSpPr>
          <p:cNvPr id="14" name="Text 10"/>
          <p:cNvSpPr txBox="1"/>
          <p:nvPr/>
        </p:nvSpPr>
        <p:spPr>
          <a:xfrm>
            <a:off x="4572000" y="2084832"/>
            <a:ext cx="4846320" cy="612648"/>
          </a:xfrm>
          <a:prstGeom prst="rect">
            <a:avLst/>
          </a:prstGeom>
          <a:noFill/>
          <a:ln/>
        </p:spPr>
        <p:txBody>
          <a:bodyPr wrap="square" lIns="0" tIns="0" rIns="0" bIns="0" rtlCol="0" anchor="ctr"/>
          <a:lstStyle/>
          <a:p>
            <a:pPr indent="0" marL="0">
              <a:buNone/>
            </a:pPr>
            <a:r>
              <a:rPr lang="en-US" sz="1300" b="1" dirty="0">
                <a:solidFill>
                  <a:srgbClr val="FFFFFF"/>
                </a:solidFill>
                <a:latin typeface="Montserrat" pitchFamily="34" charset="0"/>
                <a:ea typeface="Montserrat" pitchFamily="34" charset="-122"/>
                <a:cs typeface="Montserrat" pitchFamily="34" charset="-120"/>
              </a:rPr>
              <a:t>How often do you use AI tools like ChatGPT, Claude or Gemini?</a:t>
            </a:r>
            <a:endParaRPr lang="en-US" sz="1300" dirty="0"/>
          </a:p>
        </p:txBody>
      </p:sp>
      <p:sp>
        <p:nvSpPr>
          <p:cNvPr id="15" name="Shape 11"/>
          <p:cNvSpPr/>
          <p:nvPr/>
        </p:nvSpPr>
        <p:spPr>
          <a:xfrm>
            <a:off x="9601200" y="2103120"/>
            <a:ext cx="1874520" cy="219456"/>
          </a:xfrm>
          <a:prstGeom prst="roundRect">
            <a:avLst>
              <a:gd name="adj" fmla="val 33333"/>
            </a:avLst>
          </a:prstGeom>
          <a:solidFill>
            <a:srgbClr val="2E6FBF"/>
          </a:solidFill>
          <a:ln/>
        </p:spPr>
      </p:sp>
      <p:sp>
        <p:nvSpPr>
          <p:cNvPr id="16" name="Text 12"/>
          <p:cNvSpPr txBox="1"/>
          <p:nvPr/>
        </p:nvSpPr>
        <p:spPr>
          <a:xfrm>
            <a:off x="9601200" y="2103120"/>
            <a:ext cx="1874520"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Montserrat" pitchFamily="34" charset="0"/>
                <a:ea typeface="Montserrat" pitchFamily="34" charset="-122"/>
                <a:cs typeface="Montserrat" pitchFamily="34" charset="-120"/>
              </a:rPr>
              <a:t>POLL</a:t>
            </a:r>
            <a:endParaRPr lang="en-US" sz="800" dirty="0"/>
          </a:p>
        </p:txBody>
      </p:sp>
      <p:sp>
        <p:nvSpPr>
          <p:cNvPr id="17" name="Text 13"/>
          <p:cNvSpPr txBox="1"/>
          <p:nvPr/>
        </p:nvSpPr>
        <p:spPr>
          <a:xfrm>
            <a:off x="9601200" y="2359152"/>
            <a:ext cx="1874520" cy="365760"/>
          </a:xfrm>
          <a:prstGeom prst="rect">
            <a:avLst/>
          </a:prstGeom>
          <a:noFill/>
          <a:ln/>
        </p:spPr>
        <p:txBody>
          <a:bodyPr wrap="square" lIns="0" tIns="0" rIns="0" bIns="0" rtlCol="0" anchor="t"/>
          <a:lstStyle/>
          <a:p>
            <a:pPr algn="l" indent="0" marL="0">
              <a:buNone/>
            </a:pPr>
            <a:r>
              <a:rPr lang="en-US" sz="900" dirty="0">
                <a:solidFill>
                  <a:srgbClr val="C9D3E3"/>
                </a:solidFill>
                <a:latin typeface="Montserrat" pitchFamily="34" charset="0"/>
                <a:ea typeface="Montserrat" pitchFamily="34" charset="-122"/>
                <a:cs typeface="Montserrat" pitchFamily="34" charset="-120"/>
              </a:rPr>
              <a:t>Never · weekly · daily · all the time</a:t>
            </a:r>
            <a:endParaRPr lang="en-US" sz="900" dirty="0"/>
          </a:p>
        </p:txBody>
      </p:sp>
      <p:sp>
        <p:nvSpPr>
          <p:cNvPr id="18" name="Shape 14"/>
          <p:cNvSpPr/>
          <p:nvPr/>
        </p:nvSpPr>
        <p:spPr>
          <a:xfrm>
            <a:off x="3840480" y="2862072"/>
            <a:ext cx="7799832" cy="758952"/>
          </a:xfrm>
          <a:prstGeom prst="roundRect">
            <a:avLst>
              <a:gd name="adj" fmla="val 9639"/>
            </a:avLst>
          </a:prstGeom>
          <a:solidFill>
            <a:srgbClr val="1B2156"/>
          </a:solidFill>
          <a:ln/>
        </p:spPr>
      </p:sp>
      <p:sp>
        <p:nvSpPr>
          <p:cNvPr id="19" name="Shape 15"/>
          <p:cNvSpPr/>
          <p:nvPr/>
        </p:nvSpPr>
        <p:spPr>
          <a:xfrm>
            <a:off x="4005072" y="3035808"/>
            <a:ext cx="411480" cy="411480"/>
          </a:xfrm>
          <a:prstGeom prst="ellipse">
            <a:avLst/>
          </a:prstGeom>
          <a:solidFill>
            <a:srgbClr val="4A8FDB"/>
          </a:solidFill>
          <a:ln/>
        </p:spPr>
      </p:sp>
      <p:sp>
        <p:nvSpPr>
          <p:cNvPr id="20" name="Text 16"/>
          <p:cNvSpPr txBox="1"/>
          <p:nvPr/>
        </p:nvSpPr>
        <p:spPr>
          <a:xfrm>
            <a:off x="4005072" y="3035808"/>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2</a:t>
            </a:r>
            <a:endParaRPr lang="en-US" sz="1300" dirty="0"/>
          </a:p>
        </p:txBody>
      </p:sp>
      <p:sp>
        <p:nvSpPr>
          <p:cNvPr id="21" name="Text 17"/>
          <p:cNvSpPr txBox="1"/>
          <p:nvPr/>
        </p:nvSpPr>
        <p:spPr>
          <a:xfrm>
            <a:off x="4572000" y="2935224"/>
            <a:ext cx="4846320" cy="612648"/>
          </a:xfrm>
          <a:prstGeom prst="rect">
            <a:avLst/>
          </a:prstGeom>
          <a:noFill/>
          <a:ln/>
        </p:spPr>
        <p:txBody>
          <a:bodyPr wrap="square" lIns="0" tIns="0" rIns="0" bIns="0" rtlCol="0" anchor="ctr"/>
          <a:lstStyle/>
          <a:p>
            <a:pPr indent="0" marL="0">
              <a:buNone/>
            </a:pPr>
            <a:r>
              <a:rPr lang="en-US" sz="1300" b="1" dirty="0">
                <a:solidFill>
                  <a:srgbClr val="FFFFFF"/>
                </a:solidFill>
                <a:latin typeface="Montserrat" pitchFamily="34" charset="0"/>
                <a:ea typeface="Montserrat" pitchFamily="34" charset="-122"/>
                <a:cs typeface="Montserrat" pitchFamily="34" charset="-120"/>
              </a:rPr>
              <a:t>One word: what makes a company “AI-native”?</a:t>
            </a:r>
            <a:endParaRPr lang="en-US" sz="1300" dirty="0"/>
          </a:p>
        </p:txBody>
      </p:sp>
      <p:sp>
        <p:nvSpPr>
          <p:cNvPr id="22" name="Shape 18"/>
          <p:cNvSpPr/>
          <p:nvPr/>
        </p:nvSpPr>
        <p:spPr>
          <a:xfrm>
            <a:off x="9601200" y="2953512"/>
            <a:ext cx="1874520" cy="219456"/>
          </a:xfrm>
          <a:prstGeom prst="roundRect">
            <a:avLst>
              <a:gd name="adj" fmla="val 33333"/>
            </a:avLst>
          </a:prstGeom>
          <a:solidFill>
            <a:srgbClr val="2E6FBF"/>
          </a:solidFill>
          <a:ln/>
        </p:spPr>
      </p:sp>
      <p:sp>
        <p:nvSpPr>
          <p:cNvPr id="23" name="Text 19"/>
          <p:cNvSpPr txBox="1"/>
          <p:nvPr/>
        </p:nvSpPr>
        <p:spPr>
          <a:xfrm>
            <a:off x="9601200" y="2953512"/>
            <a:ext cx="1874520"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Montserrat" pitchFamily="34" charset="0"/>
                <a:ea typeface="Montserrat" pitchFamily="34" charset="-122"/>
                <a:cs typeface="Montserrat" pitchFamily="34" charset="-120"/>
              </a:rPr>
              <a:t>WORD CLOUD</a:t>
            </a:r>
            <a:endParaRPr lang="en-US" sz="800" dirty="0"/>
          </a:p>
        </p:txBody>
      </p:sp>
      <p:sp>
        <p:nvSpPr>
          <p:cNvPr id="24" name="Text 20"/>
          <p:cNvSpPr txBox="1"/>
          <p:nvPr/>
        </p:nvSpPr>
        <p:spPr>
          <a:xfrm>
            <a:off x="9601200" y="3209544"/>
            <a:ext cx="1874520" cy="365760"/>
          </a:xfrm>
          <a:prstGeom prst="rect">
            <a:avLst/>
          </a:prstGeom>
          <a:noFill/>
          <a:ln/>
        </p:spPr>
        <p:txBody>
          <a:bodyPr wrap="square" lIns="0" tIns="0" rIns="0" bIns="0" rtlCol="0" anchor="t"/>
          <a:lstStyle/>
          <a:p>
            <a:pPr algn="l" indent="0" marL="0">
              <a:buNone/>
            </a:pPr>
            <a:endParaRPr lang="en-US" sz="900" dirty="0"/>
          </a:p>
        </p:txBody>
      </p:sp>
      <p:sp>
        <p:nvSpPr>
          <p:cNvPr id="25" name="Shape 21"/>
          <p:cNvSpPr/>
          <p:nvPr/>
        </p:nvSpPr>
        <p:spPr>
          <a:xfrm>
            <a:off x="3840480" y="3712464"/>
            <a:ext cx="7799832" cy="758952"/>
          </a:xfrm>
          <a:prstGeom prst="roundRect">
            <a:avLst>
              <a:gd name="adj" fmla="val 9639"/>
            </a:avLst>
          </a:prstGeom>
          <a:solidFill>
            <a:srgbClr val="1B2156"/>
          </a:solidFill>
          <a:ln/>
        </p:spPr>
      </p:sp>
      <p:sp>
        <p:nvSpPr>
          <p:cNvPr id="26" name="Shape 22"/>
          <p:cNvSpPr/>
          <p:nvPr/>
        </p:nvSpPr>
        <p:spPr>
          <a:xfrm>
            <a:off x="4005072" y="3886200"/>
            <a:ext cx="411480" cy="411480"/>
          </a:xfrm>
          <a:prstGeom prst="ellipse">
            <a:avLst/>
          </a:prstGeom>
          <a:solidFill>
            <a:srgbClr val="4A8FDB"/>
          </a:solidFill>
          <a:ln/>
        </p:spPr>
      </p:sp>
      <p:sp>
        <p:nvSpPr>
          <p:cNvPr id="27" name="Text 23"/>
          <p:cNvSpPr txBox="1"/>
          <p:nvPr/>
        </p:nvSpPr>
        <p:spPr>
          <a:xfrm>
            <a:off x="4005072" y="38862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3</a:t>
            </a:r>
            <a:endParaRPr lang="en-US" sz="1300" dirty="0"/>
          </a:p>
        </p:txBody>
      </p:sp>
      <p:sp>
        <p:nvSpPr>
          <p:cNvPr id="28" name="Text 24"/>
          <p:cNvSpPr txBox="1"/>
          <p:nvPr/>
        </p:nvSpPr>
        <p:spPr>
          <a:xfrm>
            <a:off x="4572000" y="3785616"/>
            <a:ext cx="4846320" cy="612648"/>
          </a:xfrm>
          <a:prstGeom prst="rect">
            <a:avLst/>
          </a:prstGeom>
          <a:noFill/>
          <a:ln/>
        </p:spPr>
        <p:txBody>
          <a:bodyPr wrap="square" lIns="0" tIns="0" rIns="0" bIns="0" rtlCol="0" anchor="ctr"/>
          <a:lstStyle/>
          <a:p>
            <a:pPr indent="0" marL="0">
              <a:buNone/>
            </a:pPr>
            <a:r>
              <a:rPr lang="en-US" sz="1300" b="1" dirty="0">
                <a:solidFill>
                  <a:srgbClr val="FFFFFF"/>
                </a:solidFill>
                <a:latin typeface="Montserrat" pitchFamily="34" charset="0"/>
                <a:ea typeface="Montserrat" pitchFamily="34" charset="-122"/>
                <a:cs typeface="Montserrat" pitchFamily="34" charset="-120"/>
              </a:rPr>
              <a:t>How long would it take you today to go from an idea to a working prototype?</a:t>
            </a:r>
            <a:endParaRPr lang="en-US" sz="1300" dirty="0"/>
          </a:p>
        </p:txBody>
      </p:sp>
      <p:sp>
        <p:nvSpPr>
          <p:cNvPr id="29" name="Shape 25"/>
          <p:cNvSpPr/>
          <p:nvPr/>
        </p:nvSpPr>
        <p:spPr>
          <a:xfrm>
            <a:off x="9601200" y="3803904"/>
            <a:ext cx="1874520" cy="219456"/>
          </a:xfrm>
          <a:prstGeom prst="roundRect">
            <a:avLst>
              <a:gd name="adj" fmla="val 33333"/>
            </a:avLst>
          </a:prstGeom>
          <a:solidFill>
            <a:srgbClr val="2E6FBF"/>
          </a:solidFill>
          <a:ln/>
        </p:spPr>
      </p:sp>
      <p:sp>
        <p:nvSpPr>
          <p:cNvPr id="30" name="Text 26"/>
          <p:cNvSpPr txBox="1"/>
          <p:nvPr/>
        </p:nvSpPr>
        <p:spPr>
          <a:xfrm>
            <a:off x="9601200" y="3803904"/>
            <a:ext cx="1874520"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Montserrat" pitchFamily="34" charset="0"/>
                <a:ea typeface="Montserrat" pitchFamily="34" charset="-122"/>
                <a:cs typeface="Montserrat" pitchFamily="34" charset="-120"/>
              </a:rPr>
              <a:t>POLL</a:t>
            </a:r>
            <a:endParaRPr lang="en-US" sz="800" dirty="0"/>
          </a:p>
        </p:txBody>
      </p:sp>
      <p:sp>
        <p:nvSpPr>
          <p:cNvPr id="31" name="Text 27"/>
          <p:cNvSpPr txBox="1"/>
          <p:nvPr/>
        </p:nvSpPr>
        <p:spPr>
          <a:xfrm>
            <a:off x="9601200" y="4059936"/>
            <a:ext cx="1874520" cy="365760"/>
          </a:xfrm>
          <a:prstGeom prst="rect">
            <a:avLst/>
          </a:prstGeom>
          <a:noFill/>
          <a:ln/>
        </p:spPr>
        <p:txBody>
          <a:bodyPr wrap="square" lIns="0" tIns="0" rIns="0" bIns="0" rtlCol="0" anchor="t"/>
          <a:lstStyle/>
          <a:p>
            <a:pPr algn="l" indent="0" marL="0">
              <a:buNone/>
            </a:pPr>
            <a:r>
              <a:rPr lang="en-US" sz="900" dirty="0">
                <a:solidFill>
                  <a:srgbClr val="C9D3E3"/>
                </a:solidFill>
                <a:latin typeface="Montserrat" pitchFamily="34" charset="0"/>
                <a:ea typeface="Montserrat" pitchFamily="34" charset="-122"/>
                <a:cs typeface="Montserrat" pitchFamily="34" charset="-120"/>
              </a:rPr>
              <a:t>1 day · 1 week · 1 month · 6+ months</a:t>
            </a:r>
            <a:endParaRPr lang="en-US" sz="900" dirty="0"/>
          </a:p>
        </p:txBody>
      </p:sp>
      <p:sp>
        <p:nvSpPr>
          <p:cNvPr id="32" name="Shape 28"/>
          <p:cNvSpPr/>
          <p:nvPr/>
        </p:nvSpPr>
        <p:spPr>
          <a:xfrm>
            <a:off x="3840480" y="4562856"/>
            <a:ext cx="7799832" cy="758952"/>
          </a:xfrm>
          <a:prstGeom prst="roundRect">
            <a:avLst>
              <a:gd name="adj" fmla="val 9639"/>
            </a:avLst>
          </a:prstGeom>
          <a:solidFill>
            <a:srgbClr val="1B2156"/>
          </a:solidFill>
          <a:ln/>
        </p:spPr>
      </p:sp>
      <p:sp>
        <p:nvSpPr>
          <p:cNvPr id="33" name="Shape 29"/>
          <p:cNvSpPr/>
          <p:nvPr/>
        </p:nvSpPr>
        <p:spPr>
          <a:xfrm>
            <a:off x="4005072" y="4736592"/>
            <a:ext cx="411480" cy="411480"/>
          </a:xfrm>
          <a:prstGeom prst="ellipse">
            <a:avLst/>
          </a:prstGeom>
          <a:solidFill>
            <a:srgbClr val="4A8FDB"/>
          </a:solidFill>
          <a:ln/>
        </p:spPr>
      </p:sp>
      <p:sp>
        <p:nvSpPr>
          <p:cNvPr id="34" name="Text 30"/>
          <p:cNvSpPr txBox="1"/>
          <p:nvPr/>
        </p:nvSpPr>
        <p:spPr>
          <a:xfrm>
            <a:off x="4005072" y="4736592"/>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4</a:t>
            </a:r>
            <a:endParaRPr lang="en-US" sz="1300" dirty="0"/>
          </a:p>
        </p:txBody>
      </p:sp>
      <p:sp>
        <p:nvSpPr>
          <p:cNvPr id="35" name="Text 31"/>
          <p:cNvSpPr txBox="1"/>
          <p:nvPr/>
        </p:nvSpPr>
        <p:spPr>
          <a:xfrm>
            <a:off x="4572000" y="4636008"/>
            <a:ext cx="4846320" cy="612648"/>
          </a:xfrm>
          <a:prstGeom prst="rect">
            <a:avLst/>
          </a:prstGeom>
          <a:noFill/>
          <a:ln/>
        </p:spPr>
        <p:txBody>
          <a:bodyPr wrap="square" lIns="0" tIns="0" rIns="0" bIns="0" rtlCol="0" anchor="ctr"/>
          <a:lstStyle/>
          <a:p>
            <a:pPr indent="0" marL="0">
              <a:buNone/>
            </a:pPr>
            <a:r>
              <a:rPr lang="en-US" sz="1300" b="1" dirty="0">
                <a:solidFill>
                  <a:srgbClr val="FFFFFF"/>
                </a:solidFill>
                <a:latin typeface="Montserrat" pitchFamily="34" charset="0"/>
                <a:ea typeface="Montserrat" pitchFamily="34" charset="-122"/>
                <a:cs typeface="Montserrat" pitchFamily="34" charset="-120"/>
              </a:rPr>
              <a:t>Which step of launching a startup will AI change the most?</a:t>
            </a:r>
            <a:endParaRPr lang="en-US" sz="1300" dirty="0"/>
          </a:p>
        </p:txBody>
      </p:sp>
      <p:sp>
        <p:nvSpPr>
          <p:cNvPr id="36" name="Shape 32"/>
          <p:cNvSpPr/>
          <p:nvPr/>
        </p:nvSpPr>
        <p:spPr>
          <a:xfrm>
            <a:off x="9601200" y="4654296"/>
            <a:ext cx="1874520" cy="219456"/>
          </a:xfrm>
          <a:prstGeom prst="roundRect">
            <a:avLst>
              <a:gd name="adj" fmla="val 33333"/>
            </a:avLst>
          </a:prstGeom>
          <a:solidFill>
            <a:srgbClr val="2E6FBF"/>
          </a:solidFill>
          <a:ln/>
        </p:spPr>
      </p:sp>
      <p:sp>
        <p:nvSpPr>
          <p:cNvPr id="37" name="Text 33"/>
          <p:cNvSpPr txBox="1"/>
          <p:nvPr/>
        </p:nvSpPr>
        <p:spPr>
          <a:xfrm>
            <a:off x="9601200" y="4654296"/>
            <a:ext cx="1874520"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Montserrat" pitchFamily="34" charset="0"/>
                <a:ea typeface="Montserrat" pitchFamily="34" charset="-122"/>
                <a:cs typeface="Montserrat" pitchFamily="34" charset="-120"/>
              </a:rPr>
              <a:t>RANKING</a:t>
            </a:r>
            <a:endParaRPr lang="en-US" sz="800" dirty="0"/>
          </a:p>
        </p:txBody>
      </p:sp>
      <p:sp>
        <p:nvSpPr>
          <p:cNvPr id="38" name="Text 34"/>
          <p:cNvSpPr txBox="1"/>
          <p:nvPr/>
        </p:nvSpPr>
        <p:spPr>
          <a:xfrm>
            <a:off x="9601200" y="4910328"/>
            <a:ext cx="1874520" cy="365760"/>
          </a:xfrm>
          <a:prstGeom prst="rect">
            <a:avLst/>
          </a:prstGeom>
          <a:noFill/>
          <a:ln/>
        </p:spPr>
        <p:txBody>
          <a:bodyPr wrap="square" lIns="0" tIns="0" rIns="0" bIns="0" rtlCol="0" anchor="t"/>
          <a:lstStyle/>
          <a:p>
            <a:pPr algn="l" indent="0" marL="0">
              <a:buNone/>
            </a:pPr>
            <a:r>
              <a:rPr lang="en-US" sz="900" dirty="0">
                <a:solidFill>
                  <a:srgbClr val="C9D3E3"/>
                </a:solidFill>
                <a:latin typeface="Montserrat" pitchFamily="34" charset="0"/>
                <a:ea typeface="Montserrat" pitchFamily="34" charset="-122"/>
                <a:cs typeface="Montserrat" pitchFamily="34" charset="-120"/>
              </a:rPr>
              <a:t>Research · product · marketing · validation</a:t>
            </a:r>
            <a:endParaRPr lang="en-US" sz="900" dirty="0"/>
          </a:p>
        </p:txBody>
      </p:sp>
      <p:sp>
        <p:nvSpPr>
          <p:cNvPr id="39" name="Shape 35"/>
          <p:cNvSpPr/>
          <p:nvPr/>
        </p:nvSpPr>
        <p:spPr>
          <a:xfrm>
            <a:off x="3840480" y="5413248"/>
            <a:ext cx="7799832" cy="758952"/>
          </a:xfrm>
          <a:prstGeom prst="roundRect">
            <a:avLst>
              <a:gd name="adj" fmla="val 9639"/>
            </a:avLst>
          </a:prstGeom>
          <a:solidFill>
            <a:srgbClr val="1B2156"/>
          </a:solidFill>
          <a:ln/>
        </p:spPr>
      </p:sp>
      <p:sp>
        <p:nvSpPr>
          <p:cNvPr id="40" name="Shape 36"/>
          <p:cNvSpPr/>
          <p:nvPr/>
        </p:nvSpPr>
        <p:spPr>
          <a:xfrm>
            <a:off x="4005072" y="5586984"/>
            <a:ext cx="411480" cy="411480"/>
          </a:xfrm>
          <a:prstGeom prst="ellipse">
            <a:avLst/>
          </a:prstGeom>
          <a:solidFill>
            <a:srgbClr val="4A8FDB"/>
          </a:solidFill>
          <a:ln/>
        </p:spPr>
      </p:sp>
      <p:sp>
        <p:nvSpPr>
          <p:cNvPr id="41" name="Text 37"/>
          <p:cNvSpPr txBox="1"/>
          <p:nvPr/>
        </p:nvSpPr>
        <p:spPr>
          <a:xfrm>
            <a:off x="4005072" y="5586984"/>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5</a:t>
            </a:r>
            <a:endParaRPr lang="en-US" sz="1300" dirty="0"/>
          </a:p>
        </p:txBody>
      </p:sp>
      <p:sp>
        <p:nvSpPr>
          <p:cNvPr id="42" name="Text 38"/>
          <p:cNvSpPr txBox="1"/>
          <p:nvPr/>
        </p:nvSpPr>
        <p:spPr>
          <a:xfrm>
            <a:off x="4572000" y="5486400"/>
            <a:ext cx="4846320" cy="612648"/>
          </a:xfrm>
          <a:prstGeom prst="rect">
            <a:avLst/>
          </a:prstGeom>
          <a:noFill/>
          <a:ln/>
        </p:spPr>
        <p:txBody>
          <a:bodyPr wrap="square" lIns="0" tIns="0" rIns="0" bIns="0" rtlCol="0" anchor="ctr"/>
          <a:lstStyle/>
          <a:p>
            <a:pPr indent="0" marL="0">
              <a:buNone/>
            </a:pPr>
            <a:r>
              <a:rPr lang="en-US" sz="1300" b="1" dirty="0">
                <a:solidFill>
                  <a:srgbClr val="FFFFFF"/>
                </a:solidFill>
                <a:latin typeface="Montserrat" pitchFamily="34" charset="0"/>
                <a:ea typeface="Montserrat" pitchFamily="34" charset="-122"/>
                <a:cs typeface="Montserrat" pitchFamily="34" charset="-120"/>
              </a:rPr>
              <a:t>Would you invest €100,000 in a startup idea an AI helped you build?</a:t>
            </a:r>
            <a:endParaRPr lang="en-US" sz="1300" dirty="0"/>
          </a:p>
        </p:txBody>
      </p:sp>
      <p:sp>
        <p:nvSpPr>
          <p:cNvPr id="43" name="Shape 39"/>
          <p:cNvSpPr/>
          <p:nvPr/>
        </p:nvSpPr>
        <p:spPr>
          <a:xfrm>
            <a:off x="9601200" y="5504688"/>
            <a:ext cx="1874520" cy="219456"/>
          </a:xfrm>
          <a:prstGeom prst="roundRect">
            <a:avLst>
              <a:gd name="adj" fmla="val 33333"/>
            </a:avLst>
          </a:prstGeom>
          <a:solidFill>
            <a:srgbClr val="2E6FBF"/>
          </a:solidFill>
          <a:ln/>
        </p:spPr>
      </p:sp>
      <p:sp>
        <p:nvSpPr>
          <p:cNvPr id="44" name="Text 40"/>
          <p:cNvSpPr txBox="1"/>
          <p:nvPr/>
        </p:nvSpPr>
        <p:spPr>
          <a:xfrm>
            <a:off x="9601200" y="5504688"/>
            <a:ext cx="1874520"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Montserrat" pitchFamily="34" charset="0"/>
                <a:ea typeface="Montserrat" pitchFamily="34" charset="-122"/>
                <a:cs typeface="Montserrat" pitchFamily="34" charset="-120"/>
              </a:rPr>
              <a:t>POLL · REPEAT</a:t>
            </a:r>
            <a:endParaRPr lang="en-US" sz="800" dirty="0"/>
          </a:p>
        </p:txBody>
      </p:sp>
      <p:sp>
        <p:nvSpPr>
          <p:cNvPr id="45" name="Text 41"/>
          <p:cNvSpPr txBox="1"/>
          <p:nvPr/>
        </p:nvSpPr>
        <p:spPr>
          <a:xfrm>
            <a:off x="9601200" y="5760720"/>
            <a:ext cx="1874520" cy="365760"/>
          </a:xfrm>
          <a:prstGeom prst="rect">
            <a:avLst/>
          </a:prstGeom>
          <a:noFill/>
          <a:ln/>
        </p:spPr>
        <p:txBody>
          <a:bodyPr wrap="square" lIns="0" tIns="0" rIns="0" bIns="0" rtlCol="0" anchor="t"/>
          <a:lstStyle/>
          <a:p>
            <a:pPr algn="l" indent="0" marL="0">
              <a:buNone/>
            </a:pPr>
            <a:r>
              <a:rPr lang="en-US" sz="900" dirty="0">
                <a:solidFill>
                  <a:srgbClr val="C9D3E3"/>
                </a:solidFill>
                <a:latin typeface="Montserrat" pitchFamily="34" charset="0"/>
                <a:ea typeface="Montserrat" pitchFamily="34" charset="-122"/>
                <a:cs typeface="Montserrat" pitchFamily="34" charset="-120"/>
              </a:rPr>
              <a:t>Yes · no · need evidence</a:t>
            </a:r>
            <a:endParaRPr lang="en-US" sz="9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A7FA8"/>
                </a:solidFill>
                <a:latin typeface="Montserrat"/>
                <a:ea typeface="Montserrat"/>
                <a:cs typeface="Montserrat"/>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502920"/>
            <a:ext cx="8412480" cy="777240"/>
          </a:xfrm>
          <a:prstGeom prst="rect">
            <a:avLst/>
          </a:prstGeom>
          <a:noFill/>
          <a:ln/>
        </p:spPr>
        <p:txBody>
          <a:bodyPr wrap="square" lIns="0" tIns="0" rIns="0" bIns="0" rtlCol="0" anchor="t"/>
          <a:lstStyle/>
          <a:p>
            <a:pPr algn="l" indent="0" marL="0">
              <a:buNone/>
            </a:pPr>
            <a:r>
              <a:rPr lang="en-US" sz="3000" b="1" dirty="0">
                <a:solidFill>
                  <a:srgbClr val="FFFFFF"/>
                </a:solidFill>
                <a:latin typeface="Montserrat" pitchFamily="34" charset="0"/>
                <a:ea typeface="Montserrat" pitchFamily="34" charset="-122"/>
                <a:cs typeface="Montserrat" pitchFamily="34" charset="-120"/>
              </a:rPr>
              <a:t>Live: AI linking millions of data points</a:t>
            </a:r>
            <a:endParaRPr lang="en-US" sz="3000" dirty="0"/>
          </a:p>
        </p:txBody>
      </p:sp>
      <p:sp>
        <p:nvSpPr>
          <p:cNvPr id="3" name="Text 0"/>
          <p:cNvSpPr/>
          <p:nvPr>
            <p:ph idx="102" type="body" hasCustomPrompt="1"/>
          </p:nvPr>
        </p:nvSpPr>
        <p:spPr>
          <a:xfrm>
            <a:off x="548640" y="1298448"/>
            <a:ext cx="9326880" cy="411480"/>
          </a:xfrm>
          <a:prstGeom prst="rect">
            <a:avLst/>
          </a:prstGeom>
          <a:noFill/>
          <a:ln/>
        </p:spPr>
        <p:txBody>
          <a:bodyPr wrap="square" lIns="0" tIns="0" rIns="0" bIns="0" rtlCol="0" anchor="t"/>
          <a:lstStyle/>
          <a:p>
            <a:pPr algn="l" indent="0" marL="0">
              <a:buNone/>
            </a:pPr>
            <a:r>
              <a:rPr lang="en-US" sz="1400" dirty="0">
                <a:solidFill>
                  <a:srgbClr val="C9D3E3"/>
                </a:solidFill>
                <a:latin typeface="Montserrat" pitchFamily="34" charset="0"/>
                <a:ea typeface="Montserrat" pitchFamily="34" charset="-122"/>
                <a:cs typeface="Montserrat" pitchFamily="34" charset="-120"/>
              </a:rPr>
              <a:t>Emidio demonstrates a highly complex AI workflow we developed — applied to a new business idea, from market data to a go / no-go.</a:t>
            </a:r>
            <a:endParaRPr lang="en-US" sz="1400" dirty="0"/>
          </a:p>
        </p:txBody>
      </p:sp>
      <p:sp>
        <p:nvSpPr>
          <p:cNvPr id="5" name="Shape 2"/>
          <p:cNvSpPr/>
          <p:nvPr/>
        </p:nvSpPr>
        <p:spPr>
          <a:xfrm>
            <a:off x="548640" y="2057400"/>
            <a:ext cx="7406640" cy="4114800"/>
          </a:xfrm>
          <a:prstGeom prst="roundRect">
            <a:avLst>
              <a:gd name="adj" fmla="val 1778"/>
            </a:avLst>
          </a:prstGeom>
          <a:solidFill>
            <a:srgbClr val="1B2156"/>
          </a:solidFill>
          <a:ln w="15875">
            <a:solidFill>
              <a:srgbClr val="4A8FDB"/>
            </a:solidFill>
            <a:prstDash val="dash"/>
          </a:ln>
        </p:spPr>
      </p:sp>
      <p:pic>
        <p:nvPicPr>
          <p:cNvPr id="6" name="Image 0" descr="/home/user/work/assets/network.png">    </p:cNvPr>
          <p:cNvPicPr>
            <a:picLocks noChangeAspect="1"/>
          </p:cNvPicPr>
          <p:nvPr/>
        </p:nvPicPr>
        <p:blipFill>
          <a:blip r:embed="rId1">
            <a:alphaModFix amt="75000"/>
          </a:blip>
          <a:stretch>
            <a:fillRect/>
          </a:stretch>
        </p:blipFill>
        <p:spPr>
          <a:xfrm>
            <a:off x="731520" y="2194560"/>
            <a:ext cx="7040880" cy="3840480"/>
          </a:xfrm>
          <a:prstGeom prst="rect">
            <a:avLst/>
          </a:prstGeom>
        </p:spPr>
      </p:pic>
      <p:sp>
        <p:nvSpPr>
          <p:cNvPr id="7" name="Shape 3"/>
          <p:cNvSpPr/>
          <p:nvPr/>
        </p:nvSpPr>
        <p:spPr>
          <a:xfrm>
            <a:off x="2331720" y="3566160"/>
            <a:ext cx="3840480" cy="1051560"/>
          </a:xfrm>
          <a:prstGeom prst="roundRect">
            <a:avLst>
              <a:gd name="adj" fmla="val 6957"/>
            </a:avLst>
          </a:prstGeom>
          <a:solidFill>
            <a:srgbClr val="0F1341"/>
          </a:solidFill>
          <a:ln w="12700">
            <a:solidFill>
              <a:srgbClr val="4A8FDB"/>
            </a:solidFill>
            <a:prstDash val="solid"/>
          </a:ln>
        </p:spPr>
      </p:sp>
      <p:sp>
        <p:nvSpPr>
          <p:cNvPr id="8" name="Shape 4"/>
          <p:cNvSpPr/>
          <p:nvPr/>
        </p:nvSpPr>
        <p:spPr>
          <a:xfrm>
            <a:off x="2971800" y="3685032"/>
            <a:ext cx="2560320" cy="274320"/>
          </a:xfrm>
          <a:prstGeom prst="roundRect">
            <a:avLst>
              <a:gd name="adj" fmla="val 26667"/>
            </a:avLst>
          </a:prstGeom>
          <a:solidFill>
            <a:srgbClr val="4A8FDB"/>
          </a:solidFill>
          <a:ln/>
        </p:spPr>
      </p:sp>
      <p:sp>
        <p:nvSpPr>
          <p:cNvPr id="9" name="Text 5"/>
          <p:cNvSpPr txBox="1"/>
          <p:nvPr/>
        </p:nvSpPr>
        <p:spPr>
          <a:xfrm>
            <a:off x="2971800" y="3685032"/>
            <a:ext cx="256032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Montserrat" pitchFamily="34" charset="0"/>
                <a:ea typeface="Montserrat" pitchFamily="34" charset="-122"/>
                <a:cs typeface="Montserrat" pitchFamily="34" charset="-120"/>
              </a:rPr>
              <a:t>PLACEHOLDER  ·  LIVE DEMO</a:t>
            </a:r>
            <a:endParaRPr lang="en-US" sz="900" dirty="0"/>
          </a:p>
        </p:txBody>
      </p:sp>
      <p:sp>
        <p:nvSpPr>
          <p:cNvPr id="10" name="Text 6"/>
          <p:cNvSpPr txBox="1"/>
          <p:nvPr/>
        </p:nvSpPr>
        <p:spPr>
          <a:xfrm>
            <a:off x="2377440" y="4069080"/>
            <a:ext cx="374904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Montserrat" pitchFamily="34" charset="0"/>
                <a:ea typeface="Montserrat" pitchFamily="34" charset="-122"/>
                <a:cs typeface="Montserrat" pitchFamily="34" charset="-120"/>
              </a:rPr>
              <a:t>Emidio · AI workflow on screen</a:t>
            </a:r>
            <a:endParaRPr lang="en-US" sz="1400" dirty="0"/>
          </a:p>
        </p:txBody>
      </p:sp>
      <p:sp>
        <p:nvSpPr>
          <p:cNvPr id="11" name="Shape 7"/>
          <p:cNvSpPr/>
          <p:nvPr/>
        </p:nvSpPr>
        <p:spPr>
          <a:xfrm>
            <a:off x="8229600" y="2057400"/>
            <a:ext cx="3410712" cy="1261872"/>
          </a:xfrm>
          <a:prstGeom prst="roundRect">
            <a:avLst>
              <a:gd name="adj" fmla="val 5797"/>
            </a:avLst>
          </a:prstGeom>
          <a:solidFill>
            <a:srgbClr val="1B2156"/>
          </a:solidFill>
          <a:ln/>
        </p:spPr>
      </p:sp>
      <p:sp>
        <p:nvSpPr>
          <p:cNvPr id="12" name="Shape 8"/>
          <p:cNvSpPr/>
          <p:nvPr/>
        </p:nvSpPr>
        <p:spPr>
          <a:xfrm>
            <a:off x="8412480" y="2441448"/>
            <a:ext cx="502920" cy="502920"/>
          </a:xfrm>
          <a:prstGeom prst="ellipse">
            <a:avLst/>
          </a:prstGeom>
          <a:solidFill>
            <a:srgbClr val="2E6FBF"/>
          </a:solidFill>
          <a:ln/>
        </p:spPr>
      </p:sp>
      <p:pic>
        <p:nvPicPr>
          <p:cNvPr id="13" name="Image 1" descr="preencoded.png">    </p:cNvPr>
          <p:cNvPicPr>
            <a:picLocks noChangeAspect="1"/>
          </p:cNvPicPr>
          <p:nvPr/>
        </p:nvPicPr>
        <p:blipFill>
          <a:blip r:embed="rId2"/>
          <a:stretch>
            <a:fillRect/>
          </a:stretch>
        </p:blipFill>
        <p:spPr>
          <a:xfrm>
            <a:off x="8522208" y="2551176"/>
            <a:ext cx="283464" cy="283464"/>
          </a:xfrm>
          <a:prstGeom prst="rect">
            <a:avLst/>
          </a:prstGeom>
        </p:spPr>
      </p:pic>
      <p:sp>
        <p:nvSpPr>
          <p:cNvPr id="14" name="Text 9"/>
          <p:cNvSpPr txBox="1"/>
          <p:nvPr/>
        </p:nvSpPr>
        <p:spPr>
          <a:xfrm>
            <a:off x="9098280" y="2258568"/>
            <a:ext cx="2423160" cy="365760"/>
          </a:xfrm>
          <a:prstGeom prst="rect">
            <a:avLst/>
          </a:prstGeom>
          <a:noFill/>
          <a:ln/>
        </p:spPr>
        <p:txBody>
          <a:bodyPr wrap="square" lIns="0" tIns="0" rIns="0" bIns="0" rtlCol="0" anchor="t"/>
          <a:lstStyle/>
          <a:p>
            <a:pPr indent="0" marL="0">
              <a:buNone/>
            </a:pPr>
            <a:r>
              <a:rPr lang="en-US" sz="1300" b="1" dirty="0">
                <a:solidFill>
                  <a:srgbClr val="FFFFFF"/>
                </a:solidFill>
                <a:latin typeface="Montserrat" pitchFamily="34" charset="0"/>
                <a:ea typeface="Montserrat" pitchFamily="34" charset="-122"/>
                <a:cs typeface="Montserrat" pitchFamily="34" charset="-120"/>
              </a:rPr>
              <a:t>Millions of data points</a:t>
            </a:r>
            <a:endParaRPr lang="en-US" sz="1300" dirty="0"/>
          </a:p>
        </p:txBody>
      </p:sp>
      <p:sp>
        <p:nvSpPr>
          <p:cNvPr id="15" name="Text 10"/>
          <p:cNvSpPr txBox="1"/>
          <p:nvPr/>
        </p:nvSpPr>
        <p:spPr>
          <a:xfrm>
            <a:off x="9098280" y="2624328"/>
            <a:ext cx="2423160" cy="566928"/>
          </a:xfrm>
          <a:prstGeom prst="rect">
            <a:avLst/>
          </a:prstGeom>
          <a:noFill/>
          <a:ln/>
        </p:spPr>
        <p:txBody>
          <a:bodyPr wrap="square" lIns="0" tIns="0" rIns="0" bIns="0" rtlCol="0" anchor="t"/>
          <a:lstStyle/>
          <a:p>
            <a:pPr indent="0" marL="0">
              <a:buNone/>
            </a:pPr>
            <a:r>
              <a:rPr lang="en-US" sz="1100" dirty="0">
                <a:solidFill>
                  <a:srgbClr val="C9D3E3"/>
                </a:solidFill>
                <a:latin typeface="Montserrat" pitchFamily="34" charset="0"/>
                <a:ea typeface="Montserrat" pitchFamily="34" charset="-122"/>
                <a:cs typeface="Montserrat" pitchFamily="34" charset="-120"/>
              </a:rPr>
              <a:t>Many sources linked in one model</a:t>
            </a:r>
            <a:endParaRPr lang="en-US" sz="1100" dirty="0"/>
          </a:p>
        </p:txBody>
      </p:sp>
      <p:sp>
        <p:nvSpPr>
          <p:cNvPr id="16" name="Shape 11"/>
          <p:cNvSpPr/>
          <p:nvPr/>
        </p:nvSpPr>
        <p:spPr>
          <a:xfrm>
            <a:off x="8229600" y="3456432"/>
            <a:ext cx="3410712" cy="1261872"/>
          </a:xfrm>
          <a:prstGeom prst="roundRect">
            <a:avLst>
              <a:gd name="adj" fmla="val 5797"/>
            </a:avLst>
          </a:prstGeom>
          <a:solidFill>
            <a:srgbClr val="1B2156"/>
          </a:solidFill>
          <a:ln/>
        </p:spPr>
      </p:sp>
      <p:sp>
        <p:nvSpPr>
          <p:cNvPr id="17" name="Shape 12"/>
          <p:cNvSpPr/>
          <p:nvPr/>
        </p:nvSpPr>
        <p:spPr>
          <a:xfrm>
            <a:off x="8412480" y="3840480"/>
            <a:ext cx="502920" cy="502920"/>
          </a:xfrm>
          <a:prstGeom prst="ellipse">
            <a:avLst/>
          </a:prstGeom>
          <a:solidFill>
            <a:srgbClr val="2E6FBF"/>
          </a:solidFill>
          <a:ln/>
        </p:spPr>
      </p:sp>
      <p:pic>
        <p:nvPicPr>
          <p:cNvPr id="18" name="Image 2" descr="preencoded.png">    </p:cNvPr>
          <p:cNvPicPr>
            <a:picLocks noChangeAspect="1"/>
          </p:cNvPicPr>
          <p:nvPr/>
        </p:nvPicPr>
        <p:blipFill>
          <a:blip r:embed="rId3"/>
          <a:stretch>
            <a:fillRect/>
          </a:stretch>
        </p:blipFill>
        <p:spPr>
          <a:xfrm>
            <a:off x="8522208" y="3950208"/>
            <a:ext cx="283464" cy="283464"/>
          </a:xfrm>
          <a:prstGeom prst="rect">
            <a:avLst/>
          </a:prstGeom>
        </p:spPr>
      </p:pic>
      <p:sp>
        <p:nvSpPr>
          <p:cNvPr id="19" name="Text 13"/>
          <p:cNvSpPr txBox="1"/>
          <p:nvPr/>
        </p:nvSpPr>
        <p:spPr>
          <a:xfrm>
            <a:off x="9098280" y="3657600"/>
            <a:ext cx="2423160" cy="365760"/>
          </a:xfrm>
          <a:prstGeom prst="rect">
            <a:avLst/>
          </a:prstGeom>
          <a:noFill/>
          <a:ln/>
        </p:spPr>
        <p:txBody>
          <a:bodyPr wrap="square" lIns="0" tIns="0" rIns="0" bIns="0" rtlCol="0" anchor="t"/>
          <a:lstStyle/>
          <a:p>
            <a:pPr indent="0" marL="0">
              <a:buNone/>
            </a:pPr>
            <a:r>
              <a:rPr lang="en-US" sz="1300" b="1" dirty="0">
                <a:solidFill>
                  <a:srgbClr val="FFFFFF"/>
                </a:solidFill>
                <a:latin typeface="Montserrat" pitchFamily="34" charset="0"/>
                <a:ea typeface="Montserrat" pitchFamily="34" charset="-122"/>
                <a:cs typeface="Montserrat" pitchFamily="34" charset="-120"/>
              </a:rPr>
              <a:t>Multiple AI agents</a:t>
            </a:r>
            <a:endParaRPr lang="en-US" sz="1300" dirty="0"/>
          </a:p>
        </p:txBody>
      </p:sp>
      <p:sp>
        <p:nvSpPr>
          <p:cNvPr id="20" name="Text 14"/>
          <p:cNvSpPr txBox="1"/>
          <p:nvPr/>
        </p:nvSpPr>
        <p:spPr>
          <a:xfrm>
            <a:off x="9098280" y="4023360"/>
            <a:ext cx="2423160" cy="566928"/>
          </a:xfrm>
          <a:prstGeom prst="rect">
            <a:avLst/>
          </a:prstGeom>
          <a:noFill/>
          <a:ln/>
        </p:spPr>
        <p:txBody>
          <a:bodyPr wrap="square" lIns="0" tIns="0" rIns="0" bIns="0" rtlCol="0" anchor="t"/>
          <a:lstStyle/>
          <a:p>
            <a:pPr indent="0" marL="0">
              <a:buNone/>
            </a:pPr>
            <a:r>
              <a:rPr lang="en-US" sz="1100" dirty="0">
                <a:solidFill>
                  <a:srgbClr val="C9D3E3"/>
                </a:solidFill>
                <a:latin typeface="Montserrat" pitchFamily="34" charset="0"/>
                <a:ea typeface="Montserrat" pitchFamily="34" charset="-122"/>
                <a:cs typeface="Montserrat" pitchFamily="34" charset="-120"/>
              </a:rPr>
              <a:t>Research, matching and scoring in one flow</a:t>
            </a:r>
            <a:endParaRPr lang="en-US" sz="1100" dirty="0"/>
          </a:p>
        </p:txBody>
      </p:sp>
      <p:sp>
        <p:nvSpPr>
          <p:cNvPr id="21" name="Shape 15"/>
          <p:cNvSpPr/>
          <p:nvPr/>
        </p:nvSpPr>
        <p:spPr>
          <a:xfrm>
            <a:off x="8229600" y="4855464"/>
            <a:ext cx="3410712" cy="1261872"/>
          </a:xfrm>
          <a:prstGeom prst="roundRect">
            <a:avLst>
              <a:gd name="adj" fmla="val 5797"/>
            </a:avLst>
          </a:prstGeom>
          <a:solidFill>
            <a:srgbClr val="1B2156"/>
          </a:solidFill>
          <a:ln/>
        </p:spPr>
      </p:sp>
      <p:sp>
        <p:nvSpPr>
          <p:cNvPr id="22" name="Shape 16"/>
          <p:cNvSpPr/>
          <p:nvPr/>
        </p:nvSpPr>
        <p:spPr>
          <a:xfrm>
            <a:off x="8412480" y="5239512"/>
            <a:ext cx="502920" cy="502920"/>
          </a:xfrm>
          <a:prstGeom prst="ellipse">
            <a:avLst/>
          </a:prstGeom>
          <a:solidFill>
            <a:srgbClr val="2E6FBF"/>
          </a:solidFill>
          <a:ln/>
        </p:spPr>
      </p:sp>
      <p:pic>
        <p:nvPicPr>
          <p:cNvPr id="23" name="Image 3" descr="preencoded.png">    </p:cNvPr>
          <p:cNvPicPr>
            <a:picLocks noChangeAspect="1"/>
          </p:cNvPicPr>
          <p:nvPr/>
        </p:nvPicPr>
        <p:blipFill>
          <a:blip r:embed="rId4"/>
          <a:stretch>
            <a:fillRect/>
          </a:stretch>
        </p:blipFill>
        <p:spPr>
          <a:xfrm>
            <a:off x="8522208" y="5349240"/>
            <a:ext cx="283464" cy="283464"/>
          </a:xfrm>
          <a:prstGeom prst="rect">
            <a:avLst/>
          </a:prstGeom>
        </p:spPr>
      </p:pic>
      <p:sp>
        <p:nvSpPr>
          <p:cNvPr id="24" name="Text 17"/>
          <p:cNvSpPr txBox="1"/>
          <p:nvPr/>
        </p:nvSpPr>
        <p:spPr>
          <a:xfrm>
            <a:off x="9098280" y="5056632"/>
            <a:ext cx="2423160" cy="365760"/>
          </a:xfrm>
          <a:prstGeom prst="rect">
            <a:avLst/>
          </a:prstGeom>
          <a:noFill/>
          <a:ln/>
        </p:spPr>
        <p:txBody>
          <a:bodyPr wrap="square" lIns="0" tIns="0" rIns="0" bIns="0" rtlCol="0" anchor="t"/>
          <a:lstStyle/>
          <a:p>
            <a:pPr indent="0" marL="0">
              <a:buNone/>
            </a:pPr>
            <a:r>
              <a:rPr lang="en-US" sz="1300" b="1" dirty="0">
                <a:solidFill>
                  <a:srgbClr val="FFFFFF"/>
                </a:solidFill>
                <a:latin typeface="Montserrat" pitchFamily="34" charset="0"/>
                <a:ea typeface="Montserrat" pitchFamily="34" charset="-122"/>
                <a:cs typeface="Montserrat" pitchFamily="34" charset="-120"/>
              </a:rPr>
              <a:t>From data to decision</a:t>
            </a:r>
            <a:endParaRPr lang="en-US" sz="1300" dirty="0"/>
          </a:p>
        </p:txBody>
      </p:sp>
      <p:sp>
        <p:nvSpPr>
          <p:cNvPr id="25" name="Text 18"/>
          <p:cNvSpPr txBox="1"/>
          <p:nvPr/>
        </p:nvSpPr>
        <p:spPr>
          <a:xfrm>
            <a:off x="9098280" y="5422392"/>
            <a:ext cx="2423160" cy="566928"/>
          </a:xfrm>
          <a:prstGeom prst="rect">
            <a:avLst/>
          </a:prstGeom>
          <a:noFill/>
          <a:ln/>
        </p:spPr>
        <p:txBody>
          <a:bodyPr wrap="square" lIns="0" tIns="0" rIns="0" bIns="0" rtlCol="0" anchor="t"/>
          <a:lstStyle/>
          <a:p>
            <a:pPr indent="0" marL="0">
              <a:buNone/>
            </a:pPr>
            <a:r>
              <a:rPr lang="en-US" sz="1100" dirty="0">
                <a:solidFill>
                  <a:srgbClr val="C9D3E3"/>
                </a:solidFill>
                <a:latin typeface="Montserrat" pitchFamily="34" charset="0"/>
                <a:ea typeface="Montserrat" pitchFamily="34" charset="-122"/>
                <a:cs typeface="Montserrat" pitchFamily="34" charset="-120"/>
              </a:rPr>
              <a:t>The output is a recommendation, not a dashboard</a:t>
            </a:r>
            <a:endParaRPr lang="en-US" sz="11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A7FA8"/>
                </a:solidFill>
                <a:latin typeface="Montserrat"/>
                <a:ea typeface="Montserrat"/>
                <a:cs typeface="Montserra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2057400"/>
            <a:ext cx="6583680" cy="1737360"/>
          </a:xfrm>
          <a:prstGeom prst="rect">
            <a:avLst/>
          </a:prstGeom>
          <a:noFill/>
          <a:ln/>
        </p:spPr>
        <p:txBody>
          <a:bodyPr wrap="square" lIns="0" tIns="0" rIns="0" bIns="0" rtlCol="0" anchor="b"/>
          <a:lstStyle/>
          <a:p>
            <a:pPr indent="0" marL="0">
              <a:buNone/>
            </a:pPr>
            <a:r>
              <a:rPr lang="en-US" sz="4000" b="1" dirty="0">
                <a:solidFill>
                  <a:srgbClr val="0F1341"/>
                </a:solidFill>
                <a:latin typeface="Montserrat" pitchFamily="34" charset="0"/>
                <a:ea typeface="Montserrat" pitchFamily="34" charset="-122"/>
                <a:cs typeface="Montserrat" pitchFamily="34" charset="-120"/>
              </a:rPr>
              <a:t>From Idea to Market: Building an AI-Native Business</a:t>
            </a:r>
            <a:endParaRPr lang="en-US" sz="4000" dirty="0"/>
          </a:p>
        </p:txBody>
      </p:sp>
      <p:sp>
        <p:nvSpPr>
          <p:cNvPr id="3" name="Text 1"/>
          <p:cNvSpPr txBox="1"/>
          <p:nvPr/>
        </p:nvSpPr>
        <p:spPr>
          <a:xfrm>
            <a:off x="566928" y="3977640"/>
            <a:ext cx="6035040" cy="914400"/>
          </a:xfrm>
          <a:prstGeom prst="rect">
            <a:avLst/>
          </a:prstGeom>
          <a:noFill/>
          <a:ln/>
        </p:spPr>
        <p:txBody>
          <a:bodyPr wrap="square" lIns="0" tIns="0" rIns="0" bIns="0" rtlCol="0" anchor="t"/>
          <a:lstStyle/>
          <a:p>
            <a:pPr indent="0" marL="0">
              <a:buNone/>
            </a:pPr>
            <a:r>
              <a:rPr lang="en-US" sz="1600" dirty="0">
                <a:solidFill>
                  <a:srgbClr val="5B6270"/>
                </a:solidFill>
                <a:latin typeface="Montserrat" pitchFamily="34" charset="0"/>
                <a:ea typeface="Montserrat" pitchFamily="34" charset="-122"/>
                <a:cs typeface="Montserrat" pitchFamily="34" charset="-120"/>
              </a:rPr>
              <a:t>How AI is changing the way companies understand customers, develop products and launch.</a:t>
            </a:r>
            <a:endParaRPr lang="en-US" sz="1600" dirty="0"/>
          </a:p>
        </p:txBody>
      </p:sp>
      <p:sp>
        <p:nvSpPr>
          <p:cNvPr id="4" name="Text 2"/>
          <p:cNvSpPr txBox="1"/>
          <p:nvPr/>
        </p:nvSpPr>
        <p:spPr>
          <a:xfrm>
            <a:off x="566928" y="6080760"/>
            <a:ext cx="3657600" cy="320040"/>
          </a:xfrm>
          <a:prstGeom prst="rect">
            <a:avLst/>
          </a:prstGeom>
          <a:noFill/>
          <a:ln/>
        </p:spPr>
        <p:txBody>
          <a:bodyPr wrap="square" lIns="0" tIns="0" rIns="0" bIns="0" rtlCol="0" anchor="t"/>
          <a:lstStyle/>
          <a:p>
            <a:pPr indent="0" marL="0">
              <a:buNone/>
            </a:pPr>
            <a:r>
              <a:rPr lang="en-US" sz="1200" dirty="0">
                <a:solidFill>
                  <a:srgbClr val="8A93A3"/>
                </a:solidFill>
                <a:latin typeface="Montserrat" pitchFamily="34" charset="0"/>
                <a:ea typeface="Montserrat" pitchFamily="34" charset="-122"/>
                <a:cs typeface="Montserrat" pitchFamily="34" charset="-120"/>
              </a:rPr>
              <a:t>Rome, October 2026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2" type="title" hasCustomPrompt="1"/>
          </p:nvPr>
        </p:nvSpPr>
        <p:spPr>
          <a:xfrm>
            <a:off x="548640" y="502920"/>
            <a:ext cx="7863840" cy="685800"/>
          </a:xfrm>
          <a:prstGeom prst="rect">
            <a:avLst/>
          </a:prstGeom>
          <a:noFill/>
          <a:ln/>
        </p:spPr>
        <p:txBody>
          <a:bodyPr wrap="square" lIns="0" tIns="0" rIns="0" bIns="0" rtlCol="0" anchor="t"/>
          <a:lstStyle/>
          <a:p>
            <a:pPr algn="l" indent="0" marL="0">
              <a:buNone/>
            </a:pPr>
            <a:r>
              <a:rPr lang="en-US" sz="2800" b="1" dirty="0">
                <a:solidFill>
                  <a:srgbClr val="0F1341"/>
                </a:solidFill>
                <a:latin typeface="Montserrat" pitchFamily="34" charset="0"/>
                <a:ea typeface="Montserrat" pitchFamily="34" charset="-122"/>
                <a:cs typeface="Montserrat" pitchFamily="34" charset="-120"/>
              </a:rPr>
              <a:t>ChatGPT: 1 million users in just 5 days</a:t>
            </a:r>
            <a:endParaRPr lang="en-US" sz="2800" dirty="0"/>
          </a:p>
        </p:txBody>
      </p:sp>
      <p:sp>
        <p:nvSpPr>
          <p:cNvPr id="3" name="Text 0"/>
          <p:cNvSpPr/>
          <p:nvPr>
            <p:ph idx="103" type="body" hasCustomPrompt="1"/>
          </p:nvPr>
        </p:nvSpPr>
        <p:spPr>
          <a:xfrm>
            <a:off x="548640" y="1207008"/>
            <a:ext cx="8778240" cy="365760"/>
          </a:xfrm>
          <a:prstGeom prst="rect">
            <a:avLst/>
          </a:prstGeom>
          <a:noFill/>
          <a:ln/>
        </p:spPr>
        <p:txBody>
          <a:bodyPr wrap="square" lIns="0" tIns="0" rIns="0" bIns="0" rtlCol="0" anchor="t"/>
          <a:lstStyle/>
          <a:p>
            <a:pPr algn="l" indent="0" marL="0">
              <a:buNone/>
            </a:pPr>
            <a:r>
              <a:rPr lang="en-US" sz="1300" dirty="0">
                <a:solidFill>
                  <a:srgbClr val="5B6270"/>
                </a:solidFill>
                <a:latin typeface="Montserrat" pitchFamily="34" charset="0"/>
                <a:ea typeface="Montserrat" pitchFamily="34" charset="-122"/>
                <a:cs typeface="Montserrat" pitchFamily="34" charset="-120"/>
              </a:rPr>
              <a:t>Time it took to reach 1 million users</a:t>
            </a:r>
            <a:endParaRPr lang="en-US" sz="1300" dirty="0"/>
          </a:p>
        </p:txBody>
      </p:sp>
      <p:sp>
        <p:nvSpPr>
          <p:cNvPr id="5" name="Shape 2"/>
          <p:cNvSpPr/>
          <p:nvPr/>
        </p:nvSpPr>
        <p:spPr>
          <a:xfrm>
            <a:off x="2103120" y="1828800"/>
            <a:ext cx="0" cy="3730752"/>
          </a:xfrm>
          <a:prstGeom prst="line">
            <a:avLst/>
          </a:prstGeom>
          <a:noFill/>
          <a:ln w="12700">
            <a:solidFill>
              <a:srgbClr val="C9D3E3"/>
            </a:solidFill>
            <a:prstDash val="solid"/>
          </a:ln>
        </p:spPr>
      </p:sp>
      <p:sp>
        <p:nvSpPr>
          <p:cNvPr id="6" name="Text 3"/>
          <p:cNvSpPr txBox="1"/>
          <p:nvPr/>
        </p:nvSpPr>
        <p:spPr>
          <a:xfrm>
            <a:off x="548640" y="2011680"/>
            <a:ext cx="1371600" cy="566928"/>
          </a:xfrm>
          <a:prstGeom prst="rect">
            <a:avLst/>
          </a:prstGeom>
          <a:noFill/>
          <a:ln/>
        </p:spPr>
        <p:txBody>
          <a:bodyPr wrap="square" lIns="0" tIns="0" rIns="0" bIns="0" rtlCol="0" anchor="ctr"/>
          <a:lstStyle/>
          <a:p>
            <a:pPr algn="r" indent="0" marL="0">
              <a:buNone/>
            </a:pPr>
            <a:r>
              <a:rPr lang="en-US" sz="1500" dirty="0">
                <a:solidFill>
                  <a:srgbClr val="0F1341"/>
                </a:solidFill>
                <a:latin typeface="Montserrat" pitchFamily="34" charset="0"/>
                <a:ea typeface="Montserrat" pitchFamily="34" charset="-122"/>
                <a:cs typeface="Montserrat" pitchFamily="34" charset="-120"/>
              </a:rPr>
              <a:t>Netflix</a:t>
            </a:r>
            <a:endParaRPr lang="en-US" sz="1500" dirty="0"/>
          </a:p>
        </p:txBody>
      </p:sp>
      <p:sp>
        <p:nvSpPr>
          <p:cNvPr id="7" name="Shape 4"/>
          <p:cNvSpPr/>
          <p:nvPr/>
        </p:nvSpPr>
        <p:spPr>
          <a:xfrm>
            <a:off x="2103120" y="2011680"/>
            <a:ext cx="5120640" cy="566928"/>
          </a:xfrm>
          <a:prstGeom prst="rect">
            <a:avLst/>
          </a:prstGeom>
          <a:solidFill>
            <a:srgbClr val="0F1341"/>
          </a:solidFill>
          <a:ln/>
        </p:spPr>
      </p:sp>
      <p:sp>
        <p:nvSpPr>
          <p:cNvPr id="8" name="Text 5"/>
          <p:cNvSpPr txBox="1"/>
          <p:nvPr/>
        </p:nvSpPr>
        <p:spPr>
          <a:xfrm>
            <a:off x="2103120" y="2011680"/>
            <a:ext cx="51206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Montserrat" pitchFamily="34" charset="0"/>
                <a:ea typeface="Montserrat" pitchFamily="34" charset="-122"/>
                <a:cs typeface="Montserrat" pitchFamily="34" charset="-120"/>
              </a:rPr>
              <a:t>3.5 years</a:t>
            </a:r>
            <a:endParaRPr lang="en-US" sz="1400" dirty="0"/>
          </a:p>
        </p:txBody>
      </p:sp>
      <p:sp>
        <p:nvSpPr>
          <p:cNvPr id="9" name="Text 6"/>
          <p:cNvSpPr txBox="1"/>
          <p:nvPr/>
        </p:nvSpPr>
        <p:spPr>
          <a:xfrm>
            <a:off x="548640" y="2944368"/>
            <a:ext cx="1371600" cy="566928"/>
          </a:xfrm>
          <a:prstGeom prst="rect">
            <a:avLst/>
          </a:prstGeom>
          <a:noFill/>
          <a:ln/>
        </p:spPr>
        <p:txBody>
          <a:bodyPr wrap="square" lIns="0" tIns="0" rIns="0" bIns="0" rtlCol="0" anchor="ctr"/>
          <a:lstStyle/>
          <a:p>
            <a:pPr algn="r" indent="0" marL="0">
              <a:buNone/>
            </a:pPr>
            <a:r>
              <a:rPr lang="en-US" sz="1500" dirty="0">
                <a:solidFill>
                  <a:srgbClr val="0F1341"/>
                </a:solidFill>
                <a:latin typeface="Montserrat" pitchFamily="34" charset="0"/>
                <a:ea typeface="Montserrat" pitchFamily="34" charset="-122"/>
                <a:cs typeface="Montserrat" pitchFamily="34" charset="-120"/>
              </a:rPr>
              <a:t>Airbnb</a:t>
            </a:r>
            <a:endParaRPr lang="en-US" sz="1500" dirty="0"/>
          </a:p>
        </p:txBody>
      </p:sp>
      <p:sp>
        <p:nvSpPr>
          <p:cNvPr id="10" name="Shape 7"/>
          <p:cNvSpPr/>
          <p:nvPr/>
        </p:nvSpPr>
        <p:spPr>
          <a:xfrm>
            <a:off x="2103120" y="2944368"/>
            <a:ext cx="3657600" cy="566928"/>
          </a:xfrm>
          <a:prstGeom prst="rect">
            <a:avLst/>
          </a:prstGeom>
          <a:solidFill>
            <a:srgbClr val="283070"/>
          </a:solidFill>
          <a:ln/>
        </p:spPr>
      </p:sp>
      <p:sp>
        <p:nvSpPr>
          <p:cNvPr id="11" name="Text 8"/>
          <p:cNvSpPr txBox="1"/>
          <p:nvPr/>
        </p:nvSpPr>
        <p:spPr>
          <a:xfrm>
            <a:off x="2103120" y="2944368"/>
            <a:ext cx="365760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Montserrat" pitchFamily="34" charset="0"/>
                <a:ea typeface="Montserrat" pitchFamily="34" charset="-122"/>
                <a:cs typeface="Montserrat" pitchFamily="34" charset="-120"/>
              </a:rPr>
              <a:t>2.5 years</a:t>
            </a:r>
            <a:endParaRPr lang="en-US" sz="1400" dirty="0"/>
          </a:p>
        </p:txBody>
      </p:sp>
      <p:sp>
        <p:nvSpPr>
          <p:cNvPr id="12" name="Text 9"/>
          <p:cNvSpPr txBox="1"/>
          <p:nvPr/>
        </p:nvSpPr>
        <p:spPr>
          <a:xfrm>
            <a:off x="548640" y="3877056"/>
            <a:ext cx="1371600" cy="566928"/>
          </a:xfrm>
          <a:prstGeom prst="rect">
            <a:avLst/>
          </a:prstGeom>
          <a:noFill/>
          <a:ln/>
        </p:spPr>
        <p:txBody>
          <a:bodyPr wrap="square" lIns="0" tIns="0" rIns="0" bIns="0" rtlCol="0" anchor="ctr"/>
          <a:lstStyle/>
          <a:p>
            <a:pPr algn="r" indent="0" marL="0">
              <a:buNone/>
            </a:pPr>
            <a:r>
              <a:rPr lang="en-US" sz="1500" dirty="0">
                <a:solidFill>
                  <a:srgbClr val="0F1341"/>
                </a:solidFill>
                <a:latin typeface="Montserrat" pitchFamily="34" charset="0"/>
                <a:ea typeface="Montserrat" pitchFamily="34" charset="-122"/>
                <a:cs typeface="Montserrat" pitchFamily="34" charset="-120"/>
              </a:rPr>
              <a:t>Twitter</a:t>
            </a:r>
            <a:endParaRPr lang="en-US" sz="1500" dirty="0"/>
          </a:p>
        </p:txBody>
      </p:sp>
      <p:sp>
        <p:nvSpPr>
          <p:cNvPr id="13" name="Shape 10"/>
          <p:cNvSpPr/>
          <p:nvPr/>
        </p:nvSpPr>
        <p:spPr>
          <a:xfrm>
            <a:off x="2103120" y="3877056"/>
            <a:ext cx="2926080" cy="566928"/>
          </a:xfrm>
          <a:prstGeom prst="rect">
            <a:avLst/>
          </a:prstGeom>
          <a:solidFill>
            <a:srgbClr val="6A7FA8"/>
          </a:solidFill>
          <a:ln/>
        </p:spPr>
      </p:sp>
      <p:sp>
        <p:nvSpPr>
          <p:cNvPr id="14" name="Text 11"/>
          <p:cNvSpPr txBox="1"/>
          <p:nvPr/>
        </p:nvSpPr>
        <p:spPr>
          <a:xfrm>
            <a:off x="2103120" y="3877056"/>
            <a:ext cx="292608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Montserrat" pitchFamily="34" charset="0"/>
                <a:ea typeface="Montserrat" pitchFamily="34" charset="-122"/>
                <a:cs typeface="Montserrat" pitchFamily="34" charset="-120"/>
              </a:rPr>
              <a:t>2 years</a:t>
            </a:r>
            <a:endParaRPr lang="en-US" sz="1400" dirty="0"/>
          </a:p>
        </p:txBody>
      </p:sp>
      <p:sp>
        <p:nvSpPr>
          <p:cNvPr id="15" name="Text 12"/>
          <p:cNvSpPr txBox="1"/>
          <p:nvPr/>
        </p:nvSpPr>
        <p:spPr>
          <a:xfrm>
            <a:off x="548640" y="4809744"/>
            <a:ext cx="1371600" cy="566928"/>
          </a:xfrm>
          <a:prstGeom prst="rect">
            <a:avLst/>
          </a:prstGeom>
          <a:noFill/>
          <a:ln/>
        </p:spPr>
        <p:txBody>
          <a:bodyPr wrap="square" lIns="0" tIns="0" rIns="0" bIns="0" rtlCol="0" anchor="ctr"/>
          <a:lstStyle/>
          <a:p>
            <a:pPr algn="r" indent="0" marL="0">
              <a:buNone/>
            </a:pPr>
            <a:r>
              <a:rPr lang="en-US" sz="1500" b="1" dirty="0">
                <a:solidFill>
                  <a:srgbClr val="2E6FBF"/>
                </a:solidFill>
                <a:latin typeface="Montserrat" pitchFamily="34" charset="0"/>
                <a:ea typeface="Montserrat" pitchFamily="34" charset="-122"/>
                <a:cs typeface="Montserrat" pitchFamily="34" charset="-120"/>
              </a:rPr>
              <a:t>ChatGPT</a:t>
            </a:r>
            <a:endParaRPr lang="en-US" sz="1500" dirty="0"/>
          </a:p>
        </p:txBody>
      </p:sp>
      <p:sp>
        <p:nvSpPr>
          <p:cNvPr id="16" name="Shape 13"/>
          <p:cNvSpPr/>
          <p:nvPr/>
        </p:nvSpPr>
        <p:spPr>
          <a:xfrm>
            <a:off x="2103120" y="4809744"/>
            <a:ext cx="82296" cy="566928"/>
          </a:xfrm>
          <a:prstGeom prst="rect">
            <a:avLst/>
          </a:prstGeom>
          <a:solidFill>
            <a:srgbClr val="2E6FBF"/>
          </a:solidFill>
          <a:ln/>
        </p:spPr>
      </p:sp>
      <p:sp>
        <p:nvSpPr>
          <p:cNvPr id="17" name="Text 14"/>
          <p:cNvSpPr txBox="1"/>
          <p:nvPr/>
        </p:nvSpPr>
        <p:spPr>
          <a:xfrm>
            <a:off x="2331720" y="4809744"/>
            <a:ext cx="1828800" cy="566928"/>
          </a:xfrm>
          <a:prstGeom prst="rect">
            <a:avLst/>
          </a:prstGeom>
          <a:noFill/>
          <a:ln/>
        </p:spPr>
        <p:txBody>
          <a:bodyPr wrap="square" lIns="0" tIns="0" rIns="0" bIns="0" rtlCol="0" anchor="ctr"/>
          <a:lstStyle/>
          <a:p>
            <a:pPr indent="0" marL="0">
              <a:buNone/>
            </a:pPr>
            <a:r>
              <a:rPr lang="en-US" sz="1500" b="1" dirty="0">
                <a:solidFill>
                  <a:srgbClr val="2E6FBF"/>
                </a:solidFill>
                <a:latin typeface="Montserrat" pitchFamily="34" charset="0"/>
                <a:ea typeface="Montserrat" pitchFamily="34" charset="-122"/>
                <a:cs typeface="Montserrat" pitchFamily="34" charset="-120"/>
              </a:rPr>
              <a:t>5 days</a:t>
            </a:r>
            <a:endParaRPr lang="en-US" sz="1500" dirty="0"/>
          </a:p>
        </p:txBody>
      </p:sp>
      <p:sp>
        <p:nvSpPr>
          <p:cNvPr id="18" name="Shape 15"/>
          <p:cNvSpPr/>
          <p:nvPr/>
        </p:nvSpPr>
        <p:spPr>
          <a:xfrm>
            <a:off x="7955280" y="1828800"/>
            <a:ext cx="3685032" cy="3520440"/>
          </a:xfrm>
          <a:prstGeom prst="roundRect">
            <a:avLst>
              <a:gd name="adj" fmla="val 2078"/>
            </a:avLst>
          </a:prstGeom>
          <a:solidFill>
            <a:srgbClr val="0F1341"/>
          </a:solidFill>
          <a:ln/>
        </p:spPr>
      </p:sp>
      <p:sp>
        <p:nvSpPr>
          <p:cNvPr id="19" name="Text 16"/>
          <p:cNvSpPr txBox="1"/>
          <p:nvPr/>
        </p:nvSpPr>
        <p:spPr>
          <a:xfrm>
            <a:off x="8183880" y="2011680"/>
            <a:ext cx="3291840" cy="1280160"/>
          </a:xfrm>
          <a:prstGeom prst="rect">
            <a:avLst/>
          </a:prstGeom>
          <a:noFill/>
          <a:ln/>
        </p:spPr>
        <p:txBody>
          <a:bodyPr wrap="square" lIns="0" tIns="0" rIns="0" bIns="0" rtlCol="0" anchor="t"/>
          <a:lstStyle/>
          <a:p>
            <a:pPr indent="0" marL="0">
              <a:buNone/>
            </a:pPr>
            <a:r>
              <a:rPr lang="en-US" sz="8800" b="1" dirty="0">
                <a:solidFill>
                  <a:srgbClr val="FFFFFF"/>
                </a:solidFill>
                <a:latin typeface="Montserrat" pitchFamily="34" charset="0"/>
                <a:ea typeface="Montserrat" pitchFamily="34" charset="-122"/>
                <a:cs typeface="Montserrat" pitchFamily="34" charset="-120"/>
              </a:rPr>
              <a:t>5</a:t>
            </a:r>
            <a:endParaRPr lang="en-US" sz="8800" dirty="0"/>
          </a:p>
        </p:txBody>
      </p:sp>
      <p:sp>
        <p:nvSpPr>
          <p:cNvPr id="20" name="Text 17"/>
          <p:cNvSpPr txBox="1"/>
          <p:nvPr/>
        </p:nvSpPr>
        <p:spPr>
          <a:xfrm>
            <a:off x="9144000" y="2606040"/>
            <a:ext cx="2194560" cy="548640"/>
          </a:xfrm>
          <a:prstGeom prst="rect">
            <a:avLst/>
          </a:prstGeom>
          <a:noFill/>
          <a:ln/>
        </p:spPr>
        <p:txBody>
          <a:bodyPr wrap="square" lIns="0" tIns="0" rIns="0" bIns="0" rtlCol="0" anchor="t"/>
          <a:lstStyle/>
          <a:p>
            <a:pPr indent="0" marL="0">
              <a:buNone/>
            </a:pPr>
            <a:r>
              <a:rPr lang="en-US" sz="2800" b="1" dirty="0">
                <a:solidFill>
                  <a:srgbClr val="4A8FDB"/>
                </a:solidFill>
                <a:latin typeface="Montserrat" pitchFamily="34" charset="0"/>
                <a:ea typeface="Montserrat" pitchFamily="34" charset="-122"/>
                <a:cs typeface="Montserrat" pitchFamily="34" charset="-120"/>
              </a:rPr>
              <a:t>days</a:t>
            </a:r>
            <a:endParaRPr lang="en-US" sz="2800" dirty="0"/>
          </a:p>
        </p:txBody>
      </p:sp>
      <p:sp>
        <p:nvSpPr>
          <p:cNvPr id="21" name="Text 18"/>
          <p:cNvSpPr txBox="1"/>
          <p:nvPr/>
        </p:nvSpPr>
        <p:spPr>
          <a:xfrm>
            <a:off x="8183880" y="3429000"/>
            <a:ext cx="3246120" cy="914400"/>
          </a:xfrm>
          <a:prstGeom prst="rect">
            <a:avLst/>
          </a:prstGeom>
          <a:noFill/>
          <a:ln/>
        </p:spPr>
        <p:txBody>
          <a:bodyPr wrap="square" lIns="0" tIns="0" rIns="0" bIns="0" rtlCol="0" anchor="t"/>
          <a:lstStyle/>
          <a:p>
            <a:pPr indent="0" marL="0">
              <a:buNone/>
            </a:pPr>
            <a:r>
              <a:rPr lang="en-US" sz="1400" dirty="0">
                <a:solidFill>
                  <a:srgbClr val="FFFFFF"/>
                </a:solidFill>
                <a:latin typeface="Montserrat" pitchFamily="34" charset="0"/>
                <a:ea typeface="Montserrat" pitchFamily="34" charset="-122"/>
                <a:cs typeface="Montserrat" pitchFamily="34" charset="-120"/>
              </a:rPr>
              <a:t>from launch to one million users — faster than any consumer product before it.</a:t>
            </a:r>
            <a:endParaRPr lang="en-US" sz="1400" dirty="0"/>
          </a:p>
        </p:txBody>
      </p:sp>
      <p:sp>
        <p:nvSpPr>
          <p:cNvPr id="22" name="Text 19"/>
          <p:cNvSpPr txBox="1"/>
          <p:nvPr/>
        </p:nvSpPr>
        <p:spPr>
          <a:xfrm>
            <a:off x="8183880" y="4434840"/>
            <a:ext cx="3246120" cy="777240"/>
          </a:xfrm>
          <a:prstGeom prst="rect">
            <a:avLst/>
          </a:prstGeom>
          <a:noFill/>
          <a:ln/>
        </p:spPr>
        <p:txBody>
          <a:bodyPr wrap="square" lIns="0" tIns="0" rIns="0" bIns="0" rtlCol="0" anchor="t"/>
          <a:lstStyle/>
          <a:p>
            <a:pPr indent="0" marL="0">
              <a:buNone/>
            </a:pPr>
            <a:r>
              <a:rPr lang="en-US" sz="1200" i="1" dirty="0">
                <a:solidFill>
                  <a:srgbClr val="C9D3E3"/>
                </a:solidFill>
                <a:latin typeface="Montserrat" pitchFamily="34" charset="0"/>
                <a:ea typeface="Montserrat" pitchFamily="34" charset="-122"/>
                <a:cs typeface="Montserrat" pitchFamily="34" charset="-120"/>
              </a:rPr>
              <a:t>For founders: your market — and your competitors — can now move this fast too.</a:t>
            </a:r>
            <a:endParaRPr lang="en-US" sz="1200" dirty="0"/>
          </a:p>
        </p:txBody>
      </p:sp>
      <p:sp>
        <p:nvSpPr>
          <p:cNvPr id="23" name="Text 20"/>
          <p:cNvSpPr txBox="1"/>
          <p:nvPr/>
        </p:nvSpPr>
        <p:spPr>
          <a:xfrm>
            <a:off x="548640" y="5806440"/>
            <a:ext cx="6949440" cy="228600"/>
          </a:xfrm>
          <a:prstGeom prst="rect">
            <a:avLst/>
          </a:prstGeom>
          <a:noFill/>
          <a:ln/>
        </p:spPr>
        <p:txBody>
          <a:bodyPr wrap="square" lIns="0" tIns="0" rIns="0" bIns="0" rtlCol="0" anchor="t"/>
          <a:lstStyle/>
          <a:p>
            <a:pPr indent="0" marL="0">
              <a:buNone/>
            </a:pPr>
            <a:r>
              <a:rPr lang="en-US" sz="900" i="1" dirty="0">
                <a:solidFill>
                  <a:srgbClr val="8A93A3"/>
                </a:solidFill>
                <a:latin typeface="Montserrat" pitchFamily="34" charset="0"/>
                <a:ea typeface="Montserrat" pitchFamily="34" charset="-122"/>
                <a:cs typeface="Montserrat" pitchFamily="34" charset="-120"/>
              </a:rPr>
              <a:t>Source: Statista, based on company announcements. ChatGPT launched on 30 November 2022.</a:t>
            </a:r>
            <a:endParaRPr lang="en-US" sz="9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3A3"/>
                </a:solidFill>
                <a:latin typeface="Montserrat"/>
                <a:ea typeface="Montserrat"/>
                <a:cs typeface="Montserra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2" type="title" hasCustomPrompt="1"/>
          </p:nvPr>
        </p:nvSpPr>
        <p:spPr>
          <a:xfrm>
            <a:off x="548640" y="502920"/>
            <a:ext cx="7863840" cy="685800"/>
          </a:xfrm>
          <a:prstGeom prst="rect">
            <a:avLst/>
          </a:prstGeom>
          <a:noFill/>
          <a:ln/>
        </p:spPr>
        <p:txBody>
          <a:bodyPr wrap="square" lIns="0" tIns="0" rIns="0" bIns="0" rtlCol="0" anchor="t"/>
          <a:lstStyle/>
          <a:p>
            <a:pPr algn="l" indent="0" marL="0">
              <a:buNone/>
            </a:pPr>
            <a:r>
              <a:rPr lang="en-US" sz="2800" b="1" dirty="0">
                <a:solidFill>
                  <a:srgbClr val="0F1341"/>
                </a:solidFill>
                <a:latin typeface="Montserrat" pitchFamily="34" charset="0"/>
                <a:ea typeface="Montserrat" pitchFamily="34" charset="-122"/>
                <a:cs typeface="Montserrat" pitchFamily="34" charset="-120"/>
              </a:rPr>
              <a:t>AI's IQ: from 96 to 136 in one year</a:t>
            </a:r>
            <a:endParaRPr lang="en-US" sz="2800" dirty="0"/>
          </a:p>
        </p:txBody>
      </p:sp>
      <p:sp>
        <p:nvSpPr>
          <p:cNvPr id="3" name="Text 0"/>
          <p:cNvSpPr/>
          <p:nvPr>
            <p:ph idx="103" type="body" hasCustomPrompt="1"/>
          </p:nvPr>
        </p:nvSpPr>
        <p:spPr>
          <a:xfrm>
            <a:off x="548640" y="1207008"/>
            <a:ext cx="8778240" cy="365760"/>
          </a:xfrm>
          <a:prstGeom prst="rect">
            <a:avLst/>
          </a:prstGeom>
          <a:noFill/>
          <a:ln/>
        </p:spPr>
        <p:txBody>
          <a:bodyPr wrap="square" lIns="0" tIns="0" rIns="0" bIns="0" rtlCol="0" anchor="t"/>
          <a:lstStyle/>
          <a:p>
            <a:pPr algn="l" indent="0" marL="0">
              <a:buNone/>
            </a:pPr>
            <a:r>
              <a:rPr lang="en-US" sz="1300" dirty="0">
                <a:solidFill>
                  <a:srgbClr val="5B6270"/>
                </a:solidFill>
                <a:latin typeface="Montserrat" pitchFamily="34" charset="0"/>
                <a:ea typeface="Montserrat" pitchFamily="34" charset="-122"/>
                <a:cs typeface="Montserrat" pitchFamily="34" charset="-120"/>
              </a:rPr>
              <a:t>Best AI model on standardised IQ tests — one year apart</a:t>
            </a:r>
            <a:endParaRPr lang="en-US" sz="1300" dirty="0"/>
          </a:p>
        </p:txBody>
      </p:sp>
      <p:sp>
        <p:nvSpPr>
          <p:cNvPr id="5" name="Shape 2"/>
          <p:cNvSpPr/>
          <p:nvPr/>
        </p:nvSpPr>
        <p:spPr>
          <a:xfrm>
            <a:off x="548640" y="1828800"/>
            <a:ext cx="3291840" cy="1828800"/>
          </a:xfrm>
          <a:prstGeom prst="roundRect">
            <a:avLst>
              <a:gd name="adj" fmla="val 4000"/>
            </a:avLst>
          </a:prstGeom>
          <a:solidFill>
            <a:srgbClr val="F3F7FC"/>
          </a:solidFill>
          <a:ln/>
        </p:spPr>
      </p:sp>
      <p:sp>
        <p:nvSpPr>
          <p:cNvPr id="6" name="Text 3"/>
          <p:cNvSpPr txBox="1"/>
          <p:nvPr/>
        </p:nvSpPr>
        <p:spPr>
          <a:xfrm>
            <a:off x="777240" y="1965960"/>
            <a:ext cx="2743200" cy="320040"/>
          </a:xfrm>
          <a:prstGeom prst="rect">
            <a:avLst/>
          </a:prstGeom>
          <a:noFill/>
          <a:ln/>
        </p:spPr>
        <p:txBody>
          <a:bodyPr wrap="square" lIns="0" tIns="0" rIns="0" bIns="0" rtlCol="0" anchor="t"/>
          <a:lstStyle/>
          <a:p>
            <a:pPr indent="0" marL="0">
              <a:buNone/>
            </a:pPr>
            <a:r>
              <a:rPr lang="en-US" sz="1300" b="1" dirty="0">
                <a:solidFill>
                  <a:srgbClr val="8A93A3"/>
                </a:solidFill>
                <a:latin typeface="Montserrat" pitchFamily="34" charset="0"/>
                <a:ea typeface="Montserrat" pitchFamily="34" charset="-122"/>
                <a:cs typeface="Montserrat" pitchFamily="34" charset="-120"/>
              </a:rPr>
              <a:t>2024</a:t>
            </a:r>
            <a:endParaRPr lang="en-US" sz="1300" dirty="0"/>
          </a:p>
        </p:txBody>
      </p:sp>
      <p:sp>
        <p:nvSpPr>
          <p:cNvPr id="7" name="Text 4"/>
          <p:cNvSpPr txBox="1"/>
          <p:nvPr/>
        </p:nvSpPr>
        <p:spPr>
          <a:xfrm>
            <a:off x="777240" y="2286000"/>
            <a:ext cx="2926080" cy="822960"/>
          </a:xfrm>
          <a:prstGeom prst="rect">
            <a:avLst/>
          </a:prstGeom>
          <a:noFill/>
          <a:ln/>
        </p:spPr>
        <p:txBody>
          <a:bodyPr wrap="square" lIns="0" tIns="0" rIns="0" bIns="0" rtlCol="0" anchor="t"/>
          <a:lstStyle/>
          <a:p>
            <a:pPr indent="0" marL="0">
              <a:buNone/>
            </a:pPr>
            <a:r>
              <a:rPr lang="en-US" sz="4400" b="1" dirty="0">
                <a:solidFill>
                  <a:srgbClr val="6A7FA8"/>
                </a:solidFill>
                <a:latin typeface="Montserrat" pitchFamily="34" charset="0"/>
                <a:ea typeface="Montserrat" pitchFamily="34" charset="-122"/>
                <a:cs typeface="Montserrat" pitchFamily="34" charset="-120"/>
              </a:rPr>
              <a:t>IQ 96</a:t>
            </a:r>
            <a:endParaRPr lang="en-US" sz="4400" dirty="0"/>
          </a:p>
        </p:txBody>
      </p:sp>
      <p:sp>
        <p:nvSpPr>
          <p:cNvPr id="8" name="Text 5"/>
          <p:cNvSpPr txBox="1"/>
          <p:nvPr/>
        </p:nvSpPr>
        <p:spPr>
          <a:xfrm>
            <a:off x="777240" y="3154680"/>
            <a:ext cx="2926080" cy="320040"/>
          </a:xfrm>
          <a:prstGeom prst="rect">
            <a:avLst/>
          </a:prstGeom>
          <a:noFill/>
          <a:ln/>
        </p:spPr>
        <p:txBody>
          <a:bodyPr wrap="square" lIns="0" tIns="0" rIns="0" bIns="0" rtlCol="0" anchor="t"/>
          <a:lstStyle/>
          <a:p>
            <a:pPr indent="0" marL="0">
              <a:buNone/>
            </a:pPr>
            <a:r>
              <a:rPr lang="en-US" sz="1200" dirty="0">
                <a:solidFill>
                  <a:srgbClr val="5B6270"/>
                </a:solidFill>
                <a:latin typeface="Montserrat" pitchFamily="34" charset="0"/>
                <a:ea typeface="Montserrat" pitchFamily="34" charset="-122"/>
                <a:cs typeface="Montserrat" pitchFamily="34" charset="-120"/>
              </a:rPr>
              <a:t>Best model, offline test</a:t>
            </a:r>
            <a:endParaRPr lang="en-US" sz="1200" dirty="0"/>
          </a:p>
        </p:txBody>
      </p:sp>
      <p:sp>
        <p:nvSpPr>
          <p:cNvPr id="9" name="Shape 6"/>
          <p:cNvSpPr/>
          <p:nvPr/>
        </p:nvSpPr>
        <p:spPr>
          <a:xfrm>
            <a:off x="548640" y="3840480"/>
            <a:ext cx="3291840" cy="1828800"/>
          </a:xfrm>
          <a:prstGeom prst="roundRect">
            <a:avLst>
              <a:gd name="adj" fmla="val 4000"/>
            </a:avLst>
          </a:prstGeom>
          <a:solidFill>
            <a:srgbClr val="0F1341"/>
          </a:solidFill>
          <a:ln/>
        </p:spPr>
      </p:sp>
      <p:sp>
        <p:nvSpPr>
          <p:cNvPr id="10" name="Text 7"/>
          <p:cNvSpPr txBox="1"/>
          <p:nvPr/>
        </p:nvSpPr>
        <p:spPr>
          <a:xfrm>
            <a:off x="777240" y="3977640"/>
            <a:ext cx="2743200" cy="320040"/>
          </a:xfrm>
          <a:prstGeom prst="rect">
            <a:avLst/>
          </a:prstGeom>
          <a:noFill/>
          <a:ln/>
        </p:spPr>
        <p:txBody>
          <a:bodyPr wrap="square" lIns="0" tIns="0" rIns="0" bIns="0" rtlCol="0" anchor="t"/>
          <a:lstStyle/>
          <a:p>
            <a:pPr indent="0" marL="0">
              <a:buNone/>
            </a:pPr>
            <a:r>
              <a:rPr lang="en-US" sz="1300" b="1" dirty="0">
                <a:solidFill>
                  <a:srgbClr val="4A8FDB"/>
                </a:solidFill>
                <a:latin typeface="Montserrat" pitchFamily="34" charset="0"/>
                <a:ea typeface="Montserrat" pitchFamily="34" charset="-122"/>
                <a:cs typeface="Montserrat" pitchFamily="34" charset="-120"/>
              </a:rPr>
              <a:t>2025</a:t>
            </a:r>
            <a:endParaRPr lang="en-US" sz="1300" dirty="0"/>
          </a:p>
        </p:txBody>
      </p:sp>
      <p:sp>
        <p:nvSpPr>
          <p:cNvPr id="11" name="Text 8"/>
          <p:cNvSpPr txBox="1"/>
          <p:nvPr/>
        </p:nvSpPr>
        <p:spPr>
          <a:xfrm>
            <a:off x="777240" y="4297680"/>
            <a:ext cx="2926080" cy="822960"/>
          </a:xfrm>
          <a:prstGeom prst="rect">
            <a:avLst/>
          </a:prstGeom>
          <a:noFill/>
          <a:ln/>
        </p:spPr>
        <p:txBody>
          <a:bodyPr wrap="square" lIns="0" tIns="0" rIns="0" bIns="0" rtlCol="0" anchor="t"/>
          <a:lstStyle/>
          <a:p>
            <a:pPr indent="0" marL="0">
              <a:buNone/>
            </a:pPr>
            <a:r>
              <a:rPr lang="en-US" sz="4400" b="1" dirty="0">
                <a:solidFill>
                  <a:srgbClr val="FFFFFF"/>
                </a:solidFill>
                <a:latin typeface="Montserrat" pitchFamily="34" charset="0"/>
                <a:ea typeface="Montserrat" pitchFamily="34" charset="-122"/>
                <a:cs typeface="Montserrat" pitchFamily="34" charset="-120"/>
              </a:rPr>
              <a:t>IQ 136</a:t>
            </a:r>
            <a:endParaRPr lang="en-US" sz="4400" dirty="0"/>
          </a:p>
        </p:txBody>
      </p:sp>
      <p:sp>
        <p:nvSpPr>
          <p:cNvPr id="12" name="Text 9"/>
          <p:cNvSpPr txBox="1"/>
          <p:nvPr/>
        </p:nvSpPr>
        <p:spPr>
          <a:xfrm>
            <a:off x="777240" y="5166360"/>
            <a:ext cx="2926080" cy="320040"/>
          </a:xfrm>
          <a:prstGeom prst="rect">
            <a:avLst/>
          </a:prstGeom>
          <a:noFill/>
          <a:ln/>
        </p:spPr>
        <p:txBody>
          <a:bodyPr wrap="square" lIns="0" tIns="0" rIns="0" bIns="0" rtlCol="0" anchor="t"/>
          <a:lstStyle/>
          <a:p>
            <a:pPr indent="0" marL="0">
              <a:buNone/>
            </a:pPr>
            <a:r>
              <a:rPr lang="en-US" sz="1200" dirty="0">
                <a:solidFill>
                  <a:srgbClr val="C9D3E3"/>
                </a:solidFill>
                <a:latin typeface="Montserrat" pitchFamily="34" charset="0"/>
                <a:ea typeface="Montserrat" pitchFamily="34" charset="-122"/>
                <a:cs typeface="Montserrat" pitchFamily="34" charset="-120"/>
              </a:rPr>
              <a:t>Best model, Mensa Norway test</a:t>
            </a:r>
            <a:endParaRPr lang="en-US" sz="1200" dirty="0"/>
          </a:p>
        </p:txBody>
      </p:sp>
      <p:sp>
        <p:nvSpPr>
          <p:cNvPr id="13" name="Shape 10"/>
          <p:cNvSpPr/>
          <p:nvPr/>
        </p:nvSpPr>
        <p:spPr>
          <a:xfrm>
            <a:off x="4160520" y="1828800"/>
            <a:ext cx="7479792" cy="1828800"/>
          </a:xfrm>
          <a:prstGeom prst="roundRect">
            <a:avLst>
              <a:gd name="adj" fmla="val 4000"/>
            </a:avLst>
          </a:prstGeom>
          <a:solidFill>
            <a:srgbClr val="FFFFFF"/>
          </a:solidFill>
          <a:ln w="12700">
            <a:solidFill>
              <a:srgbClr val="C9D3E3"/>
            </a:solidFill>
            <a:prstDash val="solid"/>
          </a:ln>
        </p:spPr>
      </p:sp>
      <p:pic>
        <p:nvPicPr>
          <p:cNvPr id="14" name="Image 0" descr="/home/user/work/assets/iq2024.png">    </p:cNvPr>
          <p:cNvPicPr>
            <a:picLocks noChangeAspect="1"/>
          </p:cNvPicPr>
          <p:nvPr/>
        </p:nvPicPr>
        <p:blipFill>
          <a:blip r:embed="rId1"/>
          <a:stretch>
            <a:fillRect/>
          </a:stretch>
        </p:blipFill>
        <p:spPr>
          <a:xfrm>
            <a:off x="4343400" y="2057400"/>
            <a:ext cx="5897880" cy="1499616"/>
          </a:xfrm>
          <a:prstGeom prst="rect">
            <a:avLst/>
          </a:prstGeom>
        </p:spPr>
      </p:pic>
      <p:sp>
        <p:nvSpPr>
          <p:cNvPr id="15" name="Text 11"/>
          <p:cNvSpPr txBox="1"/>
          <p:nvPr/>
        </p:nvSpPr>
        <p:spPr>
          <a:xfrm>
            <a:off x="10332720" y="2011680"/>
            <a:ext cx="1188720" cy="365760"/>
          </a:xfrm>
          <a:prstGeom prst="rect">
            <a:avLst/>
          </a:prstGeom>
          <a:noFill/>
          <a:ln/>
        </p:spPr>
        <p:txBody>
          <a:bodyPr wrap="square" lIns="0" tIns="0" rIns="0" bIns="0" rtlCol="0" anchor="t"/>
          <a:lstStyle/>
          <a:p>
            <a:pPr algn="r" indent="0" marL="0">
              <a:buNone/>
            </a:pPr>
            <a:r>
              <a:rPr lang="en-US" sz="1600" b="1" dirty="0">
                <a:solidFill>
                  <a:srgbClr val="6A7FA8"/>
                </a:solidFill>
                <a:latin typeface="Montserrat" pitchFamily="34" charset="0"/>
                <a:ea typeface="Montserrat" pitchFamily="34" charset="-122"/>
                <a:cs typeface="Montserrat" pitchFamily="34" charset="-120"/>
              </a:rPr>
              <a:t>2024</a:t>
            </a:r>
            <a:endParaRPr lang="en-US" sz="1600" dirty="0"/>
          </a:p>
        </p:txBody>
      </p:sp>
      <p:sp>
        <p:nvSpPr>
          <p:cNvPr id="16" name="Shape 12"/>
          <p:cNvSpPr/>
          <p:nvPr/>
        </p:nvSpPr>
        <p:spPr>
          <a:xfrm>
            <a:off x="4160520" y="3840480"/>
            <a:ext cx="7479792" cy="1828800"/>
          </a:xfrm>
          <a:prstGeom prst="roundRect">
            <a:avLst>
              <a:gd name="adj" fmla="val 4000"/>
            </a:avLst>
          </a:prstGeom>
          <a:solidFill>
            <a:srgbClr val="FFFFFF"/>
          </a:solidFill>
          <a:ln w="12700">
            <a:solidFill>
              <a:srgbClr val="C9D3E3"/>
            </a:solidFill>
            <a:prstDash val="solid"/>
          </a:ln>
        </p:spPr>
      </p:sp>
      <p:pic>
        <p:nvPicPr>
          <p:cNvPr id="17" name="Image 1" descr="/home/user/work/assets/iq2025.png">    </p:cNvPr>
          <p:cNvPicPr>
            <a:picLocks noChangeAspect="1"/>
          </p:cNvPicPr>
          <p:nvPr/>
        </p:nvPicPr>
        <p:blipFill>
          <a:blip r:embed="rId2"/>
          <a:stretch>
            <a:fillRect/>
          </a:stretch>
        </p:blipFill>
        <p:spPr>
          <a:xfrm>
            <a:off x="4800600" y="3913632"/>
            <a:ext cx="4690872" cy="1700784"/>
          </a:xfrm>
          <a:prstGeom prst="rect">
            <a:avLst/>
          </a:prstGeom>
        </p:spPr>
      </p:pic>
      <p:sp>
        <p:nvSpPr>
          <p:cNvPr id="18" name="Text 13"/>
          <p:cNvSpPr txBox="1"/>
          <p:nvPr/>
        </p:nvSpPr>
        <p:spPr>
          <a:xfrm>
            <a:off x="10332720" y="4023360"/>
            <a:ext cx="1188720" cy="365760"/>
          </a:xfrm>
          <a:prstGeom prst="rect">
            <a:avLst/>
          </a:prstGeom>
          <a:noFill/>
          <a:ln/>
        </p:spPr>
        <p:txBody>
          <a:bodyPr wrap="square" lIns="0" tIns="0" rIns="0" bIns="0" rtlCol="0" anchor="t"/>
          <a:lstStyle/>
          <a:p>
            <a:pPr algn="r" indent="0" marL="0">
              <a:buNone/>
            </a:pPr>
            <a:r>
              <a:rPr lang="en-US" sz="1600" b="1" dirty="0">
                <a:solidFill>
                  <a:srgbClr val="2E6FBF"/>
                </a:solidFill>
                <a:latin typeface="Montserrat" pitchFamily="34" charset="0"/>
                <a:ea typeface="Montserrat" pitchFamily="34" charset="-122"/>
                <a:cs typeface="Montserrat" pitchFamily="34" charset="-120"/>
              </a:rPr>
              <a:t>2025</a:t>
            </a:r>
            <a:endParaRPr lang="en-US" sz="1600" dirty="0"/>
          </a:p>
        </p:txBody>
      </p:sp>
      <p:sp>
        <p:nvSpPr>
          <p:cNvPr id="19" name="Text 14"/>
          <p:cNvSpPr txBox="1"/>
          <p:nvPr/>
        </p:nvSpPr>
        <p:spPr>
          <a:xfrm>
            <a:off x="548640" y="5806440"/>
            <a:ext cx="10972800" cy="228600"/>
          </a:xfrm>
          <a:prstGeom prst="rect">
            <a:avLst/>
          </a:prstGeom>
          <a:noFill/>
          <a:ln/>
        </p:spPr>
        <p:txBody>
          <a:bodyPr wrap="square" lIns="0" tIns="0" rIns="0" bIns="0" rtlCol="0" anchor="t"/>
          <a:lstStyle/>
          <a:p>
            <a:pPr indent="0" marL="0">
              <a:buNone/>
            </a:pPr>
            <a:r>
              <a:rPr lang="en-US" sz="900" i="1" dirty="0">
                <a:solidFill>
                  <a:srgbClr val="8A93A3"/>
                </a:solidFill>
                <a:latin typeface="Montserrat" pitchFamily="34" charset="0"/>
                <a:ea typeface="Montserrat" pitchFamily="34" charset="-122"/>
                <a:cs typeface="Montserrat" pitchFamily="34" charset="-120"/>
              </a:rPr>
              <a:t>Source: TrackingAI.org (MaximumTruth.org) — IQ scores, average of last 7 tests. Average human = 100.</a:t>
            </a:r>
            <a:endParaRPr lang="en-US" sz="9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3A3"/>
                </a:solidFill>
                <a:latin typeface="Montserrat"/>
                <a:ea typeface="Montserrat"/>
                <a:cs typeface="Montserra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2" type="title" hasCustomPrompt="1"/>
          </p:nvPr>
        </p:nvSpPr>
        <p:spPr>
          <a:xfrm>
            <a:off x="548640" y="502920"/>
            <a:ext cx="7863840" cy="685800"/>
          </a:xfrm>
          <a:prstGeom prst="rect">
            <a:avLst/>
          </a:prstGeom>
          <a:noFill/>
          <a:ln/>
        </p:spPr>
        <p:txBody>
          <a:bodyPr wrap="square" lIns="0" tIns="0" rIns="0" bIns="0" rtlCol="0" anchor="t"/>
          <a:lstStyle/>
          <a:p>
            <a:pPr algn="l" indent="0" marL="0">
              <a:buNone/>
            </a:pPr>
            <a:r>
              <a:rPr lang="en-US" sz="2800" b="1" dirty="0">
                <a:solidFill>
                  <a:srgbClr val="0F1341"/>
                </a:solidFill>
                <a:latin typeface="Montserrat" pitchFamily="34" charset="0"/>
                <a:ea typeface="Montserrat" pitchFamily="34" charset="-122"/>
                <a:cs typeface="Montserrat" pitchFamily="34" charset="-120"/>
              </a:rPr>
              <a:t>Why AI is (still) hardly replacing jobs</a:t>
            </a:r>
            <a:endParaRPr lang="en-US" sz="2800" dirty="0"/>
          </a:p>
        </p:txBody>
      </p:sp>
      <p:sp>
        <p:nvSpPr>
          <p:cNvPr id="3" name="Text 0"/>
          <p:cNvSpPr/>
          <p:nvPr>
            <p:ph idx="103" type="body" hasCustomPrompt="1"/>
          </p:nvPr>
        </p:nvSpPr>
        <p:spPr>
          <a:xfrm>
            <a:off x="548640" y="1207008"/>
            <a:ext cx="8778240" cy="365760"/>
          </a:xfrm>
          <a:prstGeom prst="rect">
            <a:avLst/>
          </a:prstGeom>
          <a:noFill/>
          <a:ln/>
        </p:spPr>
        <p:txBody>
          <a:bodyPr wrap="square" lIns="0" tIns="0" rIns="0" bIns="0" rtlCol="0" anchor="t"/>
          <a:lstStyle/>
          <a:p>
            <a:pPr algn="l" indent="0" marL="0">
              <a:buNone/>
            </a:pPr>
            <a:r>
              <a:rPr lang="en-US" sz="1300" dirty="0">
                <a:solidFill>
                  <a:srgbClr val="5B6270"/>
                </a:solidFill>
                <a:latin typeface="Montserrat" pitchFamily="34" charset="0"/>
                <a:ea typeface="Montserrat" pitchFamily="34" charset="-122"/>
                <a:cs typeface="Montserrat" pitchFamily="34" charset="-120"/>
              </a:rPr>
              <a:t>Capability is rising fast — but real work is messy</a:t>
            </a:r>
            <a:endParaRPr lang="en-US" sz="1300" dirty="0"/>
          </a:p>
        </p:txBody>
      </p:sp>
      <p:sp>
        <p:nvSpPr>
          <p:cNvPr id="5" name="Shape 2"/>
          <p:cNvSpPr/>
          <p:nvPr/>
        </p:nvSpPr>
        <p:spPr>
          <a:xfrm>
            <a:off x="548640" y="1874520"/>
            <a:ext cx="566928" cy="566928"/>
          </a:xfrm>
          <a:prstGeom prst="ellipse">
            <a:avLst/>
          </a:prstGeom>
          <a:solidFill>
            <a:srgbClr val="D9E8F8"/>
          </a:solidFill>
          <a:ln/>
        </p:spPr>
      </p:sp>
      <p:sp>
        <p:nvSpPr>
          <p:cNvPr id="6" name="Text 3"/>
          <p:cNvSpPr txBox="1"/>
          <p:nvPr/>
        </p:nvSpPr>
        <p:spPr>
          <a:xfrm>
            <a:off x="1325880" y="1874520"/>
            <a:ext cx="5120640" cy="566928"/>
          </a:xfrm>
          <a:prstGeom prst="rect">
            <a:avLst/>
          </a:prstGeom>
          <a:noFill/>
          <a:ln/>
        </p:spPr>
        <p:txBody>
          <a:bodyPr wrap="square" lIns="0" tIns="0" rIns="0" bIns="0" rtlCol="0" anchor="ctr"/>
          <a:lstStyle/>
          <a:p>
            <a:pPr indent="0" marL="0">
              <a:buNone/>
            </a:pPr>
            <a:r>
              <a:rPr lang="en-US" sz="1600" dirty="0">
                <a:solidFill>
                  <a:srgbClr val="0F1341"/>
                </a:solidFill>
                <a:latin typeface="Montserrat" pitchFamily="34" charset="0"/>
                <a:ea typeface="Montserrat" pitchFamily="34" charset="-122"/>
                <a:cs typeface="Montserrat" pitchFamily="34" charset="-120"/>
              </a:rPr>
              <a:t>So far, hardly any job losses from AI</a:t>
            </a:r>
            <a:endParaRPr lang="en-US" sz="1600" dirty="0"/>
          </a:p>
        </p:txBody>
      </p:sp>
      <p:sp>
        <p:nvSpPr>
          <p:cNvPr id="7" name="Shape 4"/>
          <p:cNvSpPr/>
          <p:nvPr/>
        </p:nvSpPr>
        <p:spPr>
          <a:xfrm>
            <a:off x="548640" y="2770632"/>
            <a:ext cx="566928" cy="566928"/>
          </a:xfrm>
          <a:prstGeom prst="ellipse">
            <a:avLst/>
          </a:prstGeom>
          <a:solidFill>
            <a:srgbClr val="D9E8F8"/>
          </a:solidFill>
          <a:ln/>
        </p:spPr>
      </p:sp>
      <p:sp>
        <p:nvSpPr>
          <p:cNvPr id="8" name="Text 5"/>
          <p:cNvSpPr txBox="1"/>
          <p:nvPr/>
        </p:nvSpPr>
        <p:spPr>
          <a:xfrm>
            <a:off x="1325880" y="2770632"/>
            <a:ext cx="5120640" cy="566928"/>
          </a:xfrm>
          <a:prstGeom prst="rect">
            <a:avLst/>
          </a:prstGeom>
          <a:noFill/>
          <a:ln/>
        </p:spPr>
        <p:txBody>
          <a:bodyPr wrap="square" lIns="0" tIns="0" rIns="0" bIns="0" rtlCol="0" anchor="ctr"/>
          <a:lstStyle/>
          <a:p>
            <a:pPr indent="0" marL="0">
              <a:buNone/>
            </a:pPr>
            <a:r>
              <a:rPr lang="en-US" sz="1600" dirty="0">
                <a:solidFill>
                  <a:srgbClr val="0F1341"/>
                </a:solidFill>
                <a:latin typeface="Montserrat" pitchFamily="34" charset="0"/>
                <a:ea typeface="Montserrat" pitchFamily="34" charset="-122"/>
                <a:cs typeface="Montserrat" pitchFamily="34" charset="-120"/>
              </a:rPr>
              <a:t>AI hits its limits in complex, dynamic workflows</a:t>
            </a:r>
            <a:endParaRPr lang="en-US" sz="1600" dirty="0"/>
          </a:p>
        </p:txBody>
      </p:sp>
      <p:sp>
        <p:nvSpPr>
          <p:cNvPr id="9" name="Shape 6"/>
          <p:cNvSpPr/>
          <p:nvPr/>
        </p:nvSpPr>
        <p:spPr>
          <a:xfrm>
            <a:off x="548640" y="3666744"/>
            <a:ext cx="566928" cy="566928"/>
          </a:xfrm>
          <a:prstGeom prst="ellipse">
            <a:avLst/>
          </a:prstGeom>
          <a:solidFill>
            <a:srgbClr val="D9E8F8"/>
          </a:solidFill>
          <a:ln/>
        </p:spPr>
      </p:sp>
      <p:sp>
        <p:nvSpPr>
          <p:cNvPr id="10" name="Text 7"/>
          <p:cNvSpPr txBox="1"/>
          <p:nvPr/>
        </p:nvSpPr>
        <p:spPr>
          <a:xfrm>
            <a:off x="1325880" y="3666744"/>
            <a:ext cx="5120640" cy="566928"/>
          </a:xfrm>
          <a:prstGeom prst="rect">
            <a:avLst/>
          </a:prstGeom>
          <a:noFill/>
          <a:ln/>
        </p:spPr>
        <p:txBody>
          <a:bodyPr wrap="square" lIns="0" tIns="0" rIns="0" bIns="0" rtlCol="0" anchor="ctr"/>
          <a:lstStyle/>
          <a:p>
            <a:pPr indent="0" marL="0">
              <a:buNone/>
            </a:pPr>
            <a:r>
              <a:rPr lang="en-US" sz="1600" dirty="0">
                <a:solidFill>
                  <a:srgbClr val="0F1341"/>
                </a:solidFill>
                <a:latin typeface="Montserrat" pitchFamily="34" charset="0"/>
                <a:ea typeface="Montserrat" pitchFamily="34" charset="-122"/>
                <a:cs typeface="Montserrat" pitchFamily="34" charset="-120"/>
              </a:rPr>
              <a:t>Office and routine work stable so far — despite automation risk</a:t>
            </a:r>
            <a:endParaRPr lang="en-US" sz="1600" dirty="0"/>
          </a:p>
        </p:txBody>
      </p:sp>
      <p:sp>
        <p:nvSpPr>
          <p:cNvPr id="11" name="Shape 8"/>
          <p:cNvSpPr/>
          <p:nvPr/>
        </p:nvSpPr>
        <p:spPr>
          <a:xfrm>
            <a:off x="548640" y="4562856"/>
            <a:ext cx="566928" cy="566928"/>
          </a:xfrm>
          <a:prstGeom prst="ellipse">
            <a:avLst/>
          </a:prstGeom>
          <a:solidFill>
            <a:srgbClr val="D9E8F8"/>
          </a:solidFill>
          <a:ln/>
        </p:spPr>
      </p:sp>
      <p:sp>
        <p:nvSpPr>
          <p:cNvPr id="12" name="Text 9"/>
          <p:cNvSpPr txBox="1"/>
          <p:nvPr/>
        </p:nvSpPr>
        <p:spPr>
          <a:xfrm>
            <a:off x="1325880" y="4562856"/>
            <a:ext cx="5120640" cy="566928"/>
          </a:xfrm>
          <a:prstGeom prst="rect">
            <a:avLst/>
          </a:prstGeom>
          <a:noFill/>
          <a:ln/>
        </p:spPr>
        <p:txBody>
          <a:bodyPr wrap="square" lIns="0" tIns="0" rIns="0" bIns="0" rtlCol="0" anchor="ctr"/>
          <a:lstStyle/>
          <a:p>
            <a:pPr indent="0" marL="0">
              <a:buNone/>
            </a:pPr>
            <a:r>
              <a:rPr lang="en-US" sz="1600" dirty="0">
                <a:solidFill>
                  <a:srgbClr val="0F1341"/>
                </a:solidFill>
                <a:latin typeface="Montserrat" pitchFamily="34" charset="0"/>
                <a:ea typeface="Montserrat" pitchFamily="34" charset="-122"/>
                <a:cs typeface="Montserrat" pitchFamily="34" charset="-120"/>
              </a:rPr>
              <a:t>Demand for AI skills is growing sharply</a:t>
            </a:r>
            <a:endParaRPr lang="en-US" sz="1600" dirty="0"/>
          </a:p>
        </p:txBody>
      </p:sp>
      <p:sp>
        <p:nvSpPr>
          <p:cNvPr id="13" name="Shape 10"/>
          <p:cNvSpPr/>
          <p:nvPr/>
        </p:nvSpPr>
        <p:spPr>
          <a:xfrm>
            <a:off x="548640" y="5486400"/>
            <a:ext cx="5897880" cy="566928"/>
          </a:xfrm>
          <a:prstGeom prst="roundRect">
            <a:avLst>
              <a:gd name="adj" fmla="val 12903"/>
            </a:avLst>
          </a:prstGeom>
          <a:solidFill>
            <a:srgbClr val="F3F7FC"/>
          </a:solidFill>
          <a:ln/>
        </p:spPr>
      </p:sp>
      <p:sp>
        <p:nvSpPr>
          <p:cNvPr id="14" name="Text 11"/>
          <p:cNvSpPr txBox="1"/>
          <p:nvPr/>
        </p:nvSpPr>
        <p:spPr>
          <a:xfrm>
            <a:off x="731520" y="5486400"/>
            <a:ext cx="5577840" cy="566928"/>
          </a:xfrm>
          <a:prstGeom prst="rect">
            <a:avLst/>
          </a:prstGeom>
          <a:noFill/>
          <a:ln/>
        </p:spPr>
        <p:txBody>
          <a:bodyPr wrap="square" lIns="0" tIns="0" rIns="0" bIns="0" rtlCol="0" anchor="ctr"/>
          <a:lstStyle/>
          <a:p>
            <a:pPr indent="0" marL="0">
              <a:buNone/>
            </a:pPr>
            <a:r>
              <a:rPr lang="en-US" sz="1200" b="1" dirty="0">
                <a:solidFill>
                  <a:srgbClr val="0F1341"/>
                </a:solidFill>
                <a:latin typeface="Montserrat" pitchFamily="34" charset="0"/>
                <a:ea typeface="Montserrat" pitchFamily="34" charset="-122"/>
                <a:cs typeface="Montserrat" pitchFamily="34" charset="-120"/>
              </a:rPr>
              <a:t>For you: </a:t>
            </a:r>
            <a:pPr indent="0" marL="0">
              <a:buNone/>
            </a:pPr>
            <a:r>
              <a:rPr lang="en-US" sz="1200" dirty="0">
                <a:solidFill>
                  <a:srgbClr val="0F1341"/>
                </a:solidFill>
                <a:latin typeface="Montserrat" pitchFamily="34" charset="0"/>
                <a:ea typeface="Montserrat" pitchFamily="34" charset="-122"/>
                <a:cs typeface="Montserrat" pitchFamily="34" charset="-120"/>
              </a:rPr>
              <a:t>AI takes the clean tasks. Building a company is messy work — that is where you add value.</a:t>
            </a:r>
            <a:endParaRPr lang="en-US" sz="1200" dirty="0"/>
          </a:p>
        </p:txBody>
      </p:sp>
      <p:sp>
        <p:nvSpPr>
          <p:cNvPr id="15" name="Shape 12"/>
          <p:cNvSpPr/>
          <p:nvPr/>
        </p:nvSpPr>
        <p:spPr>
          <a:xfrm>
            <a:off x="6766560" y="1737360"/>
            <a:ext cx="4873752" cy="4526280"/>
          </a:xfrm>
          <a:prstGeom prst="roundRect">
            <a:avLst>
              <a:gd name="adj" fmla="val 1616"/>
            </a:avLst>
          </a:prstGeom>
          <a:solidFill>
            <a:srgbClr val="0F1341"/>
          </a:solidFill>
          <a:ln/>
        </p:spPr>
      </p:sp>
      <p:sp>
        <p:nvSpPr>
          <p:cNvPr id="16" name="Text 13"/>
          <p:cNvSpPr txBox="1"/>
          <p:nvPr/>
        </p:nvSpPr>
        <p:spPr>
          <a:xfrm>
            <a:off x="6995160" y="1874520"/>
            <a:ext cx="4480560" cy="548640"/>
          </a:xfrm>
          <a:prstGeom prst="rect">
            <a:avLst/>
          </a:prstGeom>
          <a:noFill/>
          <a:ln/>
        </p:spPr>
        <p:txBody>
          <a:bodyPr wrap="square" lIns="0" tIns="0" rIns="0" bIns="0" rtlCol="0" anchor="t"/>
          <a:lstStyle/>
          <a:p>
            <a:pPr indent="0" marL="0">
              <a:buNone/>
            </a:pPr>
            <a:r>
              <a:rPr lang="en-US" sz="1300" b="1" dirty="0">
                <a:solidFill>
                  <a:srgbClr val="FFFFFF"/>
                </a:solidFill>
                <a:latin typeface="Montserrat" pitchFamily="34" charset="0"/>
                <a:ea typeface="Montserrat" pitchFamily="34" charset="-122"/>
                <a:cs typeface="Montserrat" pitchFamily="34" charset="-120"/>
              </a:rPr>
              <a:t>AI's ability to automate jobs is constrained by task “messiness”</a:t>
            </a:r>
            <a:endParaRPr lang="en-US" sz="1300" dirty="0"/>
          </a:p>
        </p:txBody>
      </p:sp>
      <p:sp>
        <p:nvSpPr>
          <p:cNvPr id="17" name="Text 14"/>
          <p:cNvSpPr txBox="1"/>
          <p:nvPr/>
        </p:nvSpPr>
        <p:spPr>
          <a:xfrm>
            <a:off x="6995160" y="2423160"/>
            <a:ext cx="4480560" cy="274320"/>
          </a:xfrm>
          <a:prstGeom prst="rect">
            <a:avLst/>
          </a:prstGeom>
          <a:noFill/>
          <a:ln/>
        </p:spPr>
        <p:txBody>
          <a:bodyPr wrap="square" lIns="0" tIns="0" rIns="0" bIns="0" rtlCol="0" anchor="t"/>
          <a:lstStyle/>
          <a:p>
            <a:pPr indent="0" marL="0">
              <a:buNone/>
            </a:pPr>
            <a:r>
              <a:rPr lang="en-US" sz="1000" dirty="0">
                <a:solidFill>
                  <a:srgbClr val="C9D3E3"/>
                </a:solidFill>
                <a:latin typeface="Montserrat" pitchFamily="34" charset="0"/>
                <a:ea typeface="Montserrat" pitchFamily="34" charset="-122"/>
                <a:cs typeface="Montserrat" pitchFamily="34" charset="-120"/>
              </a:rPr>
              <a:t>AI task success rate by messiness of the task (%)</a:t>
            </a:r>
            <a:endParaRPr lang="en-US" sz="1000" dirty="0"/>
          </a:p>
        </p:txBody>
      </p:sp>
      <p:graphicFrame>
        <p:nvGraphicFramePr>
          <p:cNvPr id="18" name="Chart 0" descr=""/>
          <p:cNvGraphicFramePr/>
          <p:nvPr/>
        </p:nvGraphicFramePr>
        <p:xfrm>
          <a:off x="6858000" y="2697480"/>
          <a:ext cx="4663440" cy="3063240"/>
        </p:xfrm>
        <a:graphic xmlns:a="http://schemas.openxmlformats.org/drawingml/2006/main">
          <a:graphicData uri="http://schemas.openxmlformats.org/drawingml/2006/chart">
            <c:chart xmlns:c="http://schemas.openxmlformats.org/drawingml/2006/chart" r:id="rId1"/>
          </a:graphicData>
        </a:graphic>
      </p:graphicFrame>
      <p:sp>
        <p:nvSpPr>
          <p:cNvPr id="19" name="Text 15"/>
          <p:cNvSpPr txBox="1"/>
          <p:nvPr/>
        </p:nvSpPr>
        <p:spPr>
          <a:xfrm>
            <a:off x="6995160" y="5760720"/>
            <a:ext cx="4480560" cy="411480"/>
          </a:xfrm>
          <a:prstGeom prst="rect">
            <a:avLst/>
          </a:prstGeom>
          <a:noFill/>
          <a:ln/>
        </p:spPr>
        <p:txBody>
          <a:bodyPr wrap="square" lIns="0" tIns="0" rIns="0" bIns="0" rtlCol="0" anchor="t"/>
          <a:lstStyle/>
          <a:p>
            <a:pPr indent="0" marL="0">
              <a:buNone/>
            </a:pPr>
            <a:r>
              <a:rPr lang="en-US" sz="900" i="1" dirty="0">
                <a:solidFill>
                  <a:srgbClr val="C9D3E3"/>
                </a:solidFill>
                <a:latin typeface="Montserrat" pitchFamily="34" charset="0"/>
                <a:ea typeface="Montserrat" pitchFamily="34" charset="-122"/>
                <a:cs typeface="Montserrat" pitchFamily="34" charset="-120"/>
              </a:rPr>
              <a:t>Tasks taking a human professional ≤ 1 hour. Source: METR / Measuring AI Ability (values read from published chart).</a:t>
            </a:r>
            <a:endParaRPr lang="en-US" sz="900" dirty="0"/>
          </a:p>
        </p:txBody>
      </p:sp>
      <p:pic>
        <p:nvPicPr>
          <p:cNvPr id="20" name="Image 0" descr="preencoded.png">    </p:cNvPr>
          <p:cNvPicPr>
            <a:picLocks noChangeAspect="1"/>
          </p:cNvPicPr>
          <p:nvPr/>
        </p:nvPicPr>
        <p:blipFill>
          <a:blip r:embed="rId2"/>
          <a:stretch>
            <a:fillRect/>
          </a:stretch>
        </p:blipFill>
        <p:spPr>
          <a:xfrm>
            <a:off x="676656" y="2002536"/>
            <a:ext cx="310896" cy="310896"/>
          </a:xfrm>
          <a:prstGeom prst="rect">
            <a:avLst/>
          </a:prstGeom>
        </p:spPr>
      </p:pic>
      <p:pic>
        <p:nvPicPr>
          <p:cNvPr id="21" name="Image 1" descr="preencoded.png">    </p:cNvPr>
          <p:cNvPicPr>
            <a:picLocks noChangeAspect="1"/>
          </p:cNvPicPr>
          <p:nvPr/>
        </p:nvPicPr>
        <p:blipFill>
          <a:blip r:embed="rId3"/>
          <a:stretch>
            <a:fillRect/>
          </a:stretch>
        </p:blipFill>
        <p:spPr>
          <a:xfrm>
            <a:off x="676656" y="2898648"/>
            <a:ext cx="310896" cy="310896"/>
          </a:xfrm>
          <a:prstGeom prst="rect">
            <a:avLst/>
          </a:prstGeom>
        </p:spPr>
      </p:pic>
      <p:pic>
        <p:nvPicPr>
          <p:cNvPr id="22" name="Image 2" descr="preencoded.png">    </p:cNvPr>
          <p:cNvPicPr>
            <a:picLocks noChangeAspect="1"/>
          </p:cNvPicPr>
          <p:nvPr/>
        </p:nvPicPr>
        <p:blipFill>
          <a:blip r:embed="rId4"/>
          <a:stretch>
            <a:fillRect/>
          </a:stretch>
        </p:blipFill>
        <p:spPr>
          <a:xfrm>
            <a:off x="676656" y="3794760"/>
            <a:ext cx="310896" cy="310896"/>
          </a:xfrm>
          <a:prstGeom prst="rect">
            <a:avLst/>
          </a:prstGeom>
        </p:spPr>
      </p:pic>
      <p:pic>
        <p:nvPicPr>
          <p:cNvPr id="23" name="Image 3" descr="preencoded.png">    </p:cNvPr>
          <p:cNvPicPr>
            <a:picLocks noChangeAspect="1"/>
          </p:cNvPicPr>
          <p:nvPr/>
        </p:nvPicPr>
        <p:blipFill>
          <a:blip r:embed="rId5"/>
          <a:stretch>
            <a:fillRect/>
          </a:stretch>
        </p:blipFill>
        <p:spPr>
          <a:xfrm>
            <a:off x="676656" y="4690872"/>
            <a:ext cx="310896" cy="310896"/>
          </a:xfrm>
          <a:prstGeom prst="rect">
            <a:avLst/>
          </a:prstGeom>
        </p:spPr>
      </p:pic>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3A3"/>
                </a:solidFill>
                <a:latin typeface="Montserrat"/>
                <a:ea typeface="Montserrat"/>
                <a:cs typeface="Montserra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2" type="title" hasCustomPrompt="1"/>
          </p:nvPr>
        </p:nvSpPr>
        <p:spPr>
          <a:xfrm>
            <a:off x="548640" y="502920"/>
            <a:ext cx="7863840" cy="685800"/>
          </a:xfrm>
          <a:prstGeom prst="rect">
            <a:avLst/>
          </a:prstGeom>
          <a:noFill/>
          <a:ln/>
        </p:spPr>
        <p:txBody>
          <a:bodyPr wrap="square" lIns="0" tIns="0" rIns="0" bIns="0" rtlCol="0" anchor="t"/>
          <a:lstStyle/>
          <a:p>
            <a:pPr algn="l" indent="0" marL="0">
              <a:buNone/>
            </a:pPr>
            <a:r>
              <a:rPr lang="en-US" sz="2800" b="1" dirty="0">
                <a:solidFill>
                  <a:srgbClr val="0F1341"/>
                </a:solidFill>
                <a:latin typeface="Montserrat" pitchFamily="34" charset="0"/>
                <a:ea typeface="Montserrat" pitchFamily="34" charset="-122"/>
                <a:cs typeface="Montserrat" pitchFamily="34" charset="-120"/>
              </a:rPr>
              <a:t>Core skills in 2030</a:t>
            </a:r>
            <a:endParaRPr lang="en-US" sz="2800" dirty="0"/>
          </a:p>
        </p:txBody>
      </p:sp>
      <p:sp>
        <p:nvSpPr>
          <p:cNvPr id="3" name="Text 0"/>
          <p:cNvSpPr/>
          <p:nvPr>
            <p:ph idx="103" type="body" hasCustomPrompt="1"/>
          </p:nvPr>
        </p:nvSpPr>
        <p:spPr>
          <a:xfrm>
            <a:off x="548640" y="1207008"/>
            <a:ext cx="8778240" cy="365760"/>
          </a:xfrm>
          <a:prstGeom prst="rect">
            <a:avLst/>
          </a:prstGeom>
          <a:noFill/>
          <a:ln/>
        </p:spPr>
        <p:txBody>
          <a:bodyPr wrap="square" lIns="0" tIns="0" rIns="0" bIns="0" rtlCol="0" anchor="t"/>
          <a:lstStyle/>
          <a:p>
            <a:pPr algn="l" indent="0" marL="0">
              <a:buNone/>
            </a:pPr>
            <a:r>
              <a:rPr lang="en-US" sz="1300" dirty="0">
                <a:solidFill>
                  <a:srgbClr val="5B6270"/>
                </a:solidFill>
                <a:latin typeface="Montserrat" pitchFamily="34" charset="0"/>
                <a:ea typeface="Montserrat" pitchFamily="34" charset="-122"/>
                <a:cs typeface="Montserrat" pitchFamily="34" charset="-120"/>
              </a:rPr>
              <a:t>Share of employers calling a skill core today (x) vs expecting it to grow by 2030 (y)</a:t>
            </a:r>
            <a:endParaRPr lang="en-US" sz="1300" dirty="0"/>
          </a:p>
        </p:txBody>
      </p:sp>
      <p:sp>
        <p:nvSpPr>
          <p:cNvPr id="5" name="Shape 2"/>
          <p:cNvSpPr/>
          <p:nvPr/>
        </p:nvSpPr>
        <p:spPr>
          <a:xfrm>
            <a:off x="548640" y="1719072"/>
            <a:ext cx="5897880" cy="4315968"/>
          </a:xfrm>
          <a:prstGeom prst="roundRect">
            <a:avLst>
              <a:gd name="adj" fmla="val 1695"/>
            </a:avLst>
          </a:prstGeom>
          <a:solidFill>
            <a:srgbClr val="FFFFFF"/>
          </a:solidFill>
          <a:ln w="12700">
            <a:solidFill>
              <a:srgbClr val="C9D3E3"/>
            </a:solidFill>
            <a:prstDash val="solid"/>
          </a:ln>
        </p:spPr>
      </p:sp>
      <p:pic>
        <p:nvPicPr>
          <p:cNvPr id="6" name="Image 0" descr="/home/user/work/assets/wef.png">    </p:cNvPr>
          <p:cNvPicPr>
            <a:picLocks noChangeAspect="1"/>
          </p:cNvPicPr>
          <p:nvPr/>
        </p:nvPicPr>
        <p:blipFill>
          <a:blip r:embed="rId1"/>
          <a:stretch>
            <a:fillRect/>
          </a:stretch>
        </p:blipFill>
        <p:spPr>
          <a:xfrm>
            <a:off x="640080" y="1783080"/>
            <a:ext cx="5715000" cy="4187952"/>
          </a:xfrm>
          <a:prstGeom prst="rect">
            <a:avLst/>
          </a:prstGeom>
        </p:spPr>
      </p:pic>
      <p:sp>
        <p:nvSpPr>
          <p:cNvPr id="7" name="Shape 3"/>
          <p:cNvSpPr/>
          <p:nvPr/>
        </p:nvSpPr>
        <p:spPr>
          <a:xfrm>
            <a:off x="6812280" y="1783080"/>
            <a:ext cx="384048" cy="384048"/>
          </a:xfrm>
          <a:prstGeom prst="ellipse">
            <a:avLst/>
          </a:prstGeom>
          <a:solidFill>
            <a:srgbClr val="2E6FBF"/>
          </a:solidFill>
          <a:ln/>
        </p:spPr>
      </p:sp>
      <p:sp>
        <p:nvSpPr>
          <p:cNvPr id="8" name="Text 4"/>
          <p:cNvSpPr txBox="1"/>
          <p:nvPr/>
        </p:nvSpPr>
        <p:spPr>
          <a:xfrm>
            <a:off x="6812280" y="178308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1</a:t>
            </a:r>
            <a:endParaRPr lang="en-US" sz="1200" dirty="0"/>
          </a:p>
        </p:txBody>
      </p:sp>
      <p:sp>
        <p:nvSpPr>
          <p:cNvPr id="9" name="Text 5"/>
          <p:cNvSpPr txBox="1"/>
          <p:nvPr/>
        </p:nvSpPr>
        <p:spPr>
          <a:xfrm>
            <a:off x="7360920" y="1737360"/>
            <a:ext cx="4279392" cy="347472"/>
          </a:xfrm>
          <a:prstGeom prst="rect">
            <a:avLst/>
          </a:prstGeom>
          <a:noFill/>
          <a:ln/>
        </p:spPr>
        <p:txBody>
          <a:bodyPr wrap="square" lIns="0" tIns="0" rIns="0" bIns="0" rtlCol="0" anchor="t"/>
          <a:lstStyle/>
          <a:p>
            <a:pPr indent="0" marL="0">
              <a:buNone/>
            </a:pPr>
            <a:r>
              <a:rPr lang="en-US" sz="1400" b="1" dirty="0">
                <a:solidFill>
                  <a:srgbClr val="0F1341"/>
                </a:solidFill>
                <a:latin typeface="Montserrat" pitchFamily="34" charset="0"/>
                <a:ea typeface="Montserrat" pitchFamily="34" charset="-122"/>
                <a:cs typeface="Montserrat" pitchFamily="34" charset="-120"/>
              </a:rPr>
              <a:t>AI and big data</a:t>
            </a:r>
            <a:endParaRPr lang="en-US" sz="1400" dirty="0"/>
          </a:p>
        </p:txBody>
      </p:sp>
      <p:sp>
        <p:nvSpPr>
          <p:cNvPr id="10" name="Text 6"/>
          <p:cNvSpPr txBox="1"/>
          <p:nvPr/>
        </p:nvSpPr>
        <p:spPr>
          <a:xfrm>
            <a:off x="7360920" y="2084832"/>
            <a:ext cx="4279392" cy="594360"/>
          </a:xfrm>
          <a:prstGeom prst="rect">
            <a:avLst/>
          </a:prstGeom>
          <a:noFill/>
          <a:ln/>
        </p:spPr>
        <p:txBody>
          <a:bodyPr wrap="square" lIns="0" tIns="0" rIns="0" bIns="0" rtlCol="0" anchor="t"/>
          <a:lstStyle/>
          <a:p>
            <a:pPr indent="0" marL="0">
              <a:buNone/>
            </a:pPr>
            <a:r>
              <a:rPr lang="en-US" sz="1200" dirty="0">
                <a:solidFill>
                  <a:srgbClr val="5B6270"/>
                </a:solidFill>
                <a:latin typeface="Montserrat" pitchFamily="34" charset="0"/>
                <a:ea typeface="Montserrat" pitchFamily="34" charset="-122"/>
                <a:cs typeface="Montserrat" pitchFamily="34" charset="-120"/>
              </a:rPr>
              <a:t>the fastest-growing skill of all — almost 9 in 10 employers expect it to grow</a:t>
            </a:r>
            <a:endParaRPr lang="en-US" sz="1200" dirty="0"/>
          </a:p>
        </p:txBody>
      </p:sp>
      <p:sp>
        <p:nvSpPr>
          <p:cNvPr id="11" name="Shape 7"/>
          <p:cNvSpPr/>
          <p:nvPr/>
        </p:nvSpPr>
        <p:spPr>
          <a:xfrm>
            <a:off x="6812280" y="2807208"/>
            <a:ext cx="384048" cy="384048"/>
          </a:xfrm>
          <a:prstGeom prst="ellipse">
            <a:avLst/>
          </a:prstGeom>
          <a:solidFill>
            <a:srgbClr val="2E6FBF"/>
          </a:solidFill>
          <a:ln/>
        </p:spPr>
      </p:sp>
      <p:sp>
        <p:nvSpPr>
          <p:cNvPr id="12" name="Text 8"/>
          <p:cNvSpPr txBox="1"/>
          <p:nvPr/>
        </p:nvSpPr>
        <p:spPr>
          <a:xfrm>
            <a:off x="6812280" y="28072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2</a:t>
            </a:r>
            <a:endParaRPr lang="en-US" sz="1200" dirty="0"/>
          </a:p>
        </p:txBody>
      </p:sp>
      <p:sp>
        <p:nvSpPr>
          <p:cNvPr id="13" name="Text 9"/>
          <p:cNvSpPr txBox="1"/>
          <p:nvPr/>
        </p:nvSpPr>
        <p:spPr>
          <a:xfrm>
            <a:off x="7360920" y="2761488"/>
            <a:ext cx="4279392" cy="347472"/>
          </a:xfrm>
          <a:prstGeom prst="rect">
            <a:avLst/>
          </a:prstGeom>
          <a:noFill/>
          <a:ln/>
        </p:spPr>
        <p:txBody>
          <a:bodyPr wrap="square" lIns="0" tIns="0" rIns="0" bIns="0" rtlCol="0" anchor="t"/>
          <a:lstStyle/>
          <a:p>
            <a:pPr indent="0" marL="0">
              <a:buNone/>
            </a:pPr>
            <a:r>
              <a:rPr lang="en-US" sz="1400" b="1" dirty="0">
                <a:solidFill>
                  <a:srgbClr val="0F1341"/>
                </a:solidFill>
                <a:latin typeface="Montserrat" pitchFamily="34" charset="0"/>
                <a:ea typeface="Montserrat" pitchFamily="34" charset="-122"/>
                <a:cs typeface="Montserrat" pitchFamily="34" charset="-120"/>
              </a:rPr>
              <a:t>Thinking skills stay core</a:t>
            </a:r>
            <a:endParaRPr lang="en-US" sz="1400" dirty="0"/>
          </a:p>
        </p:txBody>
      </p:sp>
      <p:sp>
        <p:nvSpPr>
          <p:cNvPr id="14" name="Text 10"/>
          <p:cNvSpPr txBox="1"/>
          <p:nvPr/>
        </p:nvSpPr>
        <p:spPr>
          <a:xfrm>
            <a:off x="7360920" y="3108960"/>
            <a:ext cx="4279392" cy="594360"/>
          </a:xfrm>
          <a:prstGeom prst="rect">
            <a:avLst/>
          </a:prstGeom>
          <a:noFill/>
          <a:ln/>
        </p:spPr>
        <p:txBody>
          <a:bodyPr wrap="square" lIns="0" tIns="0" rIns="0" bIns="0" rtlCol="0" anchor="t"/>
          <a:lstStyle/>
          <a:p>
            <a:pPr indent="0" marL="0">
              <a:buNone/>
            </a:pPr>
            <a:r>
              <a:rPr lang="en-US" sz="1200" dirty="0">
                <a:solidFill>
                  <a:srgbClr val="5B6270"/>
                </a:solidFill>
                <a:latin typeface="Montserrat" pitchFamily="34" charset="0"/>
                <a:ea typeface="Montserrat" pitchFamily="34" charset="-122"/>
                <a:cs typeface="Montserrat" pitchFamily="34" charset="-120"/>
              </a:rPr>
              <a:t>analytical thinking, creative thinking, systems thinking</a:t>
            </a:r>
            <a:endParaRPr lang="en-US" sz="1200" dirty="0"/>
          </a:p>
        </p:txBody>
      </p:sp>
      <p:sp>
        <p:nvSpPr>
          <p:cNvPr id="15" name="Shape 11"/>
          <p:cNvSpPr/>
          <p:nvPr/>
        </p:nvSpPr>
        <p:spPr>
          <a:xfrm>
            <a:off x="6812280" y="3831336"/>
            <a:ext cx="384048" cy="384048"/>
          </a:xfrm>
          <a:prstGeom prst="ellipse">
            <a:avLst/>
          </a:prstGeom>
          <a:solidFill>
            <a:srgbClr val="2E6FBF"/>
          </a:solidFill>
          <a:ln/>
        </p:spPr>
      </p:sp>
      <p:sp>
        <p:nvSpPr>
          <p:cNvPr id="16" name="Text 12"/>
          <p:cNvSpPr txBox="1"/>
          <p:nvPr/>
        </p:nvSpPr>
        <p:spPr>
          <a:xfrm>
            <a:off x="6812280" y="38313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3</a:t>
            </a:r>
            <a:endParaRPr lang="en-US" sz="1200" dirty="0"/>
          </a:p>
        </p:txBody>
      </p:sp>
      <p:sp>
        <p:nvSpPr>
          <p:cNvPr id="17" name="Text 13"/>
          <p:cNvSpPr txBox="1"/>
          <p:nvPr/>
        </p:nvSpPr>
        <p:spPr>
          <a:xfrm>
            <a:off x="7360920" y="3785616"/>
            <a:ext cx="4279392" cy="347472"/>
          </a:xfrm>
          <a:prstGeom prst="rect">
            <a:avLst/>
          </a:prstGeom>
          <a:noFill/>
          <a:ln/>
        </p:spPr>
        <p:txBody>
          <a:bodyPr wrap="square" lIns="0" tIns="0" rIns="0" bIns="0" rtlCol="0" anchor="t"/>
          <a:lstStyle/>
          <a:p>
            <a:pPr indent="0" marL="0">
              <a:buNone/>
            </a:pPr>
            <a:r>
              <a:rPr lang="en-US" sz="1400" b="1" dirty="0">
                <a:solidFill>
                  <a:srgbClr val="0F1341"/>
                </a:solidFill>
                <a:latin typeface="Montserrat" pitchFamily="34" charset="0"/>
                <a:ea typeface="Montserrat" pitchFamily="34" charset="-122"/>
                <a:cs typeface="Montserrat" pitchFamily="34" charset="-120"/>
              </a:rPr>
              <a:t>Human skills rise with AI</a:t>
            </a:r>
            <a:endParaRPr lang="en-US" sz="1400" dirty="0"/>
          </a:p>
        </p:txBody>
      </p:sp>
      <p:sp>
        <p:nvSpPr>
          <p:cNvPr id="18" name="Text 14"/>
          <p:cNvSpPr txBox="1"/>
          <p:nvPr/>
        </p:nvSpPr>
        <p:spPr>
          <a:xfrm>
            <a:off x="7360920" y="4133088"/>
            <a:ext cx="4279392" cy="594360"/>
          </a:xfrm>
          <a:prstGeom prst="rect">
            <a:avLst/>
          </a:prstGeom>
          <a:noFill/>
          <a:ln/>
        </p:spPr>
        <p:txBody>
          <a:bodyPr wrap="square" lIns="0" tIns="0" rIns="0" bIns="0" rtlCol="0" anchor="t"/>
          <a:lstStyle/>
          <a:p>
            <a:pPr indent="0" marL="0">
              <a:buNone/>
            </a:pPr>
            <a:r>
              <a:rPr lang="en-US" sz="1200" dirty="0">
                <a:solidFill>
                  <a:srgbClr val="5B6270"/>
                </a:solidFill>
                <a:latin typeface="Montserrat" pitchFamily="34" charset="0"/>
                <a:ea typeface="Montserrat" pitchFamily="34" charset="-122"/>
                <a:cs typeface="Montserrat" pitchFamily="34" charset="-120"/>
              </a:rPr>
              <a:t>resilience, curiosity and lifelong learning, leadership</a:t>
            </a:r>
            <a:endParaRPr lang="en-US" sz="1200" dirty="0"/>
          </a:p>
        </p:txBody>
      </p:sp>
      <p:sp>
        <p:nvSpPr>
          <p:cNvPr id="19" name="Shape 15"/>
          <p:cNvSpPr/>
          <p:nvPr/>
        </p:nvSpPr>
        <p:spPr>
          <a:xfrm>
            <a:off x="6812280" y="4846320"/>
            <a:ext cx="4828032" cy="1188720"/>
          </a:xfrm>
          <a:prstGeom prst="roundRect">
            <a:avLst>
              <a:gd name="adj" fmla="val 6154"/>
            </a:avLst>
          </a:prstGeom>
          <a:solidFill>
            <a:srgbClr val="0F1341"/>
          </a:solidFill>
          <a:ln/>
        </p:spPr>
      </p:sp>
      <p:sp>
        <p:nvSpPr>
          <p:cNvPr id="20" name="Text 16"/>
          <p:cNvSpPr txBox="1"/>
          <p:nvPr/>
        </p:nvSpPr>
        <p:spPr>
          <a:xfrm>
            <a:off x="7040880" y="4846320"/>
            <a:ext cx="4434840" cy="1188720"/>
          </a:xfrm>
          <a:prstGeom prst="rect">
            <a:avLst/>
          </a:prstGeom>
          <a:noFill/>
          <a:ln/>
        </p:spPr>
        <p:txBody>
          <a:bodyPr wrap="square" lIns="0" tIns="0" rIns="0" bIns="0" rtlCol="0" anchor="ctr"/>
          <a:lstStyle/>
          <a:p>
            <a:pPr indent="0" marL="0">
              <a:buNone/>
            </a:pPr>
            <a:r>
              <a:rPr lang="en-US" sz="1300" dirty="0">
                <a:solidFill>
                  <a:srgbClr val="FFFFFF"/>
                </a:solidFill>
                <a:latin typeface="Montserrat" pitchFamily="34" charset="0"/>
                <a:ea typeface="Montserrat" pitchFamily="34" charset="-122"/>
                <a:cs typeface="Montserrat" pitchFamily="34" charset="-120"/>
              </a:rPr>
              <a:t>The founder profile of 2030: AI-literate, analytical, creative — and curious enough to test.</a:t>
            </a:r>
            <a:endParaRPr lang="en-US" sz="1300" dirty="0"/>
          </a:p>
        </p:txBody>
      </p:sp>
      <p:sp>
        <p:nvSpPr>
          <p:cNvPr id="21" name="Text 17"/>
          <p:cNvSpPr txBox="1"/>
          <p:nvPr/>
        </p:nvSpPr>
        <p:spPr>
          <a:xfrm>
            <a:off x="1920240" y="6080760"/>
            <a:ext cx="5486400" cy="228600"/>
          </a:xfrm>
          <a:prstGeom prst="rect">
            <a:avLst/>
          </a:prstGeom>
          <a:noFill/>
          <a:ln/>
        </p:spPr>
        <p:txBody>
          <a:bodyPr wrap="square" lIns="0" tIns="0" rIns="0" bIns="0" rtlCol="0" anchor="t"/>
          <a:lstStyle/>
          <a:p>
            <a:pPr indent="0" marL="0">
              <a:buNone/>
            </a:pPr>
            <a:r>
              <a:rPr lang="en-US" sz="900" i="1" dirty="0">
                <a:solidFill>
                  <a:srgbClr val="8A93A3"/>
                </a:solidFill>
                <a:latin typeface="Montserrat" pitchFamily="34" charset="0"/>
                <a:ea typeface="Montserrat" pitchFamily="34" charset="-122"/>
                <a:cs typeface="Montserrat" pitchFamily="34" charset="-120"/>
              </a:rPr>
              <a:t>Source: World Economic Forum, Future of Jobs Report 2025, Figure 3.6.</a:t>
            </a:r>
            <a:endParaRPr lang="en-US" sz="9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3A3"/>
                </a:solidFill>
                <a:latin typeface="Montserrat"/>
                <a:ea typeface="Montserrat"/>
                <a:cs typeface="Montserra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48640" y="502920"/>
            <a:ext cx="7863840" cy="685800"/>
          </a:xfrm>
          <a:prstGeom prst="rect">
            <a:avLst/>
          </a:prstGeom>
          <a:noFill/>
          <a:ln/>
        </p:spPr>
        <p:txBody>
          <a:bodyPr wrap="square" lIns="0" tIns="0" rIns="0" bIns="0" rtlCol="0" anchor="t"/>
          <a:lstStyle/>
          <a:p>
            <a:pPr algn="l" indent="0" marL="0">
              <a:buNone/>
            </a:pPr>
            <a:r>
              <a:rPr lang="en-US" sz="2800" b="1" dirty="0">
                <a:solidFill>
                  <a:srgbClr val="0F1341"/>
                </a:solidFill>
                <a:latin typeface="Montserrat" pitchFamily="34" charset="0"/>
                <a:ea typeface="Montserrat" pitchFamily="34" charset="-122"/>
                <a:cs typeface="Montserrat" pitchFamily="34" charset="-120"/>
              </a:rPr>
              <a:t>“Augmented Intelligence”</a:t>
            </a:r>
            <a:endParaRPr lang="en-US" sz="2800" dirty="0"/>
          </a:p>
        </p:txBody>
      </p:sp>
      <p:sp>
        <p:nvSpPr>
          <p:cNvPr id="3" name="Text 0"/>
          <p:cNvSpPr/>
          <p:nvPr>
            <p:ph idx="103" type="body" hasCustomPrompt="1"/>
          </p:nvPr>
        </p:nvSpPr>
        <p:spPr>
          <a:xfrm>
            <a:off x="548640" y="1207008"/>
            <a:ext cx="8778240" cy="365760"/>
          </a:xfrm>
          <a:prstGeom prst="rect">
            <a:avLst/>
          </a:prstGeom>
          <a:noFill/>
          <a:ln/>
        </p:spPr>
        <p:txBody>
          <a:bodyPr wrap="square" lIns="0" tIns="0" rIns="0" bIns="0" rtlCol="0" anchor="t"/>
          <a:lstStyle/>
          <a:p>
            <a:pPr algn="l" indent="0" marL="0">
              <a:buNone/>
            </a:pPr>
            <a:r>
              <a:rPr lang="en-US" sz="1300" dirty="0">
                <a:solidFill>
                  <a:srgbClr val="5B6270"/>
                </a:solidFill>
                <a:latin typeface="Montserrat" pitchFamily="34" charset="0"/>
                <a:ea typeface="Montserrat" pitchFamily="34" charset="-122"/>
                <a:cs typeface="Montserrat" pitchFamily="34" charset="-120"/>
              </a:rPr>
              <a:t>Not human or machine — the value sits in the overlap</a:t>
            </a:r>
            <a:endParaRPr lang="en-US" sz="1300" dirty="0"/>
          </a:p>
        </p:txBody>
      </p:sp>
      <p:sp>
        <p:nvSpPr>
          <p:cNvPr id="5" name="Shape 2"/>
          <p:cNvSpPr/>
          <p:nvPr/>
        </p:nvSpPr>
        <p:spPr>
          <a:xfrm>
            <a:off x="822960" y="1783080"/>
            <a:ext cx="4572000" cy="4343400"/>
          </a:xfrm>
          <a:prstGeom prst="ellipse">
            <a:avLst/>
          </a:prstGeom>
          <a:solidFill>
            <a:srgbClr val="D9E8F8">
              <a:alpha val="85000"/>
            </a:srgbClr>
          </a:solidFill>
          <a:ln w="38100">
            <a:solidFill>
              <a:srgbClr val="4A8FDB"/>
            </a:solidFill>
            <a:prstDash val="solid"/>
          </a:ln>
        </p:spPr>
      </p:sp>
      <p:sp>
        <p:nvSpPr>
          <p:cNvPr id="6" name="Shape 3"/>
          <p:cNvSpPr/>
          <p:nvPr/>
        </p:nvSpPr>
        <p:spPr>
          <a:xfrm>
            <a:off x="3566160" y="1783080"/>
            <a:ext cx="4572000" cy="4343400"/>
          </a:xfrm>
          <a:prstGeom prst="ellipse">
            <a:avLst/>
          </a:prstGeom>
          <a:solidFill>
            <a:srgbClr val="6A7FA8">
              <a:alpha val="55000"/>
            </a:srgbClr>
          </a:solidFill>
          <a:ln w="38100">
            <a:solidFill>
              <a:srgbClr val="0F1341"/>
            </a:solidFill>
            <a:prstDash val="solid"/>
          </a:ln>
        </p:spPr>
      </p:sp>
      <p:sp>
        <p:nvSpPr>
          <p:cNvPr id="7" name="Text 4"/>
          <p:cNvSpPr txBox="1"/>
          <p:nvPr/>
        </p:nvSpPr>
        <p:spPr>
          <a:xfrm>
            <a:off x="1097280" y="3520440"/>
            <a:ext cx="2377440" cy="822960"/>
          </a:xfrm>
          <a:prstGeom prst="rect">
            <a:avLst/>
          </a:prstGeom>
          <a:noFill/>
          <a:ln/>
        </p:spPr>
        <p:txBody>
          <a:bodyPr wrap="square" lIns="0" tIns="0" rIns="0" bIns="0" rtlCol="0" anchor="ctr"/>
          <a:lstStyle/>
          <a:p>
            <a:pPr algn="ctr" indent="0" marL="0">
              <a:buNone/>
            </a:pPr>
            <a:r>
              <a:rPr lang="en-US" sz="1800" b="1" dirty="0">
                <a:solidFill>
                  <a:srgbClr val="2E6FBF"/>
                </a:solidFill>
                <a:latin typeface="Montserrat" pitchFamily="34" charset="0"/>
                <a:ea typeface="Montserrat" pitchFamily="34" charset="-122"/>
                <a:cs typeface="Montserrat" pitchFamily="34" charset="-120"/>
              </a:rPr>
              <a:t>Human</a:t>
            </a:r>
            <a:endParaRPr lang="en-US" sz="1800" dirty="0"/>
          </a:p>
          <a:p>
            <a:pPr algn="ctr" indent="0" marL="0">
              <a:buNone/>
            </a:pPr>
            <a:r>
              <a:rPr lang="en-US" sz="1800" b="1" dirty="0">
                <a:solidFill>
                  <a:srgbClr val="2E6FBF"/>
                </a:solidFill>
                <a:latin typeface="Montserrat" pitchFamily="34" charset="0"/>
                <a:ea typeface="Montserrat" pitchFamily="34" charset="-122"/>
                <a:cs typeface="Montserrat" pitchFamily="34" charset="-120"/>
              </a:rPr>
              <a:t>Intelligence</a:t>
            </a:r>
            <a:endParaRPr lang="en-US" sz="1800" dirty="0"/>
          </a:p>
        </p:txBody>
      </p:sp>
      <p:sp>
        <p:nvSpPr>
          <p:cNvPr id="8" name="Text 5"/>
          <p:cNvSpPr txBox="1"/>
          <p:nvPr/>
        </p:nvSpPr>
        <p:spPr>
          <a:xfrm>
            <a:off x="3611880" y="3520440"/>
            <a:ext cx="173736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Montserrat" pitchFamily="34" charset="0"/>
                <a:ea typeface="Montserrat" pitchFamily="34" charset="-122"/>
                <a:cs typeface="Montserrat" pitchFamily="34" charset="-120"/>
              </a:rPr>
              <a:t>Augmented</a:t>
            </a:r>
            <a:endParaRPr lang="en-US" sz="1600" dirty="0"/>
          </a:p>
          <a:p>
            <a:pPr algn="ctr" indent="0" marL="0">
              <a:buNone/>
            </a:pPr>
            <a:r>
              <a:rPr lang="en-US" sz="1600" b="1" dirty="0">
                <a:solidFill>
                  <a:srgbClr val="FFFFFF"/>
                </a:solidFill>
                <a:latin typeface="Montserrat" pitchFamily="34" charset="0"/>
                <a:ea typeface="Montserrat" pitchFamily="34" charset="-122"/>
                <a:cs typeface="Montserrat" pitchFamily="34" charset="-120"/>
              </a:rPr>
              <a:t>Intelligence</a:t>
            </a:r>
            <a:endParaRPr lang="en-US" sz="1600" dirty="0"/>
          </a:p>
        </p:txBody>
      </p:sp>
      <p:sp>
        <p:nvSpPr>
          <p:cNvPr id="9" name="Text 6"/>
          <p:cNvSpPr txBox="1"/>
          <p:nvPr/>
        </p:nvSpPr>
        <p:spPr>
          <a:xfrm>
            <a:off x="5486400" y="3520440"/>
            <a:ext cx="2377440" cy="822960"/>
          </a:xfrm>
          <a:prstGeom prst="rect">
            <a:avLst/>
          </a:prstGeom>
          <a:noFill/>
          <a:ln/>
        </p:spPr>
        <p:txBody>
          <a:bodyPr wrap="square" lIns="0" tIns="0" rIns="0" bIns="0" rtlCol="0" anchor="ctr"/>
          <a:lstStyle/>
          <a:p>
            <a:pPr algn="ctr" indent="0" marL="0">
              <a:buNone/>
            </a:pPr>
            <a:r>
              <a:rPr lang="en-US" sz="1800" b="1" dirty="0">
                <a:solidFill>
                  <a:srgbClr val="0F1341"/>
                </a:solidFill>
                <a:latin typeface="Montserrat" pitchFamily="34" charset="0"/>
                <a:ea typeface="Montserrat" pitchFamily="34" charset="-122"/>
                <a:cs typeface="Montserrat" pitchFamily="34" charset="-120"/>
              </a:rPr>
              <a:t>Artificial</a:t>
            </a:r>
            <a:endParaRPr lang="en-US" sz="1800" dirty="0"/>
          </a:p>
          <a:p>
            <a:pPr algn="ctr" indent="0" marL="0">
              <a:buNone/>
            </a:pPr>
            <a:r>
              <a:rPr lang="en-US" sz="1800" b="1" dirty="0">
                <a:solidFill>
                  <a:srgbClr val="0F1341"/>
                </a:solidFill>
                <a:latin typeface="Montserrat" pitchFamily="34" charset="0"/>
                <a:ea typeface="Montserrat" pitchFamily="34" charset="-122"/>
                <a:cs typeface="Montserrat" pitchFamily="34" charset="-120"/>
              </a:rPr>
              <a:t>Intelligence</a:t>
            </a:r>
            <a:endParaRPr lang="en-US" sz="1800" dirty="0"/>
          </a:p>
        </p:txBody>
      </p:sp>
      <p:sp>
        <p:nvSpPr>
          <p:cNvPr id="10" name="Shape 7"/>
          <p:cNvSpPr/>
          <p:nvPr/>
        </p:nvSpPr>
        <p:spPr>
          <a:xfrm>
            <a:off x="8595360" y="1874520"/>
            <a:ext cx="1280160" cy="274320"/>
          </a:xfrm>
          <a:prstGeom prst="roundRect">
            <a:avLst>
              <a:gd name="adj" fmla="val 26667"/>
            </a:avLst>
          </a:prstGeom>
          <a:solidFill>
            <a:srgbClr val="2E6FBF"/>
          </a:solidFill>
          <a:ln/>
        </p:spPr>
      </p:sp>
      <p:sp>
        <p:nvSpPr>
          <p:cNvPr id="11" name="Text 8"/>
          <p:cNvSpPr txBox="1"/>
          <p:nvPr/>
        </p:nvSpPr>
        <p:spPr>
          <a:xfrm>
            <a:off x="8595360" y="1874520"/>
            <a:ext cx="128016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Montserrat" pitchFamily="34" charset="0"/>
                <a:ea typeface="Montserrat" pitchFamily="34" charset="-122"/>
                <a:cs typeface="Montserrat" pitchFamily="34" charset="-120"/>
              </a:rPr>
              <a:t>HUMAN</a:t>
            </a:r>
            <a:endParaRPr lang="en-US" sz="900" dirty="0"/>
          </a:p>
        </p:txBody>
      </p:sp>
      <p:sp>
        <p:nvSpPr>
          <p:cNvPr id="12" name="Text 9"/>
          <p:cNvSpPr txBox="1"/>
          <p:nvPr/>
        </p:nvSpPr>
        <p:spPr>
          <a:xfrm>
            <a:off x="8595360" y="2258568"/>
            <a:ext cx="3044952" cy="868680"/>
          </a:xfrm>
          <a:prstGeom prst="rect">
            <a:avLst/>
          </a:prstGeom>
          <a:noFill/>
          <a:ln/>
        </p:spPr>
        <p:txBody>
          <a:bodyPr wrap="square" lIns="0" tIns="0" rIns="0" bIns="0" rtlCol="0" anchor="t"/>
          <a:lstStyle/>
          <a:p>
            <a:pPr indent="0" marL="0">
              <a:buNone/>
            </a:pPr>
            <a:r>
              <a:rPr lang="en-US" sz="1300" dirty="0">
                <a:solidFill>
                  <a:srgbClr val="0F1341"/>
                </a:solidFill>
                <a:latin typeface="Montserrat" pitchFamily="34" charset="0"/>
                <a:ea typeface="Montserrat" pitchFamily="34" charset="-122"/>
                <a:cs typeface="Montserrat" pitchFamily="34" charset="-120"/>
              </a:rPr>
              <a:t>Judgement, context, trust, responsibility</a:t>
            </a:r>
            <a:endParaRPr lang="en-US" sz="1300" dirty="0"/>
          </a:p>
        </p:txBody>
      </p:sp>
      <p:sp>
        <p:nvSpPr>
          <p:cNvPr id="13" name="Shape 10"/>
          <p:cNvSpPr/>
          <p:nvPr/>
        </p:nvSpPr>
        <p:spPr>
          <a:xfrm>
            <a:off x="8595360" y="3246120"/>
            <a:ext cx="1280160" cy="274320"/>
          </a:xfrm>
          <a:prstGeom prst="roundRect">
            <a:avLst>
              <a:gd name="adj" fmla="val 26667"/>
            </a:avLst>
          </a:prstGeom>
          <a:solidFill>
            <a:srgbClr val="0F1341"/>
          </a:solidFill>
          <a:ln/>
        </p:spPr>
      </p:sp>
      <p:sp>
        <p:nvSpPr>
          <p:cNvPr id="14" name="Text 11"/>
          <p:cNvSpPr txBox="1"/>
          <p:nvPr/>
        </p:nvSpPr>
        <p:spPr>
          <a:xfrm>
            <a:off x="8595360" y="3246120"/>
            <a:ext cx="128016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Montserrat" pitchFamily="34" charset="0"/>
                <a:ea typeface="Montserrat" pitchFamily="34" charset="-122"/>
                <a:cs typeface="Montserrat" pitchFamily="34" charset="-120"/>
              </a:rPr>
              <a:t>AI</a:t>
            </a:r>
            <a:endParaRPr lang="en-US" sz="900" dirty="0"/>
          </a:p>
        </p:txBody>
      </p:sp>
      <p:sp>
        <p:nvSpPr>
          <p:cNvPr id="15" name="Text 12"/>
          <p:cNvSpPr txBox="1"/>
          <p:nvPr/>
        </p:nvSpPr>
        <p:spPr>
          <a:xfrm>
            <a:off x="8595360" y="3630168"/>
            <a:ext cx="3044952" cy="868680"/>
          </a:xfrm>
          <a:prstGeom prst="rect">
            <a:avLst/>
          </a:prstGeom>
          <a:noFill/>
          <a:ln/>
        </p:spPr>
        <p:txBody>
          <a:bodyPr wrap="square" lIns="0" tIns="0" rIns="0" bIns="0" rtlCol="0" anchor="t"/>
          <a:lstStyle/>
          <a:p>
            <a:pPr indent="0" marL="0">
              <a:buNone/>
            </a:pPr>
            <a:r>
              <a:rPr lang="en-US" sz="1300" dirty="0">
                <a:solidFill>
                  <a:srgbClr val="0F1341"/>
                </a:solidFill>
                <a:latin typeface="Montserrat" pitchFamily="34" charset="0"/>
                <a:ea typeface="Montserrat" pitchFamily="34" charset="-122"/>
                <a:cs typeface="Montserrat" pitchFamily="34" charset="-120"/>
              </a:rPr>
              <a:t>Speed, scale, pattern recognition, tireless testing</a:t>
            </a:r>
            <a:endParaRPr lang="en-US" sz="1300" dirty="0"/>
          </a:p>
        </p:txBody>
      </p:sp>
      <p:sp>
        <p:nvSpPr>
          <p:cNvPr id="16" name="Shape 13"/>
          <p:cNvSpPr/>
          <p:nvPr/>
        </p:nvSpPr>
        <p:spPr>
          <a:xfrm>
            <a:off x="8595360" y="4617720"/>
            <a:ext cx="3044952" cy="274320"/>
          </a:xfrm>
          <a:prstGeom prst="roundRect">
            <a:avLst>
              <a:gd name="adj" fmla="val 26667"/>
            </a:avLst>
          </a:prstGeom>
          <a:solidFill>
            <a:srgbClr val="6A7FA8"/>
          </a:solidFill>
          <a:ln/>
        </p:spPr>
      </p:sp>
      <p:sp>
        <p:nvSpPr>
          <p:cNvPr id="17" name="Text 14"/>
          <p:cNvSpPr txBox="1"/>
          <p:nvPr/>
        </p:nvSpPr>
        <p:spPr>
          <a:xfrm>
            <a:off x="8595360" y="4617720"/>
            <a:ext cx="3044952"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Montserrat" pitchFamily="34" charset="0"/>
                <a:ea typeface="Montserrat" pitchFamily="34" charset="-122"/>
                <a:cs typeface="Montserrat" pitchFamily="34" charset="-120"/>
              </a:rPr>
              <a:t>AUGMENTED — FOUNDERS</a:t>
            </a:r>
            <a:endParaRPr lang="en-US" sz="900" dirty="0"/>
          </a:p>
        </p:txBody>
      </p:sp>
      <p:sp>
        <p:nvSpPr>
          <p:cNvPr id="18" name="Text 15"/>
          <p:cNvSpPr txBox="1"/>
          <p:nvPr/>
        </p:nvSpPr>
        <p:spPr>
          <a:xfrm>
            <a:off x="8595360" y="5001768"/>
            <a:ext cx="3044952" cy="868680"/>
          </a:xfrm>
          <a:prstGeom prst="rect">
            <a:avLst/>
          </a:prstGeom>
          <a:noFill/>
          <a:ln/>
        </p:spPr>
        <p:txBody>
          <a:bodyPr wrap="square" lIns="0" tIns="0" rIns="0" bIns="0" rtlCol="0" anchor="t"/>
          <a:lstStyle/>
          <a:p>
            <a:pPr indent="0" marL="0">
              <a:buNone/>
            </a:pPr>
            <a:r>
              <a:rPr lang="en-US" sz="1300" dirty="0">
                <a:solidFill>
                  <a:srgbClr val="0F1341"/>
                </a:solidFill>
                <a:latin typeface="Montserrat" pitchFamily="34" charset="0"/>
                <a:ea typeface="Montserrat" pitchFamily="34" charset="-122"/>
                <a:cs typeface="Montserrat" pitchFamily="34" charset="-120"/>
              </a:rPr>
              <a:t>A founder who lets AI research, build and test — and keeps judgement on what is worth building.</a:t>
            </a:r>
            <a:endParaRPr lang="en-US" sz="13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3A3"/>
                </a:solidFill>
                <a:latin typeface="Montserrat"/>
                <a:ea typeface="Montserrat"/>
                <a:cs typeface="Montserra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2" type="title" hasCustomPrompt="1"/>
          </p:nvPr>
        </p:nvSpPr>
        <p:spPr>
          <a:xfrm>
            <a:off x="548640" y="502920"/>
            <a:ext cx="7863840" cy="685800"/>
          </a:xfrm>
          <a:prstGeom prst="rect">
            <a:avLst/>
          </a:prstGeom>
          <a:noFill/>
          <a:ln/>
        </p:spPr>
        <p:txBody>
          <a:bodyPr wrap="square" lIns="0" tIns="0" rIns="0" bIns="0" rtlCol="0" anchor="t"/>
          <a:lstStyle/>
          <a:p>
            <a:pPr algn="l" indent="0" marL="0">
              <a:buNone/>
            </a:pPr>
            <a:r>
              <a:rPr lang="en-US" sz="2800" b="1" dirty="0">
                <a:solidFill>
                  <a:srgbClr val="0F1341"/>
                </a:solidFill>
                <a:latin typeface="Montserrat" pitchFamily="34" charset="0"/>
                <a:ea typeface="Montserrat" pitchFamily="34" charset="-122"/>
                <a:cs typeface="Montserrat" pitchFamily="34" charset="-120"/>
              </a:rPr>
              <a:t>Rethinking the path from idea to market</a:t>
            </a:r>
            <a:endParaRPr lang="en-US" sz="2800" dirty="0"/>
          </a:p>
        </p:txBody>
      </p:sp>
      <p:sp>
        <p:nvSpPr>
          <p:cNvPr id="3" name="Text 0"/>
          <p:cNvSpPr/>
          <p:nvPr>
            <p:ph idx="103" type="body" hasCustomPrompt="1"/>
          </p:nvPr>
        </p:nvSpPr>
        <p:spPr>
          <a:xfrm>
            <a:off x="548640" y="1207008"/>
            <a:ext cx="8778240" cy="365760"/>
          </a:xfrm>
          <a:prstGeom prst="rect">
            <a:avLst/>
          </a:prstGeom>
          <a:noFill/>
          <a:ln/>
        </p:spPr>
        <p:txBody>
          <a:bodyPr wrap="square" lIns="0" tIns="0" rIns="0" bIns="0" rtlCol="0" anchor="t"/>
          <a:lstStyle/>
          <a:p>
            <a:pPr algn="l" indent="0" marL="0">
              <a:buNone/>
            </a:pPr>
            <a:r>
              <a:rPr lang="en-US" sz="1300" dirty="0">
                <a:solidFill>
                  <a:srgbClr val="5B6270"/>
                </a:solidFill>
                <a:latin typeface="Montserrat" pitchFamily="34" charset="0"/>
                <a:ea typeface="Montserrat" pitchFamily="34" charset="-122"/>
                <a:cs typeface="Montserrat" pitchFamily="34" charset="-120"/>
              </a:rPr>
              <a:t>How launching a business worked, what AI enables today — and what AI-native means</a:t>
            </a:r>
            <a:endParaRPr lang="en-US" sz="1300" dirty="0"/>
          </a:p>
        </p:txBody>
      </p:sp>
      <p:sp>
        <p:nvSpPr>
          <p:cNvPr id="5" name="Shape 2"/>
          <p:cNvSpPr/>
          <p:nvPr/>
        </p:nvSpPr>
        <p:spPr>
          <a:xfrm>
            <a:off x="2560320" y="1783080"/>
            <a:ext cx="2953512" cy="347472"/>
          </a:xfrm>
          <a:prstGeom prst="roundRect">
            <a:avLst>
              <a:gd name="adj" fmla="val 21053"/>
            </a:avLst>
          </a:prstGeom>
          <a:solidFill>
            <a:srgbClr val="C9D3E3"/>
          </a:solidFill>
          <a:ln/>
        </p:spPr>
      </p:sp>
      <p:sp>
        <p:nvSpPr>
          <p:cNvPr id="6" name="Text 3"/>
          <p:cNvSpPr txBox="1"/>
          <p:nvPr/>
        </p:nvSpPr>
        <p:spPr>
          <a:xfrm>
            <a:off x="2560320" y="1783080"/>
            <a:ext cx="2953512" cy="347472"/>
          </a:xfrm>
          <a:prstGeom prst="rect">
            <a:avLst/>
          </a:prstGeom>
          <a:noFill/>
          <a:ln/>
        </p:spPr>
        <p:txBody>
          <a:bodyPr wrap="square" lIns="0" tIns="0" rIns="0" bIns="0" rtlCol="0" anchor="ctr"/>
          <a:lstStyle/>
          <a:p>
            <a:pPr algn="ctr" indent="0" marL="0">
              <a:buNone/>
            </a:pPr>
            <a:r>
              <a:rPr lang="en-US" sz="1100" b="1" spc="100" kern="0" dirty="0">
                <a:solidFill>
                  <a:srgbClr val="0F1341"/>
                </a:solidFill>
                <a:latin typeface="Montserrat" pitchFamily="34" charset="0"/>
                <a:ea typeface="Montserrat" pitchFamily="34" charset="-122"/>
                <a:cs typeface="Montserrat" pitchFamily="34" charset="-120"/>
              </a:rPr>
              <a:t>BEFORE</a:t>
            </a:r>
            <a:endParaRPr lang="en-US" sz="1100" dirty="0"/>
          </a:p>
        </p:txBody>
      </p:sp>
      <p:sp>
        <p:nvSpPr>
          <p:cNvPr id="7" name="Shape 4"/>
          <p:cNvSpPr/>
          <p:nvPr/>
        </p:nvSpPr>
        <p:spPr>
          <a:xfrm>
            <a:off x="5623560" y="1783080"/>
            <a:ext cx="2953512" cy="347472"/>
          </a:xfrm>
          <a:prstGeom prst="roundRect">
            <a:avLst>
              <a:gd name="adj" fmla="val 21053"/>
            </a:avLst>
          </a:prstGeom>
          <a:solidFill>
            <a:srgbClr val="4A8FDB"/>
          </a:solidFill>
          <a:ln/>
        </p:spPr>
      </p:sp>
      <p:sp>
        <p:nvSpPr>
          <p:cNvPr id="8" name="Text 5"/>
          <p:cNvSpPr txBox="1"/>
          <p:nvPr/>
        </p:nvSpPr>
        <p:spPr>
          <a:xfrm>
            <a:off x="5623560" y="1783080"/>
            <a:ext cx="2953512" cy="347472"/>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Montserrat" pitchFamily="34" charset="0"/>
                <a:ea typeface="Montserrat" pitchFamily="34" charset="-122"/>
                <a:cs typeface="Montserrat" pitchFamily="34" charset="-120"/>
              </a:rPr>
              <a:t>NOW, WITH AI</a:t>
            </a:r>
            <a:endParaRPr lang="en-US" sz="1100" dirty="0"/>
          </a:p>
        </p:txBody>
      </p:sp>
      <p:sp>
        <p:nvSpPr>
          <p:cNvPr id="9" name="Shape 6"/>
          <p:cNvSpPr/>
          <p:nvPr/>
        </p:nvSpPr>
        <p:spPr>
          <a:xfrm>
            <a:off x="8686800" y="1783080"/>
            <a:ext cx="2953512" cy="347472"/>
          </a:xfrm>
          <a:prstGeom prst="roundRect">
            <a:avLst>
              <a:gd name="adj" fmla="val 21053"/>
            </a:avLst>
          </a:prstGeom>
          <a:solidFill>
            <a:srgbClr val="0F1341"/>
          </a:solidFill>
          <a:ln/>
        </p:spPr>
      </p:sp>
      <p:sp>
        <p:nvSpPr>
          <p:cNvPr id="10" name="Text 7"/>
          <p:cNvSpPr txBox="1"/>
          <p:nvPr/>
        </p:nvSpPr>
        <p:spPr>
          <a:xfrm>
            <a:off x="8686800" y="1783080"/>
            <a:ext cx="2953512" cy="347472"/>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Montserrat" pitchFamily="34" charset="0"/>
                <a:ea typeface="Montserrat" pitchFamily="34" charset="-122"/>
                <a:cs typeface="Montserrat" pitchFamily="34" charset="-120"/>
              </a:rPr>
              <a:t>AI-NATIVE</a:t>
            </a:r>
            <a:endParaRPr lang="en-US" sz="1100" dirty="0"/>
          </a:p>
        </p:txBody>
      </p:sp>
      <p:sp>
        <p:nvSpPr>
          <p:cNvPr id="11" name="Text 8"/>
          <p:cNvSpPr txBox="1"/>
          <p:nvPr/>
        </p:nvSpPr>
        <p:spPr>
          <a:xfrm>
            <a:off x="548640" y="2286000"/>
            <a:ext cx="1828800" cy="786384"/>
          </a:xfrm>
          <a:prstGeom prst="rect">
            <a:avLst/>
          </a:prstGeom>
          <a:noFill/>
          <a:ln/>
        </p:spPr>
        <p:txBody>
          <a:bodyPr wrap="square" lIns="0" tIns="0" rIns="0" bIns="0" rtlCol="0" anchor="ctr"/>
          <a:lstStyle/>
          <a:p>
            <a:pPr indent="0" marL="0">
              <a:buNone/>
            </a:pPr>
            <a:r>
              <a:rPr lang="en-US" sz="1400" b="1" dirty="0">
                <a:solidFill>
                  <a:srgbClr val="0F1341"/>
                </a:solidFill>
                <a:latin typeface="Montserrat" pitchFamily="34" charset="0"/>
                <a:ea typeface="Montserrat" pitchFamily="34" charset="-122"/>
                <a:cs typeface="Montserrat" pitchFamily="34" charset="-120"/>
              </a:rPr>
              <a:t>Market research</a:t>
            </a:r>
            <a:endParaRPr lang="en-US" sz="1400" dirty="0"/>
          </a:p>
        </p:txBody>
      </p:sp>
      <p:sp>
        <p:nvSpPr>
          <p:cNvPr id="12" name="Shape 9"/>
          <p:cNvSpPr/>
          <p:nvPr/>
        </p:nvSpPr>
        <p:spPr>
          <a:xfrm>
            <a:off x="2560320" y="2286000"/>
            <a:ext cx="2953512" cy="786384"/>
          </a:xfrm>
          <a:prstGeom prst="roundRect">
            <a:avLst>
              <a:gd name="adj" fmla="val 9302"/>
            </a:avLst>
          </a:prstGeom>
          <a:solidFill>
            <a:srgbClr val="F3F7FC"/>
          </a:solidFill>
          <a:ln/>
        </p:spPr>
      </p:sp>
      <p:sp>
        <p:nvSpPr>
          <p:cNvPr id="13" name="Text 10"/>
          <p:cNvSpPr txBox="1"/>
          <p:nvPr/>
        </p:nvSpPr>
        <p:spPr>
          <a:xfrm>
            <a:off x="2724912" y="2286000"/>
            <a:ext cx="2624328" cy="786384"/>
          </a:xfrm>
          <a:prstGeom prst="rect">
            <a:avLst/>
          </a:prstGeom>
          <a:noFill/>
          <a:ln/>
        </p:spPr>
        <p:txBody>
          <a:bodyPr wrap="square" lIns="0" tIns="0" rIns="0" bIns="0" rtlCol="0" anchor="ctr"/>
          <a:lstStyle/>
          <a:p>
            <a:pPr indent="0" marL="0">
              <a:buNone/>
            </a:pPr>
            <a:r>
              <a:rPr lang="en-US" sz="1250" dirty="0">
                <a:solidFill>
                  <a:srgbClr val="0F1341"/>
                </a:solidFill>
                <a:latin typeface="Montserrat" pitchFamily="34" charset="0"/>
                <a:ea typeface="Montserrat" pitchFamily="34" charset="-122"/>
                <a:cs typeface="Montserrat" pitchFamily="34" charset="-120"/>
              </a:rPr>
              <a:t>Weeks of desk research or an agency</a:t>
            </a:r>
            <a:endParaRPr lang="en-US" sz="1250" dirty="0"/>
          </a:p>
        </p:txBody>
      </p:sp>
      <p:sp>
        <p:nvSpPr>
          <p:cNvPr id="14" name="Shape 11"/>
          <p:cNvSpPr/>
          <p:nvPr/>
        </p:nvSpPr>
        <p:spPr>
          <a:xfrm>
            <a:off x="5623560" y="2286000"/>
            <a:ext cx="2953512" cy="786384"/>
          </a:xfrm>
          <a:prstGeom prst="roundRect">
            <a:avLst>
              <a:gd name="adj" fmla="val 9302"/>
            </a:avLst>
          </a:prstGeom>
          <a:solidFill>
            <a:srgbClr val="D9E8F8"/>
          </a:solidFill>
          <a:ln/>
        </p:spPr>
      </p:sp>
      <p:sp>
        <p:nvSpPr>
          <p:cNvPr id="15" name="Text 12"/>
          <p:cNvSpPr txBox="1"/>
          <p:nvPr/>
        </p:nvSpPr>
        <p:spPr>
          <a:xfrm>
            <a:off x="5788152" y="2286000"/>
            <a:ext cx="2624328" cy="786384"/>
          </a:xfrm>
          <a:prstGeom prst="rect">
            <a:avLst/>
          </a:prstGeom>
          <a:noFill/>
          <a:ln/>
        </p:spPr>
        <p:txBody>
          <a:bodyPr wrap="square" lIns="0" tIns="0" rIns="0" bIns="0" rtlCol="0" anchor="ctr"/>
          <a:lstStyle/>
          <a:p>
            <a:pPr indent="0" marL="0">
              <a:buNone/>
            </a:pPr>
            <a:r>
              <a:rPr lang="en-US" sz="1250" dirty="0">
                <a:solidFill>
                  <a:srgbClr val="0F1341"/>
                </a:solidFill>
                <a:latin typeface="Montserrat" pitchFamily="34" charset="0"/>
                <a:ea typeface="Montserrat" pitchFamily="34" charset="-122"/>
                <a:cs typeface="Montserrat" pitchFamily="34" charset="-120"/>
              </a:rPr>
              <a:t>Research agents read the market in minutes</a:t>
            </a:r>
            <a:endParaRPr lang="en-US" sz="1250" dirty="0"/>
          </a:p>
        </p:txBody>
      </p:sp>
      <p:sp>
        <p:nvSpPr>
          <p:cNvPr id="16" name="Shape 13"/>
          <p:cNvSpPr/>
          <p:nvPr/>
        </p:nvSpPr>
        <p:spPr>
          <a:xfrm>
            <a:off x="8686800" y="2286000"/>
            <a:ext cx="2953512" cy="786384"/>
          </a:xfrm>
          <a:prstGeom prst="roundRect">
            <a:avLst>
              <a:gd name="adj" fmla="val 9302"/>
            </a:avLst>
          </a:prstGeom>
          <a:solidFill>
            <a:srgbClr val="0F1341"/>
          </a:solidFill>
          <a:ln/>
        </p:spPr>
      </p:sp>
      <p:sp>
        <p:nvSpPr>
          <p:cNvPr id="17" name="Text 14"/>
          <p:cNvSpPr txBox="1"/>
          <p:nvPr/>
        </p:nvSpPr>
        <p:spPr>
          <a:xfrm>
            <a:off x="8851392" y="2286000"/>
            <a:ext cx="2624328" cy="786384"/>
          </a:xfrm>
          <a:prstGeom prst="rect">
            <a:avLst/>
          </a:prstGeom>
          <a:noFill/>
          <a:ln/>
        </p:spPr>
        <p:txBody>
          <a:bodyPr wrap="square" lIns="0" tIns="0" rIns="0" bIns="0" rtlCol="0" anchor="ctr"/>
          <a:lstStyle/>
          <a:p>
            <a:pPr indent="0" marL="0">
              <a:buNone/>
            </a:pPr>
            <a:r>
              <a:rPr lang="en-US" sz="1250" b="1" dirty="0">
                <a:solidFill>
                  <a:srgbClr val="FFFFFF"/>
                </a:solidFill>
                <a:latin typeface="Montserrat" pitchFamily="34" charset="0"/>
                <a:ea typeface="Montserrat" pitchFamily="34" charset="-122"/>
                <a:cs typeface="Montserrat" pitchFamily="34" charset="-120"/>
              </a:rPr>
              <a:t>Continuous market sensing — every number tagged with its source</a:t>
            </a:r>
            <a:endParaRPr lang="en-US" sz="1250" dirty="0"/>
          </a:p>
        </p:txBody>
      </p:sp>
      <p:sp>
        <p:nvSpPr>
          <p:cNvPr id="18" name="Text 15"/>
          <p:cNvSpPr txBox="1"/>
          <p:nvPr/>
        </p:nvSpPr>
        <p:spPr>
          <a:xfrm>
            <a:off x="548640" y="3182112"/>
            <a:ext cx="1828800" cy="786384"/>
          </a:xfrm>
          <a:prstGeom prst="rect">
            <a:avLst/>
          </a:prstGeom>
          <a:noFill/>
          <a:ln/>
        </p:spPr>
        <p:txBody>
          <a:bodyPr wrap="square" lIns="0" tIns="0" rIns="0" bIns="0" rtlCol="0" anchor="ctr"/>
          <a:lstStyle/>
          <a:p>
            <a:pPr indent="0" marL="0">
              <a:buNone/>
            </a:pPr>
            <a:r>
              <a:rPr lang="en-US" sz="1400" b="1" dirty="0">
                <a:solidFill>
                  <a:srgbClr val="0F1341"/>
                </a:solidFill>
                <a:latin typeface="Montserrat" pitchFamily="34" charset="0"/>
                <a:ea typeface="Montserrat" pitchFamily="34" charset="-122"/>
                <a:cs typeface="Montserrat" pitchFamily="34" charset="-120"/>
              </a:rPr>
              <a:t>Product</a:t>
            </a:r>
            <a:endParaRPr lang="en-US" sz="1400" dirty="0"/>
          </a:p>
        </p:txBody>
      </p:sp>
      <p:sp>
        <p:nvSpPr>
          <p:cNvPr id="19" name="Shape 16"/>
          <p:cNvSpPr/>
          <p:nvPr/>
        </p:nvSpPr>
        <p:spPr>
          <a:xfrm>
            <a:off x="2560320" y="3182112"/>
            <a:ext cx="2953512" cy="786384"/>
          </a:xfrm>
          <a:prstGeom prst="roundRect">
            <a:avLst>
              <a:gd name="adj" fmla="val 9302"/>
            </a:avLst>
          </a:prstGeom>
          <a:solidFill>
            <a:srgbClr val="F3F7FC"/>
          </a:solidFill>
          <a:ln/>
        </p:spPr>
      </p:sp>
      <p:sp>
        <p:nvSpPr>
          <p:cNvPr id="20" name="Text 17"/>
          <p:cNvSpPr txBox="1"/>
          <p:nvPr/>
        </p:nvSpPr>
        <p:spPr>
          <a:xfrm>
            <a:off x="2724912" y="3182112"/>
            <a:ext cx="2624328" cy="786384"/>
          </a:xfrm>
          <a:prstGeom prst="rect">
            <a:avLst/>
          </a:prstGeom>
          <a:noFill/>
          <a:ln/>
        </p:spPr>
        <p:txBody>
          <a:bodyPr wrap="square" lIns="0" tIns="0" rIns="0" bIns="0" rtlCol="0" anchor="ctr"/>
          <a:lstStyle/>
          <a:p>
            <a:pPr indent="0" marL="0">
              <a:buNone/>
            </a:pPr>
            <a:r>
              <a:rPr lang="en-US" sz="1250" dirty="0">
                <a:solidFill>
                  <a:srgbClr val="0F1341"/>
                </a:solidFill>
                <a:latin typeface="Montserrat" pitchFamily="34" charset="0"/>
                <a:ea typeface="Montserrat" pitchFamily="34" charset="-122"/>
                <a:cs typeface="Montserrat" pitchFamily="34" charset="-120"/>
              </a:rPr>
              <a:t>Months and a dev team for a first prototype</a:t>
            </a:r>
            <a:endParaRPr lang="en-US" sz="1250" dirty="0"/>
          </a:p>
        </p:txBody>
      </p:sp>
      <p:sp>
        <p:nvSpPr>
          <p:cNvPr id="21" name="Shape 18"/>
          <p:cNvSpPr/>
          <p:nvPr/>
        </p:nvSpPr>
        <p:spPr>
          <a:xfrm>
            <a:off x="5623560" y="3182112"/>
            <a:ext cx="2953512" cy="786384"/>
          </a:xfrm>
          <a:prstGeom prst="roundRect">
            <a:avLst>
              <a:gd name="adj" fmla="val 9302"/>
            </a:avLst>
          </a:prstGeom>
          <a:solidFill>
            <a:srgbClr val="D9E8F8"/>
          </a:solidFill>
          <a:ln/>
        </p:spPr>
      </p:sp>
      <p:sp>
        <p:nvSpPr>
          <p:cNvPr id="22" name="Text 19"/>
          <p:cNvSpPr txBox="1"/>
          <p:nvPr/>
        </p:nvSpPr>
        <p:spPr>
          <a:xfrm>
            <a:off x="5788152" y="3182112"/>
            <a:ext cx="2624328" cy="786384"/>
          </a:xfrm>
          <a:prstGeom prst="rect">
            <a:avLst/>
          </a:prstGeom>
          <a:noFill/>
          <a:ln/>
        </p:spPr>
        <p:txBody>
          <a:bodyPr wrap="square" lIns="0" tIns="0" rIns="0" bIns="0" rtlCol="0" anchor="ctr"/>
          <a:lstStyle/>
          <a:p>
            <a:pPr indent="0" marL="0">
              <a:buNone/>
            </a:pPr>
            <a:r>
              <a:rPr lang="en-US" sz="1250" dirty="0">
                <a:solidFill>
                  <a:srgbClr val="0F1341"/>
                </a:solidFill>
                <a:latin typeface="Montserrat" pitchFamily="34" charset="0"/>
                <a:ea typeface="Montserrat" pitchFamily="34" charset="-122"/>
                <a:cs typeface="Montserrat" pitchFamily="34" charset="-120"/>
              </a:rPr>
              <a:t>A working prototype in an afternoon</a:t>
            </a:r>
            <a:endParaRPr lang="en-US" sz="1250" dirty="0"/>
          </a:p>
        </p:txBody>
      </p:sp>
      <p:sp>
        <p:nvSpPr>
          <p:cNvPr id="23" name="Shape 20"/>
          <p:cNvSpPr/>
          <p:nvPr/>
        </p:nvSpPr>
        <p:spPr>
          <a:xfrm>
            <a:off x="8686800" y="3182112"/>
            <a:ext cx="2953512" cy="786384"/>
          </a:xfrm>
          <a:prstGeom prst="roundRect">
            <a:avLst>
              <a:gd name="adj" fmla="val 9302"/>
            </a:avLst>
          </a:prstGeom>
          <a:solidFill>
            <a:srgbClr val="0F1341"/>
          </a:solidFill>
          <a:ln/>
        </p:spPr>
      </p:sp>
      <p:sp>
        <p:nvSpPr>
          <p:cNvPr id="24" name="Text 21"/>
          <p:cNvSpPr txBox="1"/>
          <p:nvPr/>
        </p:nvSpPr>
        <p:spPr>
          <a:xfrm>
            <a:off x="8851392" y="3182112"/>
            <a:ext cx="2624328" cy="786384"/>
          </a:xfrm>
          <a:prstGeom prst="rect">
            <a:avLst/>
          </a:prstGeom>
          <a:noFill/>
          <a:ln/>
        </p:spPr>
        <p:txBody>
          <a:bodyPr wrap="square" lIns="0" tIns="0" rIns="0" bIns="0" rtlCol="0" anchor="ctr"/>
          <a:lstStyle/>
          <a:p>
            <a:pPr indent="0" marL="0">
              <a:buNone/>
            </a:pPr>
            <a:r>
              <a:rPr lang="en-US" sz="1250" b="1" dirty="0">
                <a:solidFill>
                  <a:srgbClr val="FFFFFF"/>
                </a:solidFill>
                <a:latin typeface="Montserrat" pitchFamily="34" charset="0"/>
                <a:ea typeface="Montserrat" pitchFamily="34" charset="-122"/>
                <a:cs typeface="Montserrat" pitchFamily="34" charset="-120"/>
              </a:rPr>
              <a:t>Many prototypes in parallel — each one a test</a:t>
            </a:r>
            <a:endParaRPr lang="en-US" sz="1250" dirty="0"/>
          </a:p>
        </p:txBody>
      </p:sp>
      <p:sp>
        <p:nvSpPr>
          <p:cNvPr id="25" name="Text 22"/>
          <p:cNvSpPr txBox="1"/>
          <p:nvPr/>
        </p:nvSpPr>
        <p:spPr>
          <a:xfrm>
            <a:off x="548640" y="4078224"/>
            <a:ext cx="1828800" cy="786384"/>
          </a:xfrm>
          <a:prstGeom prst="rect">
            <a:avLst/>
          </a:prstGeom>
          <a:noFill/>
          <a:ln/>
        </p:spPr>
        <p:txBody>
          <a:bodyPr wrap="square" lIns="0" tIns="0" rIns="0" bIns="0" rtlCol="0" anchor="ctr"/>
          <a:lstStyle/>
          <a:p>
            <a:pPr indent="0" marL="0">
              <a:buNone/>
            </a:pPr>
            <a:r>
              <a:rPr lang="en-US" sz="1400" b="1" dirty="0">
                <a:solidFill>
                  <a:srgbClr val="0F1341"/>
                </a:solidFill>
                <a:latin typeface="Montserrat" pitchFamily="34" charset="0"/>
                <a:ea typeface="Montserrat" pitchFamily="34" charset="-122"/>
                <a:cs typeface="Montserrat" pitchFamily="34" charset="-120"/>
              </a:rPr>
              <a:t>Marketing</a:t>
            </a:r>
            <a:endParaRPr lang="en-US" sz="1400" dirty="0"/>
          </a:p>
        </p:txBody>
      </p:sp>
      <p:sp>
        <p:nvSpPr>
          <p:cNvPr id="26" name="Shape 23"/>
          <p:cNvSpPr/>
          <p:nvPr/>
        </p:nvSpPr>
        <p:spPr>
          <a:xfrm>
            <a:off x="2560320" y="4078224"/>
            <a:ext cx="2953512" cy="786384"/>
          </a:xfrm>
          <a:prstGeom prst="roundRect">
            <a:avLst>
              <a:gd name="adj" fmla="val 9302"/>
            </a:avLst>
          </a:prstGeom>
          <a:solidFill>
            <a:srgbClr val="F3F7FC"/>
          </a:solidFill>
          <a:ln/>
        </p:spPr>
      </p:sp>
      <p:sp>
        <p:nvSpPr>
          <p:cNvPr id="27" name="Text 24"/>
          <p:cNvSpPr txBox="1"/>
          <p:nvPr/>
        </p:nvSpPr>
        <p:spPr>
          <a:xfrm>
            <a:off x="2724912" y="4078224"/>
            <a:ext cx="2624328" cy="786384"/>
          </a:xfrm>
          <a:prstGeom prst="rect">
            <a:avLst/>
          </a:prstGeom>
          <a:noFill/>
          <a:ln/>
        </p:spPr>
        <p:txBody>
          <a:bodyPr wrap="square" lIns="0" tIns="0" rIns="0" bIns="0" rtlCol="0" anchor="ctr"/>
          <a:lstStyle/>
          <a:p>
            <a:pPr indent="0" marL="0">
              <a:buNone/>
            </a:pPr>
            <a:r>
              <a:rPr lang="en-US" sz="1250" dirty="0">
                <a:solidFill>
                  <a:srgbClr val="0F1341"/>
                </a:solidFill>
                <a:latin typeface="Montserrat" pitchFamily="34" charset="0"/>
                <a:ea typeface="Montserrat" pitchFamily="34" charset="-122"/>
                <a:cs typeface="Montserrat" pitchFamily="34" charset="-120"/>
              </a:rPr>
              <a:t>One campaign, launched and hoped for</a:t>
            </a:r>
            <a:endParaRPr lang="en-US" sz="1250" dirty="0"/>
          </a:p>
        </p:txBody>
      </p:sp>
      <p:sp>
        <p:nvSpPr>
          <p:cNvPr id="28" name="Shape 25"/>
          <p:cNvSpPr/>
          <p:nvPr/>
        </p:nvSpPr>
        <p:spPr>
          <a:xfrm>
            <a:off x="5623560" y="4078224"/>
            <a:ext cx="2953512" cy="786384"/>
          </a:xfrm>
          <a:prstGeom prst="roundRect">
            <a:avLst>
              <a:gd name="adj" fmla="val 9302"/>
            </a:avLst>
          </a:prstGeom>
          <a:solidFill>
            <a:srgbClr val="D9E8F8"/>
          </a:solidFill>
          <a:ln/>
        </p:spPr>
      </p:sp>
      <p:sp>
        <p:nvSpPr>
          <p:cNvPr id="29" name="Text 26"/>
          <p:cNvSpPr txBox="1"/>
          <p:nvPr/>
        </p:nvSpPr>
        <p:spPr>
          <a:xfrm>
            <a:off x="5788152" y="4078224"/>
            <a:ext cx="2624328" cy="786384"/>
          </a:xfrm>
          <a:prstGeom prst="rect">
            <a:avLst/>
          </a:prstGeom>
          <a:noFill/>
          <a:ln/>
        </p:spPr>
        <p:txBody>
          <a:bodyPr wrap="square" lIns="0" tIns="0" rIns="0" bIns="0" rtlCol="0" anchor="ctr"/>
          <a:lstStyle/>
          <a:p>
            <a:pPr indent="0" marL="0">
              <a:buNone/>
            </a:pPr>
            <a:r>
              <a:rPr lang="en-US" sz="1250" dirty="0">
                <a:solidFill>
                  <a:srgbClr val="0F1341"/>
                </a:solidFill>
                <a:latin typeface="Montserrat" pitchFamily="34" charset="0"/>
                <a:ea typeface="Montserrat" pitchFamily="34" charset="-122"/>
                <a:cs typeface="Montserrat" pitchFamily="34" charset="-120"/>
              </a:rPr>
              <a:t>Ten AI-generated variants instead of one</a:t>
            </a:r>
            <a:endParaRPr lang="en-US" sz="1250" dirty="0"/>
          </a:p>
        </p:txBody>
      </p:sp>
      <p:sp>
        <p:nvSpPr>
          <p:cNvPr id="30" name="Shape 27"/>
          <p:cNvSpPr/>
          <p:nvPr/>
        </p:nvSpPr>
        <p:spPr>
          <a:xfrm>
            <a:off x="8686800" y="4078224"/>
            <a:ext cx="2953512" cy="786384"/>
          </a:xfrm>
          <a:prstGeom prst="roundRect">
            <a:avLst>
              <a:gd name="adj" fmla="val 9302"/>
            </a:avLst>
          </a:prstGeom>
          <a:solidFill>
            <a:srgbClr val="0F1341"/>
          </a:solidFill>
          <a:ln/>
        </p:spPr>
      </p:sp>
      <p:sp>
        <p:nvSpPr>
          <p:cNvPr id="31" name="Text 28"/>
          <p:cNvSpPr txBox="1"/>
          <p:nvPr/>
        </p:nvSpPr>
        <p:spPr>
          <a:xfrm>
            <a:off x="8851392" y="4078224"/>
            <a:ext cx="2624328" cy="786384"/>
          </a:xfrm>
          <a:prstGeom prst="rect">
            <a:avLst/>
          </a:prstGeom>
          <a:noFill/>
          <a:ln/>
        </p:spPr>
        <p:txBody>
          <a:bodyPr wrap="square" lIns="0" tIns="0" rIns="0" bIns="0" rtlCol="0" anchor="ctr"/>
          <a:lstStyle/>
          <a:p>
            <a:pPr indent="0" marL="0">
              <a:buNone/>
            </a:pPr>
            <a:r>
              <a:rPr lang="en-US" sz="1250" b="1" dirty="0">
                <a:solidFill>
                  <a:srgbClr val="FFFFFF"/>
                </a:solidFill>
                <a:latin typeface="Montserrat" pitchFamily="34" charset="0"/>
                <a:ea typeface="Montserrat" pitchFamily="34" charset="-122"/>
                <a:cs typeface="Montserrat" pitchFamily="34" charset="-120"/>
              </a:rPr>
              <a:t>Autonomous experiments, measured live</a:t>
            </a:r>
            <a:endParaRPr lang="en-US" sz="1250" dirty="0"/>
          </a:p>
        </p:txBody>
      </p:sp>
      <p:sp>
        <p:nvSpPr>
          <p:cNvPr id="32" name="Text 29"/>
          <p:cNvSpPr txBox="1"/>
          <p:nvPr/>
        </p:nvSpPr>
        <p:spPr>
          <a:xfrm>
            <a:off x="548640" y="4974336"/>
            <a:ext cx="1828800" cy="786384"/>
          </a:xfrm>
          <a:prstGeom prst="rect">
            <a:avLst/>
          </a:prstGeom>
          <a:noFill/>
          <a:ln/>
        </p:spPr>
        <p:txBody>
          <a:bodyPr wrap="square" lIns="0" tIns="0" rIns="0" bIns="0" rtlCol="0" anchor="ctr"/>
          <a:lstStyle/>
          <a:p>
            <a:pPr indent="0" marL="0">
              <a:buNone/>
            </a:pPr>
            <a:r>
              <a:rPr lang="en-US" sz="1400" b="1" dirty="0">
                <a:solidFill>
                  <a:srgbClr val="0F1341"/>
                </a:solidFill>
                <a:latin typeface="Montserrat" pitchFamily="34" charset="0"/>
                <a:ea typeface="Montserrat" pitchFamily="34" charset="-122"/>
                <a:cs typeface="Montserrat" pitchFamily="34" charset="-120"/>
              </a:rPr>
              <a:t>Decision</a:t>
            </a:r>
            <a:endParaRPr lang="en-US" sz="1400" dirty="0"/>
          </a:p>
        </p:txBody>
      </p:sp>
      <p:sp>
        <p:nvSpPr>
          <p:cNvPr id="33" name="Shape 30"/>
          <p:cNvSpPr/>
          <p:nvPr/>
        </p:nvSpPr>
        <p:spPr>
          <a:xfrm>
            <a:off x="2560320" y="4974336"/>
            <a:ext cx="2953512" cy="786384"/>
          </a:xfrm>
          <a:prstGeom prst="roundRect">
            <a:avLst>
              <a:gd name="adj" fmla="val 9302"/>
            </a:avLst>
          </a:prstGeom>
          <a:solidFill>
            <a:srgbClr val="F3F7FC"/>
          </a:solidFill>
          <a:ln/>
        </p:spPr>
      </p:sp>
      <p:sp>
        <p:nvSpPr>
          <p:cNvPr id="34" name="Text 31"/>
          <p:cNvSpPr txBox="1"/>
          <p:nvPr/>
        </p:nvSpPr>
        <p:spPr>
          <a:xfrm>
            <a:off x="2724912" y="4974336"/>
            <a:ext cx="2624328" cy="786384"/>
          </a:xfrm>
          <a:prstGeom prst="rect">
            <a:avLst/>
          </a:prstGeom>
          <a:noFill/>
          <a:ln/>
        </p:spPr>
        <p:txBody>
          <a:bodyPr wrap="square" lIns="0" tIns="0" rIns="0" bIns="0" rtlCol="0" anchor="ctr"/>
          <a:lstStyle/>
          <a:p>
            <a:pPr indent="0" marL="0">
              <a:buNone/>
            </a:pPr>
            <a:r>
              <a:rPr lang="en-US" sz="1250" dirty="0">
                <a:solidFill>
                  <a:srgbClr val="0F1341"/>
                </a:solidFill>
                <a:latin typeface="Montserrat" pitchFamily="34" charset="0"/>
                <a:ea typeface="Montserrat" pitchFamily="34" charset="-122"/>
                <a:cs typeface="Montserrat" pitchFamily="34" charset="-120"/>
              </a:rPr>
              <a:t>Gut feeling and a pitch deck</a:t>
            </a:r>
            <a:endParaRPr lang="en-US" sz="1250" dirty="0"/>
          </a:p>
        </p:txBody>
      </p:sp>
      <p:sp>
        <p:nvSpPr>
          <p:cNvPr id="35" name="Shape 32"/>
          <p:cNvSpPr/>
          <p:nvPr/>
        </p:nvSpPr>
        <p:spPr>
          <a:xfrm>
            <a:off x="5623560" y="4974336"/>
            <a:ext cx="2953512" cy="786384"/>
          </a:xfrm>
          <a:prstGeom prst="roundRect">
            <a:avLst>
              <a:gd name="adj" fmla="val 9302"/>
            </a:avLst>
          </a:prstGeom>
          <a:solidFill>
            <a:srgbClr val="D9E8F8"/>
          </a:solidFill>
          <a:ln/>
        </p:spPr>
      </p:sp>
      <p:sp>
        <p:nvSpPr>
          <p:cNvPr id="36" name="Text 33"/>
          <p:cNvSpPr txBox="1"/>
          <p:nvPr/>
        </p:nvSpPr>
        <p:spPr>
          <a:xfrm>
            <a:off x="5788152" y="4974336"/>
            <a:ext cx="2624328" cy="786384"/>
          </a:xfrm>
          <a:prstGeom prst="rect">
            <a:avLst/>
          </a:prstGeom>
          <a:noFill/>
          <a:ln/>
        </p:spPr>
        <p:txBody>
          <a:bodyPr wrap="square" lIns="0" tIns="0" rIns="0" bIns="0" rtlCol="0" anchor="ctr"/>
          <a:lstStyle/>
          <a:p>
            <a:pPr indent="0" marL="0">
              <a:buNone/>
            </a:pPr>
            <a:r>
              <a:rPr lang="en-US" sz="1250" dirty="0">
                <a:solidFill>
                  <a:srgbClr val="0F1341"/>
                </a:solidFill>
                <a:latin typeface="Montserrat" pitchFamily="34" charset="0"/>
                <a:ea typeface="Montserrat" pitchFamily="34" charset="-122"/>
                <a:cs typeface="Montserrat" pitchFamily="34" charset="-120"/>
              </a:rPr>
              <a:t>An AI-written business plan</a:t>
            </a:r>
            <a:endParaRPr lang="en-US" sz="1250" dirty="0"/>
          </a:p>
        </p:txBody>
      </p:sp>
      <p:sp>
        <p:nvSpPr>
          <p:cNvPr id="37" name="Shape 34"/>
          <p:cNvSpPr/>
          <p:nvPr/>
        </p:nvSpPr>
        <p:spPr>
          <a:xfrm>
            <a:off x="8686800" y="4974336"/>
            <a:ext cx="2953512" cy="786384"/>
          </a:xfrm>
          <a:prstGeom prst="roundRect">
            <a:avLst>
              <a:gd name="adj" fmla="val 9302"/>
            </a:avLst>
          </a:prstGeom>
          <a:solidFill>
            <a:srgbClr val="0F1341"/>
          </a:solidFill>
          <a:ln/>
        </p:spPr>
      </p:sp>
      <p:sp>
        <p:nvSpPr>
          <p:cNvPr id="38" name="Text 35"/>
          <p:cNvSpPr txBox="1"/>
          <p:nvPr/>
        </p:nvSpPr>
        <p:spPr>
          <a:xfrm>
            <a:off x="8851392" y="4974336"/>
            <a:ext cx="2624328" cy="786384"/>
          </a:xfrm>
          <a:prstGeom prst="rect">
            <a:avLst/>
          </a:prstGeom>
          <a:noFill/>
          <a:ln/>
        </p:spPr>
        <p:txBody>
          <a:bodyPr wrap="square" lIns="0" tIns="0" rIns="0" bIns="0" rtlCol="0" anchor="ctr"/>
          <a:lstStyle/>
          <a:p>
            <a:pPr indent="0" marL="0">
              <a:buNone/>
            </a:pPr>
            <a:r>
              <a:rPr lang="en-US" sz="1250" b="1" dirty="0">
                <a:solidFill>
                  <a:srgbClr val="FFFFFF"/>
                </a:solidFill>
                <a:latin typeface="Montserrat" pitchFamily="34" charset="0"/>
                <a:ea typeface="Montserrat" pitchFamily="34" charset="-122"/>
                <a:cs typeface="Montserrat" pitchFamily="34" charset="-120"/>
              </a:rPr>
              <a:t>Evidence-weighted: go, iterate or stop</a:t>
            </a:r>
            <a:endParaRPr lang="en-US" sz="1250" dirty="0"/>
          </a:p>
        </p:txBody>
      </p:sp>
      <p:sp>
        <p:nvSpPr>
          <p:cNvPr id="39" name="Text 36"/>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100" i="1" dirty="0">
                <a:solidFill>
                  <a:srgbClr val="5B6270"/>
                </a:solidFill>
                <a:latin typeface="Montserrat" pitchFamily="34" charset="0"/>
                <a:ea typeface="Montserrat" pitchFamily="34" charset="-122"/>
                <a:cs typeface="Montserrat" pitchFamily="34" charset="-120"/>
              </a:rPr>
              <a:t>The trap in the middle column: AI makes it easy to produce a convincing plan — not a validated one.</a:t>
            </a:r>
            <a:endParaRPr lang="en-US" sz="11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3A3"/>
                </a:solidFill>
                <a:latin typeface="Montserrat"/>
                <a:ea typeface="Montserrat"/>
                <a:cs typeface="Montserra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2" type="title" hasCustomPrompt="1"/>
          </p:nvPr>
        </p:nvSpPr>
        <p:spPr>
          <a:xfrm>
            <a:off x="548640" y="502920"/>
            <a:ext cx="7863840" cy="685800"/>
          </a:xfrm>
          <a:prstGeom prst="rect">
            <a:avLst/>
          </a:prstGeom>
          <a:noFill/>
          <a:ln/>
        </p:spPr>
        <p:txBody>
          <a:bodyPr wrap="square" lIns="0" tIns="0" rIns="0" bIns="0" rtlCol="0" anchor="t"/>
          <a:lstStyle/>
          <a:p>
            <a:pPr algn="l" indent="0" marL="0">
              <a:buNone/>
            </a:pPr>
            <a:r>
              <a:rPr lang="en-US" sz="2800" b="1" dirty="0">
                <a:solidFill>
                  <a:srgbClr val="0F1341"/>
                </a:solidFill>
                <a:latin typeface="Montserrat" pitchFamily="34" charset="0"/>
                <a:ea typeface="Montserrat" pitchFamily="34" charset="-122"/>
                <a:cs typeface="Montserrat" pitchFamily="34" charset="-120"/>
              </a:rPr>
              <a:t>What we mean by “AI-native”</a:t>
            </a:r>
            <a:endParaRPr lang="en-US" sz="2800" dirty="0"/>
          </a:p>
        </p:txBody>
      </p:sp>
      <p:sp>
        <p:nvSpPr>
          <p:cNvPr id="3" name="Text 0"/>
          <p:cNvSpPr/>
          <p:nvPr>
            <p:ph idx="103" type="body" hasCustomPrompt="1"/>
          </p:nvPr>
        </p:nvSpPr>
        <p:spPr>
          <a:xfrm>
            <a:off x="548640" y="1207008"/>
            <a:ext cx="8778240" cy="365760"/>
          </a:xfrm>
          <a:prstGeom prst="rect">
            <a:avLst/>
          </a:prstGeom>
          <a:noFill/>
          <a:ln/>
        </p:spPr>
        <p:txBody>
          <a:bodyPr wrap="square" lIns="0" tIns="0" rIns="0" bIns="0" rtlCol="0" anchor="t"/>
          <a:lstStyle/>
          <a:p>
            <a:pPr algn="l" indent="0" marL="0">
              <a:buNone/>
            </a:pPr>
            <a:r>
              <a:rPr lang="en-US" sz="1300" dirty="0">
                <a:solidFill>
                  <a:srgbClr val="5B6270"/>
                </a:solidFill>
                <a:latin typeface="Montserrat" pitchFamily="34" charset="0"/>
                <a:ea typeface="Montserrat" pitchFamily="34" charset="-122"/>
                <a:cs typeface="Montserrat" pitchFamily="34" charset="-120"/>
              </a:rPr>
              <a:t>AI-native is not using more AI tools — it is building the company around them</a:t>
            </a:r>
            <a:endParaRPr lang="en-US" sz="1300" dirty="0"/>
          </a:p>
        </p:txBody>
      </p:sp>
      <p:sp>
        <p:nvSpPr>
          <p:cNvPr id="5" name="Shape 2"/>
          <p:cNvSpPr/>
          <p:nvPr/>
        </p:nvSpPr>
        <p:spPr>
          <a:xfrm>
            <a:off x="548640" y="1783080"/>
            <a:ext cx="5120640" cy="1691640"/>
          </a:xfrm>
          <a:prstGeom prst="roundRect">
            <a:avLst>
              <a:gd name="adj" fmla="val 4324"/>
            </a:avLst>
          </a:prstGeom>
          <a:solidFill>
            <a:srgbClr val="F3F7FC"/>
          </a:solidFill>
          <a:ln/>
        </p:spPr>
      </p:sp>
      <p:sp>
        <p:nvSpPr>
          <p:cNvPr id="6" name="Shape 3"/>
          <p:cNvSpPr/>
          <p:nvPr/>
        </p:nvSpPr>
        <p:spPr>
          <a:xfrm>
            <a:off x="777240" y="1965960"/>
            <a:ext cx="1554480" cy="274320"/>
          </a:xfrm>
          <a:prstGeom prst="roundRect">
            <a:avLst>
              <a:gd name="adj" fmla="val 26667"/>
            </a:avLst>
          </a:prstGeom>
          <a:solidFill>
            <a:srgbClr val="C9D3E3"/>
          </a:solidFill>
          <a:ln/>
        </p:spPr>
      </p:sp>
      <p:sp>
        <p:nvSpPr>
          <p:cNvPr id="7" name="Text 4"/>
          <p:cNvSpPr txBox="1"/>
          <p:nvPr/>
        </p:nvSpPr>
        <p:spPr>
          <a:xfrm>
            <a:off x="777240" y="1965960"/>
            <a:ext cx="1554480" cy="274320"/>
          </a:xfrm>
          <a:prstGeom prst="rect">
            <a:avLst/>
          </a:prstGeom>
          <a:noFill/>
          <a:ln/>
        </p:spPr>
        <p:txBody>
          <a:bodyPr wrap="square" lIns="0" tIns="0" rIns="0" bIns="0" rtlCol="0" anchor="ctr"/>
          <a:lstStyle/>
          <a:p>
            <a:pPr algn="ctr" indent="0" marL="0">
              <a:buNone/>
            </a:pPr>
            <a:r>
              <a:rPr lang="en-US" sz="900" b="1" spc="100" kern="0" dirty="0">
                <a:solidFill>
                  <a:srgbClr val="0F1341"/>
                </a:solidFill>
                <a:latin typeface="Montserrat" pitchFamily="34" charset="0"/>
                <a:ea typeface="Montserrat" pitchFamily="34" charset="-122"/>
                <a:cs typeface="Montserrat" pitchFamily="34" charset="-120"/>
              </a:rPr>
              <a:t>AI-ENABLED</a:t>
            </a:r>
            <a:endParaRPr lang="en-US" sz="900" dirty="0"/>
          </a:p>
        </p:txBody>
      </p:sp>
      <p:sp>
        <p:nvSpPr>
          <p:cNvPr id="8" name="Text 5"/>
          <p:cNvSpPr txBox="1"/>
          <p:nvPr/>
        </p:nvSpPr>
        <p:spPr>
          <a:xfrm>
            <a:off x="777240" y="2331720"/>
            <a:ext cx="4754880" cy="365760"/>
          </a:xfrm>
          <a:prstGeom prst="rect">
            <a:avLst/>
          </a:prstGeom>
          <a:noFill/>
          <a:ln/>
        </p:spPr>
        <p:txBody>
          <a:bodyPr wrap="square" lIns="0" tIns="0" rIns="0" bIns="0" rtlCol="0" anchor="t"/>
          <a:lstStyle/>
          <a:p>
            <a:pPr indent="0" marL="0">
              <a:buNone/>
            </a:pPr>
            <a:r>
              <a:rPr lang="en-US" sz="1500" b="1" dirty="0">
                <a:solidFill>
                  <a:srgbClr val="0F1341"/>
                </a:solidFill>
                <a:latin typeface="Montserrat" pitchFamily="34" charset="0"/>
                <a:ea typeface="Montserrat" pitchFamily="34" charset="-122"/>
                <a:cs typeface="Montserrat" pitchFamily="34" charset="-120"/>
              </a:rPr>
              <a:t>The old process, plus an AI tool</a:t>
            </a:r>
            <a:endParaRPr lang="en-US" sz="1500" dirty="0"/>
          </a:p>
        </p:txBody>
      </p:sp>
      <p:sp>
        <p:nvSpPr>
          <p:cNvPr id="9" name="Text 6"/>
          <p:cNvSpPr txBox="1"/>
          <p:nvPr/>
        </p:nvSpPr>
        <p:spPr>
          <a:xfrm>
            <a:off x="777240" y="2724912"/>
            <a:ext cx="4754880" cy="685800"/>
          </a:xfrm>
          <a:prstGeom prst="rect">
            <a:avLst/>
          </a:prstGeom>
          <a:noFill/>
          <a:ln/>
        </p:spPr>
        <p:txBody>
          <a:bodyPr wrap="square" lIns="0" tIns="0" rIns="0" bIns="0" rtlCol="0" anchor="t"/>
          <a:lstStyle/>
          <a:p>
            <a:pPr indent="0" marL="0">
              <a:buNone/>
            </a:pPr>
            <a:r>
              <a:rPr lang="en-US" sz="1200" dirty="0">
                <a:solidFill>
                  <a:srgbClr val="5B6270"/>
                </a:solidFill>
                <a:latin typeface="Montserrat" pitchFamily="34" charset="0"/>
                <a:ea typeface="Montserrat" pitchFamily="34" charset="-122"/>
                <a:cs typeface="Montserrat" pitchFamily="34" charset="-120"/>
              </a:rPr>
              <a:t>ChatGPT writes the pitch deck, the copy and the business plan. The steps and the decisions stay the same — just faster.</a:t>
            </a:r>
            <a:endParaRPr lang="en-US" sz="1200" dirty="0"/>
          </a:p>
        </p:txBody>
      </p:sp>
      <p:sp>
        <p:nvSpPr>
          <p:cNvPr id="10" name="Shape 7"/>
          <p:cNvSpPr/>
          <p:nvPr/>
        </p:nvSpPr>
        <p:spPr>
          <a:xfrm>
            <a:off x="548640" y="3657600"/>
            <a:ext cx="5120640" cy="1874520"/>
          </a:xfrm>
          <a:prstGeom prst="roundRect">
            <a:avLst>
              <a:gd name="adj" fmla="val 3902"/>
            </a:avLst>
          </a:prstGeom>
          <a:solidFill>
            <a:srgbClr val="0F1341"/>
          </a:solidFill>
          <a:ln/>
        </p:spPr>
      </p:sp>
      <p:sp>
        <p:nvSpPr>
          <p:cNvPr id="11" name="Shape 8"/>
          <p:cNvSpPr/>
          <p:nvPr/>
        </p:nvSpPr>
        <p:spPr>
          <a:xfrm>
            <a:off x="777240" y="3840480"/>
            <a:ext cx="1554480" cy="274320"/>
          </a:xfrm>
          <a:prstGeom prst="roundRect">
            <a:avLst>
              <a:gd name="adj" fmla="val 26667"/>
            </a:avLst>
          </a:prstGeom>
          <a:solidFill>
            <a:srgbClr val="4A8FDB"/>
          </a:solidFill>
          <a:ln/>
        </p:spPr>
      </p:sp>
      <p:sp>
        <p:nvSpPr>
          <p:cNvPr id="12" name="Text 9"/>
          <p:cNvSpPr txBox="1"/>
          <p:nvPr/>
        </p:nvSpPr>
        <p:spPr>
          <a:xfrm>
            <a:off x="777240" y="3840480"/>
            <a:ext cx="155448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Montserrat" pitchFamily="34" charset="0"/>
                <a:ea typeface="Montserrat" pitchFamily="34" charset="-122"/>
                <a:cs typeface="Montserrat" pitchFamily="34" charset="-120"/>
              </a:rPr>
              <a:t>AI-NATIVE</a:t>
            </a:r>
            <a:endParaRPr lang="en-US" sz="900" dirty="0"/>
          </a:p>
        </p:txBody>
      </p:sp>
      <p:sp>
        <p:nvSpPr>
          <p:cNvPr id="13" name="Text 10"/>
          <p:cNvSpPr txBox="1"/>
          <p:nvPr/>
        </p:nvSpPr>
        <p:spPr>
          <a:xfrm>
            <a:off x="777240" y="4206240"/>
            <a:ext cx="4754880" cy="594360"/>
          </a:xfrm>
          <a:prstGeom prst="rect">
            <a:avLst/>
          </a:prstGeom>
          <a:noFill/>
          <a:ln/>
        </p:spPr>
        <p:txBody>
          <a:bodyPr wrap="square" lIns="0" tIns="0" rIns="0" bIns="0" rtlCol="0" anchor="t"/>
          <a:lstStyle/>
          <a:p>
            <a:pPr indent="0" marL="0">
              <a:buNone/>
            </a:pPr>
            <a:r>
              <a:rPr lang="en-US" sz="1500" b="1" dirty="0">
                <a:solidFill>
                  <a:srgbClr val="FFFFFF"/>
                </a:solidFill>
                <a:latin typeface="Montserrat" pitchFamily="34" charset="0"/>
                <a:ea typeface="Montserrat" pitchFamily="34" charset="-122"/>
                <a:cs typeface="Montserrat" pitchFamily="34" charset="-120"/>
              </a:rPr>
              <a:t>The process redesigned around what AI makes cheap</a:t>
            </a:r>
            <a:endParaRPr lang="en-US" sz="1500" dirty="0"/>
          </a:p>
        </p:txBody>
      </p:sp>
      <p:sp>
        <p:nvSpPr>
          <p:cNvPr id="14" name="Text 11"/>
          <p:cNvSpPr txBox="1"/>
          <p:nvPr/>
        </p:nvSpPr>
        <p:spPr>
          <a:xfrm>
            <a:off x="777240" y="4800600"/>
            <a:ext cx="4754880" cy="685800"/>
          </a:xfrm>
          <a:prstGeom prst="rect">
            <a:avLst/>
          </a:prstGeom>
          <a:noFill/>
          <a:ln/>
        </p:spPr>
        <p:txBody>
          <a:bodyPr wrap="square" lIns="0" tIns="0" rIns="0" bIns="0" rtlCol="0" anchor="t"/>
          <a:lstStyle/>
          <a:p>
            <a:pPr indent="0" marL="0">
              <a:buNone/>
            </a:pPr>
            <a:r>
              <a:rPr lang="en-US" sz="1200" dirty="0">
                <a:solidFill>
                  <a:srgbClr val="C9D3E3"/>
                </a:solidFill>
                <a:latin typeface="Montserrat" pitchFamily="34" charset="0"/>
                <a:ea typeface="Montserrat" pitchFamily="34" charset="-122"/>
                <a:cs typeface="Montserrat" pitchFamily="34" charset="-120"/>
              </a:rPr>
              <a:t>Agents research, build and test continuously; founders set hypotheses and decide on evidence. Small teams do what took 20 people.</a:t>
            </a:r>
            <a:endParaRPr lang="en-US" sz="1200" dirty="0"/>
          </a:p>
        </p:txBody>
      </p:sp>
      <p:sp>
        <p:nvSpPr>
          <p:cNvPr id="15" name="Shape 12"/>
          <p:cNvSpPr/>
          <p:nvPr/>
        </p:nvSpPr>
        <p:spPr>
          <a:xfrm>
            <a:off x="6035040" y="1892808"/>
            <a:ext cx="548640" cy="548640"/>
          </a:xfrm>
          <a:prstGeom prst="ellipse">
            <a:avLst/>
          </a:prstGeom>
          <a:solidFill>
            <a:srgbClr val="D9E8F8"/>
          </a:solidFill>
          <a:ln/>
        </p:spPr>
      </p:sp>
      <p:pic>
        <p:nvPicPr>
          <p:cNvPr id="16" name="Image 0" descr="preencoded.png">    </p:cNvPr>
          <p:cNvPicPr>
            <a:picLocks noChangeAspect="1"/>
          </p:cNvPicPr>
          <p:nvPr/>
        </p:nvPicPr>
        <p:blipFill>
          <a:blip r:embed="rId1"/>
          <a:stretch>
            <a:fillRect/>
          </a:stretch>
        </p:blipFill>
        <p:spPr>
          <a:xfrm>
            <a:off x="6163056" y="2020824"/>
            <a:ext cx="292608" cy="292608"/>
          </a:xfrm>
          <a:prstGeom prst="rect">
            <a:avLst/>
          </a:prstGeom>
        </p:spPr>
      </p:pic>
      <p:sp>
        <p:nvSpPr>
          <p:cNvPr id="17" name="Text 13"/>
          <p:cNvSpPr txBox="1"/>
          <p:nvPr/>
        </p:nvSpPr>
        <p:spPr>
          <a:xfrm>
            <a:off x="6766560" y="1828800"/>
            <a:ext cx="4873752" cy="329184"/>
          </a:xfrm>
          <a:prstGeom prst="rect">
            <a:avLst/>
          </a:prstGeom>
          <a:noFill/>
          <a:ln/>
        </p:spPr>
        <p:txBody>
          <a:bodyPr wrap="square" lIns="0" tIns="0" rIns="0" bIns="0" rtlCol="0" anchor="t"/>
          <a:lstStyle/>
          <a:p>
            <a:pPr indent="0" marL="0">
              <a:buNone/>
            </a:pPr>
            <a:r>
              <a:rPr lang="en-US" sz="1400" b="1" dirty="0">
                <a:solidFill>
                  <a:srgbClr val="0F1341"/>
                </a:solidFill>
                <a:latin typeface="Montserrat" pitchFamily="34" charset="0"/>
                <a:ea typeface="Montserrat" pitchFamily="34" charset="-122"/>
                <a:cs typeface="Montserrat" pitchFamily="34" charset="-120"/>
              </a:rPr>
              <a:t>Agents do the work, humans set direction</a:t>
            </a:r>
            <a:endParaRPr lang="en-US" sz="1400" dirty="0"/>
          </a:p>
        </p:txBody>
      </p:sp>
      <p:sp>
        <p:nvSpPr>
          <p:cNvPr id="18" name="Text 14"/>
          <p:cNvSpPr txBox="1"/>
          <p:nvPr/>
        </p:nvSpPr>
        <p:spPr>
          <a:xfrm>
            <a:off x="6766560" y="2167128"/>
            <a:ext cx="4873752" cy="502920"/>
          </a:xfrm>
          <a:prstGeom prst="rect">
            <a:avLst/>
          </a:prstGeom>
          <a:noFill/>
          <a:ln/>
        </p:spPr>
        <p:txBody>
          <a:bodyPr wrap="square" lIns="0" tIns="0" rIns="0" bIns="0" rtlCol="0" anchor="t"/>
          <a:lstStyle/>
          <a:p>
            <a:pPr indent="0" marL="0">
              <a:buNone/>
            </a:pPr>
            <a:r>
              <a:rPr lang="en-US" sz="1200" dirty="0">
                <a:solidFill>
                  <a:srgbClr val="5B6270"/>
                </a:solidFill>
                <a:latin typeface="Montserrat" pitchFamily="34" charset="0"/>
                <a:ea typeface="Montserrat" pitchFamily="34" charset="-122"/>
                <a:cs typeface="Montserrat" pitchFamily="34" charset="-120"/>
              </a:rPr>
              <a:t>Founders choose what to test — agents research, build and run it</a:t>
            </a:r>
            <a:endParaRPr lang="en-US" sz="1200" dirty="0"/>
          </a:p>
        </p:txBody>
      </p:sp>
      <p:sp>
        <p:nvSpPr>
          <p:cNvPr id="19" name="Shape 15"/>
          <p:cNvSpPr/>
          <p:nvPr/>
        </p:nvSpPr>
        <p:spPr>
          <a:xfrm>
            <a:off x="6035040" y="2843784"/>
            <a:ext cx="548640" cy="548640"/>
          </a:xfrm>
          <a:prstGeom prst="ellipse">
            <a:avLst/>
          </a:prstGeom>
          <a:solidFill>
            <a:srgbClr val="D9E8F8"/>
          </a:solidFill>
          <a:ln/>
        </p:spPr>
      </p:sp>
      <p:pic>
        <p:nvPicPr>
          <p:cNvPr id="20" name="Image 1" descr="preencoded.png">    </p:cNvPr>
          <p:cNvPicPr>
            <a:picLocks noChangeAspect="1"/>
          </p:cNvPicPr>
          <p:nvPr/>
        </p:nvPicPr>
        <p:blipFill>
          <a:blip r:embed="rId2"/>
          <a:stretch>
            <a:fillRect/>
          </a:stretch>
        </p:blipFill>
        <p:spPr>
          <a:xfrm>
            <a:off x="6163056" y="2971800"/>
            <a:ext cx="292608" cy="292608"/>
          </a:xfrm>
          <a:prstGeom prst="rect">
            <a:avLst/>
          </a:prstGeom>
        </p:spPr>
      </p:pic>
      <p:sp>
        <p:nvSpPr>
          <p:cNvPr id="21" name="Text 16"/>
          <p:cNvSpPr txBox="1"/>
          <p:nvPr/>
        </p:nvSpPr>
        <p:spPr>
          <a:xfrm>
            <a:off x="6766560" y="2779776"/>
            <a:ext cx="4873752" cy="329184"/>
          </a:xfrm>
          <a:prstGeom prst="rect">
            <a:avLst/>
          </a:prstGeom>
          <a:noFill/>
          <a:ln/>
        </p:spPr>
        <p:txBody>
          <a:bodyPr wrap="square" lIns="0" tIns="0" rIns="0" bIns="0" rtlCol="0" anchor="t"/>
          <a:lstStyle/>
          <a:p>
            <a:pPr indent="0" marL="0">
              <a:buNone/>
            </a:pPr>
            <a:r>
              <a:rPr lang="en-US" sz="1400" b="1" dirty="0">
                <a:solidFill>
                  <a:srgbClr val="0F1341"/>
                </a:solidFill>
                <a:latin typeface="Montserrat" pitchFamily="34" charset="0"/>
                <a:ea typeface="Montserrat" pitchFamily="34" charset="-122"/>
                <a:cs typeface="Montserrat" pitchFamily="34" charset="-120"/>
              </a:rPr>
              <a:t>Every decision is a hypothesis</a:t>
            </a:r>
            <a:endParaRPr lang="en-US" sz="1400" dirty="0"/>
          </a:p>
        </p:txBody>
      </p:sp>
      <p:sp>
        <p:nvSpPr>
          <p:cNvPr id="22" name="Text 17"/>
          <p:cNvSpPr txBox="1"/>
          <p:nvPr/>
        </p:nvSpPr>
        <p:spPr>
          <a:xfrm>
            <a:off x="6766560" y="3118104"/>
            <a:ext cx="4873752" cy="502920"/>
          </a:xfrm>
          <a:prstGeom prst="rect">
            <a:avLst/>
          </a:prstGeom>
          <a:noFill/>
          <a:ln/>
        </p:spPr>
        <p:txBody>
          <a:bodyPr wrap="square" lIns="0" tIns="0" rIns="0" bIns="0" rtlCol="0" anchor="t"/>
          <a:lstStyle/>
          <a:p>
            <a:pPr indent="0" marL="0">
              <a:buNone/>
            </a:pPr>
            <a:r>
              <a:rPr lang="en-US" sz="1200" dirty="0">
                <a:solidFill>
                  <a:srgbClr val="5B6270"/>
                </a:solidFill>
                <a:latin typeface="Montserrat" pitchFamily="34" charset="0"/>
                <a:ea typeface="Montserrat" pitchFamily="34" charset="-122"/>
                <a:cs typeface="Montserrat" pitchFamily="34" charset="-120"/>
              </a:rPr>
              <a:t>“Students will pay €60 a year” is an assumption with a kill criterion</a:t>
            </a:r>
            <a:endParaRPr lang="en-US" sz="1200" dirty="0"/>
          </a:p>
        </p:txBody>
      </p:sp>
      <p:sp>
        <p:nvSpPr>
          <p:cNvPr id="23" name="Shape 18"/>
          <p:cNvSpPr/>
          <p:nvPr/>
        </p:nvSpPr>
        <p:spPr>
          <a:xfrm>
            <a:off x="6035040" y="3794760"/>
            <a:ext cx="548640" cy="548640"/>
          </a:xfrm>
          <a:prstGeom prst="ellipse">
            <a:avLst/>
          </a:prstGeom>
          <a:solidFill>
            <a:srgbClr val="D9E8F8"/>
          </a:solidFill>
          <a:ln/>
        </p:spPr>
      </p:sp>
      <p:pic>
        <p:nvPicPr>
          <p:cNvPr id="24" name="Image 2" descr="preencoded.png">    </p:cNvPr>
          <p:cNvPicPr>
            <a:picLocks noChangeAspect="1"/>
          </p:cNvPicPr>
          <p:nvPr/>
        </p:nvPicPr>
        <p:blipFill>
          <a:blip r:embed="rId3"/>
          <a:stretch>
            <a:fillRect/>
          </a:stretch>
        </p:blipFill>
        <p:spPr>
          <a:xfrm>
            <a:off x="6163056" y="3922776"/>
            <a:ext cx="292608" cy="292608"/>
          </a:xfrm>
          <a:prstGeom prst="rect">
            <a:avLst/>
          </a:prstGeom>
        </p:spPr>
      </p:pic>
      <p:sp>
        <p:nvSpPr>
          <p:cNvPr id="25" name="Text 19"/>
          <p:cNvSpPr txBox="1"/>
          <p:nvPr/>
        </p:nvSpPr>
        <p:spPr>
          <a:xfrm>
            <a:off x="6766560" y="3730752"/>
            <a:ext cx="4873752" cy="329184"/>
          </a:xfrm>
          <a:prstGeom prst="rect">
            <a:avLst/>
          </a:prstGeom>
          <a:noFill/>
          <a:ln/>
        </p:spPr>
        <p:txBody>
          <a:bodyPr wrap="square" lIns="0" tIns="0" rIns="0" bIns="0" rtlCol="0" anchor="t"/>
          <a:lstStyle/>
          <a:p>
            <a:pPr indent="0" marL="0">
              <a:buNone/>
            </a:pPr>
            <a:r>
              <a:rPr lang="en-US" sz="1400" b="1" dirty="0">
                <a:solidFill>
                  <a:srgbClr val="0F1341"/>
                </a:solidFill>
                <a:latin typeface="Montserrat" pitchFamily="34" charset="0"/>
                <a:ea typeface="Montserrat" pitchFamily="34" charset="-122"/>
                <a:cs typeface="Montserrat" pitchFamily="34" charset="-120"/>
              </a:rPr>
              <a:t>Every loop makes the system smarter</a:t>
            </a:r>
            <a:endParaRPr lang="en-US" sz="1400" dirty="0"/>
          </a:p>
        </p:txBody>
      </p:sp>
      <p:sp>
        <p:nvSpPr>
          <p:cNvPr id="26" name="Text 20"/>
          <p:cNvSpPr txBox="1"/>
          <p:nvPr/>
        </p:nvSpPr>
        <p:spPr>
          <a:xfrm>
            <a:off x="6766560" y="4069080"/>
            <a:ext cx="4873752" cy="502920"/>
          </a:xfrm>
          <a:prstGeom prst="rect">
            <a:avLst/>
          </a:prstGeom>
          <a:noFill/>
          <a:ln/>
        </p:spPr>
        <p:txBody>
          <a:bodyPr wrap="square" lIns="0" tIns="0" rIns="0" bIns="0" rtlCol="0" anchor="t"/>
          <a:lstStyle/>
          <a:p>
            <a:pPr indent="0" marL="0">
              <a:buNone/>
            </a:pPr>
            <a:r>
              <a:rPr lang="en-US" sz="1200" dirty="0">
                <a:solidFill>
                  <a:srgbClr val="5B6270"/>
                </a:solidFill>
                <a:latin typeface="Montserrat" pitchFamily="34" charset="0"/>
                <a:ea typeface="Montserrat" pitchFamily="34" charset="-122"/>
                <a:cs typeface="Montserrat" pitchFamily="34" charset="-120"/>
              </a:rPr>
              <a:t>Each experiment sharpens the next — learning compounds</a:t>
            </a:r>
            <a:endParaRPr lang="en-US" sz="1200" dirty="0"/>
          </a:p>
        </p:txBody>
      </p:sp>
      <p:sp>
        <p:nvSpPr>
          <p:cNvPr id="27" name="Shape 21"/>
          <p:cNvSpPr/>
          <p:nvPr/>
        </p:nvSpPr>
        <p:spPr>
          <a:xfrm>
            <a:off x="6035040" y="4745736"/>
            <a:ext cx="548640" cy="548640"/>
          </a:xfrm>
          <a:prstGeom prst="ellipse">
            <a:avLst/>
          </a:prstGeom>
          <a:solidFill>
            <a:srgbClr val="D9E8F8"/>
          </a:solidFill>
          <a:ln/>
        </p:spPr>
      </p:sp>
      <p:pic>
        <p:nvPicPr>
          <p:cNvPr id="28" name="Image 3" descr="preencoded.png">    </p:cNvPr>
          <p:cNvPicPr>
            <a:picLocks noChangeAspect="1"/>
          </p:cNvPicPr>
          <p:nvPr/>
        </p:nvPicPr>
        <p:blipFill>
          <a:blip r:embed="rId4"/>
          <a:stretch>
            <a:fillRect/>
          </a:stretch>
        </p:blipFill>
        <p:spPr>
          <a:xfrm>
            <a:off x="6163056" y="4873752"/>
            <a:ext cx="292608" cy="292608"/>
          </a:xfrm>
          <a:prstGeom prst="rect">
            <a:avLst/>
          </a:prstGeom>
        </p:spPr>
      </p:pic>
      <p:sp>
        <p:nvSpPr>
          <p:cNvPr id="29" name="Text 22"/>
          <p:cNvSpPr txBox="1"/>
          <p:nvPr/>
        </p:nvSpPr>
        <p:spPr>
          <a:xfrm>
            <a:off x="6766560" y="4681728"/>
            <a:ext cx="4873752" cy="329184"/>
          </a:xfrm>
          <a:prstGeom prst="rect">
            <a:avLst/>
          </a:prstGeom>
          <a:noFill/>
          <a:ln/>
        </p:spPr>
        <p:txBody>
          <a:bodyPr wrap="square" lIns="0" tIns="0" rIns="0" bIns="0" rtlCol="0" anchor="t"/>
          <a:lstStyle/>
          <a:p>
            <a:pPr indent="0" marL="0">
              <a:buNone/>
            </a:pPr>
            <a:r>
              <a:rPr lang="en-US" sz="1400" b="1" dirty="0">
                <a:solidFill>
                  <a:srgbClr val="0F1341"/>
                </a:solidFill>
                <a:latin typeface="Montserrat" pitchFamily="34" charset="0"/>
                <a:ea typeface="Montserrat" pitchFamily="34" charset="-122"/>
                <a:cs typeface="Montserrat" pitchFamily="34" charset="-120"/>
              </a:rPr>
              <a:t>Evidence beats opinion</a:t>
            </a:r>
            <a:endParaRPr lang="en-US" sz="1400" dirty="0"/>
          </a:p>
        </p:txBody>
      </p:sp>
      <p:sp>
        <p:nvSpPr>
          <p:cNvPr id="30" name="Text 23"/>
          <p:cNvSpPr txBox="1"/>
          <p:nvPr/>
        </p:nvSpPr>
        <p:spPr>
          <a:xfrm>
            <a:off x="6766560" y="5020056"/>
            <a:ext cx="4873752" cy="502920"/>
          </a:xfrm>
          <a:prstGeom prst="rect">
            <a:avLst/>
          </a:prstGeom>
          <a:noFill/>
          <a:ln/>
        </p:spPr>
        <p:txBody>
          <a:bodyPr wrap="square" lIns="0" tIns="0" rIns="0" bIns="0" rtlCol="0" anchor="t"/>
          <a:lstStyle/>
          <a:p>
            <a:pPr indent="0" marL="0">
              <a:buNone/>
            </a:pPr>
            <a:r>
              <a:rPr lang="en-US" sz="1200" dirty="0">
                <a:solidFill>
                  <a:srgbClr val="5B6270"/>
                </a:solidFill>
                <a:latin typeface="Montserrat" pitchFamily="34" charset="0"/>
                <a:ea typeface="Montserrat" pitchFamily="34" charset="-122"/>
                <a:cs typeface="Montserrat" pitchFamily="34" charset="-120"/>
              </a:rPr>
              <a:t>A click, sign-up or payment outweighs any AI-generated forecast</a:t>
            </a:r>
            <a:endParaRPr lang="en-US" sz="1200" dirty="0"/>
          </a:p>
        </p:txBody>
      </p:sp>
      <p:sp>
        <p:nvSpPr>
          <p:cNvPr id="31" name="Shape 24"/>
          <p:cNvSpPr/>
          <p:nvPr/>
        </p:nvSpPr>
        <p:spPr>
          <a:xfrm>
            <a:off x="548640" y="5669280"/>
            <a:ext cx="11091672" cy="502920"/>
          </a:xfrm>
          <a:prstGeom prst="roundRect">
            <a:avLst>
              <a:gd name="adj" fmla="val 14545"/>
            </a:avLst>
          </a:prstGeom>
          <a:solidFill>
            <a:srgbClr val="0F1341"/>
          </a:solidFill>
          <a:ln/>
        </p:spPr>
      </p:sp>
      <p:sp>
        <p:nvSpPr>
          <p:cNvPr id="32" name="Text 25"/>
          <p:cNvSpPr txBox="1"/>
          <p:nvPr/>
        </p:nvSpPr>
        <p:spPr>
          <a:xfrm>
            <a:off x="777240" y="5669280"/>
            <a:ext cx="10698480" cy="502920"/>
          </a:xfrm>
          <a:prstGeom prst="rect">
            <a:avLst/>
          </a:prstGeom>
          <a:noFill/>
          <a:ln/>
        </p:spPr>
        <p:txBody>
          <a:bodyPr wrap="square" lIns="0" tIns="0" rIns="0" bIns="0" rtlCol="0" anchor="ctr"/>
          <a:lstStyle/>
          <a:p>
            <a:pPr indent="0" marL="0">
              <a:buNone/>
            </a:pPr>
            <a:r>
              <a:rPr lang="en-US" sz="1300" b="1" dirty="0">
                <a:solidFill>
                  <a:srgbClr val="4A8FDB"/>
                </a:solidFill>
                <a:latin typeface="Montserrat" pitchFamily="34" charset="0"/>
                <a:ea typeface="Montserrat" pitchFamily="34" charset="-122"/>
                <a:cs typeface="Montserrat" pitchFamily="34" charset="-120"/>
              </a:rPr>
              <a:t>In one line: </a:t>
            </a:r>
            <a:pPr indent="0" marL="0">
              <a:buNone/>
            </a:pPr>
            <a:r>
              <a:rPr lang="en-US" sz="1300" dirty="0">
                <a:solidFill>
                  <a:srgbClr val="FFFFFF"/>
                </a:solidFill>
                <a:latin typeface="Montserrat" pitchFamily="34" charset="0"/>
                <a:ea typeface="Montserrat" pitchFamily="34" charset="-122"/>
                <a:cs typeface="Montserrat" pitchFamily="34" charset="-120"/>
              </a:rPr>
              <a:t>an AI-native company does not just generate answers faster — it tests its assumptions faster than anyone else.</a:t>
            </a:r>
            <a:endParaRPr lang="en-US" sz="13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3A3"/>
                </a:solidFill>
                <a:latin typeface="Montserrat"/>
                <a:ea typeface="Montserrat"/>
                <a:cs typeface="Montserra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2" type="title" hasCustomPrompt="1"/>
          </p:nvPr>
        </p:nvSpPr>
        <p:spPr>
          <a:xfrm>
            <a:off x="548640" y="502920"/>
            <a:ext cx="7863840" cy="685800"/>
          </a:xfrm>
          <a:prstGeom prst="rect">
            <a:avLst/>
          </a:prstGeom>
          <a:noFill/>
          <a:ln/>
        </p:spPr>
        <p:txBody>
          <a:bodyPr wrap="square" lIns="0" tIns="0" rIns="0" bIns="0" rtlCol="0" anchor="t"/>
          <a:lstStyle/>
          <a:p>
            <a:pPr algn="l" indent="0" marL="0">
              <a:buNone/>
            </a:pPr>
            <a:r>
              <a:rPr lang="en-US" sz="2800" b="1" dirty="0">
                <a:solidFill>
                  <a:srgbClr val="0F1341"/>
                </a:solidFill>
                <a:latin typeface="Montserrat" pitchFamily="34" charset="0"/>
                <a:ea typeface="Montserrat" pitchFamily="34" charset="-122"/>
                <a:cs typeface="Montserrat" pitchFamily="34" charset="-120"/>
              </a:rPr>
              <a:t>Can AI quantify a business opportunity?</a:t>
            </a:r>
            <a:endParaRPr lang="en-US" sz="2800" dirty="0"/>
          </a:p>
        </p:txBody>
      </p:sp>
      <p:sp>
        <p:nvSpPr>
          <p:cNvPr id="3" name="Text 0"/>
          <p:cNvSpPr/>
          <p:nvPr>
            <p:ph idx="103" type="body" hasCustomPrompt="1"/>
          </p:nvPr>
        </p:nvSpPr>
        <p:spPr>
          <a:xfrm>
            <a:off x="548640" y="1207008"/>
            <a:ext cx="8778240" cy="365760"/>
          </a:xfrm>
          <a:prstGeom prst="rect">
            <a:avLst/>
          </a:prstGeom>
          <a:noFill/>
          <a:ln/>
        </p:spPr>
        <p:txBody>
          <a:bodyPr wrap="square" lIns="0" tIns="0" rIns="0" bIns="0" rtlCol="0" anchor="t"/>
          <a:lstStyle/>
          <a:p>
            <a:pPr algn="l" indent="0" marL="0">
              <a:buNone/>
            </a:pPr>
            <a:r>
              <a:rPr lang="en-US" sz="1300" dirty="0">
                <a:solidFill>
                  <a:srgbClr val="5B6270"/>
                </a:solidFill>
                <a:latin typeface="Montserrat" pitchFamily="34" charset="0"/>
                <a:ea typeface="Montserrat" pitchFamily="34" charset="-122"/>
                <a:cs typeface="Montserrat" pitchFamily="34" charset="-120"/>
              </a:rPr>
              <a:t>Yes — and it will happily invent the numbers. Label every one.</a:t>
            </a:r>
            <a:endParaRPr lang="en-US" sz="1300" dirty="0"/>
          </a:p>
        </p:txBody>
      </p:sp>
      <p:sp>
        <p:nvSpPr>
          <p:cNvPr id="5" name="Shape 2"/>
          <p:cNvSpPr/>
          <p:nvPr/>
        </p:nvSpPr>
        <p:spPr>
          <a:xfrm>
            <a:off x="548640" y="1783080"/>
            <a:ext cx="3840480" cy="274320"/>
          </a:xfrm>
          <a:prstGeom prst="roundRect">
            <a:avLst>
              <a:gd name="adj" fmla="val 26667"/>
            </a:avLst>
          </a:prstGeom>
          <a:solidFill>
            <a:srgbClr val="C9D3E3"/>
          </a:solidFill>
          <a:ln/>
        </p:spPr>
      </p:sp>
      <p:sp>
        <p:nvSpPr>
          <p:cNvPr id="6" name="Text 3"/>
          <p:cNvSpPr txBox="1"/>
          <p:nvPr/>
        </p:nvSpPr>
        <p:spPr>
          <a:xfrm>
            <a:off x="548640" y="1783080"/>
            <a:ext cx="3840480" cy="274320"/>
          </a:xfrm>
          <a:prstGeom prst="rect">
            <a:avLst/>
          </a:prstGeom>
          <a:noFill/>
          <a:ln/>
        </p:spPr>
        <p:txBody>
          <a:bodyPr wrap="square" lIns="0" tIns="0" rIns="0" bIns="0" rtlCol="0" anchor="ctr"/>
          <a:lstStyle/>
          <a:p>
            <a:pPr algn="ctr" indent="0" marL="0">
              <a:buNone/>
            </a:pPr>
            <a:r>
              <a:rPr lang="en-US" sz="900" b="1" spc="100" kern="0" dirty="0">
                <a:solidFill>
                  <a:srgbClr val="0F1341"/>
                </a:solidFill>
                <a:latin typeface="Montserrat" pitchFamily="34" charset="0"/>
                <a:ea typeface="Montserrat" pitchFamily="34" charset="-122"/>
                <a:cs typeface="Montserrat" pitchFamily="34" charset="-120"/>
              </a:rPr>
              <a:t>ILLUSTRATIVE — NOT VERIFIED MARKET DATA</a:t>
            </a:r>
            <a:endParaRPr lang="en-US" sz="900" dirty="0"/>
          </a:p>
        </p:txBody>
      </p:sp>
      <p:sp>
        <p:nvSpPr>
          <p:cNvPr id="7" name="Text 4"/>
          <p:cNvSpPr txBox="1"/>
          <p:nvPr/>
        </p:nvSpPr>
        <p:spPr>
          <a:xfrm>
            <a:off x="548640" y="2240280"/>
            <a:ext cx="1600200" cy="548640"/>
          </a:xfrm>
          <a:prstGeom prst="rect">
            <a:avLst/>
          </a:prstGeom>
          <a:noFill/>
          <a:ln/>
        </p:spPr>
        <p:txBody>
          <a:bodyPr wrap="square" lIns="0" tIns="0" rIns="0" bIns="0" rtlCol="0" anchor="t"/>
          <a:lstStyle/>
          <a:p>
            <a:pPr indent="0" marL="0">
              <a:buNone/>
            </a:pPr>
            <a:r>
              <a:rPr lang="en-US" sz="2400" b="1" dirty="0">
                <a:solidFill>
                  <a:srgbClr val="0F1341"/>
                </a:solidFill>
                <a:latin typeface="Montserrat" pitchFamily="34" charset="0"/>
                <a:ea typeface="Montserrat" pitchFamily="34" charset="-122"/>
                <a:cs typeface="Montserrat" pitchFamily="34" charset="-120"/>
              </a:rPr>
              <a:t>20,000</a:t>
            </a:r>
            <a:endParaRPr lang="en-US" sz="2400" dirty="0"/>
          </a:p>
        </p:txBody>
      </p:sp>
      <p:sp>
        <p:nvSpPr>
          <p:cNvPr id="8" name="Text 5"/>
          <p:cNvSpPr txBox="1"/>
          <p:nvPr/>
        </p:nvSpPr>
        <p:spPr>
          <a:xfrm>
            <a:off x="548640" y="2788920"/>
            <a:ext cx="1600200" cy="274320"/>
          </a:xfrm>
          <a:prstGeom prst="rect">
            <a:avLst/>
          </a:prstGeom>
          <a:noFill/>
          <a:ln/>
        </p:spPr>
        <p:txBody>
          <a:bodyPr wrap="square" lIns="0" tIns="0" rIns="0" bIns="0" rtlCol="0" anchor="t"/>
          <a:lstStyle/>
          <a:p>
            <a:pPr indent="0" marL="0">
              <a:buNone/>
            </a:pPr>
            <a:r>
              <a:rPr lang="en-US" sz="1100" dirty="0">
                <a:solidFill>
                  <a:srgbClr val="5B6270"/>
                </a:solidFill>
                <a:latin typeface="Montserrat" pitchFamily="34" charset="0"/>
                <a:ea typeface="Montserrat" pitchFamily="34" charset="-122"/>
                <a:cs typeface="Montserrat" pitchFamily="34" charset="-120"/>
              </a:rPr>
              <a:t>potential customers</a:t>
            </a:r>
            <a:endParaRPr lang="en-US" sz="1100" dirty="0"/>
          </a:p>
        </p:txBody>
      </p:sp>
      <p:sp>
        <p:nvSpPr>
          <p:cNvPr id="9" name="Text 6"/>
          <p:cNvSpPr txBox="1"/>
          <p:nvPr/>
        </p:nvSpPr>
        <p:spPr>
          <a:xfrm>
            <a:off x="2029968" y="2286000"/>
            <a:ext cx="320040" cy="457200"/>
          </a:xfrm>
          <a:prstGeom prst="rect">
            <a:avLst/>
          </a:prstGeom>
          <a:noFill/>
          <a:ln/>
        </p:spPr>
        <p:txBody>
          <a:bodyPr wrap="square" lIns="0" tIns="0" rIns="0" bIns="0" rtlCol="0" anchor="t"/>
          <a:lstStyle/>
          <a:p>
            <a:pPr algn="ctr" indent="0" marL="0">
              <a:buNone/>
            </a:pPr>
            <a:r>
              <a:rPr lang="en-US" sz="2000" dirty="0">
                <a:solidFill>
                  <a:srgbClr val="8A93A3"/>
                </a:solidFill>
                <a:latin typeface="Montserrat" pitchFamily="34" charset="0"/>
                <a:ea typeface="Montserrat" pitchFamily="34" charset="-122"/>
                <a:cs typeface="Montserrat" pitchFamily="34" charset="-120"/>
              </a:rPr>
              <a:t>×</a:t>
            </a:r>
            <a:endParaRPr lang="en-US" sz="2000" dirty="0"/>
          </a:p>
        </p:txBody>
      </p:sp>
      <p:sp>
        <p:nvSpPr>
          <p:cNvPr id="10" name="Text 7"/>
          <p:cNvSpPr txBox="1"/>
          <p:nvPr/>
        </p:nvSpPr>
        <p:spPr>
          <a:xfrm>
            <a:off x="2377440" y="2240280"/>
            <a:ext cx="1600200" cy="548640"/>
          </a:xfrm>
          <a:prstGeom prst="rect">
            <a:avLst/>
          </a:prstGeom>
          <a:noFill/>
          <a:ln/>
        </p:spPr>
        <p:txBody>
          <a:bodyPr wrap="square" lIns="0" tIns="0" rIns="0" bIns="0" rtlCol="0" anchor="t"/>
          <a:lstStyle/>
          <a:p>
            <a:pPr indent="0" marL="0">
              <a:buNone/>
            </a:pPr>
            <a:r>
              <a:rPr lang="en-US" sz="2400" b="1" dirty="0">
                <a:solidFill>
                  <a:srgbClr val="0F1341"/>
                </a:solidFill>
                <a:latin typeface="Montserrat" pitchFamily="34" charset="0"/>
                <a:ea typeface="Montserrat" pitchFamily="34" charset="-122"/>
                <a:cs typeface="Montserrat" pitchFamily="34" charset="-120"/>
              </a:rPr>
              <a:t>5%</a:t>
            </a:r>
            <a:endParaRPr lang="en-US" sz="2400" dirty="0"/>
          </a:p>
        </p:txBody>
      </p:sp>
      <p:sp>
        <p:nvSpPr>
          <p:cNvPr id="11" name="Text 8"/>
          <p:cNvSpPr txBox="1"/>
          <p:nvPr/>
        </p:nvSpPr>
        <p:spPr>
          <a:xfrm>
            <a:off x="2377440" y="2788920"/>
            <a:ext cx="1600200" cy="274320"/>
          </a:xfrm>
          <a:prstGeom prst="rect">
            <a:avLst/>
          </a:prstGeom>
          <a:noFill/>
          <a:ln/>
        </p:spPr>
        <p:txBody>
          <a:bodyPr wrap="square" lIns="0" tIns="0" rIns="0" bIns="0" rtlCol="0" anchor="t"/>
          <a:lstStyle/>
          <a:p>
            <a:pPr indent="0" marL="0">
              <a:buNone/>
            </a:pPr>
            <a:r>
              <a:rPr lang="en-US" sz="1100" dirty="0">
                <a:solidFill>
                  <a:srgbClr val="5B6270"/>
                </a:solidFill>
                <a:latin typeface="Montserrat" pitchFamily="34" charset="0"/>
                <a:ea typeface="Montserrat" pitchFamily="34" charset="-122"/>
                <a:cs typeface="Montserrat" pitchFamily="34" charset="-120"/>
              </a:rPr>
              <a:t>assumed conversion</a:t>
            </a:r>
            <a:endParaRPr lang="en-US" sz="1100" dirty="0"/>
          </a:p>
        </p:txBody>
      </p:sp>
      <p:sp>
        <p:nvSpPr>
          <p:cNvPr id="12" name="Text 9"/>
          <p:cNvSpPr txBox="1"/>
          <p:nvPr/>
        </p:nvSpPr>
        <p:spPr>
          <a:xfrm>
            <a:off x="3858768" y="2286000"/>
            <a:ext cx="320040" cy="457200"/>
          </a:xfrm>
          <a:prstGeom prst="rect">
            <a:avLst/>
          </a:prstGeom>
          <a:noFill/>
          <a:ln/>
        </p:spPr>
        <p:txBody>
          <a:bodyPr wrap="square" lIns="0" tIns="0" rIns="0" bIns="0" rtlCol="0" anchor="t"/>
          <a:lstStyle/>
          <a:p>
            <a:pPr algn="ctr" indent="0" marL="0">
              <a:buNone/>
            </a:pPr>
            <a:r>
              <a:rPr lang="en-US" sz="2000" dirty="0">
                <a:solidFill>
                  <a:srgbClr val="8A93A3"/>
                </a:solidFill>
                <a:latin typeface="Montserrat" pitchFamily="34" charset="0"/>
                <a:ea typeface="Montserrat" pitchFamily="34" charset="-122"/>
                <a:cs typeface="Montserrat" pitchFamily="34" charset="-120"/>
              </a:rPr>
              <a:t>×</a:t>
            </a:r>
            <a:endParaRPr lang="en-US" sz="2000" dirty="0"/>
          </a:p>
        </p:txBody>
      </p:sp>
      <p:sp>
        <p:nvSpPr>
          <p:cNvPr id="13" name="Text 10"/>
          <p:cNvSpPr txBox="1"/>
          <p:nvPr/>
        </p:nvSpPr>
        <p:spPr>
          <a:xfrm>
            <a:off x="4206240" y="2240280"/>
            <a:ext cx="1600200" cy="548640"/>
          </a:xfrm>
          <a:prstGeom prst="rect">
            <a:avLst/>
          </a:prstGeom>
          <a:noFill/>
          <a:ln/>
        </p:spPr>
        <p:txBody>
          <a:bodyPr wrap="square" lIns="0" tIns="0" rIns="0" bIns="0" rtlCol="0" anchor="t"/>
          <a:lstStyle/>
          <a:p>
            <a:pPr indent="0" marL="0">
              <a:buNone/>
            </a:pPr>
            <a:r>
              <a:rPr lang="en-US" sz="2400" b="1" dirty="0">
                <a:solidFill>
                  <a:srgbClr val="0F1341"/>
                </a:solidFill>
                <a:latin typeface="Montserrat" pitchFamily="34" charset="0"/>
                <a:ea typeface="Montserrat" pitchFamily="34" charset="-122"/>
                <a:cs typeface="Montserrat" pitchFamily="34" charset="-120"/>
              </a:rPr>
              <a:t>€60</a:t>
            </a:r>
            <a:endParaRPr lang="en-US" sz="2400" dirty="0"/>
          </a:p>
        </p:txBody>
      </p:sp>
      <p:sp>
        <p:nvSpPr>
          <p:cNvPr id="14" name="Text 11"/>
          <p:cNvSpPr txBox="1"/>
          <p:nvPr/>
        </p:nvSpPr>
        <p:spPr>
          <a:xfrm>
            <a:off x="4206240" y="2788920"/>
            <a:ext cx="1600200" cy="274320"/>
          </a:xfrm>
          <a:prstGeom prst="rect">
            <a:avLst/>
          </a:prstGeom>
          <a:noFill/>
          <a:ln/>
        </p:spPr>
        <p:txBody>
          <a:bodyPr wrap="square" lIns="0" tIns="0" rIns="0" bIns="0" rtlCol="0" anchor="t"/>
          <a:lstStyle/>
          <a:p>
            <a:pPr indent="0" marL="0">
              <a:buNone/>
            </a:pPr>
            <a:r>
              <a:rPr lang="en-US" sz="1100" dirty="0">
                <a:solidFill>
                  <a:srgbClr val="5B6270"/>
                </a:solidFill>
                <a:latin typeface="Montserrat" pitchFamily="34" charset="0"/>
                <a:ea typeface="Montserrat" pitchFamily="34" charset="-122"/>
                <a:cs typeface="Montserrat" pitchFamily="34" charset="-120"/>
              </a:rPr>
              <a:t>annual price</a:t>
            </a:r>
            <a:endParaRPr lang="en-US" sz="1100" dirty="0"/>
          </a:p>
        </p:txBody>
      </p:sp>
      <p:sp>
        <p:nvSpPr>
          <p:cNvPr id="15" name="Text 12"/>
          <p:cNvSpPr txBox="1"/>
          <p:nvPr/>
        </p:nvSpPr>
        <p:spPr>
          <a:xfrm>
            <a:off x="5687568" y="2286000"/>
            <a:ext cx="320040" cy="457200"/>
          </a:xfrm>
          <a:prstGeom prst="rect">
            <a:avLst/>
          </a:prstGeom>
          <a:noFill/>
          <a:ln/>
        </p:spPr>
        <p:txBody>
          <a:bodyPr wrap="square" lIns="0" tIns="0" rIns="0" bIns="0" rtlCol="0" anchor="t"/>
          <a:lstStyle/>
          <a:p>
            <a:pPr algn="ctr" indent="0" marL="0">
              <a:buNone/>
            </a:pPr>
            <a:r>
              <a:rPr lang="en-US" sz="2000" dirty="0">
                <a:solidFill>
                  <a:srgbClr val="8A93A3"/>
                </a:solidFill>
                <a:latin typeface="Montserrat" pitchFamily="34" charset="0"/>
                <a:ea typeface="Montserrat" pitchFamily="34" charset="-122"/>
                <a:cs typeface="Montserrat" pitchFamily="34" charset="-120"/>
              </a:rPr>
              <a:t>=</a:t>
            </a:r>
            <a:endParaRPr lang="en-US" sz="2000" dirty="0"/>
          </a:p>
        </p:txBody>
      </p:sp>
      <p:sp>
        <p:nvSpPr>
          <p:cNvPr id="16" name="Text 13"/>
          <p:cNvSpPr txBox="1"/>
          <p:nvPr/>
        </p:nvSpPr>
        <p:spPr>
          <a:xfrm>
            <a:off x="6035040" y="2240280"/>
            <a:ext cx="1600200" cy="548640"/>
          </a:xfrm>
          <a:prstGeom prst="rect">
            <a:avLst/>
          </a:prstGeom>
          <a:noFill/>
          <a:ln/>
        </p:spPr>
        <p:txBody>
          <a:bodyPr wrap="square" lIns="0" tIns="0" rIns="0" bIns="0" rtlCol="0" anchor="t"/>
          <a:lstStyle/>
          <a:p>
            <a:pPr indent="0" marL="0">
              <a:buNone/>
            </a:pPr>
            <a:r>
              <a:rPr lang="en-US" sz="2200" b="1" dirty="0">
                <a:solidFill>
                  <a:srgbClr val="2E6FBF"/>
                </a:solidFill>
                <a:latin typeface="Montserrat" pitchFamily="34" charset="0"/>
                <a:ea typeface="Montserrat" pitchFamily="34" charset="-122"/>
                <a:cs typeface="Montserrat" pitchFamily="34" charset="-120"/>
              </a:rPr>
              <a:t>€60,000</a:t>
            </a:r>
            <a:endParaRPr lang="en-US" sz="2200" dirty="0"/>
          </a:p>
        </p:txBody>
      </p:sp>
      <p:sp>
        <p:nvSpPr>
          <p:cNvPr id="17" name="Text 14"/>
          <p:cNvSpPr txBox="1"/>
          <p:nvPr/>
        </p:nvSpPr>
        <p:spPr>
          <a:xfrm>
            <a:off x="6035040" y="2788920"/>
            <a:ext cx="1600200" cy="274320"/>
          </a:xfrm>
          <a:prstGeom prst="rect">
            <a:avLst/>
          </a:prstGeom>
          <a:noFill/>
          <a:ln/>
        </p:spPr>
        <p:txBody>
          <a:bodyPr wrap="square" lIns="0" tIns="0" rIns="0" bIns="0" rtlCol="0" anchor="t"/>
          <a:lstStyle/>
          <a:p>
            <a:pPr indent="0" marL="0">
              <a:buNone/>
            </a:pPr>
            <a:r>
              <a:rPr lang="en-US" sz="1100" dirty="0">
                <a:solidFill>
                  <a:srgbClr val="5B6270"/>
                </a:solidFill>
                <a:latin typeface="Montserrat" pitchFamily="34" charset="0"/>
                <a:ea typeface="Montserrat" pitchFamily="34" charset="-122"/>
                <a:cs typeface="Montserrat" pitchFamily="34" charset="-120"/>
              </a:rPr>
              <a:t>annual revenue</a:t>
            </a:r>
            <a:endParaRPr lang="en-US" sz="1100" dirty="0"/>
          </a:p>
        </p:txBody>
      </p:sp>
      <p:graphicFrame>
        <p:nvGraphicFramePr>
          <p:cNvPr id="18" name="Chart 0" descr=""/>
          <p:cNvGraphicFramePr/>
          <p:nvPr/>
        </p:nvGraphicFramePr>
        <p:xfrm>
          <a:off x="457200" y="3200400"/>
          <a:ext cx="6949440" cy="2377440"/>
        </p:xfrm>
        <a:graphic xmlns:a="http://schemas.openxmlformats.org/drawingml/2006/main">
          <a:graphicData uri="http://schemas.openxmlformats.org/drawingml/2006/chart">
            <c:chart xmlns:c="http://schemas.openxmlformats.org/drawingml/2006/chart" r:id="rId1"/>
          </a:graphicData>
        </a:graphic>
      </p:graphicFrame>
      <p:sp>
        <p:nvSpPr>
          <p:cNvPr id="19" name="Text 15"/>
          <p:cNvSpPr txBox="1"/>
          <p:nvPr/>
        </p:nvSpPr>
        <p:spPr>
          <a:xfrm>
            <a:off x="548640" y="5623560"/>
            <a:ext cx="6949440" cy="274320"/>
          </a:xfrm>
          <a:prstGeom prst="rect">
            <a:avLst/>
          </a:prstGeom>
          <a:noFill/>
          <a:ln/>
        </p:spPr>
        <p:txBody>
          <a:bodyPr wrap="square" lIns="0" tIns="0" rIns="0" bIns="0" rtlCol="0" anchor="t"/>
          <a:lstStyle/>
          <a:p>
            <a:pPr indent="0" marL="0">
              <a:buNone/>
            </a:pPr>
            <a:r>
              <a:rPr lang="en-US" sz="1000" dirty="0">
                <a:solidFill>
                  <a:srgbClr val="8A93A3"/>
                </a:solidFill>
                <a:latin typeface="Montserrat" pitchFamily="34" charset="0"/>
                <a:ea typeface="Montserrat" pitchFamily="34" charset="-122"/>
                <a:cs typeface="Montserrat" pitchFamily="34" charset="-120"/>
              </a:rPr>
              <a:t>Pessimistic 10,000 × 3% × €60  ·  Realistic 20,000 × 5% × €60  ·  Optimistic 30,000 × 8% × €60</a:t>
            </a:r>
            <a:endParaRPr lang="en-US" sz="1000" dirty="0"/>
          </a:p>
        </p:txBody>
      </p:sp>
      <p:sp>
        <p:nvSpPr>
          <p:cNvPr id="20" name="Shape 16"/>
          <p:cNvSpPr/>
          <p:nvPr/>
        </p:nvSpPr>
        <p:spPr>
          <a:xfrm>
            <a:off x="7863840" y="1783080"/>
            <a:ext cx="3776472" cy="4114800"/>
          </a:xfrm>
          <a:prstGeom prst="roundRect">
            <a:avLst>
              <a:gd name="adj" fmla="val 1937"/>
            </a:avLst>
          </a:prstGeom>
          <a:solidFill>
            <a:srgbClr val="F3F7FC"/>
          </a:solidFill>
          <a:ln/>
        </p:spPr>
      </p:sp>
      <p:sp>
        <p:nvSpPr>
          <p:cNvPr id="21" name="Text 17"/>
          <p:cNvSpPr txBox="1"/>
          <p:nvPr/>
        </p:nvSpPr>
        <p:spPr>
          <a:xfrm>
            <a:off x="8092440" y="1920240"/>
            <a:ext cx="3383280" cy="365760"/>
          </a:xfrm>
          <a:prstGeom prst="rect">
            <a:avLst/>
          </a:prstGeom>
          <a:noFill/>
          <a:ln/>
        </p:spPr>
        <p:txBody>
          <a:bodyPr wrap="square" lIns="0" tIns="0" rIns="0" bIns="0" rtlCol="0" anchor="t"/>
          <a:lstStyle/>
          <a:p>
            <a:pPr indent="0" marL="0">
              <a:buNone/>
            </a:pPr>
            <a:r>
              <a:rPr lang="en-US" sz="1400" b="1" dirty="0">
                <a:solidFill>
                  <a:srgbClr val="0F1341"/>
                </a:solidFill>
                <a:latin typeface="Montserrat" pitchFamily="34" charset="0"/>
                <a:ea typeface="Montserrat" pitchFamily="34" charset="-122"/>
                <a:cs typeface="Montserrat" pitchFamily="34" charset="-120"/>
              </a:rPr>
              <a:t>Three tags for every number</a:t>
            </a:r>
            <a:endParaRPr lang="en-US" sz="1400" dirty="0"/>
          </a:p>
        </p:txBody>
      </p:sp>
      <p:sp>
        <p:nvSpPr>
          <p:cNvPr id="22" name="Shape 18"/>
          <p:cNvSpPr/>
          <p:nvPr/>
        </p:nvSpPr>
        <p:spPr>
          <a:xfrm>
            <a:off x="8092440" y="2468880"/>
            <a:ext cx="1600200" cy="274320"/>
          </a:xfrm>
          <a:prstGeom prst="roundRect">
            <a:avLst>
              <a:gd name="adj" fmla="val 26667"/>
            </a:avLst>
          </a:prstGeom>
          <a:solidFill>
            <a:srgbClr val="2E6FBF"/>
          </a:solidFill>
          <a:ln/>
        </p:spPr>
      </p:sp>
      <p:sp>
        <p:nvSpPr>
          <p:cNvPr id="23" name="Text 19"/>
          <p:cNvSpPr txBox="1"/>
          <p:nvPr/>
        </p:nvSpPr>
        <p:spPr>
          <a:xfrm>
            <a:off x="8092440" y="2468880"/>
            <a:ext cx="160020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Montserrat" pitchFamily="34" charset="0"/>
                <a:ea typeface="Montserrat" pitchFamily="34" charset="-122"/>
                <a:cs typeface="Montserrat" pitchFamily="34" charset="-120"/>
              </a:rPr>
              <a:t>RESEARCHED</a:t>
            </a:r>
            <a:endParaRPr lang="en-US" sz="900" dirty="0"/>
          </a:p>
        </p:txBody>
      </p:sp>
      <p:sp>
        <p:nvSpPr>
          <p:cNvPr id="24" name="Text 20"/>
          <p:cNvSpPr txBox="1"/>
          <p:nvPr/>
        </p:nvSpPr>
        <p:spPr>
          <a:xfrm>
            <a:off x="8092440" y="2834640"/>
            <a:ext cx="3383280" cy="594360"/>
          </a:xfrm>
          <a:prstGeom prst="rect">
            <a:avLst/>
          </a:prstGeom>
          <a:noFill/>
          <a:ln/>
        </p:spPr>
        <p:txBody>
          <a:bodyPr wrap="square" lIns="0" tIns="0" rIns="0" bIns="0" rtlCol="0" anchor="t"/>
          <a:lstStyle/>
          <a:p>
            <a:pPr indent="0" marL="0">
              <a:buNone/>
            </a:pPr>
            <a:r>
              <a:rPr lang="en-US" sz="1200" dirty="0">
                <a:solidFill>
                  <a:srgbClr val="5B6270"/>
                </a:solidFill>
                <a:latin typeface="Montserrat" pitchFamily="34" charset="0"/>
                <a:ea typeface="Montserrat" pitchFamily="34" charset="-122"/>
                <a:cs typeface="Montserrat" pitchFamily="34" charset="-120"/>
              </a:rPr>
              <a:t>From a named source, with a date</a:t>
            </a:r>
            <a:endParaRPr lang="en-US" sz="1200" dirty="0"/>
          </a:p>
        </p:txBody>
      </p:sp>
      <p:sp>
        <p:nvSpPr>
          <p:cNvPr id="25" name="Shape 21"/>
          <p:cNvSpPr/>
          <p:nvPr/>
        </p:nvSpPr>
        <p:spPr>
          <a:xfrm>
            <a:off x="8092440" y="3566160"/>
            <a:ext cx="1600200" cy="274320"/>
          </a:xfrm>
          <a:prstGeom prst="roundRect">
            <a:avLst>
              <a:gd name="adj" fmla="val 26667"/>
            </a:avLst>
          </a:prstGeom>
          <a:solidFill>
            <a:srgbClr val="6A7FA8"/>
          </a:solidFill>
          <a:ln/>
        </p:spPr>
      </p:sp>
      <p:sp>
        <p:nvSpPr>
          <p:cNvPr id="26" name="Text 22"/>
          <p:cNvSpPr txBox="1"/>
          <p:nvPr/>
        </p:nvSpPr>
        <p:spPr>
          <a:xfrm>
            <a:off x="8092440" y="3566160"/>
            <a:ext cx="160020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Montserrat" pitchFamily="34" charset="0"/>
                <a:ea typeface="Montserrat" pitchFamily="34" charset="-122"/>
                <a:cs typeface="Montserrat" pitchFamily="34" charset="-120"/>
              </a:rPr>
              <a:t>ESTIMATED</a:t>
            </a:r>
            <a:endParaRPr lang="en-US" sz="900" dirty="0"/>
          </a:p>
        </p:txBody>
      </p:sp>
      <p:sp>
        <p:nvSpPr>
          <p:cNvPr id="27" name="Text 23"/>
          <p:cNvSpPr txBox="1"/>
          <p:nvPr/>
        </p:nvSpPr>
        <p:spPr>
          <a:xfrm>
            <a:off x="8092440" y="3931920"/>
            <a:ext cx="3383280" cy="594360"/>
          </a:xfrm>
          <a:prstGeom prst="rect">
            <a:avLst/>
          </a:prstGeom>
          <a:noFill/>
          <a:ln/>
        </p:spPr>
        <p:txBody>
          <a:bodyPr wrap="square" lIns="0" tIns="0" rIns="0" bIns="0" rtlCol="0" anchor="t"/>
          <a:lstStyle/>
          <a:p>
            <a:pPr indent="0" marL="0">
              <a:buNone/>
            </a:pPr>
            <a:r>
              <a:rPr lang="en-US" sz="1200" dirty="0">
                <a:solidFill>
                  <a:srgbClr val="5B6270"/>
                </a:solidFill>
                <a:latin typeface="Montserrat" pitchFamily="34" charset="0"/>
                <a:ea typeface="Montserrat" pitchFamily="34" charset="-122"/>
                <a:cs typeface="Montserrat" pitchFamily="34" charset="-120"/>
              </a:rPr>
              <a:t>Your assumption — say so, and say why</a:t>
            </a:r>
            <a:endParaRPr lang="en-US" sz="1200" dirty="0"/>
          </a:p>
        </p:txBody>
      </p:sp>
      <p:sp>
        <p:nvSpPr>
          <p:cNvPr id="28" name="Shape 24"/>
          <p:cNvSpPr/>
          <p:nvPr/>
        </p:nvSpPr>
        <p:spPr>
          <a:xfrm>
            <a:off x="8092440" y="4663440"/>
            <a:ext cx="1600200" cy="274320"/>
          </a:xfrm>
          <a:prstGeom prst="roundRect">
            <a:avLst>
              <a:gd name="adj" fmla="val 26667"/>
            </a:avLst>
          </a:prstGeom>
          <a:solidFill>
            <a:srgbClr val="0F1341"/>
          </a:solidFill>
          <a:ln/>
        </p:spPr>
      </p:sp>
      <p:sp>
        <p:nvSpPr>
          <p:cNvPr id="29" name="Text 25"/>
          <p:cNvSpPr txBox="1"/>
          <p:nvPr/>
        </p:nvSpPr>
        <p:spPr>
          <a:xfrm>
            <a:off x="8092440" y="4663440"/>
            <a:ext cx="160020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Montserrat" pitchFamily="34" charset="0"/>
                <a:ea typeface="Montserrat" pitchFamily="34" charset="-122"/>
                <a:cs typeface="Montserrat" pitchFamily="34" charset="-120"/>
              </a:rPr>
              <a:t>MEASURED</a:t>
            </a:r>
            <a:endParaRPr lang="en-US" sz="900" dirty="0"/>
          </a:p>
        </p:txBody>
      </p:sp>
      <p:sp>
        <p:nvSpPr>
          <p:cNvPr id="30" name="Text 26"/>
          <p:cNvSpPr txBox="1"/>
          <p:nvPr/>
        </p:nvSpPr>
        <p:spPr>
          <a:xfrm>
            <a:off x="8092440" y="5029200"/>
            <a:ext cx="3383280" cy="594360"/>
          </a:xfrm>
          <a:prstGeom prst="rect">
            <a:avLst/>
          </a:prstGeom>
          <a:noFill/>
          <a:ln/>
        </p:spPr>
        <p:txBody>
          <a:bodyPr wrap="square" lIns="0" tIns="0" rIns="0" bIns="0" rtlCol="0" anchor="t"/>
          <a:lstStyle/>
          <a:p>
            <a:pPr indent="0" marL="0">
              <a:buNone/>
            </a:pPr>
            <a:r>
              <a:rPr lang="en-US" sz="1200" dirty="0">
                <a:solidFill>
                  <a:srgbClr val="5B6270"/>
                </a:solidFill>
                <a:latin typeface="Montserrat" pitchFamily="34" charset="0"/>
                <a:ea typeface="Montserrat" pitchFamily="34" charset="-122"/>
                <a:cs typeface="Montserrat" pitchFamily="34" charset="-120"/>
              </a:rPr>
              <a:t>Observed behaviour: clicks, replies, payments</a:t>
            </a:r>
            <a:endParaRPr lang="en-US" sz="12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3A3"/>
                </a:solidFill>
                <a:latin typeface="Montserrat"/>
                <a:ea typeface="Montserrat"/>
                <a:cs typeface="Montserra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2" type="title" hasCustomPrompt="1"/>
          </p:nvPr>
        </p:nvSpPr>
        <p:spPr>
          <a:xfrm>
            <a:off x="548640" y="502920"/>
            <a:ext cx="7863840" cy="685800"/>
          </a:xfrm>
          <a:prstGeom prst="rect">
            <a:avLst/>
          </a:prstGeom>
          <a:noFill/>
          <a:ln/>
        </p:spPr>
        <p:txBody>
          <a:bodyPr wrap="square" lIns="0" tIns="0" rIns="0" bIns="0" rtlCol="0" anchor="t"/>
          <a:lstStyle/>
          <a:p>
            <a:pPr algn="l" indent="0" marL="0">
              <a:buNone/>
            </a:pPr>
            <a:r>
              <a:rPr lang="en-US" sz="2800" b="1" dirty="0">
                <a:solidFill>
                  <a:srgbClr val="0F1341"/>
                </a:solidFill>
                <a:latin typeface="Montserrat" pitchFamily="34" charset="0"/>
                <a:ea typeface="Montserrat" pitchFamily="34" charset="-122"/>
                <a:cs typeface="Montserrat" pitchFamily="34" charset="-120"/>
              </a:rPr>
              <a:t>Idea to tested product in an afternoon</a:t>
            </a:r>
            <a:endParaRPr lang="en-US" sz="2800" dirty="0"/>
          </a:p>
        </p:txBody>
      </p:sp>
      <p:sp>
        <p:nvSpPr>
          <p:cNvPr id="3" name="Text 0"/>
          <p:cNvSpPr/>
          <p:nvPr>
            <p:ph idx="103" type="body" hasCustomPrompt="1"/>
          </p:nvPr>
        </p:nvSpPr>
        <p:spPr>
          <a:xfrm>
            <a:off x="548640" y="1207008"/>
            <a:ext cx="8778240" cy="365760"/>
          </a:xfrm>
          <a:prstGeom prst="rect">
            <a:avLst/>
          </a:prstGeom>
          <a:noFill/>
          <a:ln/>
        </p:spPr>
        <p:txBody>
          <a:bodyPr wrap="square" lIns="0" tIns="0" rIns="0" bIns="0" rtlCol="0" anchor="t"/>
          <a:lstStyle/>
          <a:p>
            <a:pPr algn="l" indent="0" marL="0">
              <a:buNone/>
            </a:pPr>
            <a:r>
              <a:rPr lang="en-US" sz="1300" dirty="0">
                <a:solidFill>
                  <a:srgbClr val="5B6270"/>
                </a:solidFill>
                <a:latin typeface="Montserrat" pitchFamily="34" charset="0"/>
                <a:ea typeface="Montserrat" pitchFamily="34" charset="-122"/>
                <a:cs typeface="Montserrat" pitchFamily="34" charset="-120"/>
              </a:rPr>
              <a:t>Live: what AI can do beyond a chat window</a:t>
            </a:r>
            <a:endParaRPr lang="en-US" sz="1300" dirty="0"/>
          </a:p>
        </p:txBody>
      </p:sp>
      <p:sp>
        <p:nvSpPr>
          <p:cNvPr id="5" name="Shape 2"/>
          <p:cNvSpPr/>
          <p:nvPr/>
        </p:nvSpPr>
        <p:spPr>
          <a:xfrm>
            <a:off x="548640" y="1783080"/>
            <a:ext cx="2615184" cy="1828800"/>
          </a:xfrm>
          <a:prstGeom prst="roundRect">
            <a:avLst>
              <a:gd name="adj" fmla="val 4000"/>
            </a:avLst>
          </a:prstGeom>
          <a:solidFill>
            <a:srgbClr val="F3F7FC"/>
          </a:solidFill>
          <a:ln/>
        </p:spPr>
      </p:sp>
      <p:sp>
        <p:nvSpPr>
          <p:cNvPr id="6" name="Shape 3"/>
          <p:cNvSpPr/>
          <p:nvPr/>
        </p:nvSpPr>
        <p:spPr>
          <a:xfrm>
            <a:off x="749808" y="1965960"/>
            <a:ext cx="384048" cy="384048"/>
          </a:xfrm>
          <a:prstGeom prst="ellipse">
            <a:avLst/>
          </a:prstGeom>
          <a:solidFill>
            <a:srgbClr val="2E6FBF"/>
          </a:solidFill>
          <a:ln/>
        </p:spPr>
      </p:sp>
      <p:sp>
        <p:nvSpPr>
          <p:cNvPr id="7" name="Text 4"/>
          <p:cNvSpPr txBox="1"/>
          <p:nvPr/>
        </p:nvSpPr>
        <p:spPr>
          <a:xfrm>
            <a:off x="749808"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1</a:t>
            </a:r>
            <a:endParaRPr lang="en-US" sz="1200" dirty="0"/>
          </a:p>
        </p:txBody>
      </p:sp>
      <p:pic>
        <p:nvPicPr>
          <p:cNvPr id="8" name="Image 0" descr="preencoded.png">    </p:cNvPr>
          <p:cNvPicPr>
            <a:picLocks noChangeAspect="1"/>
          </p:cNvPicPr>
          <p:nvPr/>
        </p:nvPicPr>
        <p:blipFill>
          <a:blip r:embed="rId1"/>
          <a:stretch>
            <a:fillRect/>
          </a:stretch>
        </p:blipFill>
        <p:spPr>
          <a:xfrm>
            <a:off x="2606040" y="1965960"/>
            <a:ext cx="365760" cy="365760"/>
          </a:xfrm>
          <a:prstGeom prst="rect">
            <a:avLst/>
          </a:prstGeom>
        </p:spPr>
      </p:pic>
      <p:sp>
        <p:nvSpPr>
          <p:cNvPr id="9" name="Text 5"/>
          <p:cNvSpPr txBox="1"/>
          <p:nvPr/>
        </p:nvSpPr>
        <p:spPr>
          <a:xfrm>
            <a:off x="749808" y="2514600"/>
            <a:ext cx="2240280" cy="365760"/>
          </a:xfrm>
          <a:prstGeom prst="rect">
            <a:avLst/>
          </a:prstGeom>
          <a:noFill/>
          <a:ln/>
        </p:spPr>
        <p:txBody>
          <a:bodyPr wrap="square" lIns="0" tIns="0" rIns="0" bIns="0" rtlCol="0" anchor="t"/>
          <a:lstStyle/>
          <a:p>
            <a:pPr indent="0" marL="0">
              <a:buNone/>
            </a:pPr>
            <a:r>
              <a:rPr lang="en-US" sz="1400" b="1" dirty="0">
                <a:solidFill>
                  <a:srgbClr val="0F1341"/>
                </a:solidFill>
                <a:latin typeface="Montserrat" pitchFamily="34" charset="0"/>
                <a:ea typeface="Montserrat" pitchFamily="34" charset="-122"/>
                <a:cs typeface="Montserrat" pitchFamily="34" charset="-120"/>
              </a:rPr>
              <a:t>Describe the idea</a:t>
            </a:r>
            <a:endParaRPr lang="en-US" sz="1400" dirty="0"/>
          </a:p>
        </p:txBody>
      </p:sp>
      <p:sp>
        <p:nvSpPr>
          <p:cNvPr id="10" name="Text 6"/>
          <p:cNvSpPr txBox="1"/>
          <p:nvPr/>
        </p:nvSpPr>
        <p:spPr>
          <a:xfrm>
            <a:off x="749808" y="2880360"/>
            <a:ext cx="2240280" cy="640080"/>
          </a:xfrm>
          <a:prstGeom prst="rect">
            <a:avLst/>
          </a:prstGeom>
          <a:noFill/>
          <a:ln/>
        </p:spPr>
        <p:txBody>
          <a:bodyPr wrap="square" lIns="0" tIns="0" rIns="0" bIns="0" rtlCol="0" anchor="t"/>
          <a:lstStyle/>
          <a:p>
            <a:pPr indent="0" marL="0">
              <a:buNone/>
            </a:pPr>
            <a:r>
              <a:rPr lang="en-US" sz="1200" dirty="0">
                <a:solidFill>
                  <a:srgbClr val="5B6270"/>
                </a:solidFill>
                <a:latin typeface="Montserrat" pitchFamily="34" charset="0"/>
                <a:ea typeface="Montserrat" pitchFamily="34" charset="-122"/>
                <a:cs typeface="Montserrat" pitchFamily="34" charset="-120"/>
              </a:rPr>
              <a:t>Product and target group in plain words</a:t>
            </a:r>
            <a:endParaRPr lang="en-US" sz="1200" dirty="0"/>
          </a:p>
        </p:txBody>
      </p:sp>
      <p:sp>
        <p:nvSpPr>
          <p:cNvPr id="11" name="Shape 7"/>
          <p:cNvSpPr/>
          <p:nvPr/>
        </p:nvSpPr>
        <p:spPr>
          <a:xfrm>
            <a:off x="3374136" y="1783080"/>
            <a:ext cx="2615184" cy="1828800"/>
          </a:xfrm>
          <a:prstGeom prst="roundRect">
            <a:avLst>
              <a:gd name="adj" fmla="val 4000"/>
            </a:avLst>
          </a:prstGeom>
          <a:solidFill>
            <a:srgbClr val="F3F7FC"/>
          </a:solidFill>
          <a:ln/>
        </p:spPr>
      </p:sp>
      <p:sp>
        <p:nvSpPr>
          <p:cNvPr id="12" name="Shape 8"/>
          <p:cNvSpPr/>
          <p:nvPr/>
        </p:nvSpPr>
        <p:spPr>
          <a:xfrm>
            <a:off x="3575304" y="1965960"/>
            <a:ext cx="384048" cy="384048"/>
          </a:xfrm>
          <a:prstGeom prst="ellipse">
            <a:avLst/>
          </a:prstGeom>
          <a:solidFill>
            <a:srgbClr val="2E6FBF"/>
          </a:solidFill>
          <a:ln/>
        </p:spPr>
      </p:sp>
      <p:sp>
        <p:nvSpPr>
          <p:cNvPr id="13" name="Text 9"/>
          <p:cNvSpPr txBox="1"/>
          <p:nvPr/>
        </p:nvSpPr>
        <p:spPr>
          <a:xfrm>
            <a:off x="3575304"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2</a:t>
            </a:r>
            <a:endParaRPr lang="en-US" sz="1200" dirty="0"/>
          </a:p>
        </p:txBody>
      </p:sp>
      <p:pic>
        <p:nvPicPr>
          <p:cNvPr id="14" name="Image 1" descr="preencoded.png">    </p:cNvPr>
          <p:cNvPicPr>
            <a:picLocks noChangeAspect="1"/>
          </p:cNvPicPr>
          <p:nvPr/>
        </p:nvPicPr>
        <p:blipFill>
          <a:blip r:embed="rId2"/>
          <a:stretch>
            <a:fillRect/>
          </a:stretch>
        </p:blipFill>
        <p:spPr>
          <a:xfrm>
            <a:off x="5431536" y="1965960"/>
            <a:ext cx="365760" cy="365760"/>
          </a:xfrm>
          <a:prstGeom prst="rect">
            <a:avLst/>
          </a:prstGeom>
        </p:spPr>
      </p:pic>
      <p:sp>
        <p:nvSpPr>
          <p:cNvPr id="15" name="Text 10"/>
          <p:cNvSpPr txBox="1"/>
          <p:nvPr/>
        </p:nvSpPr>
        <p:spPr>
          <a:xfrm>
            <a:off x="3575304" y="2514600"/>
            <a:ext cx="2240280" cy="365760"/>
          </a:xfrm>
          <a:prstGeom prst="rect">
            <a:avLst/>
          </a:prstGeom>
          <a:noFill/>
          <a:ln/>
        </p:spPr>
        <p:txBody>
          <a:bodyPr wrap="square" lIns="0" tIns="0" rIns="0" bIns="0" rtlCol="0" anchor="t"/>
          <a:lstStyle/>
          <a:p>
            <a:pPr indent="0" marL="0">
              <a:buNone/>
            </a:pPr>
            <a:r>
              <a:rPr lang="en-US" sz="1400" b="1" dirty="0">
                <a:solidFill>
                  <a:srgbClr val="0F1341"/>
                </a:solidFill>
                <a:latin typeface="Montserrat" pitchFamily="34" charset="0"/>
                <a:ea typeface="Montserrat" pitchFamily="34" charset="-122"/>
                <a:cs typeface="Montserrat" pitchFamily="34" charset="-120"/>
              </a:rPr>
              <a:t>Generate the product</a:t>
            </a:r>
            <a:endParaRPr lang="en-US" sz="1400" dirty="0"/>
          </a:p>
        </p:txBody>
      </p:sp>
      <p:sp>
        <p:nvSpPr>
          <p:cNvPr id="16" name="Text 11"/>
          <p:cNvSpPr txBox="1"/>
          <p:nvPr/>
        </p:nvSpPr>
        <p:spPr>
          <a:xfrm>
            <a:off x="3575304" y="2880360"/>
            <a:ext cx="2240280" cy="640080"/>
          </a:xfrm>
          <a:prstGeom prst="rect">
            <a:avLst/>
          </a:prstGeom>
          <a:noFill/>
          <a:ln/>
        </p:spPr>
        <p:txBody>
          <a:bodyPr wrap="square" lIns="0" tIns="0" rIns="0" bIns="0" rtlCol="0" anchor="t"/>
          <a:lstStyle/>
          <a:p>
            <a:pPr indent="0" marL="0">
              <a:buNone/>
            </a:pPr>
            <a:r>
              <a:rPr lang="en-US" sz="1200" dirty="0">
                <a:solidFill>
                  <a:srgbClr val="5B6270"/>
                </a:solidFill>
                <a:latin typeface="Montserrat" pitchFamily="34" charset="0"/>
                <a:ea typeface="Montserrat" pitchFamily="34" charset="-122"/>
                <a:cs typeface="Montserrat" pitchFamily="34" charset="-120"/>
              </a:rPr>
              <a:t>Landing page and messaging</a:t>
            </a:r>
            <a:endParaRPr lang="en-US" sz="1200" dirty="0"/>
          </a:p>
        </p:txBody>
      </p:sp>
      <p:sp>
        <p:nvSpPr>
          <p:cNvPr id="17" name="Shape 12"/>
          <p:cNvSpPr/>
          <p:nvPr/>
        </p:nvSpPr>
        <p:spPr>
          <a:xfrm>
            <a:off x="6199632" y="1783080"/>
            <a:ext cx="2615184" cy="1828800"/>
          </a:xfrm>
          <a:prstGeom prst="roundRect">
            <a:avLst>
              <a:gd name="adj" fmla="val 4000"/>
            </a:avLst>
          </a:prstGeom>
          <a:solidFill>
            <a:srgbClr val="F3F7FC"/>
          </a:solidFill>
          <a:ln/>
        </p:spPr>
      </p:sp>
      <p:sp>
        <p:nvSpPr>
          <p:cNvPr id="18" name="Shape 13"/>
          <p:cNvSpPr/>
          <p:nvPr/>
        </p:nvSpPr>
        <p:spPr>
          <a:xfrm>
            <a:off x="6400800" y="1965960"/>
            <a:ext cx="384048" cy="384048"/>
          </a:xfrm>
          <a:prstGeom prst="ellipse">
            <a:avLst/>
          </a:prstGeom>
          <a:solidFill>
            <a:srgbClr val="2E6FBF"/>
          </a:solidFill>
          <a:ln/>
        </p:spPr>
      </p:sp>
      <p:sp>
        <p:nvSpPr>
          <p:cNvPr id="19" name="Text 14"/>
          <p:cNvSpPr txBox="1"/>
          <p:nvPr/>
        </p:nvSpPr>
        <p:spPr>
          <a:xfrm>
            <a:off x="640080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3</a:t>
            </a:r>
            <a:endParaRPr lang="en-US" sz="1200" dirty="0"/>
          </a:p>
        </p:txBody>
      </p:sp>
      <p:pic>
        <p:nvPicPr>
          <p:cNvPr id="20" name="Image 2" descr="preencoded.png">    </p:cNvPr>
          <p:cNvPicPr>
            <a:picLocks noChangeAspect="1"/>
          </p:cNvPicPr>
          <p:nvPr/>
        </p:nvPicPr>
        <p:blipFill>
          <a:blip r:embed="rId3"/>
          <a:stretch>
            <a:fillRect/>
          </a:stretch>
        </p:blipFill>
        <p:spPr>
          <a:xfrm>
            <a:off x="8257032" y="1965960"/>
            <a:ext cx="365760" cy="365760"/>
          </a:xfrm>
          <a:prstGeom prst="rect">
            <a:avLst/>
          </a:prstGeom>
        </p:spPr>
      </p:pic>
      <p:sp>
        <p:nvSpPr>
          <p:cNvPr id="21" name="Text 15"/>
          <p:cNvSpPr txBox="1"/>
          <p:nvPr/>
        </p:nvSpPr>
        <p:spPr>
          <a:xfrm>
            <a:off x="6400800" y="2514600"/>
            <a:ext cx="2240280" cy="365760"/>
          </a:xfrm>
          <a:prstGeom prst="rect">
            <a:avLst/>
          </a:prstGeom>
          <a:noFill/>
          <a:ln/>
        </p:spPr>
        <p:txBody>
          <a:bodyPr wrap="square" lIns="0" tIns="0" rIns="0" bIns="0" rtlCol="0" anchor="t"/>
          <a:lstStyle/>
          <a:p>
            <a:pPr indent="0" marL="0">
              <a:buNone/>
            </a:pPr>
            <a:r>
              <a:rPr lang="en-US" sz="1400" b="1" dirty="0">
                <a:solidFill>
                  <a:srgbClr val="0F1341"/>
                </a:solidFill>
                <a:latin typeface="Montserrat" pitchFamily="34" charset="0"/>
                <a:ea typeface="Montserrat" pitchFamily="34" charset="-122"/>
                <a:cs typeface="Montserrat" pitchFamily="34" charset="-120"/>
              </a:rPr>
              <a:t>Build a test</a:t>
            </a:r>
            <a:endParaRPr lang="en-US" sz="1400" dirty="0"/>
          </a:p>
        </p:txBody>
      </p:sp>
      <p:sp>
        <p:nvSpPr>
          <p:cNvPr id="22" name="Text 16"/>
          <p:cNvSpPr txBox="1"/>
          <p:nvPr/>
        </p:nvSpPr>
        <p:spPr>
          <a:xfrm>
            <a:off x="6400800" y="2880360"/>
            <a:ext cx="2240280" cy="640080"/>
          </a:xfrm>
          <a:prstGeom prst="rect">
            <a:avLst/>
          </a:prstGeom>
          <a:noFill/>
          <a:ln/>
        </p:spPr>
        <p:txBody>
          <a:bodyPr wrap="square" lIns="0" tIns="0" rIns="0" bIns="0" rtlCol="0" anchor="t"/>
          <a:lstStyle/>
          <a:p>
            <a:pPr indent="0" marL="0">
              <a:buNone/>
            </a:pPr>
            <a:r>
              <a:rPr lang="en-US" sz="1200" dirty="0">
                <a:solidFill>
                  <a:srgbClr val="5B6270"/>
                </a:solidFill>
                <a:latin typeface="Montserrat" pitchFamily="34" charset="0"/>
                <a:ea typeface="Montserrat" pitchFamily="34" charset="-122"/>
                <a:cs typeface="Montserrat" pitchFamily="34" charset="-120"/>
              </a:rPr>
              <a:t>Two propositions, two calls-to-action</a:t>
            </a:r>
            <a:endParaRPr lang="en-US" sz="1200" dirty="0"/>
          </a:p>
        </p:txBody>
      </p:sp>
      <p:sp>
        <p:nvSpPr>
          <p:cNvPr id="23" name="Shape 17"/>
          <p:cNvSpPr/>
          <p:nvPr/>
        </p:nvSpPr>
        <p:spPr>
          <a:xfrm>
            <a:off x="9025128" y="1783080"/>
            <a:ext cx="2615184" cy="1828800"/>
          </a:xfrm>
          <a:prstGeom prst="roundRect">
            <a:avLst>
              <a:gd name="adj" fmla="val 4000"/>
            </a:avLst>
          </a:prstGeom>
          <a:solidFill>
            <a:srgbClr val="0F1341"/>
          </a:solidFill>
          <a:ln/>
        </p:spPr>
      </p:sp>
      <p:sp>
        <p:nvSpPr>
          <p:cNvPr id="24" name="Shape 18"/>
          <p:cNvSpPr/>
          <p:nvPr/>
        </p:nvSpPr>
        <p:spPr>
          <a:xfrm>
            <a:off x="9226296" y="1965960"/>
            <a:ext cx="384048" cy="384048"/>
          </a:xfrm>
          <a:prstGeom prst="ellipse">
            <a:avLst/>
          </a:prstGeom>
          <a:solidFill>
            <a:srgbClr val="4A8FDB"/>
          </a:solidFill>
          <a:ln/>
        </p:spPr>
      </p:sp>
      <p:sp>
        <p:nvSpPr>
          <p:cNvPr id="25" name="Text 19"/>
          <p:cNvSpPr txBox="1"/>
          <p:nvPr/>
        </p:nvSpPr>
        <p:spPr>
          <a:xfrm>
            <a:off x="9226296"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4</a:t>
            </a:r>
            <a:endParaRPr lang="en-US" sz="1200" dirty="0"/>
          </a:p>
        </p:txBody>
      </p:sp>
      <p:pic>
        <p:nvPicPr>
          <p:cNvPr id="26" name="Image 3" descr="preencoded.png">    </p:cNvPr>
          <p:cNvPicPr>
            <a:picLocks noChangeAspect="1"/>
          </p:cNvPicPr>
          <p:nvPr/>
        </p:nvPicPr>
        <p:blipFill>
          <a:blip r:embed="rId4"/>
          <a:stretch>
            <a:fillRect/>
          </a:stretch>
        </p:blipFill>
        <p:spPr>
          <a:xfrm>
            <a:off x="11082528" y="1965960"/>
            <a:ext cx="365760" cy="365760"/>
          </a:xfrm>
          <a:prstGeom prst="rect">
            <a:avLst/>
          </a:prstGeom>
        </p:spPr>
      </p:pic>
      <p:sp>
        <p:nvSpPr>
          <p:cNvPr id="27" name="Text 20"/>
          <p:cNvSpPr txBox="1"/>
          <p:nvPr/>
        </p:nvSpPr>
        <p:spPr>
          <a:xfrm>
            <a:off x="9226296" y="2514600"/>
            <a:ext cx="2240280" cy="365760"/>
          </a:xfrm>
          <a:prstGeom prst="rect">
            <a:avLst/>
          </a:prstGeom>
          <a:noFill/>
          <a:ln/>
        </p:spPr>
        <p:txBody>
          <a:bodyPr wrap="square" lIns="0" tIns="0" rIns="0" bIns="0" rtlCol="0" anchor="t"/>
          <a:lstStyle/>
          <a:p>
            <a:pPr indent="0" marL="0">
              <a:buNone/>
            </a:pPr>
            <a:r>
              <a:rPr lang="en-US" sz="1400" b="1" dirty="0">
                <a:solidFill>
                  <a:srgbClr val="FFFFFF"/>
                </a:solidFill>
                <a:latin typeface="Montserrat" pitchFamily="34" charset="0"/>
                <a:ea typeface="Montserrat" pitchFamily="34" charset="-122"/>
                <a:cs typeface="Montserrat" pitchFamily="34" charset="-120"/>
              </a:rPr>
              <a:t>Measure interest</a:t>
            </a:r>
            <a:endParaRPr lang="en-US" sz="1400" dirty="0"/>
          </a:p>
        </p:txBody>
      </p:sp>
      <p:sp>
        <p:nvSpPr>
          <p:cNvPr id="28" name="Text 21"/>
          <p:cNvSpPr txBox="1"/>
          <p:nvPr/>
        </p:nvSpPr>
        <p:spPr>
          <a:xfrm>
            <a:off x="9226296" y="2880360"/>
            <a:ext cx="2240280" cy="640080"/>
          </a:xfrm>
          <a:prstGeom prst="rect">
            <a:avLst/>
          </a:prstGeom>
          <a:noFill/>
          <a:ln/>
        </p:spPr>
        <p:txBody>
          <a:bodyPr wrap="square" lIns="0" tIns="0" rIns="0" bIns="0" rtlCol="0" anchor="t"/>
          <a:lstStyle/>
          <a:p>
            <a:pPr indent="0" marL="0">
              <a:buNone/>
            </a:pPr>
            <a:r>
              <a:rPr lang="en-US" sz="1200" dirty="0">
                <a:solidFill>
                  <a:srgbClr val="C9D3E3"/>
                </a:solidFill>
                <a:latin typeface="Montserrat" pitchFamily="34" charset="0"/>
                <a:ea typeface="Montserrat" pitchFamily="34" charset="-122"/>
                <a:cs typeface="Montserrat" pitchFamily="34" charset="-120"/>
              </a:rPr>
              <a:t>Clicks and sign-ups, live</a:t>
            </a:r>
            <a:endParaRPr lang="en-US" sz="1200" dirty="0"/>
          </a:p>
        </p:txBody>
      </p:sp>
      <p:sp>
        <p:nvSpPr>
          <p:cNvPr id="29" name="Shape 22"/>
          <p:cNvSpPr/>
          <p:nvPr/>
        </p:nvSpPr>
        <p:spPr>
          <a:xfrm>
            <a:off x="548640" y="3931920"/>
            <a:ext cx="2560320" cy="274320"/>
          </a:xfrm>
          <a:prstGeom prst="roundRect">
            <a:avLst>
              <a:gd name="adj" fmla="val 26667"/>
            </a:avLst>
          </a:prstGeom>
          <a:solidFill>
            <a:srgbClr val="2E6FBF"/>
          </a:solidFill>
          <a:ln/>
        </p:spPr>
      </p:sp>
      <p:sp>
        <p:nvSpPr>
          <p:cNvPr id="30" name="Text 23"/>
          <p:cNvSpPr txBox="1"/>
          <p:nvPr/>
        </p:nvSpPr>
        <p:spPr>
          <a:xfrm>
            <a:off x="548640" y="3931920"/>
            <a:ext cx="256032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Montserrat" pitchFamily="34" charset="0"/>
                <a:ea typeface="Montserrat" pitchFamily="34" charset="-122"/>
                <a:cs typeface="Montserrat" pitchFamily="34" charset="-120"/>
              </a:rPr>
              <a:t>LIVE DEMO  ·  CLAUDE CODE</a:t>
            </a:r>
            <a:endParaRPr lang="en-US" sz="900" dirty="0"/>
          </a:p>
        </p:txBody>
      </p:sp>
      <p:sp>
        <p:nvSpPr>
          <p:cNvPr id="31" name="Text 24"/>
          <p:cNvSpPr txBox="1"/>
          <p:nvPr/>
        </p:nvSpPr>
        <p:spPr>
          <a:xfrm>
            <a:off x="548640" y="4343400"/>
            <a:ext cx="5394960" cy="1280160"/>
          </a:xfrm>
          <a:prstGeom prst="rect">
            <a:avLst/>
          </a:prstGeom>
          <a:noFill/>
          <a:ln/>
        </p:spPr>
        <p:txBody>
          <a:bodyPr wrap="square" lIns="0" tIns="0" rIns="0" bIns="0" rtlCol="0" anchor="t"/>
          <a:lstStyle/>
          <a:p>
            <a:pPr indent="0" marL="0">
              <a:buNone/>
            </a:pPr>
            <a:r>
              <a:rPr lang="en-US" sz="1300" b="1" dirty="0">
                <a:solidFill>
                  <a:srgbClr val="0F1341"/>
                </a:solidFill>
                <a:latin typeface="Montserrat" pitchFamily="34" charset="0"/>
                <a:ea typeface="Montserrat" pitchFamily="34" charset="-122"/>
                <a:cs typeface="Montserrat" pitchFamily="34" charset="-120"/>
              </a:rPr>
              <a:t>You ask, the prototype changes. </a:t>
            </a:r>
            <a:pPr indent="0" marL="0">
              <a:buNone/>
            </a:pPr>
            <a:r>
              <a:rPr lang="en-US" sz="1300" dirty="0">
                <a:solidFill>
                  <a:srgbClr val="0F1341"/>
                </a:solidFill>
                <a:latin typeface="Montserrat" pitchFamily="34" charset="0"/>
                <a:ea typeface="Montserrat" pitchFamily="34" charset="-122"/>
                <a:cs typeface="Montserrat" pitchFamily="34" charset="-120"/>
              </a:rPr>
              <a:t>A student names a change — a new audience, a new headline, a third variant. Claude Code builds it into the running landing page; we open the result, not the code.</a:t>
            </a:r>
            <a:endParaRPr lang="en-US" sz="1300" dirty="0"/>
          </a:p>
        </p:txBody>
      </p:sp>
      <p:sp>
        <p:nvSpPr>
          <p:cNvPr id="32" name="Shape 25"/>
          <p:cNvSpPr/>
          <p:nvPr/>
        </p:nvSpPr>
        <p:spPr>
          <a:xfrm>
            <a:off x="6263640" y="3931920"/>
            <a:ext cx="5376672" cy="1691640"/>
          </a:xfrm>
          <a:prstGeom prst="roundRect">
            <a:avLst>
              <a:gd name="adj" fmla="val 4324"/>
            </a:avLst>
          </a:prstGeom>
          <a:solidFill>
            <a:srgbClr val="0F1341"/>
          </a:solidFill>
          <a:ln/>
        </p:spPr>
      </p:sp>
      <p:sp>
        <p:nvSpPr>
          <p:cNvPr id="33" name="Text 26"/>
          <p:cNvSpPr txBox="1"/>
          <p:nvPr/>
        </p:nvSpPr>
        <p:spPr>
          <a:xfrm>
            <a:off x="6492240" y="4041648"/>
            <a:ext cx="4572000" cy="274320"/>
          </a:xfrm>
          <a:prstGeom prst="rect">
            <a:avLst/>
          </a:prstGeom>
          <a:noFill/>
          <a:ln/>
        </p:spPr>
        <p:txBody>
          <a:bodyPr wrap="square" lIns="0" tIns="0" rIns="0" bIns="0" rtlCol="0" anchor="t"/>
          <a:lstStyle/>
          <a:p>
            <a:pPr indent="0" marL="0">
              <a:buNone/>
            </a:pPr>
            <a:r>
              <a:rPr lang="en-US" sz="1000" b="1" spc="100" kern="0" dirty="0">
                <a:solidFill>
                  <a:srgbClr val="4A8FDB"/>
                </a:solidFill>
                <a:latin typeface="Montserrat" pitchFamily="34" charset="0"/>
                <a:ea typeface="Montserrat" pitchFamily="34" charset="-122"/>
                <a:cs typeface="Montserrat" pitchFamily="34" charset="-120"/>
              </a:rPr>
              <a:t>THE PROMPT ON STAGE</a:t>
            </a:r>
            <a:endParaRPr lang="en-US" sz="1000" dirty="0"/>
          </a:p>
        </p:txBody>
      </p:sp>
      <p:sp>
        <p:nvSpPr>
          <p:cNvPr id="34" name="Text 27"/>
          <p:cNvSpPr txBox="1"/>
          <p:nvPr/>
        </p:nvSpPr>
        <p:spPr>
          <a:xfrm>
            <a:off x="6492240" y="4343400"/>
            <a:ext cx="4937760" cy="1188720"/>
          </a:xfrm>
          <a:prstGeom prst="rect">
            <a:avLst/>
          </a:prstGeom>
          <a:noFill/>
          <a:ln/>
        </p:spPr>
        <p:txBody>
          <a:bodyPr wrap="square" lIns="0" tIns="0" rIns="0" bIns="0" rtlCol="0" anchor="t"/>
          <a:lstStyle/>
          <a:p>
            <a:pPr indent="0" marL="0">
              <a:buNone/>
            </a:pPr>
            <a:r>
              <a:rPr lang="en-US" sz="1200" dirty="0">
                <a:solidFill>
                  <a:srgbClr val="FFFFFF"/>
                </a:solidFill>
                <a:latin typeface="Courier New" pitchFamily="34" charset="0"/>
                <a:ea typeface="Courier New" pitchFamily="34" charset="-122"/>
                <a:cs typeface="Courier New" pitchFamily="34" charset="-120"/>
              </a:rPr>
              <a:t>Update our landing page for [idea]. Create variant A (save time) and B (better applications), each with a measurable “Get early access” button. Show conversion per variant in the dashboard.</a:t>
            </a:r>
            <a:endParaRPr lang="en-US" sz="12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3A3"/>
                </a:solidFill>
                <a:latin typeface="Montserrat"/>
                <a:ea typeface="Montserrat"/>
                <a:cs typeface="Montserra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2" type="title" hasCustomPrompt="1"/>
          </p:nvPr>
        </p:nvSpPr>
        <p:spPr>
          <a:xfrm>
            <a:off x="548640" y="502920"/>
            <a:ext cx="7863840" cy="685800"/>
          </a:xfrm>
          <a:prstGeom prst="rect">
            <a:avLst/>
          </a:prstGeom>
          <a:noFill/>
          <a:ln/>
        </p:spPr>
        <p:txBody>
          <a:bodyPr wrap="square" lIns="0" tIns="0" rIns="0" bIns="0" rtlCol="0" anchor="t"/>
          <a:lstStyle/>
          <a:p>
            <a:pPr algn="l" indent="0" marL="0">
              <a:buNone/>
            </a:pPr>
            <a:r>
              <a:rPr lang="en-US" sz="2800" b="1" dirty="0">
                <a:solidFill>
                  <a:srgbClr val="0F1341"/>
                </a:solidFill>
                <a:latin typeface="Montserrat" pitchFamily="34" charset="0"/>
                <a:ea typeface="Montserrat" pitchFamily="34" charset="-122"/>
                <a:cs typeface="Montserrat" pitchFamily="34" charset="-120"/>
              </a:rPr>
              <a:t>A real venture validator: five AI engines</a:t>
            </a:r>
            <a:endParaRPr lang="en-US" sz="2800" dirty="0"/>
          </a:p>
        </p:txBody>
      </p:sp>
      <p:sp>
        <p:nvSpPr>
          <p:cNvPr id="3" name="Text 0"/>
          <p:cNvSpPr/>
          <p:nvPr>
            <p:ph idx="103" type="body" hasCustomPrompt="1"/>
          </p:nvPr>
        </p:nvSpPr>
        <p:spPr>
          <a:xfrm>
            <a:off x="548640" y="1207008"/>
            <a:ext cx="8778240" cy="365760"/>
          </a:xfrm>
          <a:prstGeom prst="rect">
            <a:avLst/>
          </a:prstGeom>
          <a:noFill/>
          <a:ln/>
        </p:spPr>
        <p:txBody>
          <a:bodyPr wrap="square" lIns="0" tIns="0" rIns="0" bIns="0" rtlCol="0" anchor="t"/>
          <a:lstStyle/>
          <a:p>
            <a:pPr algn="l" indent="0" marL="0">
              <a:buNone/>
            </a:pPr>
            <a:r>
              <a:rPr lang="en-US" sz="1300" dirty="0">
                <a:solidFill>
                  <a:srgbClr val="5B6270"/>
                </a:solidFill>
                <a:latin typeface="Montserrat" pitchFamily="34" charset="0"/>
                <a:ea typeface="Montserrat" pitchFamily="34" charset="-122"/>
                <a:cs typeface="Montserrat" pitchFamily="34" charset="-120"/>
              </a:rPr>
              <a:t>Our system, applied to the business you just built — three kinds of evidence in one ledger</a:t>
            </a:r>
            <a:endParaRPr lang="en-US" sz="1300" dirty="0"/>
          </a:p>
        </p:txBody>
      </p:sp>
      <p:sp>
        <p:nvSpPr>
          <p:cNvPr id="5" name="Text 2"/>
          <p:cNvSpPr txBox="1"/>
          <p:nvPr/>
        </p:nvSpPr>
        <p:spPr>
          <a:xfrm>
            <a:off x="548640" y="1755648"/>
            <a:ext cx="3657600" cy="228600"/>
          </a:xfrm>
          <a:prstGeom prst="rect">
            <a:avLst/>
          </a:prstGeom>
          <a:noFill/>
          <a:ln/>
        </p:spPr>
        <p:txBody>
          <a:bodyPr wrap="square" lIns="0" tIns="0" rIns="0" bIns="0" rtlCol="0" anchor="t"/>
          <a:lstStyle/>
          <a:p>
            <a:pPr indent="0" marL="0">
              <a:buNone/>
            </a:pPr>
            <a:r>
              <a:rPr lang="en-US" sz="900" b="1" spc="100" kern="0" dirty="0">
                <a:solidFill>
                  <a:srgbClr val="8A93A3"/>
                </a:solidFill>
                <a:latin typeface="Montserrat" pitchFamily="34" charset="0"/>
                <a:ea typeface="Montserrat" pitchFamily="34" charset="-122"/>
                <a:cs typeface="Montserrat" pitchFamily="34" charset="-120"/>
              </a:rPr>
              <a:t>ENGINE  ·  AI MECHANISM</a:t>
            </a:r>
            <a:endParaRPr lang="en-US" sz="900" dirty="0"/>
          </a:p>
        </p:txBody>
      </p:sp>
      <p:sp>
        <p:nvSpPr>
          <p:cNvPr id="6" name="Text 3"/>
          <p:cNvSpPr txBox="1"/>
          <p:nvPr/>
        </p:nvSpPr>
        <p:spPr>
          <a:xfrm>
            <a:off x="4160520" y="1755648"/>
            <a:ext cx="3657600" cy="228600"/>
          </a:xfrm>
          <a:prstGeom prst="rect">
            <a:avLst/>
          </a:prstGeom>
          <a:noFill/>
          <a:ln/>
        </p:spPr>
        <p:txBody>
          <a:bodyPr wrap="square" lIns="0" tIns="0" rIns="0" bIns="0" rtlCol="0" anchor="t"/>
          <a:lstStyle/>
          <a:p>
            <a:pPr indent="0" marL="0">
              <a:buNone/>
            </a:pPr>
            <a:r>
              <a:rPr lang="en-US" sz="900" b="1" spc="100" kern="0" dirty="0">
                <a:solidFill>
                  <a:srgbClr val="8A93A3"/>
                </a:solidFill>
                <a:latin typeface="Montserrat" pitchFamily="34" charset="0"/>
                <a:ea typeface="Montserrat" pitchFamily="34" charset="-122"/>
                <a:cs typeface="Montserrat" pitchFamily="34" charset="-120"/>
              </a:rPr>
              <a:t>WHAT IT DOES</a:t>
            </a:r>
            <a:endParaRPr lang="en-US" sz="900" dirty="0"/>
          </a:p>
        </p:txBody>
      </p:sp>
      <p:sp>
        <p:nvSpPr>
          <p:cNvPr id="7" name="Text 4"/>
          <p:cNvSpPr txBox="1"/>
          <p:nvPr/>
        </p:nvSpPr>
        <p:spPr>
          <a:xfrm>
            <a:off x="8092440" y="1755648"/>
            <a:ext cx="3566160" cy="228600"/>
          </a:xfrm>
          <a:prstGeom prst="rect">
            <a:avLst/>
          </a:prstGeom>
          <a:noFill/>
          <a:ln/>
        </p:spPr>
        <p:txBody>
          <a:bodyPr wrap="square" lIns="0" tIns="0" rIns="0" bIns="0" rtlCol="0" anchor="t"/>
          <a:lstStyle/>
          <a:p>
            <a:pPr indent="0" marL="0">
              <a:buNone/>
            </a:pPr>
            <a:r>
              <a:rPr lang="en-US" sz="900" b="1" spc="100" kern="0" dirty="0">
                <a:solidFill>
                  <a:srgbClr val="2E6FBF"/>
                </a:solidFill>
                <a:latin typeface="Montserrat" pitchFamily="34" charset="0"/>
                <a:ea typeface="Montserrat" pitchFamily="34" charset="-122"/>
                <a:cs typeface="Montserrat" pitchFamily="34" charset="-120"/>
              </a:rPr>
              <a:t>FOR YOUR STARTUP TODAY</a:t>
            </a:r>
            <a:endParaRPr lang="en-US" sz="900" dirty="0"/>
          </a:p>
        </p:txBody>
      </p:sp>
      <p:sp>
        <p:nvSpPr>
          <p:cNvPr id="8" name="Shape 5"/>
          <p:cNvSpPr/>
          <p:nvPr/>
        </p:nvSpPr>
        <p:spPr>
          <a:xfrm>
            <a:off x="548640" y="2029968"/>
            <a:ext cx="11091672" cy="676656"/>
          </a:xfrm>
          <a:prstGeom prst="roundRect">
            <a:avLst>
              <a:gd name="adj" fmla="val 10811"/>
            </a:avLst>
          </a:prstGeom>
          <a:solidFill>
            <a:srgbClr val="F3F7FC"/>
          </a:solidFill>
          <a:ln/>
        </p:spPr>
      </p:sp>
      <p:sp>
        <p:nvSpPr>
          <p:cNvPr id="9" name="Shape 6"/>
          <p:cNvSpPr/>
          <p:nvPr/>
        </p:nvSpPr>
        <p:spPr>
          <a:xfrm>
            <a:off x="685800" y="2157984"/>
            <a:ext cx="420624" cy="420624"/>
          </a:xfrm>
          <a:prstGeom prst="ellipse">
            <a:avLst/>
          </a:prstGeom>
          <a:solidFill>
            <a:srgbClr val="0F1341"/>
          </a:solidFill>
          <a:ln/>
        </p:spPr>
      </p:sp>
      <p:sp>
        <p:nvSpPr>
          <p:cNvPr id="10" name="Text 7"/>
          <p:cNvSpPr txBox="1"/>
          <p:nvPr/>
        </p:nvSpPr>
        <p:spPr>
          <a:xfrm>
            <a:off x="685800" y="2157984"/>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Montserrat" pitchFamily="34" charset="0"/>
                <a:ea typeface="Montserrat" pitchFamily="34" charset="-122"/>
                <a:cs typeface="Montserrat" pitchFamily="34" charset="-120"/>
              </a:rPr>
              <a:t>E4</a:t>
            </a:r>
            <a:endParaRPr lang="en-US" sz="1100" dirty="0"/>
          </a:p>
        </p:txBody>
      </p:sp>
      <p:sp>
        <p:nvSpPr>
          <p:cNvPr id="11" name="Text 8"/>
          <p:cNvSpPr txBox="1"/>
          <p:nvPr/>
        </p:nvSpPr>
        <p:spPr>
          <a:xfrm>
            <a:off x="1234440" y="2103120"/>
            <a:ext cx="2834640" cy="292608"/>
          </a:xfrm>
          <a:prstGeom prst="rect">
            <a:avLst/>
          </a:prstGeom>
          <a:noFill/>
          <a:ln/>
        </p:spPr>
        <p:txBody>
          <a:bodyPr wrap="square" lIns="0" tIns="0" rIns="0" bIns="0" rtlCol="0" anchor="t"/>
          <a:lstStyle/>
          <a:p>
            <a:pPr indent="0" marL="0">
              <a:buNone/>
            </a:pPr>
            <a:r>
              <a:rPr lang="en-US" sz="1300" b="1" dirty="0">
                <a:solidFill>
                  <a:srgbClr val="0F1341"/>
                </a:solidFill>
                <a:latin typeface="Montserrat" pitchFamily="34" charset="0"/>
                <a:ea typeface="Montserrat" pitchFamily="34" charset="-122"/>
                <a:cs typeface="Montserrat" pitchFamily="34" charset="-120"/>
              </a:rPr>
              <a:t>Context Engine</a:t>
            </a:r>
            <a:endParaRPr lang="en-US" sz="1300" dirty="0"/>
          </a:p>
        </p:txBody>
      </p:sp>
      <p:sp>
        <p:nvSpPr>
          <p:cNvPr id="12" name="Text 9"/>
          <p:cNvSpPr txBox="1"/>
          <p:nvPr/>
        </p:nvSpPr>
        <p:spPr>
          <a:xfrm>
            <a:off x="1234440" y="2414016"/>
            <a:ext cx="2834640" cy="228600"/>
          </a:xfrm>
          <a:prstGeom prst="rect">
            <a:avLst/>
          </a:prstGeom>
          <a:noFill/>
          <a:ln/>
        </p:spPr>
        <p:txBody>
          <a:bodyPr wrap="square" lIns="0" tIns="0" rIns="0" bIns="0" rtlCol="0" anchor="t"/>
          <a:lstStyle/>
          <a:p>
            <a:pPr indent="0" marL="0">
              <a:buNone/>
            </a:pPr>
            <a:r>
              <a:rPr lang="en-US" sz="900" b="1" spc="100" kern="0" dirty="0">
                <a:solidFill>
                  <a:srgbClr val="2E6FBF"/>
                </a:solidFill>
                <a:latin typeface="Montserrat" pitchFamily="34" charset="0"/>
                <a:ea typeface="Montserrat" pitchFamily="34" charset="-122"/>
                <a:cs typeface="Montserrat" pitchFamily="34" charset="-120"/>
              </a:rPr>
              <a:t>LLM RESEARCH AGENT</a:t>
            </a:r>
            <a:endParaRPr lang="en-US" sz="900" dirty="0"/>
          </a:p>
        </p:txBody>
      </p:sp>
      <p:sp>
        <p:nvSpPr>
          <p:cNvPr id="13" name="Text 10"/>
          <p:cNvSpPr txBox="1"/>
          <p:nvPr/>
        </p:nvSpPr>
        <p:spPr>
          <a:xfrm>
            <a:off x="4160520" y="2029968"/>
            <a:ext cx="3749040" cy="676656"/>
          </a:xfrm>
          <a:prstGeom prst="rect">
            <a:avLst/>
          </a:prstGeom>
          <a:noFill/>
          <a:ln/>
        </p:spPr>
        <p:txBody>
          <a:bodyPr wrap="square" lIns="0" tIns="0" rIns="0" bIns="0" rtlCol="0" anchor="ctr"/>
          <a:lstStyle/>
          <a:p>
            <a:pPr indent="0" marL="0">
              <a:buNone/>
            </a:pPr>
            <a:r>
              <a:rPr lang="en-US" sz="1100" dirty="0">
                <a:solidFill>
                  <a:srgbClr val="5B6270"/>
                </a:solidFill>
                <a:latin typeface="Montserrat" pitchFamily="34" charset="0"/>
                <a:ea typeface="Montserrat" pitchFamily="34" charset="-122"/>
                <a:cs typeface="Montserrat" pitchFamily="34" charset="-120"/>
              </a:rPr>
              <a:t>Reads competitor sites, reviews, regulation and news — extracts only what sources state</a:t>
            </a:r>
            <a:endParaRPr lang="en-US" sz="1100" dirty="0"/>
          </a:p>
        </p:txBody>
      </p:sp>
      <p:sp>
        <p:nvSpPr>
          <p:cNvPr id="14" name="Text 11"/>
          <p:cNvSpPr txBox="1"/>
          <p:nvPr/>
        </p:nvSpPr>
        <p:spPr>
          <a:xfrm>
            <a:off x="8092440" y="2029968"/>
            <a:ext cx="3429000" cy="676656"/>
          </a:xfrm>
          <a:prstGeom prst="rect">
            <a:avLst/>
          </a:prstGeom>
          <a:noFill/>
          <a:ln/>
        </p:spPr>
        <p:txBody>
          <a:bodyPr wrap="square" lIns="0" tIns="0" rIns="0" bIns="0" rtlCol="0" anchor="ctr"/>
          <a:lstStyle/>
          <a:p>
            <a:pPr indent="0" marL="0">
              <a:buNone/>
            </a:pPr>
            <a:r>
              <a:rPr lang="en-US" sz="1200" b="1" dirty="0">
                <a:solidFill>
                  <a:srgbClr val="0F1341"/>
                </a:solidFill>
                <a:latin typeface="Montserrat" pitchFamily="34" charset="0"/>
                <a:ea typeface="Montserrat" pitchFamily="34" charset="-122"/>
                <a:cs typeface="Montserrat" pitchFamily="34" charset="-120"/>
              </a:rPr>
              <a:t>Who are the competitors, what do they charge students?</a:t>
            </a:r>
            <a:endParaRPr lang="en-US" sz="1200" dirty="0"/>
          </a:p>
        </p:txBody>
      </p:sp>
      <p:sp>
        <p:nvSpPr>
          <p:cNvPr id="15" name="Shape 12"/>
          <p:cNvSpPr/>
          <p:nvPr/>
        </p:nvSpPr>
        <p:spPr>
          <a:xfrm>
            <a:off x="548640" y="2779776"/>
            <a:ext cx="11091672" cy="676656"/>
          </a:xfrm>
          <a:prstGeom prst="roundRect">
            <a:avLst>
              <a:gd name="adj" fmla="val 10811"/>
            </a:avLst>
          </a:prstGeom>
          <a:solidFill>
            <a:srgbClr val="F3F7FC"/>
          </a:solidFill>
          <a:ln/>
        </p:spPr>
      </p:sp>
      <p:sp>
        <p:nvSpPr>
          <p:cNvPr id="16" name="Shape 13"/>
          <p:cNvSpPr/>
          <p:nvPr/>
        </p:nvSpPr>
        <p:spPr>
          <a:xfrm>
            <a:off x="685800" y="2907792"/>
            <a:ext cx="420624" cy="420624"/>
          </a:xfrm>
          <a:prstGeom prst="ellipse">
            <a:avLst/>
          </a:prstGeom>
          <a:solidFill>
            <a:srgbClr val="0F1341"/>
          </a:solidFill>
          <a:ln/>
        </p:spPr>
      </p:sp>
      <p:sp>
        <p:nvSpPr>
          <p:cNvPr id="17" name="Text 14"/>
          <p:cNvSpPr txBox="1"/>
          <p:nvPr/>
        </p:nvSpPr>
        <p:spPr>
          <a:xfrm>
            <a:off x="685800" y="2907792"/>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Montserrat" pitchFamily="34" charset="0"/>
                <a:ea typeface="Montserrat" pitchFamily="34" charset="-122"/>
                <a:cs typeface="Montserrat" pitchFamily="34" charset="-120"/>
              </a:rPr>
              <a:t>E5</a:t>
            </a:r>
            <a:endParaRPr lang="en-US" sz="1100" dirty="0"/>
          </a:p>
        </p:txBody>
      </p:sp>
      <p:sp>
        <p:nvSpPr>
          <p:cNvPr id="18" name="Text 15"/>
          <p:cNvSpPr txBox="1"/>
          <p:nvPr/>
        </p:nvSpPr>
        <p:spPr>
          <a:xfrm>
            <a:off x="1234440" y="2852928"/>
            <a:ext cx="2834640" cy="292608"/>
          </a:xfrm>
          <a:prstGeom prst="rect">
            <a:avLst/>
          </a:prstGeom>
          <a:noFill/>
          <a:ln/>
        </p:spPr>
        <p:txBody>
          <a:bodyPr wrap="square" lIns="0" tIns="0" rIns="0" bIns="0" rtlCol="0" anchor="t"/>
          <a:lstStyle/>
          <a:p>
            <a:pPr indent="0" marL="0">
              <a:buNone/>
            </a:pPr>
            <a:r>
              <a:rPr lang="en-US" sz="1300" b="1" dirty="0">
                <a:solidFill>
                  <a:srgbClr val="0F1341"/>
                </a:solidFill>
                <a:latin typeface="Montserrat" pitchFamily="34" charset="0"/>
                <a:ea typeface="Montserrat" pitchFamily="34" charset="-122"/>
                <a:cs typeface="Montserrat" pitchFamily="34" charset="-120"/>
              </a:rPr>
              <a:t>Aggregate Research</a:t>
            </a:r>
            <a:endParaRPr lang="en-US" sz="1300" dirty="0"/>
          </a:p>
        </p:txBody>
      </p:sp>
      <p:sp>
        <p:nvSpPr>
          <p:cNvPr id="19" name="Text 16"/>
          <p:cNvSpPr txBox="1"/>
          <p:nvPr/>
        </p:nvSpPr>
        <p:spPr>
          <a:xfrm>
            <a:off x="1234440" y="3163824"/>
            <a:ext cx="2834640" cy="228600"/>
          </a:xfrm>
          <a:prstGeom prst="rect">
            <a:avLst/>
          </a:prstGeom>
          <a:noFill/>
          <a:ln/>
        </p:spPr>
        <p:txBody>
          <a:bodyPr wrap="square" lIns="0" tIns="0" rIns="0" bIns="0" rtlCol="0" anchor="t"/>
          <a:lstStyle/>
          <a:p>
            <a:pPr indent="0" marL="0">
              <a:buNone/>
            </a:pPr>
            <a:r>
              <a:rPr lang="en-US" sz="900" b="1" spc="100" kern="0" dirty="0">
                <a:solidFill>
                  <a:srgbClr val="2E6FBF"/>
                </a:solidFill>
                <a:latin typeface="Montserrat" pitchFamily="34" charset="0"/>
                <a:ea typeface="Montserrat" pitchFamily="34" charset="-122"/>
                <a:cs typeface="Montserrat" pitchFamily="34" charset="-120"/>
              </a:rPr>
              <a:t>STATISTICAL AGENT</a:t>
            </a:r>
            <a:endParaRPr lang="en-US" sz="900" dirty="0"/>
          </a:p>
        </p:txBody>
      </p:sp>
      <p:sp>
        <p:nvSpPr>
          <p:cNvPr id="20" name="Text 17"/>
          <p:cNvSpPr txBox="1"/>
          <p:nvPr/>
        </p:nvSpPr>
        <p:spPr>
          <a:xfrm>
            <a:off x="4160520" y="2779776"/>
            <a:ext cx="3749040" cy="676656"/>
          </a:xfrm>
          <a:prstGeom prst="rect">
            <a:avLst/>
          </a:prstGeom>
          <a:noFill/>
          <a:ln/>
        </p:spPr>
        <p:txBody>
          <a:bodyPr wrap="square" lIns="0" tIns="0" rIns="0" bIns="0" rtlCol="0" anchor="ctr"/>
          <a:lstStyle/>
          <a:p>
            <a:pPr indent="0" marL="0">
              <a:buNone/>
            </a:pPr>
            <a:r>
              <a:rPr lang="en-US" sz="1100" dirty="0">
                <a:solidFill>
                  <a:srgbClr val="5B6270"/>
                </a:solidFill>
                <a:latin typeface="Montserrat" pitchFamily="34" charset="0"/>
                <a:ea typeface="Montserrat" pitchFamily="34" charset="-122"/>
                <a:cs typeface="Montserrat" pitchFamily="34" charset="-120"/>
              </a:rPr>
              <a:t>Official statistics, TAM / SAM / SOM — top-down and bottom-up</a:t>
            </a:r>
            <a:endParaRPr lang="en-US" sz="1100" dirty="0"/>
          </a:p>
        </p:txBody>
      </p:sp>
      <p:sp>
        <p:nvSpPr>
          <p:cNvPr id="21" name="Text 18"/>
          <p:cNvSpPr txBox="1"/>
          <p:nvPr/>
        </p:nvSpPr>
        <p:spPr>
          <a:xfrm>
            <a:off x="8092440" y="2779776"/>
            <a:ext cx="3429000" cy="676656"/>
          </a:xfrm>
          <a:prstGeom prst="rect">
            <a:avLst/>
          </a:prstGeom>
          <a:noFill/>
          <a:ln/>
        </p:spPr>
        <p:txBody>
          <a:bodyPr wrap="square" lIns="0" tIns="0" rIns="0" bIns="0" rtlCol="0" anchor="ctr"/>
          <a:lstStyle/>
          <a:p>
            <a:pPr indent="0" marL="0">
              <a:buNone/>
            </a:pPr>
            <a:r>
              <a:rPr lang="en-US" sz="1200" b="1" dirty="0">
                <a:solidFill>
                  <a:srgbClr val="0F1341"/>
                </a:solidFill>
                <a:latin typeface="Montserrat" pitchFamily="34" charset="0"/>
                <a:ea typeface="Montserrat" pitchFamily="34" charset="-122"/>
                <a:cs typeface="Montserrat" pitchFamily="34" charset="-120"/>
              </a:rPr>
              <a:t>How many students are really in the target group?</a:t>
            </a:r>
            <a:endParaRPr lang="en-US" sz="1200" dirty="0"/>
          </a:p>
        </p:txBody>
      </p:sp>
      <p:sp>
        <p:nvSpPr>
          <p:cNvPr id="22" name="Shape 19"/>
          <p:cNvSpPr/>
          <p:nvPr/>
        </p:nvSpPr>
        <p:spPr>
          <a:xfrm>
            <a:off x="548640" y="3529584"/>
            <a:ext cx="11091672" cy="676656"/>
          </a:xfrm>
          <a:prstGeom prst="roundRect">
            <a:avLst>
              <a:gd name="adj" fmla="val 10811"/>
            </a:avLst>
          </a:prstGeom>
          <a:solidFill>
            <a:srgbClr val="F3F7FC"/>
          </a:solidFill>
          <a:ln/>
        </p:spPr>
      </p:sp>
      <p:sp>
        <p:nvSpPr>
          <p:cNvPr id="23" name="Shape 20"/>
          <p:cNvSpPr/>
          <p:nvPr/>
        </p:nvSpPr>
        <p:spPr>
          <a:xfrm>
            <a:off x="685800" y="3657600"/>
            <a:ext cx="420624" cy="420624"/>
          </a:xfrm>
          <a:prstGeom prst="ellipse">
            <a:avLst/>
          </a:prstGeom>
          <a:solidFill>
            <a:srgbClr val="0F1341"/>
          </a:solidFill>
          <a:ln/>
        </p:spPr>
      </p:sp>
      <p:sp>
        <p:nvSpPr>
          <p:cNvPr id="24" name="Text 21"/>
          <p:cNvSpPr txBox="1"/>
          <p:nvPr/>
        </p:nvSpPr>
        <p:spPr>
          <a:xfrm>
            <a:off x="685800" y="3657600"/>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Montserrat" pitchFamily="34" charset="0"/>
                <a:ea typeface="Montserrat" pitchFamily="34" charset="-122"/>
                <a:cs typeface="Montserrat" pitchFamily="34" charset="-120"/>
              </a:rPr>
              <a:t>E2</a:t>
            </a:r>
            <a:endParaRPr lang="en-US" sz="1100" dirty="0"/>
          </a:p>
        </p:txBody>
      </p:sp>
      <p:sp>
        <p:nvSpPr>
          <p:cNvPr id="25" name="Text 22"/>
          <p:cNvSpPr txBox="1"/>
          <p:nvPr/>
        </p:nvSpPr>
        <p:spPr>
          <a:xfrm>
            <a:off x="1234440" y="3602736"/>
            <a:ext cx="2834640" cy="292608"/>
          </a:xfrm>
          <a:prstGeom prst="rect">
            <a:avLst/>
          </a:prstGeom>
          <a:noFill/>
          <a:ln/>
        </p:spPr>
        <p:txBody>
          <a:bodyPr wrap="square" lIns="0" tIns="0" rIns="0" bIns="0" rtlCol="0" anchor="t"/>
          <a:lstStyle/>
          <a:p>
            <a:pPr indent="0" marL="0">
              <a:buNone/>
            </a:pPr>
            <a:r>
              <a:rPr lang="en-US" sz="1300" b="1" dirty="0">
                <a:solidFill>
                  <a:srgbClr val="0F1341"/>
                </a:solidFill>
                <a:latin typeface="Montserrat" pitchFamily="34" charset="0"/>
                <a:ea typeface="Montserrat" pitchFamily="34" charset="-122"/>
                <a:cs typeface="Montserrat" pitchFamily="34" charset="-120"/>
              </a:rPr>
              <a:t>Simulated Mind</a:t>
            </a:r>
            <a:endParaRPr lang="en-US" sz="1300" dirty="0"/>
          </a:p>
        </p:txBody>
      </p:sp>
      <p:sp>
        <p:nvSpPr>
          <p:cNvPr id="26" name="Text 23"/>
          <p:cNvSpPr txBox="1"/>
          <p:nvPr/>
        </p:nvSpPr>
        <p:spPr>
          <a:xfrm>
            <a:off x="1234440" y="3913632"/>
            <a:ext cx="2834640" cy="228600"/>
          </a:xfrm>
          <a:prstGeom prst="rect">
            <a:avLst/>
          </a:prstGeom>
          <a:noFill/>
          <a:ln/>
        </p:spPr>
        <p:txBody>
          <a:bodyPr wrap="square" lIns="0" tIns="0" rIns="0" bIns="0" rtlCol="0" anchor="t"/>
          <a:lstStyle/>
          <a:p>
            <a:pPr indent="0" marL="0">
              <a:buNone/>
            </a:pPr>
            <a:r>
              <a:rPr lang="en-US" sz="900" b="1" spc="100" kern="0" dirty="0">
                <a:solidFill>
                  <a:srgbClr val="2E6FBF"/>
                </a:solidFill>
                <a:latin typeface="Montserrat" pitchFamily="34" charset="0"/>
                <a:ea typeface="Montserrat" pitchFamily="34" charset="-122"/>
                <a:cs typeface="Montserrat" pitchFamily="34" charset="-120"/>
              </a:rPr>
              <a:t>NEURO-AI MODEL</a:t>
            </a:r>
            <a:endParaRPr lang="en-US" sz="900" dirty="0"/>
          </a:p>
        </p:txBody>
      </p:sp>
      <p:sp>
        <p:nvSpPr>
          <p:cNvPr id="27" name="Text 24"/>
          <p:cNvSpPr txBox="1"/>
          <p:nvPr/>
        </p:nvSpPr>
        <p:spPr>
          <a:xfrm>
            <a:off x="4160520" y="3529584"/>
            <a:ext cx="3749040" cy="676656"/>
          </a:xfrm>
          <a:prstGeom prst="rect">
            <a:avLst/>
          </a:prstGeom>
          <a:noFill/>
          <a:ln/>
        </p:spPr>
        <p:txBody>
          <a:bodyPr wrap="square" lIns="0" tIns="0" rIns="0" bIns="0" rtlCol="0" anchor="ctr"/>
          <a:lstStyle/>
          <a:p>
            <a:pPr indent="0" marL="0">
              <a:buNone/>
            </a:pPr>
            <a:r>
              <a:rPr lang="en-US" sz="1100" dirty="0">
                <a:solidFill>
                  <a:srgbClr val="5B6270"/>
                </a:solidFill>
                <a:latin typeface="Montserrat" pitchFamily="34" charset="0"/>
                <a:ea typeface="Montserrat" pitchFamily="34" charset="-122"/>
                <a:cs typeface="Montserrat" pitchFamily="34" charset="-120"/>
              </a:rPr>
              <a:t>Predicts a segment's attention and valuation response to a message or price</a:t>
            </a:r>
            <a:endParaRPr lang="en-US" sz="1100" dirty="0"/>
          </a:p>
        </p:txBody>
      </p:sp>
      <p:sp>
        <p:nvSpPr>
          <p:cNvPr id="28" name="Text 25"/>
          <p:cNvSpPr txBox="1"/>
          <p:nvPr/>
        </p:nvSpPr>
        <p:spPr>
          <a:xfrm>
            <a:off x="8092440" y="3529584"/>
            <a:ext cx="3429000" cy="676656"/>
          </a:xfrm>
          <a:prstGeom prst="rect">
            <a:avLst/>
          </a:prstGeom>
          <a:noFill/>
          <a:ln/>
        </p:spPr>
        <p:txBody>
          <a:bodyPr wrap="square" lIns="0" tIns="0" rIns="0" bIns="0" rtlCol="0" anchor="ctr"/>
          <a:lstStyle/>
          <a:p>
            <a:pPr indent="0" marL="0">
              <a:buNone/>
            </a:pPr>
            <a:r>
              <a:rPr lang="en-US" sz="1200" b="1" dirty="0">
                <a:solidFill>
                  <a:srgbClr val="0F1341"/>
                </a:solidFill>
                <a:latin typeface="Montserrat" pitchFamily="34" charset="0"/>
                <a:ea typeface="Montserrat" pitchFamily="34" charset="-122"/>
                <a:cs typeface="Montserrat" pitchFamily="34" charset="-120"/>
              </a:rPr>
              <a:t>Which of your two messages gets attention first?</a:t>
            </a:r>
            <a:endParaRPr lang="en-US" sz="1200" dirty="0"/>
          </a:p>
        </p:txBody>
      </p:sp>
      <p:sp>
        <p:nvSpPr>
          <p:cNvPr id="29" name="Shape 26"/>
          <p:cNvSpPr/>
          <p:nvPr/>
        </p:nvSpPr>
        <p:spPr>
          <a:xfrm>
            <a:off x="548640" y="4279392"/>
            <a:ext cx="11091672" cy="676656"/>
          </a:xfrm>
          <a:prstGeom prst="roundRect">
            <a:avLst>
              <a:gd name="adj" fmla="val 10811"/>
            </a:avLst>
          </a:prstGeom>
          <a:solidFill>
            <a:srgbClr val="F3F7FC"/>
          </a:solidFill>
          <a:ln/>
        </p:spPr>
      </p:sp>
      <p:sp>
        <p:nvSpPr>
          <p:cNvPr id="30" name="Shape 27"/>
          <p:cNvSpPr/>
          <p:nvPr/>
        </p:nvSpPr>
        <p:spPr>
          <a:xfrm>
            <a:off x="685800" y="4407408"/>
            <a:ext cx="420624" cy="420624"/>
          </a:xfrm>
          <a:prstGeom prst="ellipse">
            <a:avLst/>
          </a:prstGeom>
          <a:solidFill>
            <a:srgbClr val="0F1341"/>
          </a:solidFill>
          <a:ln/>
        </p:spPr>
      </p:sp>
      <p:sp>
        <p:nvSpPr>
          <p:cNvPr id="31" name="Text 28"/>
          <p:cNvSpPr txBox="1"/>
          <p:nvPr/>
        </p:nvSpPr>
        <p:spPr>
          <a:xfrm>
            <a:off x="685800" y="4407408"/>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Montserrat" pitchFamily="34" charset="0"/>
                <a:ea typeface="Montserrat" pitchFamily="34" charset="-122"/>
                <a:cs typeface="Montserrat" pitchFamily="34" charset="-120"/>
              </a:rPr>
              <a:t>E3</a:t>
            </a:r>
            <a:endParaRPr lang="en-US" sz="1100" dirty="0"/>
          </a:p>
        </p:txBody>
      </p:sp>
      <p:sp>
        <p:nvSpPr>
          <p:cNvPr id="32" name="Text 29"/>
          <p:cNvSpPr txBox="1"/>
          <p:nvPr/>
        </p:nvSpPr>
        <p:spPr>
          <a:xfrm>
            <a:off x="1234440" y="4352544"/>
            <a:ext cx="2834640" cy="292608"/>
          </a:xfrm>
          <a:prstGeom prst="rect">
            <a:avLst/>
          </a:prstGeom>
          <a:noFill/>
          <a:ln/>
        </p:spPr>
        <p:txBody>
          <a:bodyPr wrap="square" lIns="0" tIns="0" rIns="0" bIns="0" rtlCol="0" anchor="t"/>
          <a:lstStyle/>
          <a:p>
            <a:pPr indent="0" marL="0">
              <a:buNone/>
            </a:pPr>
            <a:r>
              <a:rPr lang="en-US" sz="1300" b="1" dirty="0">
                <a:solidFill>
                  <a:srgbClr val="0F1341"/>
                </a:solidFill>
                <a:latin typeface="Montserrat" pitchFamily="34" charset="0"/>
                <a:ea typeface="Montserrat" pitchFamily="34" charset="-122"/>
                <a:cs typeface="Montserrat" pitchFamily="34" charset="-120"/>
              </a:rPr>
              <a:t>Market World</a:t>
            </a:r>
            <a:endParaRPr lang="en-US" sz="1300" dirty="0"/>
          </a:p>
        </p:txBody>
      </p:sp>
      <p:sp>
        <p:nvSpPr>
          <p:cNvPr id="33" name="Text 30"/>
          <p:cNvSpPr txBox="1"/>
          <p:nvPr/>
        </p:nvSpPr>
        <p:spPr>
          <a:xfrm>
            <a:off x="1234440" y="4663440"/>
            <a:ext cx="2834640" cy="228600"/>
          </a:xfrm>
          <a:prstGeom prst="rect">
            <a:avLst/>
          </a:prstGeom>
          <a:noFill/>
          <a:ln/>
        </p:spPr>
        <p:txBody>
          <a:bodyPr wrap="square" lIns="0" tIns="0" rIns="0" bIns="0" rtlCol="0" anchor="t"/>
          <a:lstStyle/>
          <a:p>
            <a:pPr indent="0" marL="0">
              <a:buNone/>
            </a:pPr>
            <a:r>
              <a:rPr lang="en-US" sz="900" b="1" spc="100" kern="0" dirty="0">
                <a:solidFill>
                  <a:srgbClr val="2E6FBF"/>
                </a:solidFill>
                <a:latin typeface="Montserrat" pitchFamily="34" charset="0"/>
                <a:ea typeface="Montserrat" pitchFamily="34" charset="-122"/>
                <a:cs typeface="Montserrat" pitchFamily="34" charset="-120"/>
              </a:rPr>
              <a:t>MULTI-AGENT SIMULATION</a:t>
            </a:r>
            <a:endParaRPr lang="en-US" sz="900" dirty="0"/>
          </a:p>
        </p:txBody>
      </p:sp>
      <p:sp>
        <p:nvSpPr>
          <p:cNvPr id="34" name="Text 31"/>
          <p:cNvSpPr txBox="1"/>
          <p:nvPr/>
        </p:nvSpPr>
        <p:spPr>
          <a:xfrm>
            <a:off x="4160520" y="4279392"/>
            <a:ext cx="3749040" cy="676656"/>
          </a:xfrm>
          <a:prstGeom prst="rect">
            <a:avLst/>
          </a:prstGeom>
          <a:noFill/>
          <a:ln/>
        </p:spPr>
        <p:txBody>
          <a:bodyPr wrap="square" lIns="0" tIns="0" rIns="0" bIns="0" rtlCol="0" anchor="ctr"/>
          <a:lstStyle/>
          <a:p>
            <a:pPr indent="0" marL="0">
              <a:buNone/>
            </a:pPr>
            <a:r>
              <a:rPr lang="en-US" sz="1100" dirty="0">
                <a:solidFill>
                  <a:srgbClr val="5B6270"/>
                </a:solidFill>
                <a:latin typeface="Montserrat" pitchFamily="34" charset="0"/>
                <a:ea typeface="Montserrat" pitchFamily="34" charset="-122"/>
                <a:cs typeface="Montserrat" pitchFamily="34" charset="-120"/>
              </a:rPr>
              <a:t>A synthetic market of buyer archetypes — trusted only once calibrated</a:t>
            </a:r>
            <a:endParaRPr lang="en-US" sz="1100" dirty="0"/>
          </a:p>
        </p:txBody>
      </p:sp>
      <p:sp>
        <p:nvSpPr>
          <p:cNvPr id="35" name="Text 32"/>
          <p:cNvSpPr txBox="1"/>
          <p:nvPr/>
        </p:nvSpPr>
        <p:spPr>
          <a:xfrm>
            <a:off x="8092440" y="4279392"/>
            <a:ext cx="3429000" cy="676656"/>
          </a:xfrm>
          <a:prstGeom prst="rect">
            <a:avLst/>
          </a:prstGeom>
          <a:noFill/>
          <a:ln/>
        </p:spPr>
        <p:txBody>
          <a:bodyPr wrap="square" lIns="0" tIns="0" rIns="0" bIns="0" rtlCol="0" anchor="ctr"/>
          <a:lstStyle/>
          <a:p>
            <a:pPr indent="0" marL="0">
              <a:buNone/>
            </a:pPr>
            <a:r>
              <a:rPr lang="en-US" sz="1200" b="1" dirty="0">
                <a:solidFill>
                  <a:srgbClr val="0F1341"/>
                </a:solidFill>
                <a:latin typeface="Montserrat" pitchFamily="34" charset="0"/>
                <a:ea typeface="Montserrat" pitchFamily="34" charset="-122"/>
                <a:cs typeface="Montserrat" pitchFamily="34" charset="-120"/>
              </a:rPr>
              <a:t>How does the market react at €60 vs €30 a year?</a:t>
            </a:r>
            <a:endParaRPr lang="en-US" sz="1200" dirty="0"/>
          </a:p>
        </p:txBody>
      </p:sp>
      <p:sp>
        <p:nvSpPr>
          <p:cNvPr id="36" name="Shape 33"/>
          <p:cNvSpPr/>
          <p:nvPr/>
        </p:nvSpPr>
        <p:spPr>
          <a:xfrm>
            <a:off x="548640" y="5029200"/>
            <a:ext cx="11091672" cy="676656"/>
          </a:xfrm>
          <a:prstGeom prst="roundRect">
            <a:avLst>
              <a:gd name="adj" fmla="val 10811"/>
            </a:avLst>
          </a:prstGeom>
          <a:solidFill>
            <a:srgbClr val="D9E8F8"/>
          </a:solidFill>
          <a:ln/>
        </p:spPr>
      </p:sp>
      <p:sp>
        <p:nvSpPr>
          <p:cNvPr id="37" name="Shape 34"/>
          <p:cNvSpPr/>
          <p:nvPr/>
        </p:nvSpPr>
        <p:spPr>
          <a:xfrm>
            <a:off x="685800" y="5157216"/>
            <a:ext cx="420624" cy="420624"/>
          </a:xfrm>
          <a:prstGeom prst="ellipse">
            <a:avLst/>
          </a:prstGeom>
          <a:solidFill>
            <a:srgbClr val="2E6FBF"/>
          </a:solidFill>
          <a:ln/>
        </p:spPr>
      </p:sp>
      <p:sp>
        <p:nvSpPr>
          <p:cNvPr id="38" name="Text 35"/>
          <p:cNvSpPr txBox="1"/>
          <p:nvPr/>
        </p:nvSpPr>
        <p:spPr>
          <a:xfrm>
            <a:off x="685800" y="5157216"/>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Montserrat" pitchFamily="34" charset="0"/>
                <a:ea typeface="Montserrat" pitchFamily="34" charset="-122"/>
                <a:cs typeface="Montserrat" pitchFamily="34" charset="-120"/>
              </a:rPr>
              <a:t>E1</a:t>
            </a:r>
            <a:endParaRPr lang="en-US" sz="1100" dirty="0"/>
          </a:p>
        </p:txBody>
      </p:sp>
      <p:sp>
        <p:nvSpPr>
          <p:cNvPr id="39" name="Text 36"/>
          <p:cNvSpPr txBox="1"/>
          <p:nvPr/>
        </p:nvSpPr>
        <p:spPr>
          <a:xfrm>
            <a:off x="1234440" y="5102352"/>
            <a:ext cx="2834640" cy="292608"/>
          </a:xfrm>
          <a:prstGeom prst="rect">
            <a:avLst/>
          </a:prstGeom>
          <a:noFill/>
          <a:ln/>
        </p:spPr>
        <p:txBody>
          <a:bodyPr wrap="square" lIns="0" tIns="0" rIns="0" bIns="0" rtlCol="0" anchor="t"/>
          <a:lstStyle/>
          <a:p>
            <a:pPr indent="0" marL="0">
              <a:buNone/>
            </a:pPr>
            <a:r>
              <a:rPr lang="en-US" sz="1300" b="1" dirty="0">
                <a:solidFill>
                  <a:srgbClr val="0F1341"/>
                </a:solidFill>
                <a:latin typeface="Montserrat" pitchFamily="34" charset="0"/>
                <a:ea typeface="Montserrat" pitchFamily="34" charset="-122"/>
                <a:cs typeface="Montserrat" pitchFamily="34" charset="-120"/>
              </a:rPr>
              <a:t>Cold Email Engine</a:t>
            </a:r>
            <a:endParaRPr lang="en-US" sz="1300" dirty="0"/>
          </a:p>
        </p:txBody>
      </p:sp>
      <p:sp>
        <p:nvSpPr>
          <p:cNvPr id="40" name="Text 37"/>
          <p:cNvSpPr txBox="1"/>
          <p:nvPr/>
        </p:nvSpPr>
        <p:spPr>
          <a:xfrm>
            <a:off x="1234440" y="5413248"/>
            <a:ext cx="2834640" cy="228600"/>
          </a:xfrm>
          <a:prstGeom prst="rect">
            <a:avLst/>
          </a:prstGeom>
          <a:noFill/>
          <a:ln/>
        </p:spPr>
        <p:txBody>
          <a:bodyPr wrap="square" lIns="0" tIns="0" rIns="0" bIns="0" rtlCol="0" anchor="t"/>
          <a:lstStyle/>
          <a:p>
            <a:pPr indent="0" marL="0">
              <a:buNone/>
            </a:pPr>
            <a:r>
              <a:rPr lang="en-US" sz="900" b="1" spc="100" kern="0" dirty="0">
                <a:solidFill>
                  <a:srgbClr val="2E6FBF"/>
                </a:solidFill>
                <a:latin typeface="Montserrat" pitchFamily="34" charset="0"/>
                <a:ea typeface="Montserrat" pitchFamily="34" charset="-122"/>
                <a:cs typeface="Montserrat" pitchFamily="34" charset="-120"/>
              </a:rPr>
              <a:t>AUTONOMOUS EXPERIMENT</a:t>
            </a:r>
            <a:endParaRPr lang="en-US" sz="900" dirty="0"/>
          </a:p>
        </p:txBody>
      </p:sp>
      <p:sp>
        <p:nvSpPr>
          <p:cNvPr id="41" name="Text 38"/>
          <p:cNvSpPr txBox="1"/>
          <p:nvPr/>
        </p:nvSpPr>
        <p:spPr>
          <a:xfrm>
            <a:off x="4160520" y="5029200"/>
            <a:ext cx="3749040" cy="676656"/>
          </a:xfrm>
          <a:prstGeom prst="rect">
            <a:avLst/>
          </a:prstGeom>
          <a:noFill/>
          <a:ln/>
        </p:spPr>
        <p:txBody>
          <a:bodyPr wrap="square" lIns="0" tIns="0" rIns="0" bIns="0" rtlCol="0" anchor="ctr"/>
          <a:lstStyle/>
          <a:p>
            <a:pPr indent="0" marL="0">
              <a:buNone/>
            </a:pPr>
            <a:r>
              <a:rPr lang="en-US" sz="1100" dirty="0">
                <a:solidFill>
                  <a:srgbClr val="5B6270"/>
                </a:solidFill>
                <a:latin typeface="Montserrat" pitchFamily="34" charset="0"/>
                <a:ea typeface="Montserrat" pitchFamily="34" charset="-122"/>
                <a:cs typeface="Montserrat" pitchFamily="34" charset="-120"/>
              </a:rPr>
              <a:t>Finds, writes, sends, classifies replies — real behaviour, measured</a:t>
            </a:r>
            <a:endParaRPr lang="en-US" sz="1100" dirty="0"/>
          </a:p>
        </p:txBody>
      </p:sp>
      <p:sp>
        <p:nvSpPr>
          <p:cNvPr id="42" name="Text 39"/>
          <p:cNvSpPr txBox="1"/>
          <p:nvPr/>
        </p:nvSpPr>
        <p:spPr>
          <a:xfrm>
            <a:off x="8092440" y="5029200"/>
            <a:ext cx="3429000" cy="676656"/>
          </a:xfrm>
          <a:prstGeom prst="rect">
            <a:avLst/>
          </a:prstGeom>
          <a:noFill/>
          <a:ln/>
        </p:spPr>
        <p:txBody>
          <a:bodyPr wrap="square" lIns="0" tIns="0" rIns="0" bIns="0" rtlCol="0" anchor="ctr"/>
          <a:lstStyle/>
          <a:p>
            <a:pPr indent="0" marL="0">
              <a:buNone/>
            </a:pPr>
            <a:r>
              <a:rPr lang="en-US" sz="1200" b="1" dirty="0">
                <a:solidFill>
                  <a:srgbClr val="0F1341"/>
                </a:solidFill>
                <a:latin typeface="Montserrat" pitchFamily="34" charset="0"/>
                <a:ea typeface="Montserrat" pitchFamily="34" charset="-122"/>
                <a:cs typeface="Montserrat" pitchFamily="34" charset="-120"/>
              </a:rPr>
              <a:t>Do real customers sign up when asked?</a:t>
            </a:r>
            <a:endParaRPr lang="en-US" sz="1200" dirty="0"/>
          </a:p>
        </p:txBody>
      </p:sp>
      <p:sp>
        <p:nvSpPr>
          <p:cNvPr id="43" name="Shape 40"/>
          <p:cNvSpPr/>
          <p:nvPr/>
        </p:nvSpPr>
        <p:spPr>
          <a:xfrm>
            <a:off x="548640" y="5852160"/>
            <a:ext cx="11091672" cy="384048"/>
          </a:xfrm>
          <a:prstGeom prst="roundRect">
            <a:avLst>
              <a:gd name="adj" fmla="val 19048"/>
            </a:avLst>
          </a:prstGeom>
          <a:solidFill>
            <a:srgbClr val="0F1341"/>
          </a:solidFill>
          <a:ln/>
        </p:spPr>
      </p:sp>
      <p:sp>
        <p:nvSpPr>
          <p:cNvPr id="44" name="Text 41"/>
          <p:cNvSpPr txBox="1"/>
          <p:nvPr/>
        </p:nvSpPr>
        <p:spPr>
          <a:xfrm>
            <a:off x="777240" y="5852160"/>
            <a:ext cx="10698480" cy="384048"/>
          </a:xfrm>
          <a:prstGeom prst="rect">
            <a:avLst/>
          </a:prstGeom>
          <a:noFill/>
          <a:ln/>
        </p:spPr>
        <p:txBody>
          <a:bodyPr wrap="square" lIns="0" tIns="0" rIns="0" bIns="0" rtlCol="0" anchor="ctr"/>
          <a:lstStyle/>
          <a:p>
            <a:pPr indent="0" marL="0">
              <a:buNone/>
            </a:pPr>
            <a:r>
              <a:rPr lang="en-US" sz="1300" b="1" dirty="0">
                <a:solidFill>
                  <a:srgbClr val="4A8FDB"/>
                </a:solidFill>
                <a:latin typeface="Montserrat" pitchFamily="34" charset="0"/>
                <a:ea typeface="Montserrat" pitchFamily="34" charset="-122"/>
                <a:cs typeface="Montserrat" pitchFamily="34" charset="-120"/>
              </a:rPr>
              <a:t>Behaviour over opinion: </a:t>
            </a:r>
            <a:pPr indent="0" marL="0">
              <a:buNone/>
            </a:pPr>
            <a:r>
              <a:rPr lang="en-US" sz="1300" dirty="0">
                <a:solidFill>
                  <a:srgbClr val="FFFFFF"/>
                </a:solidFill>
                <a:latin typeface="Montserrat" pitchFamily="34" charset="0"/>
                <a:ea typeface="Montserrat" pitchFamily="34" charset="-122"/>
                <a:cs typeface="Montserrat" pitchFamily="34" charset="-120"/>
              </a:rPr>
              <a:t>interviews explain — only a real test shows whether buyers reply, book or pay.</a:t>
            </a:r>
            <a:endParaRPr lang="en-US" sz="13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3A3"/>
                </a:solidFill>
                <a:latin typeface="Montserrat"/>
                <a:ea typeface="Montserrat"/>
                <a:cs typeface="Montserra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2" type="title" hasCustomPrompt="1"/>
          </p:nvPr>
        </p:nvSpPr>
        <p:spPr>
          <a:xfrm>
            <a:off x="548640" y="502920"/>
            <a:ext cx="7863840" cy="685800"/>
          </a:xfrm>
          <a:prstGeom prst="rect">
            <a:avLst/>
          </a:prstGeom>
          <a:noFill/>
          <a:ln/>
        </p:spPr>
        <p:txBody>
          <a:bodyPr wrap="square" lIns="0" tIns="0" rIns="0" bIns="0" rtlCol="0" anchor="t"/>
          <a:lstStyle/>
          <a:p>
            <a:pPr algn="l" indent="0" marL="0">
              <a:buNone/>
            </a:pPr>
            <a:r>
              <a:rPr lang="en-US" sz="2800" b="1" dirty="0">
                <a:solidFill>
                  <a:srgbClr val="0F1341"/>
                </a:solidFill>
                <a:latin typeface="Montserrat" pitchFamily="34" charset="0"/>
                <a:ea typeface="Montserrat" pitchFamily="34" charset="-122"/>
                <a:cs typeface="Montserrat" pitchFamily="34" charset="-120"/>
              </a:rPr>
              <a:t>How evidence becomes a verdict</a:t>
            </a:r>
            <a:endParaRPr lang="en-US" sz="2800" dirty="0"/>
          </a:p>
        </p:txBody>
      </p:sp>
      <p:sp>
        <p:nvSpPr>
          <p:cNvPr id="3" name="Text 0"/>
          <p:cNvSpPr/>
          <p:nvPr>
            <p:ph idx="103" type="body" hasCustomPrompt="1"/>
          </p:nvPr>
        </p:nvSpPr>
        <p:spPr>
          <a:xfrm>
            <a:off x="548640" y="1207008"/>
            <a:ext cx="8778240" cy="365760"/>
          </a:xfrm>
          <a:prstGeom prst="rect">
            <a:avLst/>
          </a:prstGeom>
          <a:noFill/>
          <a:ln/>
        </p:spPr>
        <p:txBody>
          <a:bodyPr wrap="square" lIns="0" tIns="0" rIns="0" bIns="0" rtlCol="0" anchor="t"/>
          <a:lstStyle/>
          <a:p>
            <a:pPr algn="l" indent="0" marL="0">
              <a:buNone/>
            </a:pPr>
            <a:r>
              <a:rPr lang="en-US" sz="1300" dirty="0">
                <a:solidFill>
                  <a:srgbClr val="5B6270"/>
                </a:solidFill>
                <a:latin typeface="Montserrat" pitchFamily="34" charset="0"/>
                <a:ea typeface="Montserrat" pitchFamily="34" charset="-122"/>
                <a:cs typeface="Montserrat" pitchFamily="34" charset="-120"/>
              </a:rPr>
              <a:t>Cheap evidence first, real evidence only where uncertainty remains — a rule decides, not the AI</a:t>
            </a:r>
            <a:endParaRPr lang="en-US" sz="1300" dirty="0"/>
          </a:p>
        </p:txBody>
      </p:sp>
      <p:sp>
        <p:nvSpPr>
          <p:cNvPr id="5" name="Shape 2"/>
          <p:cNvSpPr/>
          <p:nvPr/>
        </p:nvSpPr>
        <p:spPr>
          <a:xfrm>
            <a:off x="548640" y="1783080"/>
            <a:ext cx="3520440" cy="2331720"/>
          </a:xfrm>
          <a:prstGeom prst="roundRect">
            <a:avLst>
              <a:gd name="adj" fmla="val 3137"/>
            </a:avLst>
          </a:prstGeom>
          <a:solidFill>
            <a:srgbClr val="F3F7FC"/>
          </a:solidFill>
          <a:ln/>
        </p:spPr>
      </p:sp>
      <p:sp>
        <p:nvSpPr>
          <p:cNvPr id="6" name="Shape 3"/>
          <p:cNvSpPr/>
          <p:nvPr/>
        </p:nvSpPr>
        <p:spPr>
          <a:xfrm>
            <a:off x="749808" y="1965960"/>
            <a:ext cx="411480" cy="411480"/>
          </a:xfrm>
          <a:prstGeom prst="ellipse">
            <a:avLst/>
          </a:prstGeom>
          <a:solidFill>
            <a:srgbClr val="2E6FBF"/>
          </a:solidFill>
          <a:ln/>
        </p:spPr>
      </p:sp>
      <p:sp>
        <p:nvSpPr>
          <p:cNvPr id="7" name="Text 4"/>
          <p:cNvSpPr txBox="1"/>
          <p:nvPr/>
        </p:nvSpPr>
        <p:spPr>
          <a:xfrm>
            <a:off x="749808" y="196596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1</a:t>
            </a:r>
            <a:endParaRPr lang="en-US" sz="1200" dirty="0"/>
          </a:p>
        </p:txBody>
      </p:sp>
      <p:sp>
        <p:nvSpPr>
          <p:cNvPr id="8" name="Text 5"/>
          <p:cNvSpPr txBox="1"/>
          <p:nvPr/>
        </p:nvSpPr>
        <p:spPr>
          <a:xfrm>
            <a:off x="1280160" y="1965960"/>
            <a:ext cx="2651760" cy="411480"/>
          </a:xfrm>
          <a:prstGeom prst="rect">
            <a:avLst/>
          </a:prstGeom>
          <a:noFill/>
          <a:ln/>
        </p:spPr>
        <p:txBody>
          <a:bodyPr wrap="square" lIns="0" tIns="0" rIns="0" bIns="0" rtlCol="0" anchor="ctr"/>
          <a:lstStyle/>
          <a:p>
            <a:pPr indent="0" marL="0">
              <a:buNone/>
            </a:pPr>
            <a:r>
              <a:rPr lang="en-US" sz="1600" b="1" dirty="0">
                <a:solidFill>
                  <a:srgbClr val="0F1341"/>
                </a:solidFill>
                <a:latin typeface="Montserrat" pitchFamily="34" charset="0"/>
                <a:ea typeface="Montserrat" pitchFamily="34" charset="-122"/>
                <a:cs typeface="Montserrat" pitchFamily="34" charset="-120"/>
              </a:rPr>
              <a:t>Secondary</a:t>
            </a:r>
            <a:endParaRPr lang="en-US" sz="1600" dirty="0"/>
          </a:p>
        </p:txBody>
      </p:sp>
      <p:sp>
        <p:nvSpPr>
          <p:cNvPr id="9" name="Text 6"/>
          <p:cNvSpPr txBox="1"/>
          <p:nvPr/>
        </p:nvSpPr>
        <p:spPr>
          <a:xfrm>
            <a:off x="1280160" y="2377440"/>
            <a:ext cx="2651760" cy="274320"/>
          </a:xfrm>
          <a:prstGeom prst="rect">
            <a:avLst/>
          </a:prstGeom>
          <a:noFill/>
          <a:ln/>
        </p:spPr>
        <p:txBody>
          <a:bodyPr wrap="square" lIns="0" tIns="0" rIns="0" bIns="0" rtlCol="0" anchor="t"/>
          <a:lstStyle/>
          <a:p>
            <a:pPr indent="0" marL="0">
              <a:buNone/>
            </a:pPr>
            <a:r>
              <a:rPr lang="en-US" sz="1100" b="1" dirty="0">
                <a:solidFill>
                  <a:srgbClr val="2E6FBF"/>
                </a:solidFill>
                <a:latin typeface="Montserrat" pitchFamily="34" charset="0"/>
                <a:ea typeface="Montserrat" pitchFamily="34" charset="-122"/>
                <a:cs typeface="Montserrat" pitchFamily="34" charset="-120"/>
              </a:rPr>
              <a:t>E4 + E5</a:t>
            </a:r>
            <a:endParaRPr lang="en-US" sz="1100" dirty="0"/>
          </a:p>
        </p:txBody>
      </p:sp>
      <p:sp>
        <p:nvSpPr>
          <p:cNvPr id="10" name="Text 7"/>
          <p:cNvSpPr txBox="1"/>
          <p:nvPr/>
        </p:nvSpPr>
        <p:spPr>
          <a:xfrm>
            <a:off x="749808" y="2788920"/>
            <a:ext cx="3108960" cy="731520"/>
          </a:xfrm>
          <a:prstGeom prst="rect">
            <a:avLst/>
          </a:prstGeom>
          <a:noFill/>
          <a:ln/>
        </p:spPr>
        <p:txBody>
          <a:bodyPr wrap="square" lIns="0" tIns="0" rIns="0" bIns="0" rtlCol="0" anchor="t"/>
          <a:lstStyle/>
          <a:p>
            <a:pPr indent="0" marL="0">
              <a:buNone/>
            </a:pPr>
            <a:r>
              <a:rPr lang="en-US" sz="1200" dirty="0">
                <a:solidFill>
                  <a:srgbClr val="5B6270"/>
                </a:solidFill>
                <a:latin typeface="Montserrat" pitchFamily="34" charset="0"/>
                <a:ea typeface="Montserrat" pitchFamily="34" charset="-122"/>
                <a:cs typeface="Montserrat" pitchFamily="34" charset="-120"/>
              </a:rPr>
              <a:t>Fast and cheap. Sets priors on market size, prices, competitors.</a:t>
            </a:r>
            <a:endParaRPr lang="en-US" sz="1200" dirty="0"/>
          </a:p>
        </p:txBody>
      </p:sp>
      <p:sp>
        <p:nvSpPr>
          <p:cNvPr id="11" name="Text 8"/>
          <p:cNvSpPr txBox="1"/>
          <p:nvPr/>
        </p:nvSpPr>
        <p:spPr>
          <a:xfrm>
            <a:off x="749808" y="3566160"/>
            <a:ext cx="3108960" cy="411480"/>
          </a:xfrm>
          <a:prstGeom prst="rect">
            <a:avLst/>
          </a:prstGeom>
          <a:noFill/>
          <a:ln/>
        </p:spPr>
        <p:txBody>
          <a:bodyPr wrap="square" lIns="0" tIns="0" rIns="0" bIns="0" rtlCol="0" anchor="t"/>
          <a:lstStyle/>
          <a:p>
            <a:pPr indent="0" marL="0">
              <a:buNone/>
            </a:pPr>
            <a:r>
              <a:rPr lang="en-US" sz="1000" dirty="0">
                <a:solidFill>
                  <a:srgbClr val="8A93A3"/>
                </a:solidFill>
                <a:latin typeface="Montserrat" pitchFamily="34" charset="0"/>
                <a:ea typeface="Montserrat" pitchFamily="34" charset="-122"/>
                <a:cs typeface="Montserrat" pitchFamily="34" charset="-120"/>
              </a:rPr>
              <a:t>weight  </a:t>
            </a:r>
            <a:pPr indent="0" marL="0">
              <a:buNone/>
            </a:pPr>
            <a:r>
              <a:rPr lang="en-US" sz="1800" b="1" dirty="0">
                <a:solidFill>
                  <a:srgbClr val="0F1341"/>
                </a:solidFill>
                <a:latin typeface="Montserrat" pitchFamily="34" charset="0"/>
                <a:ea typeface="Montserrat" pitchFamily="34" charset="-122"/>
                <a:cs typeface="Montserrat" pitchFamily="34" charset="-120"/>
              </a:rPr>
              <a:t>0.2 – 0.9</a:t>
            </a:r>
            <a:endParaRPr lang="en-US" sz="1300" dirty="0"/>
          </a:p>
        </p:txBody>
      </p:sp>
      <p:sp>
        <p:nvSpPr>
          <p:cNvPr id="12" name="Shape 9"/>
          <p:cNvSpPr/>
          <p:nvPr/>
        </p:nvSpPr>
        <p:spPr>
          <a:xfrm>
            <a:off x="4297680" y="1783080"/>
            <a:ext cx="3520440" cy="2331720"/>
          </a:xfrm>
          <a:prstGeom prst="roundRect">
            <a:avLst>
              <a:gd name="adj" fmla="val 3137"/>
            </a:avLst>
          </a:prstGeom>
          <a:solidFill>
            <a:srgbClr val="F3F7FC"/>
          </a:solidFill>
          <a:ln/>
        </p:spPr>
      </p:sp>
      <p:sp>
        <p:nvSpPr>
          <p:cNvPr id="13" name="Shape 10"/>
          <p:cNvSpPr/>
          <p:nvPr/>
        </p:nvSpPr>
        <p:spPr>
          <a:xfrm>
            <a:off x="4498848" y="1965960"/>
            <a:ext cx="411480" cy="411480"/>
          </a:xfrm>
          <a:prstGeom prst="ellipse">
            <a:avLst/>
          </a:prstGeom>
          <a:solidFill>
            <a:srgbClr val="2E6FBF"/>
          </a:solidFill>
          <a:ln/>
        </p:spPr>
      </p:sp>
      <p:sp>
        <p:nvSpPr>
          <p:cNvPr id="14" name="Text 11"/>
          <p:cNvSpPr txBox="1"/>
          <p:nvPr/>
        </p:nvSpPr>
        <p:spPr>
          <a:xfrm>
            <a:off x="4498848" y="196596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2</a:t>
            </a:r>
            <a:endParaRPr lang="en-US" sz="1200" dirty="0"/>
          </a:p>
        </p:txBody>
      </p:sp>
      <p:sp>
        <p:nvSpPr>
          <p:cNvPr id="15" name="Text 12"/>
          <p:cNvSpPr txBox="1"/>
          <p:nvPr/>
        </p:nvSpPr>
        <p:spPr>
          <a:xfrm>
            <a:off x="5029200" y="1965960"/>
            <a:ext cx="2651760" cy="411480"/>
          </a:xfrm>
          <a:prstGeom prst="rect">
            <a:avLst/>
          </a:prstGeom>
          <a:noFill/>
          <a:ln/>
        </p:spPr>
        <p:txBody>
          <a:bodyPr wrap="square" lIns="0" tIns="0" rIns="0" bIns="0" rtlCol="0" anchor="ctr"/>
          <a:lstStyle/>
          <a:p>
            <a:pPr indent="0" marL="0">
              <a:buNone/>
            </a:pPr>
            <a:r>
              <a:rPr lang="en-US" sz="1600" b="1" dirty="0">
                <a:solidFill>
                  <a:srgbClr val="0F1341"/>
                </a:solidFill>
                <a:latin typeface="Montserrat" pitchFamily="34" charset="0"/>
                <a:ea typeface="Montserrat" pitchFamily="34" charset="-122"/>
                <a:cs typeface="Montserrat" pitchFamily="34" charset="-120"/>
              </a:rPr>
              <a:t>Simulated</a:t>
            </a:r>
            <a:endParaRPr lang="en-US" sz="1600" dirty="0"/>
          </a:p>
        </p:txBody>
      </p:sp>
      <p:sp>
        <p:nvSpPr>
          <p:cNvPr id="16" name="Text 13"/>
          <p:cNvSpPr txBox="1"/>
          <p:nvPr/>
        </p:nvSpPr>
        <p:spPr>
          <a:xfrm>
            <a:off x="5029200" y="2377440"/>
            <a:ext cx="2651760" cy="274320"/>
          </a:xfrm>
          <a:prstGeom prst="rect">
            <a:avLst/>
          </a:prstGeom>
          <a:noFill/>
          <a:ln/>
        </p:spPr>
        <p:txBody>
          <a:bodyPr wrap="square" lIns="0" tIns="0" rIns="0" bIns="0" rtlCol="0" anchor="t"/>
          <a:lstStyle/>
          <a:p>
            <a:pPr indent="0" marL="0">
              <a:buNone/>
            </a:pPr>
            <a:r>
              <a:rPr lang="en-US" sz="1100" b="1" dirty="0">
                <a:solidFill>
                  <a:srgbClr val="2E6FBF"/>
                </a:solidFill>
                <a:latin typeface="Montserrat" pitchFamily="34" charset="0"/>
                <a:ea typeface="Montserrat" pitchFamily="34" charset="-122"/>
                <a:cs typeface="Montserrat" pitchFamily="34" charset="-120"/>
              </a:rPr>
              <a:t>E2 + E3</a:t>
            </a:r>
            <a:endParaRPr lang="en-US" sz="1100" dirty="0"/>
          </a:p>
        </p:txBody>
      </p:sp>
      <p:sp>
        <p:nvSpPr>
          <p:cNvPr id="17" name="Text 14"/>
          <p:cNvSpPr txBox="1"/>
          <p:nvPr/>
        </p:nvSpPr>
        <p:spPr>
          <a:xfrm>
            <a:off x="4498848" y="2788920"/>
            <a:ext cx="3108960" cy="731520"/>
          </a:xfrm>
          <a:prstGeom prst="rect">
            <a:avLst/>
          </a:prstGeom>
          <a:noFill/>
          <a:ln/>
        </p:spPr>
        <p:txBody>
          <a:bodyPr wrap="square" lIns="0" tIns="0" rIns="0" bIns="0" rtlCol="0" anchor="t"/>
          <a:lstStyle/>
          <a:p>
            <a:pPr indent="0" marL="0">
              <a:buNone/>
            </a:pPr>
            <a:r>
              <a:rPr lang="en-US" sz="1200" dirty="0">
                <a:solidFill>
                  <a:srgbClr val="5B6270"/>
                </a:solidFill>
                <a:latin typeface="Montserrat" pitchFamily="34" charset="0"/>
                <a:ea typeface="Montserrat" pitchFamily="34" charset="-122"/>
                <a:cs typeface="Montserrat" pitchFamily="34" charset="-120"/>
              </a:rPr>
              <a:t>Narrows where real evidence is worth the spend. Never validates alone.</a:t>
            </a:r>
            <a:endParaRPr lang="en-US" sz="1200" dirty="0"/>
          </a:p>
        </p:txBody>
      </p:sp>
      <p:sp>
        <p:nvSpPr>
          <p:cNvPr id="18" name="Text 15"/>
          <p:cNvSpPr txBox="1"/>
          <p:nvPr/>
        </p:nvSpPr>
        <p:spPr>
          <a:xfrm>
            <a:off x="4498848" y="3566160"/>
            <a:ext cx="3108960" cy="411480"/>
          </a:xfrm>
          <a:prstGeom prst="rect">
            <a:avLst/>
          </a:prstGeom>
          <a:noFill/>
          <a:ln/>
        </p:spPr>
        <p:txBody>
          <a:bodyPr wrap="square" lIns="0" tIns="0" rIns="0" bIns="0" rtlCol="0" anchor="t"/>
          <a:lstStyle/>
          <a:p>
            <a:pPr indent="0" marL="0">
              <a:buNone/>
            </a:pPr>
            <a:r>
              <a:rPr lang="en-US" sz="1000" dirty="0">
                <a:solidFill>
                  <a:srgbClr val="8A93A3"/>
                </a:solidFill>
                <a:latin typeface="Montserrat" pitchFamily="34" charset="0"/>
                <a:ea typeface="Montserrat" pitchFamily="34" charset="-122"/>
                <a:cs typeface="Montserrat" pitchFamily="34" charset="-120"/>
              </a:rPr>
              <a:t>weight  </a:t>
            </a:r>
            <a:pPr indent="0" marL="0">
              <a:buNone/>
            </a:pPr>
            <a:r>
              <a:rPr lang="en-US" sz="1800" b="1" dirty="0">
                <a:solidFill>
                  <a:srgbClr val="0F1341"/>
                </a:solidFill>
                <a:latin typeface="Montserrat" pitchFamily="34" charset="0"/>
                <a:ea typeface="Montserrat" pitchFamily="34" charset="-122"/>
                <a:cs typeface="Montserrat" pitchFamily="34" charset="-120"/>
              </a:rPr>
              <a:t>0.4</a:t>
            </a:r>
            <a:endParaRPr lang="en-US" sz="1300" dirty="0"/>
          </a:p>
        </p:txBody>
      </p:sp>
      <p:sp>
        <p:nvSpPr>
          <p:cNvPr id="19" name="Shape 16"/>
          <p:cNvSpPr/>
          <p:nvPr/>
        </p:nvSpPr>
        <p:spPr>
          <a:xfrm>
            <a:off x="8046720" y="1783080"/>
            <a:ext cx="3520440" cy="2331720"/>
          </a:xfrm>
          <a:prstGeom prst="roundRect">
            <a:avLst>
              <a:gd name="adj" fmla="val 3137"/>
            </a:avLst>
          </a:prstGeom>
          <a:solidFill>
            <a:srgbClr val="0F1341"/>
          </a:solidFill>
          <a:ln/>
        </p:spPr>
      </p:sp>
      <p:sp>
        <p:nvSpPr>
          <p:cNvPr id="20" name="Shape 17"/>
          <p:cNvSpPr/>
          <p:nvPr/>
        </p:nvSpPr>
        <p:spPr>
          <a:xfrm>
            <a:off x="8247888" y="1965960"/>
            <a:ext cx="411480" cy="411480"/>
          </a:xfrm>
          <a:prstGeom prst="ellipse">
            <a:avLst/>
          </a:prstGeom>
          <a:solidFill>
            <a:srgbClr val="4A8FDB"/>
          </a:solidFill>
          <a:ln/>
        </p:spPr>
      </p:sp>
      <p:sp>
        <p:nvSpPr>
          <p:cNvPr id="21" name="Text 18"/>
          <p:cNvSpPr txBox="1"/>
          <p:nvPr/>
        </p:nvSpPr>
        <p:spPr>
          <a:xfrm>
            <a:off x="8247888" y="196596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3</a:t>
            </a:r>
            <a:endParaRPr lang="en-US" sz="1200" dirty="0"/>
          </a:p>
        </p:txBody>
      </p:sp>
      <p:sp>
        <p:nvSpPr>
          <p:cNvPr id="22" name="Text 19"/>
          <p:cNvSpPr txBox="1"/>
          <p:nvPr/>
        </p:nvSpPr>
        <p:spPr>
          <a:xfrm>
            <a:off x="8778240" y="1965960"/>
            <a:ext cx="2651760" cy="411480"/>
          </a:xfrm>
          <a:prstGeom prst="rect">
            <a:avLst/>
          </a:prstGeom>
          <a:noFill/>
          <a:ln/>
        </p:spPr>
        <p:txBody>
          <a:bodyPr wrap="square" lIns="0" tIns="0" rIns="0" bIns="0" rtlCol="0" anchor="ctr"/>
          <a:lstStyle/>
          <a:p>
            <a:pPr indent="0" marL="0">
              <a:buNone/>
            </a:pPr>
            <a:r>
              <a:rPr lang="en-US" sz="1600" b="1" dirty="0">
                <a:solidFill>
                  <a:srgbClr val="FFFFFF"/>
                </a:solidFill>
                <a:latin typeface="Montserrat" pitchFamily="34" charset="0"/>
                <a:ea typeface="Montserrat" pitchFamily="34" charset="-122"/>
                <a:cs typeface="Montserrat" pitchFamily="34" charset="-120"/>
              </a:rPr>
              <a:t>Real</a:t>
            </a:r>
            <a:endParaRPr lang="en-US" sz="1600" dirty="0"/>
          </a:p>
        </p:txBody>
      </p:sp>
      <p:sp>
        <p:nvSpPr>
          <p:cNvPr id="23" name="Text 20"/>
          <p:cNvSpPr txBox="1"/>
          <p:nvPr/>
        </p:nvSpPr>
        <p:spPr>
          <a:xfrm>
            <a:off x="8778240" y="2377440"/>
            <a:ext cx="2651760" cy="274320"/>
          </a:xfrm>
          <a:prstGeom prst="rect">
            <a:avLst/>
          </a:prstGeom>
          <a:noFill/>
          <a:ln/>
        </p:spPr>
        <p:txBody>
          <a:bodyPr wrap="square" lIns="0" tIns="0" rIns="0" bIns="0" rtlCol="0" anchor="t"/>
          <a:lstStyle/>
          <a:p>
            <a:pPr indent="0" marL="0">
              <a:buNone/>
            </a:pPr>
            <a:r>
              <a:rPr lang="en-US" sz="1100" b="1" dirty="0">
                <a:solidFill>
                  <a:srgbClr val="4A8FDB"/>
                </a:solidFill>
                <a:latin typeface="Montserrat" pitchFamily="34" charset="0"/>
                <a:ea typeface="Montserrat" pitchFamily="34" charset="-122"/>
                <a:cs typeface="Montserrat" pitchFamily="34" charset="-120"/>
              </a:rPr>
              <a:t>E1</a:t>
            </a:r>
            <a:endParaRPr lang="en-US" sz="1100" dirty="0"/>
          </a:p>
        </p:txBody>
      </p:sp>
      <p:sp>
        <p:nvSpPr>
          <p:cNvPr id="24" name="Text 21"/>
          <p:cNvSpPr txBox="1"/>
          <p:nvPr/>
        </p:nvSpPr>
        <p:spPr>
          <a:xfrm>
            <a:off x="8247888" y="2788920"/>
            <a:ext cx="3108960" cy="731520"/>
          </a:xfrm>
          <a:prstGeom prst="rect">
            <a:avLst/>
          </a:prstGeom>
          <a:noFill/>
          <a:ln/>
        </p:spPr>
        <p:txBody>
          <a:bodyPr wrap="square" lIns="0" tIns="0" rIns="0" bIns="0" rtlCol="0" anchor="t"/>
          <a:lstStyle/>
          <a:p>
            <a:pPr indent="0" marL="0">
              <a:buNone/>
            </a:pPr>
            <a:r>
              <a:rPr lang="en-US" sz="1200" dirty="0">
                <a:solidFill>
                  <a:srgbClr val="C9D3E3"/>
                </a:solidFill>
                <a:latin typeface="Montserrat" pitchFamily="34" charset="0"/>
                <a:ea typeface="Montserrat" pitchFamily="34" charset="-122"/>
                <a:cs typeface="Montserrat" pitchFamily="34" charset="-120"/>
              </a:rPr>
              <a:t>Slow (14–21 days). The only kind that reaches “validated”.</a:t>
            </a:r>
            <a:endParaRPr lang="en-US" sz="1200" dirty="0"/>
          </a:p>
        </p:txBody>
      </p:sp>
      <p:sp>
        <p:nvSpPr>
          <p:cNvPr id="25" name="Text 22"/>
          <p:cNvSpPr txBox="1"/>
          <p:nvPr/>
        </p:nvSpPr>
        <p:spPr>
          <a:xfrm>
            <a:off x="8247888" y="3566160"/>
            <a:ext cx="3108960" cy="411480"/>
          </a:xfrm>
          <a:prstGeom prst="rect">
            <a:avLst/>
          </a:prstGeom>
          <a:noFill/>
          <a:ln/>
        </p:spPr>
        <p:txBody>
          <a:bodyPr wrap="square" lIns="0" tIns="0" rIns="0" bIns="0" rtlCol="0" anchor="t"/>
          <a:lstStyle/>
          <a:p>
            <a:pPr indent="0" marL="0">
              <a:buNone/>
            </a:pPr>
            <a:r>
              <a:rPr lang="en-US" sz="1000" dirty="0">
                <a:solidFill>
                  <a:srgbClr val="C9D3E3"/>
                </a:solidFill>
                <a:latin typeface="Montserrat" pitchFamily="34" charset="0"/>
                <a:ea typeface="Montserrat" pitchFamily="34" charset="-122"/>
                <a:cs typeface="Montserrat" pitchFamily="34" charset="-120"/>
              </a:rPr>
              <a:t>weight  </a:t>
            </a:r>
            <a:pPr indent="0" marL="0">
              <a:buNone/>
            </a:pPr>
            <a:r>
              <a:rPr lang="en-US" sz="1800" b="1" dirty="0">
                <a:solidFill>
                  <a:srgbClr val="FFFFFF"/>
                </a:solidFill>
                <a:latin typeface="Montserrat" pitchFamily="34" charset="0"/>
                <a:ea typeface="Montserrat" pitchFamily="34" charset="-122"/>
                <a:cs typeface="Montserrat" pitchFamily="34" charset="-120"/>
              </a:rPr>
              <a:t>0.7 – 1.0</a:t>
            </a:r>
            <a:endParaRPr lang="en-US" sz="1300" dirty="0"/>
          </a:p>
        </p:txBody>
      </p:sp>
      <p:sp>
        <p:nvSpPr>
          <p:cNvPr id="26" name="Text 23"/>
          <p:cNvSpPr txBox="1"/>
          <p:nvPr/>
        </p:nvSpPr>
        <p:spPr>
          <a:xfrm>
            <a:off x="548640" y="4389120"/>
            <a:ext cx="7315200" cy="274320"/>
          </a:xfrm>
          <a:prstGeom prst="rect">
            <a:avLst/>
          </a:prstGeom>
          <a:noFill/>
          <a:ln/>
        </p:spPr>
        <p:txBody>
          <a:bodyPr wrap="square" lIns="0" tIns="0" rIns="0" bIns="0" rtlCol="0" anchor="t"/>
          <a:lstStyle/>
          <a:p>
            <a:pPr indent="0" marL="0">
              <a:buNone/>
            </a:pPr>
            <a:r>
              <a:rPr lang="en-US" sz="1000" b="1" spc="100" kern="0" dirty="0">
                <a:solidFill>
                  <a:srgbClr val="8A93A3"/>
                </a:solidFill>
                <a:latin typeface="Montserrat" pitchFamily="34" charset="0"/>
                <a:ea typeface="Montserrat" pitchFamily="34" charset="-122"/>
                <a:cs typeface="Montserrat" pitchFamily="34" charset="-120"/>
              </a:rPr>
              <a:t>THE VERDICT  ·  weighted evidence per hypothesis, from –1 to +1</a:t>
            </a:r>
            <a:endParaRPr lang="en-US" sz="1000" dirty="0"/>
          </a:p>
        </p:txBody>
      </p:sp>
      <p:sp>
        <p:nvSpPr>
          <p:cNvPr id="27" name="Shape 24"/>
          <p:cNvSpPr/>
          <p:nvPr/>
        </p:nvSpPr>
        <p:spPr>
          <a:xfrm>
            <a:off x="548640" y="4709160"/>
            <a:ext cx="1371600" cy="384048"/>
          </a:xfrm>
          <a:prstGeom prst="roundRect">
            <a:avLst>
              <a:gd name="adj" fmla="val 19048"/>
            </a:avLst>
          </a:prstGeom>
          <a:solidFill>
            <a:srgbClr val="C9D3E3"/>
          </a:solidFill>
          <a:ln/>
        </p:spPr>
      </p:sp>
      <p:sp>
        <p:nvSpPr>
          <p:cNvPr id="28" name="Text 25"/>
          <p:cNvSpPr txBox="1"/>
          <p:nvPr/>
        </p:nvSpPr>
        <p:spPr>
          <a:xfrm>
            <a:off x="548640" y="4709160"/>
            <a:ext cx="1371600" cy="384048"/>
          </a:xfrm>
          <a:prstGeom prst="rect">
            <a:avLst/>
          </a:prstGeom>
          <a:noFill/>
          <a:ln/>
        </p:spPr>
        <p:txBody>
          <a:bodyPr wrap="square" lIns="0" tIns="0" rIns="0" bIns="0" rtlCol="0" anchor="ctr"/>
          <a:lstStyle/>
          <a:p>
            <a:pPr algn="ctr" indent="0" marL="0">
              <a:buNone/>
            </a:pPr>
            <a:r>
              <a:rPr lang="en-US" sz="1300" b="1" spc="100" kern="0" dirty="0">
                <a:solidFill>
                  <a:srgbClr val="0F1341"/>
                </a:solidFill>
                <a:latin typeface="Montserrat" pitchFamily="34" charset="0"/>
                <a:ea typeface="Montserrat" pitchFamily="34" charset="-122"/>
                <a:cs typeface="Montserrat" pitchFamily="34" charset="-120"/>
              </a:rPr>
              <a:t>Stop</a:t>
            </a:r>
            <a:endParaRPr lang="en-US" sz="1300" dirty="0"/>
          </a:p>
        </p:txBody>
      </p:sp>
      <p:sp>
        <p:nvSpPr>
          <p:cNvPr id="29" name="Text 26"/>
          <p:cNvSpPr txBox="1"/>
          <p:nvPr/>
        </p:nvSpPr>
        <p:spPr>
          <a:xfrm>
            <a:off x="2057400" y="4709160"/>
            <a:ext cx="2103120" cy="384048"/>
          </a:xfrm>
          <a:prstGeom prst="rect">
            <a:avLst/>
          </a:prstGeom>
          <a:noFill/>
          <a:ln/>
        </p:spPr>
        <p:txBody>
          <a:bodyPr wrap="square" lIns="0" tIns="0" rIns="0" bIns="0" rtlCol="0" anchor="ctr"/>
          <a:lstStyle/>
          <a:p>
            <a:pPr indent="0" marL="0">
              <a:buNone/>
            </a:pPr>
            <a:r>
              <a:rPr lang="en-US" sz="1200" dirty="0">
                <a:solidFill>
                  <a:srgbClr val="5B6270"/>
                </a:solidFill>
                <a:latin typeface="Montserrat" pitchFamily="34" charset="0"/>
                <a:ea typeface="Montserrat" pitchFamily="34" charset="-122"/>
                <a:cs typeface="Montserrat" pitchFamily="34" charset="-120"/>
              </a:rPr>
              <a:t>score below –0.4</a:t>
            </a:r>
            <a:endParaRPr lang="en-US" sz="1200" dirty="0"/>
          </a:p>
        </p:txBody>
      </p:sp>
      <p:sp>
        <p:nvSpPr>
          <p:cNvPr id="30" name="Shape 27"/>
          <p:cNvSpPr/>
          <p:nvPr/>
        </p:nvSpPr>
        <p:spPr>
          <a:xfrm>
            <a:off x="4297680" y="4709160"/>
            <a:ext cx="1371600" cy="384048"/>
          </a:xfrm>
          <a:prstGeom prst="roundRect">
            <a:avLst>
              <a:gd name="adj" fmla="val 19048"/>
            </a:avLst>
          </a:prstGeom>
          <a:solidFill>
            <a:srgbClr val="6A7FA8"/>
          </a:solidFill>
          <a:ln/>
        </p:spPr>
      </p:sp>
      <p:sp>
        <p:nvSpPr>
          <p:cNvPr id="31" name="Text 28"/>
          <p:cNvSpPr txBox="1"/>
          <p:nvPr/>
        </p:nvSpPr>
        <p:spPr>
          <a:xfrm>
            <a:off x="4297680" y="4709160"/>
            <a:ext cx="1371600" cy="384048"/>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Montserrat" pitchFamily="34" charset="0"/>
                <a:ea typeface="Montserrat" pitchFamily="34" charset="-122"/>
                <a:cs typeface="Montserrat" pitchFamily="34" charset="-120"/>
              </a:rPr>
              <a:t>Iterate</a:t>
            </a:r>
            <a:endParaRPr lang="en-US" sz="1300" dirty="0"/>
          </a:p>
        </p:txBody>
      </p:sp>
      <p:sp>
        <p:nvSpPr>
          <p:cNvPr id="32" name="Text 29"/>
          <p:cNvSpPr txBox="1"/>
          <p:nvPr/>
        </p:nvSpPr>
        <p:spPr>
          <a:xfrm>
            <a:off x="5806440" y="4709160"/>
            <a:ext cx="2103120" cy="384048"/>
          </a:xfrm>
          <a:prstGeom prst="rect">
            <a:avLst/>
          </a:prstGeom>
          <a:noFill/>
          <a:ln/>
        </p:spPr>
        <p:txBody>
          <a:bodyPr wrap="square" lIns="0" tIns="0" rIns="0" bIns="0" rtlCol="0" anchor="ctr"/>
          <a:lstStyle/>
          <a:p>
            <a:pPr indent="0" marL="0">
              <a:buNone/>
            </a:pPr>
            <a:r>
              <a:rPr lang="en-US" sz="1200" dirty="0">
                <a:solidFill>
                  <a:srgbClr val="5B6270"/>
                </a:solidFill>
                <a:latin typeface="Montserrat" pitchFamily="34" charset="0"/>
                <a:ea typeface="Montserrat" pitchFamily="34" charset="-122"/>
                <a:cs typeface="Montserrat" pitchFamily="34" charset="-120"/>
              </a:rPr>
              <a:t>between –0.4 and +0.4</a:t>
            </a:r>
            <a:endParaRPr lang="en-US" sz="1200" dirty="0"/>
          </a:p>
        </p:txBody>
      </p:sp>
      <p:sp>
        <p:nvSpPr>
          <p:cNvPr id="33" name="Shape 30"/>
          <p:cNvSpPr/>
          <p:nvPr/>
        </p:nvSpPr>
        <p:spPr>
          <a:xfrm>
            <a:off x="8046720" y="4709160"/>
            <a:ext cx="1371600" cy="384048"/>
          </a:xfrm>
          <a:prstGeom prst="roundRect">
            <a:avLst>
              <a:gd name="adj" fmla="val 19048"/>
            </a:avLst>
          </a:prstGeom>
          <a:solidFill>
            <a:srgbClr val="2E6FBF"/>
          </a:solidFill>
          <a:ln/>
        </p:spPr>
      </p:sp>
      <p:sp>
        <p:nvSpPr>
          <p:cNvPr id="34" name="Text 31"/>
          <p:cNvSpPr txBox="1"/>
          <p:nvPr/>
        </p:nvSpPr>
        <p:spPr>
          <a:xfrm>
            <a:off x="8046720" y="4709160"/>
            <a:ext cx="1371600" cy="384048"/>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Montserrat" pitchFamily="34" charset="0"/>
                <a:ea typeface="Montserrat" pitchFamily="34" charset="-122"/>
                <a:cs typeface="Montserrat" pitchFamily="34" charset="-120"/>
              </a:rPr>
              <a:t>Go</a:t>
            </a:r>
            <a:endParaRPr lang="en-US" sz="1300" dirty="0"/>
          </a:p>
        </p:txBody>
      </p:sp>
      <p:sp>
        <p:nvSpPr>
          <p:cNvPr id="35" name="Text 32"/>
          <p:cNvSpPr txBox="1"/>
          <p:nvPr/>
        </p:nvSpPr>
        <p:spPr>
          <a:xfrm>
            <a:off x="9555480" y="4709160"/>
            <a:ext cx="2103120" cy="384048"/>
          </a:xfrm>
          <a:prstGeom prst="rect">
            <a:avLst/>
          </a:prstGeom>
          <a:noFill/>
          <a:ln/>
        </p:spPr>
        <p:txBody>
          <a:bodyPr wrap="square" lIns="0" tIns="0" rIns="0" bIns="0" rtlCol="0" anchor="ctr"/>
          <a:lstStyle/>
          <a:p>
            <a:pPr indent="0" marL="0">
              <a:buNone/>
            </a:pPr>
            <a:r>
              <a:rPr lang="en-US" sz="1200" dirty="0">
                <a:solidFill>
                  <a:srgbClr val="5B6270"/>
                </a:solidFill>
                <a:latin typeface="Montserrat" pitchFamily="34" charset="0"/>
                <a:ea typeface="Montserrat" pitchFamily="34" charset="-122"/>
                <a:cs typeface="Montserrat" pitchFamily="34" charset="-120"/>
              </a:rPr>
              <a:t>above +0.4, with real behaviour</a:t>
            </a:r>
            <a:endParaRPr lang="en-US" sz="1200" dirty="0"/>
          </a:p>
        </p:txBody>
      </p:sp>
      <p:sp>
        <p:nvSpPr>
          <p:cNvPr id="36" name="Shape 33"/>
          <p:cNvSpPr/>
          <p:nvPr/>
        </p:nvSpPr>
        <p:spPr>
          <a:xfrm>
            <a:off x="548640" y="5440680"/>
            <a:ext cx="11091672" cy="502920"/>
          </a:xfrm>
          <a:prstGeom prst="roundRect">
            <a:avLst>
              <a:gd name="adj" fmla="val 14545"/>
            </a:avLst>
          </a:prstGeom>
          <a:solidFill>
            <a:srgbClr val="0F1341"/>
          </a:solidFill>
          <a:ln/>
        </p:spPr>
      </p:sp>
      <p:sp>
        <p:nvSpPr>
          <p:cNvPr id="37" name="Text 34"/>
          <p:cNvSpPr txBox="1"/>
          <p:nvPr/>
        </p:nvSpPr>
        <p:spPr>
          <a:xfrm>
            <a:off x="777240" y="5440680"/>
            <a:ext cx="10698480" cy="502920"/>
          </a:xfrm>
          <a:prstGeom prst="rect">
            <a:avLst/>
          </a:prstGeom>
          <a:noFill/>
          <a:ln/>
        </p:spPr>
        <p:txBody>
          <a:bodyPr wrap="square" lIns="0" tIns="0" rIns="0" bIns="0" rtlCol="0" anchor="ctr"/>
          <a:lstStyle/>
          <a:p>
            <a:pPr indent="0" marL="0">
              <a:buNone/>
            </a:pPr>
            <a:r>
              <a:rPr lang="en-US" sz="1300" b="1" dirty="0">
                <a:solidFill>
                  <a:srgbClr val="4A8FDB"/>
                </a:solidFill>
                <a:latin typeface="Montserrat" pitchFamily="34" charset="0"/>
                <a:ea typeface="Montserrat" pitchFamily="34" charset="-122"/>
                <a:cs typeface="Montserrat" pitchFamily="34" charset="-120"/>
              </a:rPr>
              <a:t>One rule: </a:t>
            </a:r>
            <a:pPr indent="0" marL="0">
              <a:buNone/>
            </a:pPr>
            <a:r>
              <a:rPr lang="en-US" sz="1300" dirty="0">
                <a:solidFill>
                  <a:srgbClr val="FFFFFF"/>
                </a:solidFill>
                <a:latin typeface="Montserrat" pitchFamily="34" charset="0"/>
                <a:ea typeface="Montserrat" pitchFamily="34" charset="-122"/>
                <a:cs typeface="Montserrat" pitchFamily="34" charset="-120"/>
              </a:rPr>
              <a:t>below 30 real observations, confidence never exceeds “medium” — however convincing the AI sounds.</a:t>
            </a:r>
            <a:endParaRPr lang="en-US" sz="13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3A3"/>
                </a:solidFill>
                <a:latin typeface="Montserrat"/>
                <a:ea typeface="Montserrat"/>
                <a:cs typeface="Montserra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548640" y="502920"/>
            <a:ext cx="8412480" cy="777240"/>
          </a:xfrm>
          <a:prstGeom prst="rect">
            <a:avLst/>
          </a:prstGeom>
          <a:noFill/>
          <a:ln/>
        </p:spPr>
        <p:txBody>
          <a:bodyPr wrap="square" lIns="0" tIns="0" rIns="0" bIns="0" rtlCol="0" anchor="t"/>
          <a:lstStyle/>
          <a:p>
            <a:pPr algn="l" indent="0" marL="0">
              <a:buNone/>
            </a:pPr>
            <a:r>
              <a:rPr lang="en-US" sz="3000" b="1" dirty="0">
                <a:solidFill>
                  <a:srgbClr val="FFFFFF"/>
                </a:solidFill>
                <a:latin typeface="Montserrat" pitchFamily="34" charset="0"/>
                <a:ea typeface="Montserrat" pitchFamily="34" charset="-122"/>
                <a:cs typeface="Montserrat" pitchFamily="34" charset="-120"/>
              </a:rPr>
              <a:t>The 10-Minute AI Startup Challenge</a:t>
            </a:r>
            <a:endParaRPr lang="en-US" sz="3000" dirty="0"/>
          </a:p>
        </p:txBody>
      </p:sp>
      <p:sp>
        <p:nvSpPr>
          <p:cNvPr id="3" name="Text 0"/>
          <p:cNvSpPr/>
          <p:nvPr>
            <p:ph idx="102" type="body" hasCustomPrompt="1"/>
          </p:nvPr>
        </p:nvSpPr>
        <p:spPr>
          <a:xfrm>
            <a:off x="548640" y="1298448"/>
            <a:ext cx="9326880" cy="411480"/>
          </a:xfrm>
          <a:prstGeom prst="rect">
            <a:avLst/>
          </a:prstGeom>
          <a:noFill/>
          <a:ln/>
        </p:spPr>
        <p:txBody>
          <a:bodyPr wrap="square" lIns="0" tIns="0" rIns="0" bIns="0" rtlCol="0" anchor="t"/>
          <a:lstStyle/>
          <a:p>
            <a:pPr algn="l" indent="0" marL="0">
              <a:buNone/>
            </a:pPr>
            <a:r>
              <a:rPr lang="en-US" sz="1400" dirty="0">
                <a:solidFill>
                  <a:srgbClr val="C9D3E3"/>
                </a:solidFill>
                <a:latin typeface="Montserrat" pitchFamily="34" charset="0"/>
                <a:ea typeface="Montserrat" pitchFamily="34" charset="-122"/>
                <a:cs typeface="Montserrat" pitchFamily="34" charset="-120"/>
              </a:rPr>
              <a:t>Groups of 3–4, AI on your phone — one idea, ten minutes, one evidence-based recommendation</a:t>
            </a:r>
            <a:endParaRPr lang="en-US" sz="1400" dirty="0"/>
          </a:p>
        </p:txBody>
      </p:sp>
      <p:sp>
        <p:nvSpPr>
          <p:cNvPr id="5" name="Shape 2"/>
          <p:cNvSpPr/>
          <p:nvPr/>
        </p:nvSpPr>
        <p:spPr>
          <a:xfrm>
            <a:off x="548640" y="2011680"/>
            <a:ext cx="2615184" cy="2331720"/>
          </a:xfrm>
          <a:prstGeom prst="roundRect">
            <a:avLst>
              <a:gd name="adj" fmla="val 3137"/>
            </a:avLst>
          </a:prstGeom>
          <a:solidFill>
            <a:srgbClr val="1B2156"/>
          </a:solidFill>
          <a:ln/>
        </p:spPr>
      </p:sp>
      <p:sp>
        <p:nvSpPr>
          <p:cNvPr id="6" name="Shape 3"/>
          <p:cNvSpPr/>
          <p:nvPr/>
        </p:nvSpPr>
        <p:spPr>
          <a:xfrm>
            <a:off x="731520" y="2194560"/>
            <a:ext cx="868680" cy="274320"/>
          </a:xfrm>
          <a:prstGeom prst="roundRect">
            <a:avLst>
              <a:gd name="adj" fmla="val 26667"/>
            </a:avLst>
          </a:prstGeom>
          <a:solidFill>
            <a:srgbClr val="4A8FDB"/>
          </a:solidFill>
          <a:ln/>
        </p:spPr>
      </p:sp>
      <p:sp>
        <p:nvSpPr>
          <p:cNvPr id="7" name="Text 4"/>
          <p:cNvSpPr txBox="1"/>
          <p:nvPr/>
        </p:nvSpPr>
        <p:spPr>
          <a:xfrm>
            <a:off x="731520" y="2194560"/>
            <a:ext cx="86868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Montserrat" pitchFamily="34" charset="0"/>
                <a:ea typeface="Montserrat" pitchFamily="34" charset="-122"/>
                <a:cs typeface="Montserrat" pitchFamily="34" charset="-120"/>
              </a:rPr>
              <a:t>3 min</a:t>
            </a:r>
            <a:endParaRPr lang="en-US" sz="900" dirty="0"/>
          </a:p>
        </p:txBody>
      </p:sp>
      <p:sp>
        <p:nvSpPr>
          <p:cNvPr id="8" name="Text 5"/>
          <p:cNvSpPr txBox="1"/>
          <p:nvPr/>
        </p:nvSpPr>
        <p:spPr>
          <a:xfrm>
            <a:off x="731520" y="2606040"/>
            <a:ext cx="2249424" cy="411480"/>
          </a:xfrm>
          <a:prstGeom prst="rect">
            <a:avLst/>
          </a:prstGeom>
          <a:noFill/>
          <a:ln/>
        </p:spPr>
        <p:txBody>
          <a:bodyPr wrap="square" lIns="0" tIns="0" rIns="0" bIns="0" rtlCol="0" anchor="t"/>
          <a:lstStyle/>
          <a:p>
            <a:pPr indent="0" marL="0">
              <a:buNone/>
            </a:pPr>
            <a:r>
              <a:rPr lang="en-US" sz="1800" b="1" dirty="0">
                <a:solidFill>
                  <a:srgbClr val="FFFFFF"/>
                </a:solidFill>
                <a:latin typeface="Montserrat" pitchFamily="34" charset="0"/>
                <a:ea typeface="Montserrat" pitchFamily="34" charset="-122"/>
                <a:cs typeface="Montserrat" pitchFamily="34" charset="-120"/>
              </a:rPr>
              <a:t>Quantify</a:t>
            </a:r>
            <a:endParaRPr lang="en-US" sz="1800" dirty="0"/>
          </a:p>
        </p:txBody>
      </p:sp>
      <p:sp>
        <p:nvSpPr>
          <p:cNvPr id="9" name="Text 6"/>
          <p:cNvSpPr txBox="1"/>
          <p:nvPr/>
        </p:nvSpPr>
        <p:spPr>
          <a:xfrm>
            <a:off x="731520" y="3063240"/>
            <a:ext cx="2249424" cy="1188720"/>
          </a:xfrm>
          <a:prstGeom prst="rect">
            <a:avLst/>
          </a:prstGeom>
          <a:noFill/>
          <a:ln/>
        </p:spPr>
        <p:txBody>
          <a:bodyPr wrap="square" lIns="0" tIns="0" rIns="0" bIns="0" rtlCol="0" anchor="t"/>
          <a:lstStyle/>
          <a:p>
            <a:pPr indent="0" marL="0">
              <a:buNone/>
            </a:pPr>
            <a:r>
              <a:rPr lang="en-US" sz="1200" dirty="0">
                <a:solidFill>
                  <a:srgbClr val="C9D3E3"/>
                </a:solidFill>
                <a:latin typeface="Montserrat" pitchFamily="34" charset="0"/>
                <a:ea typeface="Montserrat" pitchFamily="34" charset="-122"/>
                <a:cs typeface="Montserrat" pitchFamily="34" charset="-120"/>
              </a:rPr>
              <a:t>Market size and revenue model from the data sheet. Tag every number.</a:t>
            </a:r>
            <a:endParaRPr lang="en-US" sz="1200" dirty="0"/>
          </a:p>
        </p:txBody>
      </p:sp>
      <p:sp>
        <p:nvSpPr>
          <p:cNvPr id="10" name="Shape 7"/>
          <p:cNvSpPr/>
          <p:nvPr/>
        </p:nvSpPr>
        <p:spPr>
          <a:xfrm>
            <a:off x="3374136" y="2011680"/>
            <a:ext cx="2615184" cy="2331720"/>
          </a:xfrm>
          <a:prstGeom prst="roundRect">
            <a:avLst>
              <a:gd name="adj" fmla="val 3137"/>
            </a:avLst>
          </a:prstGeom>
          <a:solidFill>
            <a:srgbClr val="1B2156"/>
          </a:solidFill>
          <a:ln/>
        </p:spPr>
      </p:sp>
      <p:sp>
        <p:nvSpPr>
          <p:cNvPr id="11" name="Shape 8"/>
          <p:cNvSpPr/>
          <p:nvPr/>
        </p:nvSpPr>
        <p:spPr>
          <a:xfrm>
            <a:off x="3557016" y="2194560"/>
            <a:ext cx="868680" cy="274320"/>
          </a:xfrm>
          <a:prstGeom prst="roundRect">
            <a:avLst>
              <a:gd name="adj" fmla="val 26667"/>
            </a:avLst>
          </a:prstGeom>
          <a:solidFill>
            <a:srgbClr val="4A8FDB"/>
          </a:solidFill>
          <a:ln/>
        </p:spPr>
      </p:sp>
      <p:sp>
        <p:nvSpPr>
          <p:cNvPr id="12" name="Text 9"/>
          <p:cNvSpPr txBox="1"/>
          <p:nvPr/>
        </p:nvSpPr>
        <p:spPr>
          <a:xfrm>
            <a:off x="3557016" y="2194560"/>
            <a:ext cx="86868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Montserrat" pitchFamily="34" charset="0"/>
                <a:ea typeface="Montserrat" pitchFamily="34" charset="-122"/>
                <a:cs typeface="Montserrat" pitchFamily="34" charset="-120"/>
              </a:rPr>
              <a:t>2 min</a:t>
            </a:r>
            <a:endParaRPr lang="en-US" sz="900" dirty="0"/>
          </a:p>
        </p:txBody>
      </p:sp>
      <p:sp>
        <p:nvSpPr>
          <p:cNvPr id="13" name="Text 10"/>
          <p:cNvSpPr txBox="1"/>
          <p:nvPr/>
        </p:nvSpPr>
        <p:spPr>
          <a:xfrm>
            <a:off x="3557016" y="2606040"/>
            <a:ext cx="2249424" cy="411480"/>
          </a:xfrm>
          <a:prstGeom prst="rect">
            <a:avLst/>
          </a:prstGeom>
          <a:noFill/>
          <a:ln/>
        </p:spPr>
        <p:txBody>
          <a:bodyPr wrap="square" lIns="0" tIns="0" rIns="0" bIns="0" rtlCol="0" anchor="t"/>
          <a:lstStyle/>
          <a:p>
            <a:pPr indent="0" marL="0">
              <a:buNone/>
            </a:pPr>
            <a:r>
              <a:rPr lang="en-US" sz="1800" b="1" dirty="0">
                <a:solidFill>
                  <a:srgbClr val="FFFFFF"/>
                </a:solidFill>
                <a:latin typeface="Montserrat" pitchFamily="34" charset="0"/>
                <a:ea typeface="Montserrat" pitchFamily="34" charset="-122"/>
                <a:cs typeface="Montserrat" pitchFamily="34" charset="-120"/>
              </a:rPr>
              <a:t>Develop</a:t>
            </a:r>
            <a:endParaRPr lang="en-US" sz="1800" dirty="0"/>
          </a:p>
        </p:txBody>
      </p:sp>
      <p:sp>
        <p:nvSpPr>
          <p:cNvPr id="14" name="Text 11"/>
          <p:cNvSpPr txBox="1"/>
          <p:nvPr/>
        </p:nvSpPr>
        <p:spPr>
          <a:xfrm>
            <a:off x="3557016" y="3063240"/>
            <a:ext cx="2249424" cy="1188720"/>
          </a:xfrm>
          <a:prstGeom prst="rect">
            <a:avLst/>
          </a:prstGeom>
          <a:noFill/>
          <a:ln/>
        </p:spPr>
        <p:txBody>
          <a:bodyPr wrap="square" lIns="0" tIns="0" rIns="0" bIns="0" rtlCol="0" anchor="t"/>
          <a:lstStyle/>
          <a:p>
            <a:pPr indent="0" marL="0">
              <a:buNone/>
            </a:pPr>
            <a:r>
              <a:rPr lang="en-US" sz="1200" dirty="0">
                <a:solidFill>
                  <a:srgbClr val="C9D3E3"/>
                </a:solidFill>
                <a:latin typeface="Montserrat" pitchFamily="34" charset="0"/>
                <a:ea typeface="Montserrat" pitchFamily="34" charset="-122"/>
                <a:cs typeface="Montserrat" pitchFamily="34" charset="-120"/>
              </a:rPr>
              <a:t>One value proposition, one message — and the assumption behind it.</a:t>
            </a:r>
            <a:endParaRPr lang="en-US" sz="1200" dirty="0"/>
          </a:p>
        </p:txBody>
      </p:sp>
      <p:sp>
        <p:nvSpPr>
          <p:cNvPr id="15" name="Shape 12"/>
          <p:cNvSpPr/>
          <p:nvPr/>
        </p:nvSpPr>
        <p:spPr>
          <a:xfrm>
            <a:off x="6199632" y="2011680"/>
            <a:ext cx="2615184" cy="2331720"/>
          </a:xfrm>
          <a:prstGeom prst="roundRect">
            <a:avLst>
              <a:gd name="adj" fmla="val 3137"/>
            </a:avLst>
          </a:prstGeom>
          <a:solidFill>
            <a:srgbClr val="1B2156"/>
          </a:solidFill>
          <a:ln/>
        </p:spPr>
      </p:sp>
      <p:sp>
        <p:nvSpPr>
          <p:cNvPr id="16" name="Shape 13"/>
          <p:cNvSpPr/>
          <p:nvPr/>
        </p:nvSpPr>
        <p:spPr>
          <a:xfrm>
            <a:off x="6382512" y="2194560"/>
            <a:ext cx="868680" cy="274320"/>
          </a:xfrm>
          <a:prstGeom prst="roundRect">
            <a:avLst>
              <a:gd name="adj" fmla="val 26667"/>
            </a:avLst>
          </a:prstGeom>
          <a:solidFill>
            <a:srgbClr val="4A8FDB"/>
          </a:solidFill>
          <a:ln/>
        </p:spPr>
      </p:sp>
      <p:sp>
        <p:nvSpPr>
          <p:cNvPr id="17" name="Text 14"/>
          <p:cNvSpPr txBox="1"/>
          <p:nvPr/>
        </p:nvSpPr>
        <p:spPr>
          <a:xfrm>
            <a:off x="6382512" y="2194560"/>
            <a:ext cx="86868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Montserrat" pitchFamily="34" charset="0"/>
                <a:ea typeface="Montserrat" pitchFamily="34" charset="-122"/>
                <a:cs typeface="Montserrat" pitchFamily="34" charset="-120"/>
              </a:rPr>
              <a:t>2 min</a:t>
            </a:r>
            <a:endParaRPr lang="en-US" sz="900" dirty="0"/>
          </a:p>
        </p:txBody>
      </p:sp>
      <p:sp>
        <p:nvSpPr>
          <p:cNvPr id="18" name="Text 15"/>
          <p:cNvSpPr txBox="1"/>
          <p:nvPr/>
        </p:nvSpPr>
        <p:spPr>
          <a:xfrm>
            <a:off x="6382512" y="2606040"/>
            <a:ext cx="2249424" cy="411480"/>
          </a:xfrm>
          <a:prstGeom prst="rect">
            <a:avLst/>
          </a:prstGeom>
          <a:noFill/>
          <a:ln/>
        </p:spPr>
        <p:txBody>
          <a:bodyPr wrap="square" lIns="0" tIns="0" rIns="0" bIns="0" rtlCol="0" anchor="t"/>
          <a:lstStyle/>
          <a:p>
            <a:pPr indent="0" marL="0">
              <a:buNone/>
            </a:pPr>
            <a:r>
              <a:rPr lang="en-US" sz="1800" b="1" dirty="0">
                <a:solidFill>
                  <a:srgbClr val="FFFFFF"/>
                </a:solidFill>
                <a:latin typeface="Montserrat" pitchFamily="34" charset="0"/>
                <a:ea typeface="Montserrat" pitchFamily="34" charset="-122"/>
                <a:cs typeface="Montserrat" pitchFamily="34" charset="-120"/>
              </a:rPr>
              <a:t>Validate</a:t>
            </a:r>
            <a:endParaRPr lang="en-US" sz="1800" dirty="0"/>
          </a:p>
        </p:txBody>
      </p:sp>
      <p:sp>
        <p:nvSpPr>
          <p:cNvPr id="19" name="Text 16"/>
          <p:cNvSpPr txBox="1"/>
          <p:nvPr/>
        </p:nvSpPr>
        <p:spPr>
          <a:xfrm>
            <a:off x="6382512" y="3063240"/>
            <a:ext cx="2249424" cy="1188720"/>
          </a:xfrm>
          <a:prstGeom prst="rect">
            <a:avLst/>
          </a:prstGeom>
          <a:noFill/>
          <a:ln/>
        </p:spPr>
        <p:txBody>
          <a:bodyPr wrap="square" lIns="0" tIns="0" rIns="0" bIns="0" rtlCol="0" anchor="t"/>
          <a:lstStyle/>
          <a:p>
            <a:pPr indent="0" marL="0">
              <a:buNone/>
            </a:pPr>
            <a:r>
              <a:rPr lang="en-US" sz="1200" dirty="0">
                <a:solidFill>
                  <a:srgbClr val="C9D3E3"/>
                </a:solidFill>
                <a:latin typeface="Montserrat" pitchFamily="34" charset="0"/>
                <a:ea typeface="Montserrat" pitchFamily="34" charset="-122"/>
                <a:cs typeface="Montserrat" pitchFamily="34" charset="-120"/>
              </a:rPr>
              <a:t>Scan the QR, see one variant, click or don't. Votes ≠ purchase intent.</a:t>
            </a:r>
            <a:endParaRPr lang="en-US" sz="1200" dirty="0"/>
          </a:p>
        </p:txBody>
      </p:sp>
      <p:sp>
        <p:nvSpPr>
          <p:cNvPr id="20" name="Shape 17"/>
          <p:cNvSpPr/>
          <p:nvPr/>
        </p:nvSpPr>
        <p:spPr>
          <a:xfrm>
            <a:off x="9025128" y="2011680"/>
            <a:ext cx="2615184" cy="2331720"/>
          </a:xfrm>
          <a:prstGeom prst="roundRect">
            <a:avLst>
              <a:gd name="adj" fmla="val 3137"/>
            </a:avLst>
          </a:prstGeom>
          <a:solidFill>
            <a:srgbClr val="1B2156"/>
          </a:solidFill>
          <a:ln/>
        </p:spPr>
      </p:sp>
      <p:sp>
        <p:nvSpPr>
          <p:cNvPr id="21" name="Shape 18"/>
          <p:cNvSpPr/>
          <p:nvPr/>
        </p:nvSpPr>
        <p:spPr>
          <a:xfrm>
            <a:off x="9208008" y="2194560"/>
            <a:ext cx="868680" cy="274320"/>
          </a:xfrm>
          <a:prstGeom prst="roundRect">
            <a:avLst>
              <a:gd name="adj" fmla="val 26667"/>
            </a:avLst>
          </a:prstGeom>
          <a:solidFill>
            <a:srgbClr val="4A8FDB"/>
          </a:solidFill>
          <a:ln/>
        </p:spPr>
      </p:sp>
      <p:sp>
        <p:nvSpPr>
          <p:cNvPr id="22" name="Text 19"/>
          <p:cNvSpPr txBox="1"/>
          <p:nvPr/>
        </p:nvSpPr>
        <p:spPr>
          <a:xfrm>
            <a:off x="9208008" y="2194560"/>
            <a:ext cx="86868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Montserrat" pitchFamily="34" charset="0"/>
                <a:ea typeface="Montserrat" pitchFamily="34" charset="-122"/>
                <a:cs typeface="Montserrat" pitchFamily="34" charset="-120"/>
              </a:rPr>
              <a:t>3 min</a:t>
            </a:r>
            <a:endParaRPr lang="en-US" sz="900" dirty="0"/>
          </a:p>
        </p:txBody>
      </p:sp>
      <p:sp>
        <p:nvSpPr>
          <p:cNvPr id="23" name="Text 20"/>
          <p:cNvSpPr txBox="1"/>
          <p:nvPr/>
        </p:nvSpPr>
        <p:spPr>
          <a:xfrm>
            <a:off x="9208008" y="2606040"/>
            <a:ext cx="2249424" cy="411480"/>
          </a:xfrm>
          <a:prstGeom prst="rect">
            <a:avLst/>
          </a:prstGeom>
          <a:noFill/>
          <a:ln/>
        </p:spPr>
        <p:txBody>
          <a:bodyPr wrap="square" lIns="0" tIns="0" rIns="0" bIns="0" rtlCol="0" anchor="t"/>
          <a:lstStyle/>
          <a:p>
            <a:pPr indent="0" marL="0">
              <a:buNone/>
            </a:pPr>
            <a:r>
              <a:rPr lang="en-US" sz="1800" b="1" dirty="0">
                <a:solidFill>
                  <a:srgbClr val="FFFFFF"/>
                </a:solidFill>
                <a:latin typeface="Montserrat" pitchFamily="34" charset="0"/>
                <a:ea typeface="Montserrat" pitchFamily="34" charset="-122"/>
                <a:cs typeface="Montserrat" pitchFamily="34" charset="-120"/>
              </a:rPr>
              <a:t>Pitch</a:t>
            </a:r>
            <a:endParaRPr lang="en-US" sz="1800" dirty="0"/>
          </a:p>
        </p:txBody>
      </p:sp>
      <p:sp>
        <p:nvSpPr>
          <p:cNvPr id="24" name="Text 21"/>
          <p:cNvSpPr txBox="1"/>
          <p:nvPr/>
        </p:nvSpPr>
        <p:spPr>
          <a:xfrm>
            <a:off x="9208008" y="3063240"/>
            <a:ext cx="2249424" cy="1188720"/>
          </a:xfrm>
          <a:prstGeom prst="rect">
            <a:avLst/>
          </a:prstGeom>
          <a:noFill/>
          <a:ln/>
        </p:spPr>
        <p:txBody>
          <a:bodyPr wrap="square" lIns="0" tIns="0" rIns="0" bIns="0" rtlCol="0" anchor="t"/>
          <a:lstStyle/>
          <a:p>
            <a:pPr indent="0" marL="0">
              <a:buNone/>
            </a:pPr>
            <a:r>
              <a:rPr lang="en-US" sz="1200" dirty="0">
                <a:solidFill>
                  <a:srgbClr val="C9D3E3"/>
                </a:solidFill>
                <a:latin typeface="Montserrat" pitchFamily="34" charset="0"/>
                <a:ea typeface="Montserrat" pitchFamily="34" charset="-122"/>
                <a:cs typeface="Montserrat" pitchFamily="34" charset="-120"/>
              </a:rPr>
              <a:t>45 seconds: market, revenue, evidence, open assumption, next test.</a:t>
            </a:r>
            <a:endParaRPr lang="en-US" sz="1200" dirty="0"/>
          </a:p>
        </p:txBody>
      </p:sp>
      <p:sp>
        <p:nvSpPr>
          <p:cNvPr id="25" name="Text 22"/>
          <p:cNvSpPr txBox="1"/>
          <p:nvPr/>
        </p:nvSpPr>
        <p:spPr>
          <a:xfrm>
            <a:off x="548640" y="4617720"/>
            <a:ext cx="5486400" cy="274320"/>
          </a:xfrm>
          <a:prstGeom prst="rect">
            <a:avLst/>
          </a:prstGeom>
          <a:noFill/>
          <a:ln/>
        </p:spPr>
        <p:txBody>
          <a:bodyPr wrap="square" lIns="0" tIns="0" rIns="0" bIns="0" rtlCol="0" anchor="t"/>
          <a:lstStyle/>
          <a:p>
            <a:pPr indent="0" marL="0">
              <a:buNone/>
            </a:pPr>
            <a:r>
              <a:rPr lang="en-US" sz="1000" b="1" spc="100" kern="0" dirty="0">
                <a:solidFill>
                  <a:srgbClr val="4A8FDB"/>
                </a:solidFill>
                <a:latin typeface="Montserrat" pitchFamily="34" charset="0"/>
                <a:ea typeface="Montserrat" pitchFamily="34" charset="-122"/>
                <a:cs typeface="Montserrat" pitchFamily="34" charset="-120"/>
              </a:rPr>
              <a:t>WHAT EVERY GROUP HANDS IN (MENTI)</a:t>
            </a:r>
            <a:endParaRPr lang="en-US" sz="1000" dirty="0"/>
          </a:p>
        </p:txBody>
      </p:sp>
      <p:sp>
        <p:nvSpPr>
          <p:cNvPr id="26" name="Shape 23"/>
          <p:cNvSpPr/>
          <p:nvPr/>
        </p:nvSpPr>
        <p:spPr>
          <a:xfrm>
            <a:off x="548640" y="4956048"/>
            <a:ext cx="1931670" cy="548640"/>
          </a:xfrm>
          <a:prstGeom prst="roundRect">
            <a:avLst>
              <a:gd name="adj" fmla="val 13333"/>
            </a:avLst>
          </a:prstGeom>
          <a:solidFill>
            <a:srgbClr val="0F1341"/>
          </a:solidFill>
          <a:ln w="12700">
            <a:solidFill>
              <a:srgbClr val="6A7FA8"/>
            </a:solidFill>
            <a:prstDash val="solid"/>
          </a:ln>
        </p:spPr>
      </p:sp>
      <p:sp>
        <p:nvSpPr>
          <p:cNvPr id="27" name="Text 24"/>
          <p:cNvSpPr txBox="1"/>
          <p:nvPr/>
        </p:nvSpPr>
        <p:spPr>
          <a:xfrm>
            <a:off x="548640" y="4956048"/>
            <a:ext cx="193167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Market</a:t>
            </a:r>
            <a:endParaRPr lang="en-US" sz="1200" dirty="0"/>
          </a:p>
        </p:txBody>
      </p:sp>
      <p:sp>
        <p:nvSpPr>
          <p:cNvPr id="28" name="Shape 25"/>
          <p:cNvSpPr/>
          <p:nvPr/>
        </p:nvSpPr>
        <p:spPr>
          <a:xfrm>
            <a:off x="2617470" y="4956048"/>
            <a:ext cx="1931670" cy="548640"/>
          </a:xfrm>
          <a:prstGeom prst="roundRect">
            <a:avLst>
              <a:gd name="adj" fmla="val 13333"/>
            </a:avLst>
          </a:prstGeom>
          <a:solidFill>
            <a:srgbClr val="0F1341"/>
          </a:solidFill>
          <a:ln w="12700">
            <a:solidFill>
              <a:srgbClr val="6A7FA8"/>
            </a:solidFill>
            <a:prstDash val="solid"/>
          </a:ln>
        </p:spPr>
      </p:sp>
      <p:sp>
        <p:nvSpPr>
          <p:cNvPr id="29" name="Text 26"/>
          <p:cNvSpPr txBox="1"/>
          <p:nvPr/>
        </p:nvSpPr>
        <p:spPr>
          <a:xfrm>
            <a:off x="2617470" y="4956048"/>
            <a:ext cx="193167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Revenue</a:t>
            </a:r>
            <a:endParaRPr lang="en-US" sz="1200" dirty="0"/>
          </a:p>
        </p:txBody>
      </p:sp>
      <p:sp>
        <p:nvSpPr>
          <p:cNvPr id="30" name="Shape 27"/>
          <p:cNvSpPr/>
          <p:nvPr/>
        </p:nvSpPr>
        <p:spPr>
          <a:xfrm>
            <a:off x="4686300" y="4956048"/>
            <a:ext cx="1931670" cy="548640"/>
          </a:xfrm>
          <a:prstGeom prst="roundRect">
            <a:avLst>
              <a:gd name="adj" fmla="val 13333"/>
            </a:avLst>
          </a:prstGeom>
          <a:solidFill>
            <a:srgbClr val="0F1341"/>
          </a:solidFill>
          <a:ln w="12700">
            <a:solidFill>
              <a:srgbClr val="6A7FA8"/>
            </a:solidFill>
            <a:prstDash val="solid"/>
          </a:ln>
        </p:spPr>
      </p:sp>
      <p:sp>
        <p:nvSpPr>
          <p:cNvPr id="31" name="Text 28"/>
          <p:cNvSpPr txBox="1"/>
          <p:nvPr/>
        </p:nvSpPr>
        <p:spPr>
          <a:xfrm>
            <a:off x="4686300" y="4956048"/>
            <a:ext cx="193167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Evidence</a:t>
            </a:r>
            <a:endParaRPr lang="en-US" sz="1200" dirty="0"/>
          </a:p>
        </p:txBody>
      </p:sp>
      <p:sp>
        <p:nvSpPr>
          <p:cNvPr id="32" name="Shape 29"/>
          <p:cNvSpPr/>
          <p:nvPr/>
        </p:nvSpPr>
        <p:spPr>
          <a:xfrm>
            <a:off x="6755130" y="4956048"/>
            <a:ext cx="1931670" cy="548640"/>
          </a:xfrm>
          <a:prstGeom prst="roundRect">
            <a:avLst>
              <a:gd name="adj" fmla="val 13333"/>
            </a:avLst>
          </a:prstGeom>
          <a:solidFill>
            <a:srgbClr val="0F1341"/>
          </a:solidFill>
          <a:ln w="12700">
            <a:solidFill>
              <a:srgbClr val="6A7FA8"/>
            </a:solidFill>
            <a:prstDash val="solid"/>
          </a:ln>
        </p:spPr>
      </p:sp>
      <p:sp>
        <p:nvSpPr>
          <p:cNvPr id="33" name="Text 30"/>
          <p:cNvSpPr txBox="1"/>
          <p:nvPr/>
        </p:nvSpPr>
        <p:spPr>
          <a:xfrm>
            <a:off x="6755130" y="4956048"/>
            <a:ext cx="193167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Next test</a:t>
            </a:r>
            <a:endParaRPr lang="en-US" sz="1200" dirty="0"/>
          </a:p>
        </p:txBody>
      </p:sp>
      <p:sp>
        <p:nvSpPr>
          <p:cNvPr id="34" name="Shape 31"/>
          <p:cNvSpPr/>
          <p:nvPr/>
        </p:nvSpPr>
        <p:spPr>
          <a:xfrm>
            <a:off x="9006840" y="4617720"/>
            <a:ext cx="2633472" cy="914400"/>
          </a:xfrm>
          <a:prstGeom prst="roundRect">
            <a:avLst>
              <a:gd name="adj" fmla="val 8000"/>
            </a:avLst>
          </a:prstGeom>
          <a:solidFill>
            <a:srgbClr val="2E6FBF"/>
          </a:solidFill>
          <a:ln/>
        </p:spPr>
      </p:sp>
      <p:pic>
        <p:nvPicPr>
          <p:cNvPr id="35" name="Image 0" descr="preencoded.png">    </p:cNvPr>
          <p:cNvPicPr>
            <a:picLocks noChangeAspect="1"/>
          </p:cNvPicPr>
          <p:nvPr/>
        </p:nvPicPr>
        <p:blipFill>
          <a:blip r:embed="rId1"/>
          <a:stretch>
            <a:fillRect/>
          </a:stretch>
        </p:blipFill>
        <p:spPr>
          <a:xfrm>
            <a:off x="9144000" y="4754880"/>
            <a:ext cx="640080" cy="640080"/>
          </a:xfrm>
          <a:prstGeom prst="rect">
            <a:avLst/>
          </a:prstGeom>
        </p:spPr>
      </p:pic>
      <p:sp>
        <p:nvSpPr>
          <p:cNvPr id="36" name="Text 32"/>
          <p:cNvSpPr txBox="1"/>
          <p:nvPr/>
        </p:nvSpPr>
        <p:spPr>
          <a:xfrm>
            <a:off x="9875520" y="4663440"/>
            <a:ext cx="1691640" cy="822960"/>
          </a:xfrm>
          <a:prstGeom prst="rect">
            <a:avLst/>
          </a:prstGeom>
          <a:noFill/>
          <a:ln/>
        </p:spPr>
        <p:txBody>
          <a:bodyPr wrap="square" lIns="0" tIns="0" rIns="0" bIns="0" rtlCol="0" anchor="ctr"/>
          <a:lstStyle/>
          <a:p>
            <a:pPr indent="0" marL="0">
              <a:buNone/>
            </a:pPr>
            <a:r>
              <a:rPr lang="en-US" sz="1000" dirty="0">
                <a:solidFill>
                  <a:srgbClr val="FFFFFF"/>
                </a:solidFill>
                <a:latin typeface="Montserrat" pitchFamily="34" charset="0"/>
                <a:ea typeface="Montserrat" pitchFamily="34" charset="-122"/>
                <a:cs typeface="Montserrat" pitchFamily="34" charset="-120"/>
              </a:rPr>
              <a:t>QR → data sheet + prompt</a:t>
            </a:r>
            <a:endParaRPr lang="en-US" sz="1000" dirty="0"/>
          </a:p>
          <a:p>
            <a:pPr indent="0" marL="0">
              <a:buNone/>
            </a:pPr>
            <a:r>
              <a:rPr lang="en-US" sz="1000" dirty="0">
                <a:solidFill>
                  <a:srgbClr val="FFFFFF"/>
                </a:solidFill>
                <a:latin typeface="Montserrat" pitchFamily="34" charset="0"/>
                <a:ea typeface="Montserrat" pitchFamily="34" charset="-122"/>
                <a:cs typeface="Montserrat" pitchFamily="34" charset="-120"/>
              </a:rPr>
              <a:t>skeptical-investor prompt included</a:t>
            </a:r>
            <a:endParaRPr lang="en-US" sz="1000" dirty="0"/>
          </a:p>
        </p:txBody>
      </p:sp>
      <p:sp>
        <p:nvSpPr>
          <p:cNvPr id="37" name="Text 33"/>
          <p:cNvSpPr txBox="1"/>
          <p:nvPr/>
        </p:nvSpPr>
        <p:spPr>
          <a:xfrm>
            <a:off x="548640" y="5806440"/>
            <a:ext cx="11064240" cy="365760"/>
          </a:xfrm>
          <a:prstGeom prst="rect">
            <a:avLst/>
          </a:prstGeom>
          <a:noFill/>
          <a:ln/>
        </p:spPr>
        <p:txBody>
          <a:bodyPr wrap="square" lIns="0" tIns="0" rIns="0" bIns="0" rtlCol="0" anchor="t"/>
          <a:lstStyle/>
          <a:p>
            <a:pPr indent="0" marL="0">
              <a:buNone/>
            </a:pPr>
            <a:r>
              <a:rPr lang="en-US" sz="1200" i="1" dirty="0">
                <a:solidFill>
                  <a:srgbClr val="C9D3E3"/>
                </a:solidFill>
                <a:latin typeface="Montserrat" pitchFamily="34" charset="0"/>
                <a:ea typeface="Montserrat" pitchFamily="34" charset="-122"/>
                <a:cs typeface="Montserrat" pitchFamily="34" charset="-120"/>
              </a:rPr>
              <a:t>Repeat of Menti question 5 at the end: would you now invest €100,000 — and what changed your mind, the pitch or the clicks?</a:t>
            </a:r>
            <a:endParaRPr lang="en-US" sz="12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A7FA8"/>
                </a:solidFill>
                <a:latin typeface="Montserrat"/>
                <a:ea typeface="Montserrat"/>
                <a:cs typeface="Montserra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2" type="title" hasCustomPrompt="1"/>
          </p:nvPr>
        </p:nvSpPr>
        <p:spPr>
          <a:xfrm>
            <a:off x="548640" y="502920"/>
            <a:ext cx="7863840" cy="685800"/>
          </a:xfrm>
          <a:prstGeom prst="rect">
            <a:avLst/>
          </a:prstGeom>
          <a:noFill/>
          <a:ln/>
        </p:spPr>
        <p:txBody>
          <a:bodyPr wrap="square" lIns="0" tIns="0" rIns="0" bIns="0" rtlCol="0" anchor="t"/>
          <a:lstStyle/>
          <a:p>
            <a:pPr algn="l" indent="0" marL="0">
              <a:buNone/>
            </a:pPr>
            <a:r>
              <a:rPr lang="en-US" sz="2800" b="1" dirty="0">
                <a:solidFill>
                  <a:srgbClr val="0F1341"/>
                </a:solidFill>
                <a:latin typeface="Montserrat" pitchFamily="34" charset="0"/>
                <a:ea typeface="Montserrat" pitchFamily="34" charset="-122"/>
                <a:cs typeface="Montserrat" pitchFamily="34" charset="-120"/>
              </a:rPr>
              <a:t>How AI-native will change founding</a:t>
            </a:r>
            <a:endParaRPr lang="en-US" sz="2800" dirty="0"/>
          </a:p>
        </p:txBody>
      </p:sp>
      <p:sp>
        <p:nvSpPr>
          <p:cNvPr id="3" name="Text 0"/>
          <p:cNvSpPr/>
          <p:nvPr>
            <p:ph idx="103" type="body" hasCustomPrompt="1"/>
          </p:nvPr>
        </p:nvSpPr>
        <p:spPr>
          <a:xfrm>
            <a:off x="548640" y="1207008"/>
            <a:ext cx="8778240" cy="365760"/>
          </a:xfrm>
          <a:prstGeom prst="rect">
            <a:avLst/>
          </a:prstGeom>
          <a:noFill/>
          <a:ln/>
        </p:spPr>
        <p:txBody>
          <a:bodyPr wrap="square" lIns="0" tIns="0" rIns="0" bIns="0" rtlCol="0" anchor="t"/>
          <a:lstStyle/>
          <a:p>
            <a:pPr algn="l" indent="0" marL="0">
              <a:buNone/>
            </a:pPr>
            <a:r>
              <a:rPr lang="en-US" sz="1300" dirty="0">
                <a:solidFill>
                  <a:srgbClr val="5B6270"/>
                </a:solidFill>
                <a:latin typeface="Montserrat" pitchFamily="34" charset="0"/>
                <a:ea typeface="Montserrat" pitchFamily="34" charset="-122"/>
                <a:cs typeface="Montserrat" pitchFamily="34" charset="-120"/>
              </a:rPr>
              <a:t>What this means for you — over the next five years</a:t>
            </a:r>
            <a:endParaRPr lang="en-US" sz="1300" dirty="0"/>
          </a:p>
        </p:txBody>
      </p:sp>
      <p:sp>
        <p:nvSpPr>
          <p:cNvPr id="5" name="Shape 2"/>
          <p:cNvSpPr/>
          <p:nvPr/>
        </p:nvSpPr>
        <p:spPr>
          <a:xfrm>
            <a:off x="548640" y="1783080"/>
            <a:ext cx="5440680" cy="1783080"/>
          </a:xfrm>
          <a:prstGeom prst="roundRect">
            <a:avLst>
              <a:gd name="adj" fmla="val 4103"/>
            </a:avLst>
          </a:prstGeom>
          <a:solidFill>
            <a:srgbClr val="F3F7FC"/>
          </a:solidFill>
          <a:ln/>
        </p:spPr>
      </p:sp>
      <p:sp>
        <p:nvSpPr>
          <p:cNvPr id="6" name="Shape 3"/>
          <p:cNvSpPr/>
          <p:nvPr/>
        </p:nvSpPr>
        <p:spPr>
          <a:xfrm>
            <a:off x="777240" y="2039112"/>
            <a:ext cx="603504" cy="603504"/>
          </a:xfrm>
          <a:prstGeom prst="ellipse">
            <a:avLst/>
          </a:prstGeom>
          <a:solidFill>
            <a:srgbClr val="D9E8F8"/>
          </a:solidFill>
          <a:ln/>
        </p:spPr>
      </p:sp>
      <p:pic>
        <p:nvPicPr>
          <p:cNvPr id="7" name="Image 0" descr="preencoded.png">    </p:cNvPr>
          <p:cNvPicPr>
            <a:picLocks noChangeAspect="1"/>
          </p:cNvPicPr>
          <p:nvPr/>
        </p:nvPicPr>
        <p:blipFill>
          <a:blip r:embed="rId1"/>
          <a:stretch>
            <a:fillRect/>
          </a:stretch>
        </p:blipFill>
        <p:spPr>
          <a:xfrm>
            <a:off x="923544" y="2185416"/>
            <a:ext cx="310896" cy="310896"/>
          </a:xfrm>
          <a:prstGeom prst="rect">
            <a:avLst/>
          </a:prstGeom>
        </p:spPr>
      </p:pic>
      <p:sp>
        <p:nvSpPr>
          <p:cNvPr id="8" name="Text 4"/>
          <p:cNvSpPr txBox="1"/>
          <p:nvPr/>
        </p:nvSpPr>
        <p:spPr>
          <a:xfrm>
            <a:off x="1600200" y="2011680"/>
            <a:ext cx="4160520" cy="457200"/>
          </a:xfrm>
          <a:prstGeom prst="rect">
            <a:avLst/>
          </a:prstGeom>
          <a:noFill/>
          <a:ln/>
        </p:spPr>
        <p:txBody>
          <a:bodyPr wrap="square" lIns="0" tIns="0" rIns="0" bIns="0" rtlCol="0" anchor="ctr"/>
          <a:lstStyle/>
          <a:p>
            <a:pPr indent="0" marL="0">
              <a:buNone/>
            </a:pPr>
            <a:r>
              <a:rPr lang="en-US" sz="1500" b="1" dirty="0">
                <a:solidFill>
                  <a:srgbClr val="0F1341"/>
                </a:solidFill>
                <a:latin typeface="Montserrat" pitchFamily="34" charset="0"/>
                <a:ea typeface="Montserrat" pitchFamily="34" charset="-122"/>
                <a:cs typeface="Montserrat" pitchFamily="34" charset="-120"/>
              </a:rPr>
              <a:t>Building becomes cheap</a:t>
            </a:r>
            <a:endParaRPr lang="en-US" sz="1500" dirty="0"/>
          </a:p>
        </p:txBody>
      </p:sp>
      <p:sp>
        <p:nvSpPr>
          <p:cNvPr id="9" name="Text 5"/>
          <p:cNvSpPr txBox="1"/>
          <p:nvPr/>
        </p:nvSpPr>
        <p:spPr>
          <a:xfrm>
            <a:off x="1600200" y="2514600"/>
            <a:ext cx="4160520" cy="960120"/>
          </a:xfrm>
          <a:prstGeom prst="rect">
            <a:avLst/>
          </a:prstGeom>
          <a:noFill/>
          <a:ln/>
        </p:spPr>
        <p:txBody>
          <a:bodyPr wrap="square" lIns="0" tIns="0" rIns="0" bIns="0" rtlCol="0" anchor="t"/>
          <a:lstStyle/>
          <a:p>
            <a:pPr indent="0" marL="0">
              <a:buNone/>
            </a:pPr>
            <a:r>
              <a:rPr lang="en-US" sz="1250" dirty="0">
                <a:solidFill>
                  <a:srgbClr val="5B6270"/>
                </a:solidFill>
                <a:latin typeface="Montserrat" pitchFamily="34" charset="0"/>
                <a:ea typeface="Montserrat" pitchFamily="34" charset="-122"/>
                <a:cs typeface="Montserrat" pitchFamily="34" charset="-120"/>
              </a:rPr>
              <a:t>A prototype, a landing page, a campaign — hours instead of months. What used to be the barrier is now a commodity.</a:t>
            </a:r>
            <a:endParaRPr lang="en-US" sz="1250" dirty="0"/>
          </a:p>
        </p:txBody>
      </p:sp>
      <p:sp>
        <p:nvSpPr>
          <p:cNvPr id="10" name="Shape 6"/>
          <p:cNvSpPr/>
          <p:nvPr/>
        </p:nvSpPr>
        <p:spPr>
          <a:xfrm>
            <a:off x="6199632" y="1783080"/>
            <a:ext cx="5440680" cy="1783080"/>
          </a:xfrm>
          <a:prstGeom prst="roundRect">
            <a:avLst>
              <a:gd name="adj" fmla="val 4103"/>
            </a:avLst>
          </a:prstGeom>
          <a:solidFill>
            <a:srgbClr val="F3F7FC"/>
          </a:solidFill>
          <a:ln/>
        </p:spPr>
      </p:sp>
      <p:sp>
        <p:nvSpPr>
          <p:cNvPr id="11" name="Shape 7"/>
          <p:cNvSpPr/>
          <p:nvPr/>
        </p:nvSpPr>
        <p:spPr>
          <a:xfrm>
            <a:off x="6428232" y="2039112"/>
            <a:ext cx="603504" cy="603504"/>
          </a:xfrm>
          <a:prstGeom prst="ellipse">
            <a:avLst/>
          </a:prstGeom>
          <a:solidFill>
            <a:srgbClr val="D9E8F8"/>
          </a:solidFill>
          <a:ln/>
        </p:spPr>
      </p:sp>
      <p:pic>
        <p:nvPicPr>
          <p:cNvPr id="12" name="Image 1" descr="preencoded.png">    </p:cNvPr>
          <p:cNvPicPr>
            <a:picLocks noChangeAspect="1"/>
          </p:cNvPicPr>
          <p:nvPr/>
        </p:nvPicPr>
        <p:blipFill>
          <a:blip r:embed="rId2"/>
          <a:stretch>
            <a:fillRect/>
          </a:stretch>
        </p:blipFill>
        <p:spPr>
          <a:xfrm>
            <a:off x="6574536" y="2185416"/>
            <a:ext cx="310896" cy="310896"/>
          </a:xfrm>
          <a:prstGeom prst="rect">
            <a:avLst/>
          </a:prstGeom>
        </p:spPr>
      </p:pic>
      <p:sp>
        <p:nvSpPr>
          <p:cNvPr id="13" name="Text 8"/>
          <p:cNvSpPr txBox="1"/>
          <p:nvPr/>
        </p:nvSpPr>
        <p:spPr>
          <a:xfrm>
            <a:off x="7251192" y="2011680"/>
            <a:ext cx="4160520" cy="457200"/>
          </a:xfrm>
          <a:prstGeom prst="rect">
            <a:avLst/>
          </a:prstGeom>
          <a:noFill/>
          <a:ln/>
        </p:spPr>
        <p:txBody>
          <a:bodyPr wrap="square" lIns="0" tIns="0" rIns="0" bIns="0" rtlCol="0" anchor="ctr"/>
          <a:lstStyle/>
          <a:p>
            <a:pPr indent="0" marL="0">
              <a:buNone/>
            </a:pPr>
            <a:r>
              <a:rPr lang="en-US" sz="1500" b="1" dirty="0">
                <a:solidFill>
                  <a:srgbClr val="0F1341"/>
                </a:solidFill>
                <a:latin typeface="Montserrat" pitchFamily="34" charset="0"/>
                <a:ea typeface="Montserrat" pitchFamily="34" charset="-122"/>
                <a:cs typeface="Montserrat" pitchFamily="34" charset="-120"/>
              </a:rPr>
              <a:t>Tiny teams, big companies</a:t>
            </a:r>
            <a:endParaRPr lang="en-US" sz="1500" dirty="0"/>
          </a:p>
        </p:txBody>
      </p:sp>
      <p:sp>
        <p:nvSpPr>
          <p:cNvPr id="14" name="Text 9"/>
          <p:cNvSpPr txBox="1"/>
          <p:nvPr/>
        </p:nvSpPr>
        <p:spPr>
          <a:xfrm>
            <a:off x="7251192" y="2514600"/>
            <a:ext cx="4160520" cy="960120"/>
          </a:xfrm>
          <a:prstGeom prst="rect">
            <a:avLst/>
          </a:prstGeom>
          <a:noFill/>
          <a:ln/>
        </p:spPr>
        <p:txBody>
          <a:bodyPr wrap="square" lIns="0" tIns="0" rIns="0" bIns="0" rtlCol="0" anchor="t"/>
          <a:lstStyle/>
          <a:p>
            <a:pPr indent="0" marL="0">
              <a:buNone/>
            </a:pPr>
            <a:r>
              <a:rPr lang="en-US" sz="1250" dirty="0">
                <a:solidFill>
                  <a:srgbClr val="5B6270"/>
                </a:solidFill>
                <a:latin typeface="Montserrat" pitchFamily="34" charset="0"/>
                <a:ea typeface="Montserrat" pitchFamily="34" charset="-122"/>
                <a:cs typeface="Montserrat" pitchFamily="34" charset="-120"/>
              </a:rPr>
              <a:t>Founders with agents launch what used to need 20 people. Team size stops being a signal of ambition.</a:t>
            </a:r>
            <a:endParaRPr lang="en-US" sz="1250" dirty="0"/>
          </a:p>
        </p:txBody>
      </p:sp>
      <p:sp>
        <p:nvSpPr>
          <p:cNvPr id="15" name="Shape 10"/>
          <p:cNvSpPr/>
          <p:nvPr/>
        </p:nvSpPr>
        <p:spPr>
          <a:xfrm>
            <a:off x="548640" y="3749040"/>
            <a:ext cx="5440680" cy="1783080"/>
          </a:xfrm>
          <a:prstGeom prst="roundRect">
            <a:avLst>
              <a:gd name="adj" fmla="val 4103"/>
            </a:avLst>
          </a:prstGeom>
          <a:solidFill>
            <a:srgbClr val="F3F7FC"/>
          </a:solidFill>
          <a:ln/>
        </p:spPr>
      </p:sp>
      <p:sp>
        <p:nvSpPr>
          <p:cNvPr id="16" name="Shape 11"/>
          <p:cNvSpPr/>
          <p:nvPr/>
        </p:nvSpPr>
        <p:spPr>
          <a:xfrm>
            <a:off x="777240" y="4005072"/>
            <a:ext cx="603504" cy="603504"/>
          </a:xfrm>
          <a:prstGeom prst="ellipse">
            <a:avLst/>
          </a:prstGeom>
          <a:solidFill>
            <a:srgbClr val="D9E8F8"/>
          </a:solidFill>
          <a:ln/>
        </p:spPr>
      </p:sp>
      <p:pic>
        <p:nvPicPr>
          <p:cNvPr id="17" name="Image 2" descr="preencoded.png">    </p:cNvPr>
          <p:cNvPicPr>
            <a:picLocks noChangeAspect="1"/>
          </p:cNvPicPr>
          <p:nvPr/>
        </p:nvPicPr>
        <p:blipFill>
          <a:blip r:embed="rId3"/>
          <a:stretch>
            <a:fillRect/>
          </a:stretch>
        </p:blipFill>
        <p:spPr>
          <a:xfrm>
            <a:off x="923544" y="4151376"/>
            <a:ext cx="310896" cy="310896"/>
          </a:xfrm>
          <a:prstGeom prst="rect">
            <a:avLst/>
          </a:prstGeom>
        </p:spPr>
      </p:pic>
      <p:sp>
        <p:nvSpPr>
          <p:cNvPr id="18" name="Text 12"/>
          <p:cNvSpPr txBox="1"/>
          <p:nvPr/>
        </p:nvSpPr>
        <p:spPr>
          <a:xfrm>
            <a:off x="1600200" y="3977640"/>
            <a:ext cx="4160520" cy="457200"/>
          </a:xfrm>
          <a:prstGeom prst="rect">
            <a:avLst/>
          </a:prstGeom>
          <a:noFill/>
          <a:ln/>
        </p:spPr>
        <p:txBody>
          <a:bodyPr wrap="square" lIns="0" tIns="0" rIns="0" bIns="0" rtlCol="0" anchor="ctr"/>
          <a:lstStyle/>
          <a:p>
            <a:pPr indent="0" marL="0">
              <a:buNone/>
            </a:pPr>
            <a:r>
              <a:rPr lang="en-US" sz="1500" b="1" dirty="0">
                <a:solidFill>
                  <a:srgbClr val="0F1341"/>
                </a:solidFill>
                <a:latin typeface="Montserrat" pitchFamily="34" charset="0"/>
                <a:ea typeface="Montserrat" pitchFamily="34" charset="-122"/>
                <a:cs typeface="Montserrat" pitchFamily="34" charset="-120"/>
              </a:rPr>
              <a:t>Judgement becomes scarce</a:t>
            </a:r>
            <a:endParaRPr lang="en-US" sz="1500" dirty="0"/>
          </a:p>
        </p:txBody>
      </p:sp>
      <p:sp>
        <p:nvSpPr>
          <p:cNvPr id="19" name="Text 13"/>
          <p:cNvSpPr txBox="1"/>
          <p:nvPr/>
        </p:nvSpPr>
        <p:spPr>
          <a:xfrm>
            <a:off x="1600200" y="4480560"/>
            <a:ext cx="4160520" cy="960120"/>
          </a:xfrm>
          <a:prstGeom prst="rect">
            <a:avLst/>
          </a:prstGeom>
          <a:noFill/>
          <a:ln/>
        </p:spPr>
        <p:txBody>
          <a:bodyPr wrap="square" lIns="0" tIns="0" rIns="0" bIns="0" rtlCol="0" anchor="t"/>
          <a:lstStyle/>
          <a:p>
            <a:pPr indent="0" marL="0">
              <a:buNone/>
            </a:pPr>
            <a:r>
              <a:rPr lang="en-US" sz="1250" dirty="0">
                <a:solidFill>
                  <a:srgbClr val="5B6270"/>
                </a:solidFill>
                <a:latin typeface="Montserrat" pitchFamily="34" charset="0"/>
                <a:ea typeface="Montserrat" pitchFamily="34" charset="-122"/>
                <a:cs typeface="Montserrat" pitchFamily="34" charset="-120"/>
              </a:rPr>
              <a:t>Choosing which problem is worth solving — and which assumption to test first — is the human edge.</a:t>
            </a:r>
            <a:endParaRPr lang="en-US" sz="1250" dirty="0"/>
          </a:p>
        </p:txBody>
      </p:sp>
      <p:sp>
        <p:nvSpPr>
          <p:cNvPr id="20" name="Shape 14"/>
          <p:cNvSpPr/>
          <p:nvPr/>
        </p:nvSpPr>
        <p:spPr>
          <a:xfrm>
            <a:off x="6199632" y="3749040"/>
            <a:ext cx="5440680" cy="1783080"/>
          </a:xfrm>
          <a:prstGeom prst="roundRect">
            <a:avLst>
              <a:gd name="adj" fmla="val 4103"/>
            </a:avLst>
          </a:prstGeom>
          <a:solidFill>
            <a:srgbClr val="0F1341"/>
          </a:solidFill>
          <a:ln/>
        </p:spPr>
      </p:sp>
      <p:sp>
        <p:nvSpPr>
          <p:cNvPr id="21" name="Shape 15"/>
          <p:cNvSpPr/>
          <p:nvPr/>
        </p:nvSpPr>
        <p:spPr>
          <a:xfrm>
            <a:off x="6428232" y="4005072"/>
            <a:ext cx="603504" cy="603504"/>
          </a:xfrm>
          <a:prstGeom prst="ellipse">
            <a:avLst/>
          </a:prstGeom>
          <a:solidFill>
            <a:srgbClr val="2E6FBF"/>
          </a:solidFill>
          <a:ln/>
        </p:spPr>
      </p:sp>
      <p:pic>
        <p:nvPicPr>
          <p:cNvPr id="22" name="Image 3" descr="preencoded.png">    </p:cNvPr>
          <p:cNvPicPr>
            <a:picLocks noChangeAspect="1"/>
          </p:cNvPicPr>
          <p:nvPr/>
        </p:nvPicPr>
        <p:blipFill>
          <a:blip r:embed="rId4"/>
          <a:stretch>
            <a:fillRect/>
          </a:stretch>
        </p:blipFill>
        <p:spPr>
          <a:xfrm>
            <a:off x="6574536" y="4151376"/>
            <a:ext cx="310896" cy="310896"/>
          </a:xfrm>
          <a:prstGeom prst="rect">
            <a:avLst/>
          </a:prstGeom>
        </p:spPr>
      </p:pic>
      <p:sp>
        <p:nvSpPr>
          <p:cNvPr id="23" name="Text 16"/>
          <p:cNvSpPr txBox="1"/>
          <p:nvPr/>
        </p:nvSpPr>
        <p:spPr>
          <a:xfrm>
            <a:off x="7251192" y="3977640"/>
            <a:ext cx="4160520" cy="457200"/>
          </a:xfrm>
          <a:prstGeom prst="rect">
            <a:avLst/>
          </a:prstGeom>
          <a:noFill/>
          <a:ln/>
        </p:spPr>
        <p:txBody>
          <a:bodyPr wrap="square" lIns="0" tIns="0" rIns="0" bIns="0" rtlCol="0" anchor="ctr"/>
          <a:lstStyle/>
          <a:p>
            <a:pPr indent="0" marL="0">
              <a:buNone/>
            </a:pPr>
            <a:r>
              <a:rPr lang="en-US" sz="1500" b="1" dirty="0">
                <a:solidFill>
                  <a:srgbClr val="FFFFFF"/>
                </a:solidFill>
                <a:latin typeface="Montserrat" pitchFamily="34" charset="0"/>
                <a:ea typeface="Montserrat" pitchFamily="34" charset="-122"/>
                <a:cs typeface="Montserrat" pitchFamily="34" charset="-120"/>
              </a:rPr>
              <a:t>Speed of learning wins</a:t>
            </a:r>
            <a:endParaRPr lang="en-US" sz="1500" dirty="0"/>
          </a:p>
        </p:txBody>
      </p:sp>
      <p:sp>
        <p:nvSpPr>
          <p:cNvPr id="24" name="Text 17"/>
          <p:cNvSpPr txBox="1"/>
          <p:nvPr/>
        </p:nvSpPr>
        <p:spPr>
          <a:xfrm>
            <a:off x="7251192" y="4480560"/>
            <a:ext cx="4160520" cy="960120"/>
          </a:xfrm>
          <a:prstGeom prst="rect">
            <a:avLst/>
          </a:prstGeom>
          <a:noFill/>
          <a:ln/>
        </p:spPr>
        <p:txBody>
          <a:bodyPr wrap="square" lIns="0" tIns="0" rIns="0" bIns="0" rtlCol="0" anchor="t"/>
          <a:lstStyle/>
          <a:p>
            <a:pPr indent="0" marL="0">
              <a:buNone/>
            </a:pPr>
            <a:r>
              <a:rPr lang="en-US" sz="1250" dirty="0">
                <a:solidFill>
                  <a:srgbClr val="C9D3E3"/>
                </a:solidFill>
                <a:latin typeface="Montserrat" pitchFamily="34" charset="0"/>
                <a:ea typeface="Montserrat" pitchFamily="34" charset="-122"/>
                <a:cs typeface="Montserrat" pitchFamily="34" charset="-120"/>
              </a:rPr>
              <a:t>The winner is not who builds fastest, but who learns fastest which idea really works.</a:t>
            </a:r>
            <a:endParaRPr lang="en-US" sz="1250" dirty="0"/>
          </a:p>
        </p:txBody>
      </p:sp>
      <p:sp>
        <p:nvSpPr>
          <p:cNvPr id="25" name="Text 18"/>
          <p:cNvSpPr txBox="1"/>
          <p:nvPr/>
        </p:nvSpPr>
        <p:spPr>
          <a:xfrm>
            <a:off x="548640" y="5779008"/>
            <a:ext cx="11064240" cy="365760"/>
          </a:xfrm>
          <a:prstGeom prst="rect">
            <a:avLst/>
          </a:prstGeom>
          <a:noFill/>
          <a:ln/>
        </p:spPr>
        <p:txBody>
          <a:bodyPr wrap="square" lIns="0" tIns="0" rIns="0" bIns="0" rtlCol="0" anchor="t"/>
          <a:lstStyle/>
          <a:p>
            <a:pPr indent="0" marL="0">
              <a:buNone/>
            </a:pPr>
            <a:r>
              <a:rPr lang="en-US" sz="1200" b="1" dirty="0">
                <a:solidFill>
                  <a:srgbClr val="2E6FBF"/>
                </a:solidFill>
                <a:latin typeface="Montserrat" pitchFamily="34" charset="0"/>
                <a:ea typeface="Montserrat" pitchFamily="34" charset="-122"/>
                <a:cs typeface="Montserrat" pitchFamily="34" charset="-120"/>
              </a:rPr>
              <a:t>Next step for you: take one assumption from your own project and design a one-week test with a kill criterion.</a:t>
            </a:r>
            <a:endParaRPr lang="en-US" sz="12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3A3"/>
                </a:solidFill>
                <a:latin typeface="Montserrat"/>
                <a:ea typeface="Montserrat"/>
                <a:cs typeface="Montserra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548640" y="685800"/>
            <a:ext cx="9509760" cy="1280160"/>
          </a:xfrm>
          <a:prstGeom prst="rect">
            <a:avLst/>
          </a:prstGeom>
          <a:noFill/>
          <a:ln/>
        </p:spPr>
        <p:txBody>
          <a:bodyPr wrap="square" lIns="0" tIns="0" rIns="0" bIns="0" rtlCol="0" anchor="t"/>
          <a:lstStyle/>
          <a:p>
            <a:pPr algn="l" indent="0" marL="0">
              <a:buNone/>
            </a:pPr>
            <a:r>
              <a:rPr lang="en-US" sz="3400" b="1" dirty="0">
                <a:solidFill>
                  <a:srgbClr val="FFFFFF"/>
                </a:solidFill>
                <a:latin typeface="Montserrat" pitchFamily="34" charset="0"/>
                <a:ea typeface="Montserrat" pitchFamily="34" charset="-122"/>
                <a:cs typeface="Montserrat" pitchFamily="34" charset="-120"/>
              </a:rPr>
              <a:t>AI can generate a strategy. Evidence tells you whether it works.</a:t>
            </a:r>
            <a:endParaRPr lang="en-US" sz="3400" dirty="0"/>
          </a:p>
        </p:txBody>
      </p:sp>
      <p:sp>
        <p:nvSpPr>
          <p:cNvPr id="3" name="Text 0"/>
          <p:cNvSpPr/>
          <p:nvPr>
            <p:ph idx="102" type="body" hasCustomPrompt="1"/>
          </p:nvPr>
        </p:nvSpPr>
        <p:spPr>
          <a:xfrm>
            <a:off x="548640" y="2057400"/>
            <a:ext cx="9509760" cy="411480"/>
          </a:xfrm>
          <a:prstGeom prst="rect">
            <a:avLst/>
          </a:prstGeom>
          <a:noFill/>
          <a:ln/>
        </p:spPr>
        <p:txBody>
          <a:bodyPr wrap="square" lIns="0" tIns="0" rIns="0" bIns="0" rtlCol="0" anchor="t"/>
          <a:lstStyle/>
          <a:p>
            <a:pPr algn="l" indent="0" marL="0">
              <a:buNone/>
            </a:pPr>
            <a:r>
              <a:rPr lang="en-US" sz="1600" dirty="0">
                <a:solidFill>
                  <a:srgbClr val="4A8FDB"/>
                </a:solidFill>
                <a:latin typeface="Montserrat" pitchFamily="34" charset="0"/>
                <a:ea typeface="Montserrat" pitchFamily="34" charset="-122"/>
                <a:cs typeface="Montserrat" pitchFamily="34" charset="-120"/>
              </a:rPr>
              <a:t>The advantage is not generating answers faster — it is testing assumptions faster.</a:t>
            </a:r>
            <a:endParaRPr lang="en-US" sz="1600" dirty="0"/>
          </a:p>
        </p:txBody>
      </p:sp>
      <p:sp>
        <p:nvSpPr>
          <p:cNvPr id="5" name="Shape 2"/>
          <p:cNvSpPr/>
          <p:nvPr/>
        </p:nvSpPr>
        <p:spPr>
          <a:xfrm>
            <a:off x="548640" y="2834640"/>
            <a:ext cx="2615184" cy="1325880"/>
          </a:xfrm>
          <a:prstGeom prst="roundRect">
            <a:avLst>
              <a:gd name="adj" fmla="val 5517"/>
            </a:avLst>
          </a:prstGeom>
          <a:solidFill>
            <a:srgbClr val="1B2156"/>
          </a:solidFill>
          <a:ln/>
        </p:spPr>
      </p:sp>
      <p:sp>
        <p:nvSpPr>
          <p:cNvPr id="6" name="Text 3"/>
          <p:cNvSpPr txBox="1"/>
          <p:nvPr/>
        </p:nvSpPr>
        <p:spPr>
          <a:xfrm>
            <a:off x="749808" y="2953512"/>
            <a:ext cx="914400" cy="365760"/>
          </a:xfrm>
          <a:prstGeom prst="rect">
            <a:avLst/>
          </a:prstGeom>
          <a:noFill/>
          <a:ln/>
        </p:spPr>
        <p:txBody>
          <a:bodyPr wrap="square" lIns="0" tIns="0" rIns="0" bIns="0" rtlCol="0" anchor="t"/>
          <a:lstStyle/>
          <a:p>
            <a:pPr indent="0" marL="0">
              <a:buNone/>
            </a:pPr>
            <a:r>
              <a:rPr lang="en-US" sz="1400" b="1" dirty="0">
                <a:solidFill>
                  <a:srgbClr val="4A8FDB"/>
                </a:solidFill>
                <a:latin typeface="Montserrat" pitchFamily="34" charset="0"/>
                <a:ea typeface="Montserrat" pitchFamily="34" charset="-122"/>
                <a:cs typeface="Montserrat" pitchFamily="34" charset="-120"/>
              </a:rPr>
              <a:t>01</a:t>
            </a:r>
            <a:endParaRPr lang="en-US" sz="1400" dirty="0"/>
          </a:p>
        </p:txBody>
      </p:sp>
      <p:sp>
        <p:nvSpPr>
          <p:cNvPr id="7" name="Text 4"/>
          <p:cNvSpPr txBox="1"/>
          <p:nvPr/>
        </p:nvSpPr>
        <p:spPr>
          <a:xfrm>
            <a:off x="749808" y="3319272"/>
            <a:ext cx="2249424" cy="365760"/>
          </a:xfrm>
          <a:prstGeom prst="rect">
            <a:avLst/>
          </a:prstGeom>
          <a:noFill/>
          <a:ln/>
        </p:spPr>
        <p:txBody>
          <a:bodyPr wrap="square" lIns="0" tIns="0" rIns="0" bIns="0" rtlCol="0" anchor="t"/>
          <a:lstStyle/>
          <a:p>
            <a:pPr indent="0" marL="0">
              <a:buNone/>
            </a:pPr>
            <a:r>
              <a:rPr lang="en-US" sz="1700" b="1" dirty="0">
                <a:solidFill>
                  <a:srgbClr val="FFFFFF"/>
                </a:solidFill>
                <a:latin typeface="Montserrat" pitchFamily="34" charset="0"/>
                <a:ea typeface="Montserrat" pitchFamily="34" charset="-122"/>
                <a:cs typeface="Montserrat" pitchFamily="34" charset="-120"/>
              </a:rPr>
              <a:t>Identify</a:t>
            </a:r>
            <a:endParaRPr lang="en-US" sz="1700" dirty="0"/>
          </a:p>
        </p:txBody>
      </p:sp>
      <p:sp>
        <p:nvSpPr>
          <p:cNvPr id="8" name="Text 5"/>
          <p:cNvSpPr txBox="1"/>
          <p:nvPr/>
        </p:nvSpPr>
        <p:spPr>
          <a:xfrm>
            <a:off x="749808" y="3703320"/>
            <a:ext cx="2249424" cy="320040"/>
          </a:xfrm>
          <a:prstGeom prst="rect">
            <a:avLst/>
          </a:prstGeom>
          <a:noFill/>
          <a:ln/>
        </p:spPr>
        <p:txBody>
          <a:bodyPr wrap="square" lIns="0" tIns="0" rIns="0" bIns="0" rtlCol="0" anchor="t"/>
          <a:lstStyle/>
          <a:p>
            <a:pPr indent="0" marL="0">
              <a:buNone/>
            </a:pPr>
            <a:r>
              <a:rPr lang="en-US" sz="1200" dirty="0">
                <a:solidFill>
                  <a:srgbClr val="C9D3E3"/>
                </a:solidFill>
                <a:latin typeface="Montserrat" pitchFamily="34" charset="0"/>
                <a:ea typeface="Montserrat" pitchFamily="34" charset="-122"/>
                <a:cs typeface="Montserrat" pitchFamily="34" charset="-120"/>
              </a:rPr>
              <a:t>Find the opportunity</a:t>
            </a:r>
            <a:endParaRPr lang="en-US" sz="1200" dirty="0"/>
          </a:p>
        </p:txBody>
      </p:sp>
      <p:sp>
        <p:nvSpPr>
          <p:cNvPr id="9" name="Shape 6"/>
          <p:cNvSpPr/>
          <p:nvPr/>
        </p:nvSpPr>
        <p:spPr>
          <a:xfrm>
            <a:off x="3374136" y="2834640"/>
            <a:ext cx="2615184" cy="1325880"/>
          </a:xfrm>
          <a:prstGeom prst="roundRect">
            <a:avLst>
              <a:gd name="adj" fmla="val 5517"/>
            </a:avLst>
          </a:prstGeom>
          <a:solidFill>
            <a:srgbClr val="1B2156"/>
          </a:solidFill>
          <a:ln/>
        </p:spPr>
      </p:sp>
      <p:sp>
        <p:nvSpPr>
          <p:cNvPr id="10" name="Text 7"/>
          <p:cNvSpPr txBox="1"/>
          <p:nvPr/>
        </p:nvSpPr>
        <p:spPr>
          <a:xfrm>
            <a:off x="3575304" y="2953512"/>
            <a:ext cx="914400" cy="365760"/>
          </a:xfrm>
          <a:prstGeom prst="rect">
            <a:avLst/>
          </a:prstGeom>
          <a:noFill/>
          <a:ln/>
        </p:spPr>
        <p:txBody>
          <a:bodyPr wrap="square" lIns="0" tIns="0" rIns="0" bIns="0" rtlCol="0" anchor="t"/>
          <a:lstStyle/>
          <a:p>
            <a:pPr indent="0" marL="0">
              <a:buNone/>
            </a:pPr>
            <a:r>
              <a:rPr lang="en-US" sz="1400" b="1" dirty="0">
                <a:solidFill>
                  <a:srgbClr val="4A8FDB"/>
                </a:solidFill>
                <a:latin typeface="Montserrat" pitchFamily="34" charset="0"/>
                <a:ea typeface="Montserrat" pitchFamily="34" charset="-122"/>
                <a:cs typeface="Montserrat" pitchFamily="34" charset="-120"/>
              </a:rPr>
              <a:t>02</a:t>
            </a:r>
            <a:endParaRPr lang="en-US" sz="1400" dirty="0"/>
          </a:p>
        </p:txBody>
      </p:sp>
      <p:sp>
        <p:nvSpPr>
          <p:cNvPr id="11" name="Text 8"/>
          <p:cNvSpPr txBox="1"/>
          <p:nvPr/>
        </p:nvSpPr>
        <p:spPr>
          <a:xfrm>
            <a:off x="3575304" y="3319272"/>
            <a:ext cx="2249424" cy="365760"/>
          </a:xfrm>
          <a:prstGeom prst="rect">
            <a:avLst/>
          </a:prstGeom>
          <a:noFill/>
          <a:ln/>
        </p:spPr>
        <p:txBody>
          <a:bodyPr wrap="square" lIns="0" tIns="0" rIns="0" bIns="0" rtlCol="0" anchor="t"/>
          <a:lstStyle/>
          <a:p>
            <a:pPr indent="0" marL="0">
              <a:buNone/>
            </a:pPr>
            <a:r>
              <a:rPr lang="en-US" sz="1700" b="1" dirty="0">
                <a:solidFill>
                  <a:srgbClr val="FFFFFF"/>
                </a:solidFill>
                <a:latin typeface="Montserrat" pitchFamily="34" charset="0"/>
                <a:ea typeface="Montserrat" pitchFamily="34" charset="-122"/>
                <a:cs typeface="Montserrat" pitchFamily="34" charset="-120"/>
              </a:rPr>
              <a:t>Quantify</a:t>
            </a:r>
            <a:endParaRPr lang="en-US" sz="1700" dirty="0"/>
          </a:p>
        </p:txBody>
      </p:sp>
      <p:sp>
        <p:nvSpPr>
          <p:cNvPr id="12" name="Text 9"/>
          <p:cNvSpPr txBox="1"/>
          <p:nvPr/>
        </p:nvSpPr>
        <p:spPr>
          <a:xfrm>
            <a:off x="3575304" y="3703320"/>
            <a:ext cx="2249424" cy="320040"/>
          </a:xfrm>
          <a:prstGeom prst="rect">
            <a:avLst/>
          </a:prstGeom>
          <a:noFill/>
          <a:ln/>
        </p:spPr>
        <p:txBody>
          <a:bodyPr wrap="square" lIns="0" tIns="0" rIns="0" bIns="0" rtlCol="0" anchor="t"/>
          <a:lstStyle/>
          <a:p>
            <a:pPr indent="0" marL="0">
              <a:buNone/>
            </a:pPr>
            <a:r>
              <a:rPr lang="en-US" sz="1200" dirty="0">
                <a:solidFill>
                  <a:srgbClr val="C9D3E3"/>
                </a:solidFill>
                <a:latin typeface="Montserrat" pitchFamily="34" charset="0"/>
                <a:ea typeface="Montserrat" pitchFamily="34" charset="-122"/>
                <a:cs typeface="Montserrat" pitchFamily="34" charset="-120"/>
              </a:rPr>
              <a:t>Build the business case</a:t>
            </a:r>
            <a:endParaRPr lang="en-US" sz="1200" dirty="0"/>
          </a:p>
        </p:txBody>
      </p:sp>
      <p:sp>
        <p:nvSpPr>
          <p:cNvPr id="13" name="Shape 10"/>
          <p:cNvSpPr/>
          <p:nvPr/>
        </p:nvSpPr>
        <p:spPr>
          <a:xfrm>
            <a:off x="6199632" y="2834640"/>
            <a:ext cx="2615184" cy="1325880"/>
          </a:xfrm>
          <a:prstGeom prst="roundRect">
            <a:avLst>
              <a:gd name="adj" fmla="val 5517"/>
            </a:avLst>
          </a:prstGeom>
          <a:solidFill>
            <a:srgbClr val="1B2156"/>
          </a:solidFill>
          <a:ln/>
        </p:spPr>
      </p:sp>
      <p:sp>
        <p:nvSpPr>
          <p:cNvPr id="14" name="Text 11"/>
          <p:cNvSpPr txBox="1"/>
          <p:nvPr/>
        </p:nvSpPr>
        <p:spPr>
          <a:xfrm>
            <a:off x="6400800" y="2953512"/>
            <a:ext cx="914400" cy="365760"/>
          </a:xfrm>
          <a:prstGeom prst="rect">
            <a:avLst/>
          </a:prstGeom>
          <a:noFill/>
          <a:ln/>
        </p:spPr>
        <p:txBody>
          <a:bodyPr wrap="square" lIns="0" tIns="0" rIns="0" bIns="0" rtlCol="0" anchor="t"/>
          <a:lstStyle/>
          <a:p>
            <a:pPr indent="0" marL="0">
              <a:buNone/>
            </a:pPr>
            <a:r>
              <a:rPr lang="en-US" sz="1400" b="1" dirty="0">
                <a:solidFill>
                  <a:srgbClr val="4A8FDB"/>
                </a:solidFill>
                <a:latin typeface="Montserrat" pitchFamily="34" charset="0"/>
                <a:ea typeface="Montserrat" pitchFamily="34" charset="-122"/>
                <a:cs typeface="Montserrat" pitchFamily="34" charset="-120"/>
              </a:rPr>
              <a:t>03</a:t>
            </a:r>
            <a:endParaRPr lang="en-US" sz="1400" dirty="0"/>
          </a:p>
        </p:txBody>
      </p:sp>
      <p:sp>
        <p:nvSpPr>
          <p:cNvPr id="15" name="Text 12"/>
          <p:cNvSpPr txBox="1"/>
          <p:nvPr/>
        </p:nvSpPr>
        <p:spPr>
          <a:xfrm>
            <a:off x="6400800" y="3319272"/>
            <a:ext cx="2249424" cy="365760"/>
          </a:xfrm>
          <a:prstGeom prst="rect">
            <a:avLst/>
          </a:prstGeom>
          <a:noFill/>
          <a:ln/>
        </p:spPr>
        <p:txBody>
          <a:bodyPr wrap="square" lIns="0" tIns="0" rIns="0" bIns="0" rtlCol="0" anchor="t"/>
          <a:lstStyle/>
          <a:p>
            <a:pPr indent="0" marL="0">
              <a:buNone/>
            </a:pPr>
            <a:r>
              <a:rPr lang="en-US" sz="1700" b="1" dirty="0">
                <a:solidFill>
                  <a:srgbClr val="FFFFFF"/>
                </a:solidFill>
                <a:latin typeface="Montserrat" pitchFamily="34" charset="0"/>
                <a:ea typeface="Montserrat" pitchFamily="34" charset="-122"/>
                <a:cs typeface="Montserrat" pitchFamily="34" charset="-120"/>
              </a:rPr>
              <a:t>Experiment</a:t>
            </a:r>
            <a:endParaRPr lang="en-US" sz="1700" dirty="0"/>
          </a:p>
        </p:txBody>
      </p:sp>
      <p:sp>
        <p:nvSpPr>
          <p:cNvPr id="16" name="Text 13"/>
          <p:cNvSpPr txBox="1"/>
          <p:nvPr/>
        </p:nvSpPr>
        <p:spPr>
          <a:xfrm>
            <a:off x="6400800" y="3703320"/>
            <a:ext cx="2249424" cy="320040"/>
          </a:xfrm>
          <a:prstGeom prst="rect">
            <a:avLst/>
          </a:prstGeom>
          <a:noFill/>
          <a:ln/>
        </p:spPr>
        <p:txBody>
          <a:bodyPr wrap="square" lIns="0" tIns="0" rIns="0" bIns="0" rtlCol="0" anchor="t"/>
          <a:lstStyle/>
          <a:p>
            <a:pPr indent="0" marL="0">
              <a:buNone/>
            </a:pPr>
            <a:r>
              <a:rPr lang="en-US" sz="1200" dirty="0">
                <a:solidFill>
                  <a:srgbClr val="C9D3E3"/>
                </a:solidFill>
                <a:latin typeface="Montserrat" pitchFamily="34" charset="0"/>
                <a:ea typeface="Montserrat" pitchFamily="34" charset="-122"/>
                <a:cs typeface="Montserrat" pitchFamily="34" charset="-120"/>
              </a:rPr>
              <a:t>Collect real evidence</a:t>
            </a:r>
            <a:endParaRPr lang="en-US" sz="1200" dirty="0"/>
          </a:p>
        </p:txBody>
      </p:sp>
      <p:sp>
        <p:nvSpPr>
          <p:cNvPr id="17" name="Shape 14"/>
          <p:cNvSpPr/>
          <p:nvPr/>
        </p:nvSpPr>
        <p:spPr>
          <a:xfrm>
            <a:off x="9025128" y="2834640"/>
            <a:ext cx="2615184" cy="1325880"/>
          </a:xfrm>
          <a:prstGeom prst="roundRect">
            <a:avLst>
              <a:gd name="adj" fmla="val 5517"/>
            </a:avLst>
          </a:prstGeom>
          <a:solidFill>
            <a:srgbClr val="1B2156"/>
          </a:solidFill>
          <a:ln/>
        </p:spPr>
      </p:sp>
      <p:sp>
        <p:nvSpPr>
          <p:cNvPr id="18" name="Text 15"/>
          <p:cNvSpPr txBox="1"/>
          <p:nvPr/>
        </p:nvSpPr>
        <p:spPr>
          <a:xfrm>
            <a:off x="9226296" y="2953512"/>
            <a:ext cx="914400" cy="365760"/>
          </a:xfrm>
          <a:prstGeom prst="rect">
            <a:avLst/>
          </a:prstGeom>
          <a:noFill/>
          <a:ln/>
        </p:spPr>
        <p:txBody>
          <a:bodyPr wrap="square" lIns="0" tIns="0" rIns="0" bIns="0" rtlCol="0" anchor="t"/>
          <a:lstStyle/>
          <a:p>
            <a:pPr indent="0" marL="0">
              <a:buNone/>
            </a:pPr>
            <a:r>
              <a:rPr lang="en-US" sz="1400" b="1" dirty="0">
                <a:solidFill>
                  <a:srgbClr val="4A8FDB"/>
                </a:solidFill>
                <a:latin typeface="Montserrat" pitchFamily="34" charset="0"/>
                <a:ea typeface="Montserrat" pitchFamily="34" charset="-122"/>
                <a:cs typeface="Montserrat" pitchFamily="34" charset="-120"/>
              </a:rPr>
              <a:t>04</a:t>
            </a:r>
            <a:endParaRPr lang="en-US" sz="1400" dirty="0"/>
          </a:p>
        </p:txBody>
      </p:sp>
      <p:sp>
        <p:nvSpPr>
          <p:cNvPr id="19" name="Text 16"/>
          <p:cNvSpPr txBox="1"/>
          <p:nvPr/>
        </p:nvSpPr>
        <p:spPr>
          <a:xfrm>
            <a:off x="9226296" y="3319272"/>
            <a:ext cx="2249424" cy="365760"/>
          </a:xfrm>
          <a:prstGeom prst="rect">
            <a:avLst/>
          </a:prstGeom>
          <a:noFill/>
          <a:ln/>
        </p:spPr>
        <p:txBody>
          <a:bodyPr wrap="square" lIns="0" tIns="0" rIns="0" bIns="0" rtlCol="0" anchor="t"/>
          <a:lstStyle/>
          <a:p>
            <a:pPr indent="0" marL="0">
              <a:buNone/>
            </a:pPr>
            <a:r>
              <a:rPr lang="en-US" sz="1700" b="1" dirty="0">
                <a:solidFill>
                  <a:srgbClr val="FFFFFF"/>
                </a:solidFill>
                <a:latin typeface="Montserrat" pitchFamily="34" charset="0"/>
                <a:ea typeface="Montserrat" pitchFamily="34" charset="-122"/>
                <a:cs typeface="Montserrat" pitchFamily="34" charset="-120"/>
              </a:rPr>
              <a:t>Decide</a:t>
            </a:r>
            <a:endParaRPr lang="en-US" sz="1700" dirty="0"/>
          </a:p>
        </p:txBody>
      </p:sp>
      <p:sp>
        <p:nvSpPr>
          <p:cNvPr id="20" name="Text 17"/>
          <p:cNvSpPr txBox="1"/>
          <p:nvPr/>
        </p:nvSpPr>
        <p:spPr>
          <a:xfrm>
            <a:off x="9226296" y="3703320"/>
            <a:ext cx="2249424" cy="320040"/>
          </a:xfrm>
          <a:prstGeom prst="rect">
            <a:avLst/>
          </a:prstGeom>
          <a:noFill/>
          <a:ln/>
        </p:spPr>
        <p:txBody>
          <a:bodyPr wrap="square" lIns="0" tIns="0" rIns="0" bIns="0" rtlCol="0" anchor="t"/>
          <a:lstStyle/>
          <a:p>
            <a:pPr indent="0" marL="0">
              <a:buNone/>
            </a:pPr>
            <a:r>
              <a:rPr lang="en-US" sz="1200" dirty="0">
                <a:solidFill>
                  <a:srgbClr val="C9D3E3"/>
                </a:solidFill>
                <a:latin typeface="Montserrat" pitchFamily="34" charset="0"/>
                <a:ea typeface="Montserrat" pitchFamily="34" charset="-122"/>
                <a:cs typeface="Montserrat" pitchFamily="34" charset="-120"/>
              </a:rPr>
              <a:t>Go, iterate or stop</a:t>
            </a:r>
            <a:endParaRPr lang="en-US" sz="1200" dirty="0"/>
          </a:p>
        </p:txBody>
      </p:sp>
      <p:sp>
        <p:nvSpPr>
          <p:cNvPr id="21" name="Text 18"/>
          <p:cNvSpPr txBox="1"/>
          <p:nvPr/>
        </p:nvSpPr>
        <p:spPr>
          <a:xfrm>
            <a:off x="548640" y="4526280"/>
            <a:ext cx="4572000" cy="274320"/>
          </a:xfrm>
          <a:prstGeom prst="rect">
            <a:avLst/>
          </a:prstGeom>
          <a:noFill/>
          <a:ln/>
        </p:spPr>
        <p:txBody>
          <a:bodyPr wrap="square" lIns="0" tIns="0" rIns="0" bIns="0" rtlCol="0" anchor="t"/>
          <a:lstStyle/>
          <a:p>
            <a:pPr indent="0" marL="0">
              <a:buNone/>
            </a:pPr>
            <a:r>
              <a:rPr lang="en-US" sz="1000" b="1" spc="100" kern="0" dirty="0">
                <a:solidFill>
                  <a:srgbClr val="4A8FDB"/>
                </a:solidFill>
                <a:latin typeface="Montserrat" pitchFamily="34" charset="0"/>
                <a:ea typeface="Montserrat" pitchFamily="34" charset="-122"/>
                <a:cs typeface="Montserrat" pitchFamily="34" charset="-120"/>
              </a:rPr>
              <a:t>WHO WE ARE</a:t>
            </a:r>
            <a:endParaRPr lang="en-US" sz="1000" dirty="0"/>
          </a:p>
        </p:txBody>
      </p:sp>
      <p:sp>
        <p:nvSpPr>
          <p:cNvPr id="22" name="Text 19"/>
          <p:cNvSpPr txBox="1"/>
          <p:nvPr/>
        </p:nvSpPr>
        <p:spPr>
          <a:xfrm>
            <a:off x="548640" y="4846320"/>
            <a:ext cx="5394960" cy="1097280"/>
          </a:xfrm>
          <a:prstGeom prst="rect">
            <a:avLst/>
          </a:prstGeom>
          <a:noFill/>
          <a:ln/>
        </p:spPr>
        <p:txBody>
          <a:bodyPr wrap="square" lIns="0" tIns="0" rIns="0" bIns="0" rtlCol="0" anchor="t"/>
          <a:lstStyle/>
          <a:p>
            <a:pPr indent="0" marL="0">
              <a:buNone/>
            </a:pPr>
            <a:r>
              <a:rPr lang="en-US" sz="1200" dirty="0">
                <a:solidFill>
                  <a:srgbClr val="C9D3E3"/>
                </a:solidFill>
                <a:latin typeface="Montserrat" pitchFamily="34" charset="0"/>
                <a:ea typeface="Montserrat" pitchFamily="34" charset="-122"/>
                <a:cs typeface="Montserrat" pitchFamily="34" charset="-120"/>
              </a:rPr>
              <a:t>EE-Partner (Milan) and asuno (Singapore) build AI-native systems for B2B companies — process automation for the DACH Mittelstand, and the Business Model Validator: an AI validation layer between idea and investment.</a:t>
            </a:r>
            <a:endParaRPr lang="en-US" sz="1200" dirty="0"/>
          </a:p>
        </p:txBody>
      </p:sp>
      <p:sp>
        <p:nvSpPr>
          <p:cNvPr id="23" name="Text 20"/>
          <p:cNvSpPr txBox="1"/>
          <p:nvPr/>
        </p:nvSpPr>
        <p:spPr>
          <a:xfrm>
            <a:off x="6263640" y="4526280"/>
            <a:ext cx="4572000" cy="274320"/>
          </a:xfrm>
          <a:prstGeom prst="rect">
            <a:avLst/>
          </a:prstGeom>
          <a:noFill/>
          <a:ln/>
        </p:spPr>
        <p:txBody>
          <a:bodyPr wrap="square" lIns="0" tIns="0" rIns="0" bIns="0" rtlCol="0" anchor="t"/>
          <a:lstStyle/>
          <a:p>
            <a:pPr indent="0" marL="0">
              <a:buNone/>
            </a:pPr>
            <a:r>
              <a:rPr lang="en-US" sz="1000" b="1" spc="100" kern="0" dirty="0">
                <a:solidFill>
                  <a:srgbClr val="4A8FDB"/>
                </a:solidFill>
                <a:latin typeface="Montserrat" pitchFamily="34" charset="0"/>
                <a:ea typeface="Montserrat" pitchFamily="34" charset="-122"/>
                <a:cs typeface="Montserrat" pitchFamily="34" charset="-120"/>
              </a:rPr>
              <a:t>WORK WITH US</a:t>
            </a:r>
            <a:endParaRPr lang="en-US" sz="1000" dirty="0"/>
          </a:p>
        </p:txBody>
      </p:sp>
      <p:sp>
        <p:nvSpPr>
          <p:cNvPr id="24" name="Text 21"/>
          <p:cNvSpPr txBox="1"/>
          <p:nvPr/>
        </p:nvSpPr>
        <p:spPr>
          <a:xfrm>
            <a:off x="6263640" y="4846320"/>
            <a:ext cx="5376672" cy="640080"/>
          </a:xfrm>
          <a:prstGeom prst="rect">
            <a:avLst/>
          </a:prstGeom>
          <a:noFill/>
          <a:ln/>
        </p:spPr>
        <p:txBody>
          <a:bodyPr wrap="square" lIns="0" tIns="0" rIns="0" bIns="0" rtlCol="0" anchor="t"/>
          <a:lstStyle/>
          <a:p>
            <a:pPr indent="0" marL="0">
              <a:buNone/>
            </a:pPr>
            <a:r>
              <a:rPr lang="en-US" sz="1200" dirty="0">
                <a:solidFill>
                  <a:srgbClr val="C9D3E3"/>
                </a:solidFill>
                <a:latin typeface="Montserrat" pitchFamily="34" charset="0"/>
                <a:ea typeface="Montserrat" pitchFamily="34" charset="-122"/>
                <a:cs typeface="Montserrat" pitchFamily="34" charset="-120"/>
              </a:rPr>
              <a:t>Thesis topics, internships and pilot participation for students.</a:t>
            </a:r>
            <a:endParaRPr lang="en-US" sz="1200" dirty="0"/>
          </a:p>
        </p:txBody>
      </p:sp>
      <p:sp>
        <p:nvSpPr>
          <p:cNvPr id="25" name="Text 22"/>
          <p:cNvSpPr txBox="1"/>
          <p:nvPr/>
        </p:nvSpPr>
        <p:spPr>
          <a:xfrm>
            <a:off x="6263640" y="5532120"/>
            <a:ext cx="5376672" cy="320040"/>
          </a:xfrm>
          <a:prstGeom prst="rect">
            <a:avLst/>
          </a:prstGeom>
          <a:noFill/>
          <a:ln/>
        </p:spPr>
        <p:txBody>
          <a:bodyPr wrap="square" lIns="0" tIns="0" rIns="0" bIns="0" rtlCol="0" anchor="t"/>
          <a:lstStyle/>
          <a:p>
            <a:pPr indent="0" marL="0">
              <a:buNone/>
            </a:pPr>
            <a:r>
              <a:rPr lang="en-US" sz="1200" b="1" dirty="0">
                <a:solidFill>
                  <a:srgbClr val="FFFFFF"/>
                </a:solidFill>
                <a:latin typeface="Montserrat" pitchFamily="34" charset="0"/>
                <a:ea typeface="Montserrat" pitchFamily="34" charset="-122"/>
                <a:cs typeface="Montserrat" pitchFamily="34" charset="-120"/>
              </a:rPr>
              <a:t>Contact: [e-mail / LinkedIn]</a:t>
            </a:r>
            <a:endParaRPr lang="en-US" sz="1200" dirty="0"/>
          </a:p>
        </p:txBody>
      </p:sp>
      <p:pic>
        <p:nvPicPr>
          <p:cNvPr id="26" name="Image 0" descr="/home/user/work/assets/logo_w.png">    </p:cNvPr>
          <p:cNvPicPr>
            <a:picLocks noChangeAspect="1"/>
          </p:cNvPicPr>
          <p:nvPr/>
        </p:nvPicPr>
        <p:blipFill>
          <a:blip r:embed="rId1"/>
          <a:stretch>
            <a:fillRect/>
          </a:stretch>
        </p:blipFill>
        <p:spPr>
          <a:xfrm>
            <a:off x="566928" y="6053328"/>
            <a:ext cx="1143000" cy="420624"/>
          </a:xfrm>
          <a:prstGeom prst="rect">
            <a:avLst/>
          </a:prstGeom>
        </p:spPr>
      </p:pic>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A7FA8"/>
                </a:solidFill>
                <a:latin typeface="Montserrat"/>
                <a:ea typeface="Montserrat"/>
                <a:cs typeface="Montserrat"/>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EE-Partner Lecture">
  <a:themeElements>
    <a:clrScheme name="EE-Partner Lecture">
      <a:dk1>
        <a:srgbClr val="0F1341"/>
      </a:dk1>
      <a:lt1>
        <a:srgbClr val="FFFFFF"/>
      </a:lt1>
      <a:dk2>
        <a:srgbClr val="5B6270"/>
      </a:dk2>
      <a:lt2>
        <a:srgbClr val="F3F7FC"/>
      </a:lt2>
      <a:accent1>
        <a:srgbClr val="2E6FBF"/>
      </a:accent1>
      <a:accent2>
        <a:srgbClr val="4A8FDB"/>
      </a:accent2>
      <a:accent3>
        <a:srgbClr val="8A93A3"/>
      </a:accent3>
      <a:accent4>
        <a:srgbClr val="D9E8F8"/>
      </a:accent4>
      <a:accent5>
        <a:srgbClr val="C9D3E3"/>
      </a:accent5>
      <a:accent6>
        <a:srgbClr val="6A7FA8"/>
      </a:accent6>
      <a:hlink>
        <a:srgbClr val="2E6FBF"/>
      </a:hlink>
      <a:folHlink>
        <a:srgbClr val="6A7FA8"/>
      </a:folHlink>
    </a:clrScheme>
    <a:fontScheme name="EE-Partner Lecture">
      <a:majorFont>
        <a:latin typeface="Montserra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ontserra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EE-Partner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Idea to Market: Building an AI-Native Business</dc:title>
  <dc:subject>PptxGenJS Presentation</dc:subject>
  <dc:creator>EE-Partner</dc:creator>
  <cp:lastModifiedBy>EE-Partner</cp:lastModifiedBy>
  <cp:revision>1</cp:revision>
  <dcterms:created xsi:type="dcterms:W3CDTF">2026-10-03T22:02:34Z</dcterms:created>
  <dcterms:modified xsi:type="dcterms:W3CDTF">2026-10-03T22:02:34Z</dcterms:modified>
</cp:coreProperties>
</file>