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Least messy</c:v>
                </c:pt>
              </c:strCache>
            </c:strRef>
          </c:tx>
          <c:spPr>
            <a:solidFill>
              <a:srgbClr val="D9E8F8"/>
            </a:solidFill>
            <a:ln>
              <a:noFill/>
            </a:ln>
            <a:effectLst/>
          </c:spPr>
          <c:marker>
            <c:symbol val="circle"/>
            <c:size val="9"/>
            <c:spPr>
              <a:solidFill>
                <a:srgbClr val="D9E8F8"/>
              </a:solidFill>
              <a:ln w="9525" cap="flat">
                <a:solidFill>
                  <a:srgbClr val="D9E8F8"/>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Sheet1!$B$2:$B$10</c:f>
              <c:numCache>
                <c:formatCode>General</c:formatCode>
                <c:ptCount val="9"/>
                <c:pt idx="0">
                  <c:v>1</c:v>
                </c:pt>
                <c:pt idx="1">
                  <c:v>47</c:v>
                </c:pt>
                <c:pt idx="2">
                  <c:v>64</c:v>
                </c:pt>
                <c:pt idx="3">
                  <c:v>64</c:v>
                </c:pt>
                <c:pt idx="4">
                  <c:v>71</c:v>
                </c:pt>
                <c:pt idx="5">
                  <c:v>73</c:v>
                </c:pt>
                <c:pt idx="6">
                  <c:v>84</c:v>
                </c:pt>
                <c:pt idx="7">
                  <c:v>81</c:v>
                </c:pt>
                <c:pt idx="8">
                  <c:v>95</c:v>
                </c:pt>
              </c:numCache>
            </c:numRef>
          </c:yVal>
          <c:smooth val="0"/>
        </c:ser>
        <c:ser>
          <c:idx val="1"/>
          <c:order val="1"/>
          <c:tx>
            <c:strRef>
              <c:f>Sheet1!$C$1</c:f>
              <c:strCache>
                <c:ptCount val="1"/>
                <c:pt idx="0">
                  <c:v>Messiest</c:v>
                </c:pt>
              </c:strCache>
            </c:strRef>
          </c:tx>
          <c:spPr>
            <a:solidFill>
              <a:srgbClr val="4A8FDB"/>
            </a:solidFill>
            <a:ln>
              <a:noFill/>
            </a:ln>
            <a:effectLst/>
          </c:spPr>
          <c:marker>
            <c:symbol val="circle"/>
            <c:size val="9"/>
            <c:spPr>
              <a:solidFill>
                <a:srgbClr val="4A8FDB"/>
              </a:solidFill>
              <a:ln w="9525" cap="flat">
                <a:solidFill>
                  <a:srgbClr val="4A8FDB"/>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Sheet1!$C$2:$C$10</c:f>
              <c:numCache>
                <c:formatCode>General</c:formatCode>
                <c:ptCount val="9"/>
                <c:pt idx="0">
                  <c:v>0.5</c:v>
                </c:pt>
                <c:pt idx="1">
                  <c:v>21</c:v>
                </c:pt>
                <c:pt idx="2">
                  <c:v>22</c:v>
                </c:pt>
                <c:pt idx="3">
                  <c:v>17</c:v>
                </c:pt>
                <c:pt idx="4">
                  <c:v>36</c:v>
                </c:pt>
                <c:pt idx="5">
                  <c:v>42</c:v>
                </c:pt>
                <c:pt idx="6">
                  <c:v>40</c:v>
                </c:pt>
                <c:pt idx="7">
                  <c:v>50</c:v>
                </c:pt>
                <c:pt idx="8">
                  <c:v>62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25.5"/>
          <c:min val="2022"/>
        </c:scaling>
        <c:delete val="0"/>
        <c:axPos val="b"/>
        <c:majorGridlines>
          <c:spPr>
            <a:ln w="9525" cap="flat">
              <a:solidFill>
                <a:srgbClr val="2A3170"/>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2"/>
        <c:crosses val="autoZero"/>
        <c:auto val="1"/>
        <c:lblAlgn val="ctr"/>
        <c:noMultiLvlLbl val="1"/>
        <c:majorUnit val="1"/>
      </c:valAx>
      <c:valAx>
        <c:axId val="2094734552"/>
        <c:scaling>
          <c:orientation val="minMax"/>
          <c:max val="100"/>
          <c:min val="0"/>
        </c:scaling>
        <c:delete val="0"/>
        <c:axPos val="l"/>
        <c:majorGridlines>
          <c:spPr>
            <a:ln w="9525" cap="flat">
              <a:solidFill>
                <a:srgbClr val="2A317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4"/>
        <c:crosses val="autoZero"/>
        <c:crossBetween val="midCat"/>
        <c:majorUnit val="20"/>
      </c:valAx>
      <c:spPr>
        <a:solidFill>
          <a:srgbClr val="0F1341"/>
        </a:solidFill>
        <a:ln>
          <a:noFill/>
        </a:ln>
        <a:effectLst/>
      </c:spPr>
    </c:plotArea>
    <c:legend>
      <c:legendPos val="b"/>
      <c:overlay val="0"/>
      <c:txPr>
        <a:bodyPr/>
        <a:lstStyle/>
        <a:p>
          <a:pPr>
            <a:defRPr sz="10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Menti survey (placeholder — insert join code and QR). Run the five questions back to back, about 60 seconds each. Read out one surprising answer per question. Save the results: questions marked “repeat” are asked again at the end.
1. One word: what is a CRM to you today?
2. Who will manage customer relationships in 2030?  Options: People · AI agents · both, with clear rules
3. Would you let an AI agent answer a customer complaint without human review?  Options: Yes · only small cases · never
4. How much do you trust companies with your personal customer data?
5. As CMO with €1M for CRM — where does it go first?  Options: Data quality · AI agents · new software ·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live demo by Emidio (approx. 5–7 minutes). The workflow connects millions of data points from many sources into one decision. Frame it with the lecture's lens: applied to customers: millions of interactions turned into one customer view and a next best action.
Afterwards ask the room: what would this have taken a team ten years ago? Bridge to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three questions for the hour. How will CRM work in 2030? What does such a system look like and how do companies get there? And which of the theories you study still hold — spoiler: most of them, but the execution changes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1 — adoption speed. Netflix needed 3.5 years, Airbnb 2.5, Twitter 2. ChatGPT needed five days (launch Nov 30, 2022). The bar for ChatGPT is barely visible — that is the point. For CRM: customers now ask an AI assistant before they ask your brand — a new touchpoint nobody owns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2 — capability speed. In 2024 the best model scored around 96 on an offline IQ test (not in any training data). In 2025 the best model (o3) reached 136 on the Mensa Norway test — roughly the top 1% of people. Caveat to say out loud: IQ tests measure pattern reasoning, not judgement or experience. Ask: if AI reasons this well, why do most customer service interactions still feel like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3 — reality check. METR measured AI success on tasks that take a human professional one hour or less. On clean, well-defined tasks success went from ~0 to ~95% within three years; on messy tasks — unclear goals, many tools, changing context — it is around 60%. Most real jobs are messy. For CRM: answering a standard question is a clean task; repairing a damaged relationship is messy. That is where people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4 — what becomes valuable. Top right quadrant = core now and growing: AI and big data leads by far, followed by technological literacy, creative and analytical thinking, resilience, curiosity and lifelong learning. Programming sits lower than people expect — AI writes code. CRM roles move to AI and big data plus empathy and service orientation — technology and human skills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5 — the bridge to today's topic. Human intelligence brings judgement, context, trust and responsibility. Artificial intelligence brings speed, scale and pattern recognition. Augmented intelligence is the overlap — and that is where the rest of this lecture lives.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taxonomy the students know from the course: operational, analytical, collaborative CRM — plus CRM as strategy. Walk left to right. Middle column = most companies in 2026: AI features on top of the same CRM. Right column = AI-native: the work itself is done by agents, the CRM becomes the company's learning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Academic anchor slide. Kumar &amp; Reinartz on customer lifetime value; Payne &amp; Frow's strategic CRM framework (Journal of Marketing, 2005); Lemon &amp; Verhoef on customer experience across the journey (Journal of Marketing, 2016); Morgan &amp; Hunt's commitment–trust theory (Journal of Marketing, 1994). Message: the concepts are not outdated — AI makes them executable at scale. Ask: which of the four becomes MORE important with AI? (Answer: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bottom-up. Data: unified, consented first-party data, connected to ERP, commerce and service systems — ideally without copying it around. Intelligence: classic predictive models plus LLMs that understand unstructured data (emails, calls, reviews — most customer information is text). Agents: software that acts within rules. Interaction: every channel, including the customer's own AI assistant. Governance runs through every layer: GDPR, consent, EU AI Act, audit trail, human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flow. Today: the ticket waits in a queue, a service agent opens three systems, the customer waits two days and may be gone. 2030: the agent understands the context (high CLV, second late delivery), acts within a clear rule (compensation below €50 autonomous, above that a human approves), and the outcome flows back into the churn model. Ask: where would you set the threshold — and who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slide. Most companies start with 1 or 2 and move toward 3 and 4 as they learn. Examples are illustrative, not recommendations: built-in copilots such as Salesforce Agentforce, HubSpot Breeze or Microsoft Dynamics 365 Copilot; workflow tools such as Make, Zapier or n8n; agents that use the CRM's API or a standard connector protocol such as MCP; a data platform (warehouse) with own models, results written back into the CRM. The roadmap at the bottom is the same in every case: data quality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base: a sandbox CRM with synthetic customers, connected to Claude Code via the CRM's API (or an MCP connector). Run the prompt, show the agent querying, computing and writing tasks back into the CRM — open the CRM, not the code. Then let the room add a guardrail or change the segment (e.g. “only customers who agreed to marketing emails”). Point out: nothing is sent — people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BMV complements the CRM: own data to serve existing customers; external, simulated and real-world evidence for decisions about new segments, offers or channels. All five write into one evidence ledger with weights — the same logic a good analytical CRM should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Relatable case: LUISS itself. Customer lifecycle: applicant → student → alumnus → recruiter / donor. Lifetime value of an alumnus is a real concept (donations, recruiting, reputation). Each group picks one moment of truth (e.g. admission decision, first-semester drop-out risk, graduation, first job). Two or three groups pitch; the rest submit via Menti. Repeat Menti question 5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careers. Then repeat Menti question 5 (CMO budget) and compare with the first vote. Pair discussion option (2 min): which CRM role would you want in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Menti question 5 (CMO budget), compare with the first vote.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user/work/assets/wave_content.png">    </p:cNvPr>
          <p:cNvPicPr>
            <a:picLocks noChangeAspect="1"/>
          </p:cNvPicPr>
          <p:nvPr/>
        </p:nvPicPr>
        <p:blipFill>
          <a:blip r:embed="rId1"/>
          <a:stretch>
            <a:fillRect/>
          </a:stretch>
        </p:blipFill>
        <p:spPr>
          <a:xfrm>
            <a:off x="6339535" y="0"/>
            <a:ext cx="5852160" cy="201168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6291072"/>
            <a:ext cx="1143000" cy="420624"/>
          </a:xfrm>
          <a:prstGeom prst="rect">
            <a:avLst/>
          </a:prstGeom>
        </p:spPr>
      </p:pic>
      <p:sp>
        <p:nvSpPr>
          <p:cNvPr id="4" name="Text 0"/>
          <p:cNvSpPr/>
          <p:nvPr>
            <p:ph idx="102" type="title" hasCustomPrompt="1"/>
          </p:nvPr>
        </p:nvSpPr>
        <p:spPr>
          <a:xfrm>
            <a:off x="548640" y="502920"/>
            <a:ext cx="7863840" cy="685800"/>
          </a:xfrm>
          <a:prstGeom prst="rect">
            <a:avLst/>
          </a:prstGeom>
          <a:noFill/>
          <a:ln/>
        </p:spPr>
        <p:txBody>
          <a:bodyPr wrap="square" rtlCol="0"/>
          <a:lstStyle>
            <a:lvl1pPr algn="l" indent="0" marL="0">
              <a:buNone/>
              <a:defRPr lang="en-US" sz="2800" b="1" dirty="0">
                <a:solidFill>
                  <a:srgbClr val="0F1341"/>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Title</a:t>
            </a:r>
            <a:endParaRPr lang="en-US" sz="2800" dirty="0"/>
          </a:p>
        </p:txBody>
      </p:sp>
      <p:sp>
        <p:nvSpPr>
          <p:cNvPr id="5" name="Text 0"/>
          <p:cNvSpPr/>
          <p:nvPr>
            <p:ph idx="103" type="body" hasCustomPrompt="1"/>
          </p:nvPr>
        </p:nvSpPr>
        <p:spPr>
          <a:xfrm>
            <a:off x="548640" y="1207008"/>
            <a:ext cx="8778240" cy="365760"/>
          </a:xfrm>
          <a:prstGeom prst="rect">
            <a:avLst/>
          </a:prstGeom>
          <a:noFill/>
          <a:ln/>
        </p:spPr>
        <p:txBody>
          <a:bodyPr wrap="square" rtlCol="0"/>
          <a:lstStyle>
            <a:lvl1pPr algn="l" indent="0" marL="0">
              <a:buNone/>
              <a:defRPr lang="en-US" sz="1300" dirty="0">
                <a:solidFill>
                  <a:srgbClr val="5B62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5B6270"/>
                </a:solidFill>
                <a:latin typeface="Montserrat" pitchFamily="34" charset="0"/>
                <a:ea typeface="Montserrat" pitchFamily="34" charset="-122"/>
                <a:cs typeface="Montserrat" pitchFamily="34" charset="-120"/>
              </a:rPr>
              <a:t>Subtitle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502920"/>
            <a:ext cx="8412480" cy="777240"/>
          </a:xfrm>
          <a:prstGeom prst="rect">
            <a:avLst/>
          </a:prstGeom>
          <a:noFill/>
          <a:ln/>
        </p:spPr>
        <p:txBody>
          <a:bodyPr wrap="square" rtlCol="0"/>
          <a:lstStyle>
            <a:lvl1pPr algn="l" indent="0" marL="0">
              <a:buNone/>
              <a:defRPr lang="en-US" sz="30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Title</a:t>
            </a:r>
            <a:endParaRPr lang="en-US" sz="3000" dirty="0"/>
          </a:p>
        </p:txBody>
      </p:sp>
      <p:sp>
        <p:nvSpPr>
          <p:cNvPr id="4" name="Text 0"/>
          <p:cNvSpPr/>
          <p:nvPr>
            <p:ph idx="102" type="body" hasCustomPrompt="1"/>
          </p:nvPr>
        </p:nvSpPr>
        <p:spPr>
          <a:xfrm>
            <a:off x="548640" y="1298448"/>
            <a:ext cx="9326880" cy="411480"/>
          </a:xfrm>
          <a:prstGeom prst="rect">
            <a:avLst/>
          </a:prstGeom>
          <a:noFill/>
          <a:ln/>
        </p:spPr>
        <p:txBody>
          <a:bodyPr wrap="square" rtlCol="0"/>
          <a:lstStyle>
            <a:lvl1pPr algn="l" indent="0" marL="0">
              <a:buNone/>
              <a:defRPr lang="en-US" sz="1400" dirty="0">
                <a:solidFill>
                  <a:srgbClr val="C9D3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C9D3E3"/>
                </a:solidFill>
                <a:latin typeface="Montserrat" pitchFamily="34" charset="0"/>
                <a:ea typeface="Montserrat" pitchFamily="34" charset="-122"/>
                <a:cs typeface="Montserrat" pitchFamily="34" charset="-120"/>
              </a:rPr>
              <a:t>Subtitle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685800"/>
            <a:ext cx="9509760" cy="1280160"/>
          </a:xfrm>
          <a:prstGeom prst="rect">
            <a:avLst/>
          </a:prstGeom>
          <a:noFill/>
          <a:ln/>
        </p:spPr>
        <p:txBody>
          <a:bodyPr wrap="square" rtlCol="0"/>
          <a:lstStyle>
            <a:lvl1pPr algn="l" indent="0" marL="0">
              <a:buNone/>
              <a:defRPr lang="en-US" sz="34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400" b="1" dirty="0">
                <a:solidFill>
                  <a:srgbClr val="FFFFFF"/>
                </a:solidFill>
                <a:latin typeface="Montserrat" pitchFamily="34" charset="0"/>
                <a:ea typeface="Montserrat" pitchFamily="34" charset="-122"/>
                <a:cs typeface="Montserrat" pitchFamily="34" charset="-120"/>
              </a:rPr>
              <a:t>Title</a:t>
            </a:r>
            <a:endParaRPr lang="en-US" sz="3400" dirty="0"/>
          </a:p>
        </p:txBody>
      </p:sp>
      <p:sp>
        <p:nvSpPr>
          <p:cNvPr id="4" name="Text 0"/>
          <p:cNvSpPr/>
          <p:nvPr>
            <p:ph idx="102" type="body" hasCustomPrompt="1"/>
          </p:nvPr>
        </p:nvSpPr>
        <p:spPr>
          <a:xfrm>
            <a:off x="548640" y="2057400"/>
            <a:ext cx="9509760" cy="411480"/>
          </a:xfrm>
          <a:prstGeom prst="rect">
            <a:avLst/>
          </a:prstGeom>
          <a:noFill/>
          <a:ln/>
        </p:spPr>
        <p:txBody>
          <a:bodyPr wrap="square" rtlCol="0"/>
          <a:lstStyle>
            <a:lvl1pPr algn="l" indent="0" marL="0">
              <a:buNone/>
              <a:defRPr lang="en-US" sz="1600" dirty="0">
                <a:solidFill>
                  <a:srgbClr val="4A8FDB"/>
                </a:solidFill>
                <a:latin typeface="Montserrat" pitchFamily="34" charset="0"/>
                <a:ea typeface="Montserrat" pitchFamily="34" charset="-122"/>
                <a:cs typeface="Montserrat" pitchFamily="34" charset="-120"/>
              </a:defRPr>
            </a:lvl1pPr>
          </a:lstStyle>
          <a:p>
            <a:pPr algn="l" indent="0" marL="0">
              <a:buNone/>
            </a:pPr>
            <a:r>
              <a:rPr lang="en-US" sz="1600" dirty="0">
                <a:solidFill>
                  <a:srgbClr val="4A8FDB"/>
                </a:solidFill>
                <a:latin typeface="Montserrat" pitchFamily="34" charset="0"/>
                <a:ea typeface="Montserrat" pitchFamily="34" charset="-122"/>
                <a:cs typeface="Montserrat" pitchFamily="34" charset="-120"/>
              </a:rPr>
              <a:t>Subtitle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home/user/work/assets/wave_title.png">    </p:cNvPr>
          <p:cNvPicPr>
            <a:picLocks noChangeAspect="1"/>
          </p:cNvPicPr>
          <p:nvPr/>
        </p:nvPicPr>
        <p:blipFill>
          <a:blip r:embed="rId1"/>
          <a:stretch>
            <a:fillRect/>
          </a:stretch>
        </p:blipFill>
        <p:spPr>
          <a:xfrm>
            <a:off x="5333695" y="0"/>
            <a:ext cx="6858000" cy="685800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292608"/>
            <a:ext cx="1792224" cy="6583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Before we start: you, customers and AI</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Five quick questions on Menti — answers stay on screen and we come back to them at the end.</a:t>
            </a:r>
            <a:endParaRPr lang="en-US" sz="1400" dirty="0"/>
          </a:p>
        </p:txBody>
      </p:sp>
      <p:sp>
        <p:nvSpPr>
          <p:cNvPr id="5" name="Shape 2"/>
          <p:cNvSpPr/>
          <p:nvPr/>
        </p:nvSpPr>
        <p:spPr>
          <a:xfrm>
            <a:off x="548640" y="2011680"/>
            <a:ext cx="3017520" cy="4160520"/>
          </a:xfrm>
          <a:prstGeom prst="roundRect">
            <a:avLst>
              <a:gd name="adj" fmla="val 2424"/>
            </a:avLst>
          </a:prstGeom>
          <a:solidFill>
            <a:srgbClr val="1B2156"/>
          </a:solidFill>
          <a:ln w="15875">
            <a:solidFill>
              <a:srgbClr val="4A8FDB"/>
            </a:solidFill>
            <a:prstDash val="dash"/>
          </a:ln>
        </p:spPr>
      </p:sp>
      <p:pic>
        <p:nvPicPr>
          <p:cNvPr id="6" name="Image 0" descr="preencoded.png">    </p:cNvPr>
          <p:cNvPicPr>
            <a:picLocks noChangeAspect="1"/>
          </p:cNvPicPr>
          <p:nvPr/>
        </p:nvPicPr>
        <p:blipFill>
          <a:blip r:embed="rId1"/>
          <a:stretch>
            <a:fillRect/>
          </a:stretch>
        </p:blipFill>
        <p:spPr>
          <a:xfrm>
            <a:off x="1371600" y="2423160"/>
            <a:ext cx="1371600" cy="1371600"/>
          </a:xfrm>
          <a:prstGeom prst="rect">
            <a:avLst/>
          </a:prstGeom>
        </p:spPr>
      </p:pic>
      <p:sp>
        <p:nvSpPr>
          <p:cNvPr id="7" name="Shape 3"/>
          <p:cNvSpPr/>
          <p:nvPr/>
        </p:nvSpPr>
        <p:spPr>
          <a:xfrm>
            <a:off x="1188720" y="4023360"/>
            <a:ext cx="1737360" cy="274320"/>
          </a:xfrm>
          <a:prstGeom prst="roundRect">
            <a:avLst>
              <a:gd name="adj" fmla="val 26667"/>
            </a:avLst>
          </a:prstGeom>
          <a:solidFill>
            <a:srgbClr val="4A8FDB"/>
          </a:solidFill>
          <a:ln/>
        </p:spPr>
      </p:sp>
      <p:sp>
        <p:nvSpPr>
          <p:cNvPr id="8" name="Text 4"/>
          <p:cNvSpPr txBox="1"/>
          <p:nvPr/>
        </p:nvSpPr>
        <p:spPr>
          <a:xfrm>
            <a:off x="1188720" y="4023360"/>
            <a:ext cx="17373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a:t>
            </a:r>
            <a:endParaRPr lang="en-US" sz="900" dirty="0"/>
          </a:p>
        </p:txBody>
      </p:sp>
      <p:sp>
        <p:nvSpPr>
          <p:cNvPr id="9" name="Text 5"/>
          <p:cNvSpPr txBox="1"/>
          <p:nvPr/>
        </p:nvSpPr>
        <p:spPr>
          <a:xfrm>
            <a:off x="731520" y="4480560"/>
            <a:ext cx="26517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Interactive Menti survey</a:t>
            </a:r>
            <a:endParaRPr lang="en-US" sz="1400" dirty="0"/>
          </a:p>
        </p:txBody>
      </p:sp>
      <p:sp>
        <p:nvSpPr>
          <p:cNvPr id="10" name="Text 6"/>
          <p:cNvSpPr txBox="1"/>
          <p:nvPr/>
        </p:nvSpPr>
        <p:spPr>
          <a:xfrm>
            <a:off x="731520" y="4846320"/>
            <a:ext cx="2651760" cy="731520"/>
          </a:xfrm>
          <a:prstGeom prst="rect">
            <a:avLst/>
          </a:prstGeom>
          <a:noFill/>
          <a:ln/>
        </p:spPr>
        <p:txBody>
          <a:bodyPr wrap="square" lIns="0" tIns="0" rIns="0" bIns="0" rtlCol="0" anchor="t"/>
          <a:lstStyle/>
          <a:p>
            <a:pPr algn="ctr" indent="0" marL="0">
              <a:buNone/>
            </a:pPr>
            <a:r>
              <a:rPr lang="en-US" sz="1200" dirty="0">
                <a:solidFill>
                  <a:srgbClr val="C9D3E3"/>
                </a:solidFill>
                <a:latin typeface="Montserrat" pitchFamily="34" charset="0"/>
                <a:ea typeface="Montserrat" pitchFamily="34" charset="-122"/>
                <a:cs typeface="Montserrat" pitchFamily="34" charset="-120"/>
              </a:rPr>
              <a:t>menti.com  ·  code [ ____ ]</a:t>
            </a:r>
            <a:endParaRPr lang="en-US" sz="1200" dirty="0"/>
          </a:p>
          <a:p>
            <a:pPr algn="ctr" indent="0" marL="0">
              <a:buNone/>
            </a:pPr>
            <a:r>
              <a:rPr lang="en-US" sz="1200" dirty="0">
                <a:solidFill>
                  <a:srgbClr val="C9D3E3"/>
                </a:solidFill>
                <a:latin typeface="Montserrat" pitchFamily="34" charset="0"/>
                <a:ea typeface="Montserrat" pitchFamily="34" charset="-122"/>
                <a:cs typeface="Montserrat" pitchFamily="34" charset="-120"/>
              </a:rPr>
              <a:t>QR code + live results</a:t>
            </a:r>
            <a:endParaRPr lang="en-US" sz="1200" dirty="0"/>
          </a:p>
        </p:txBody>
      </p:sp>
      <p:sp>
        <p:nvSpPr>
          <p:cNvPr id="11" name="Shape 7"/>
          <p:cNvSpPr/>
          <p:nvPr/>
        </p:nvSpPr>
        <p:spPr>
          <a:xfrm>
            <a:off x="3840480" y="2011680"/>
            <a:ext cx="7799832" cy="758952"/>
          </a:xfrm>
          <a:prstGeom prst="roundRect">
            <a:avLst>
              <a:gd name="adj" fmla="val 9639"/>
            </a:avLst>
          </a:prstGeom>
          <a:solidFill>
            <a:srgbClr val="1B2156"/>
          </a:solidFill>
          <a:ln/>
        </p:spPr>
      </p:sp>
      <p:sp>
        <p:nvSpPr>
          <p:cNvPr id="12" name="Shape 8"/>
          <p:cNvSpPr/>
          <p:nvPr/>
        </p:nvSpPr>
        <p:spPr>
          <a:xfrm>
            <a:off x="4005072" y="2185416"/>
            <a:ext cx="411480" cy="411480"/>
          </a:xfrm>
          <a:prstGeom prst="ellipse">
            <a:avLst/>
          </a:prstGeom>
          <a:solidFill>
            <a:srgbClr val="4A8FDB"/>
          </a:solidFill>
          <a:ln/>
        </p:spPr>
      </p:sp>
      <p:sp>
        <p:nvSpPr>
          <p:cNvPr id="13" name="Text 9"/>
          <p:cNvSpPr txBox="1"/>
          <p:nvPr/>
        </p:nvSpPr>
        <p:spPr>
          <a:xfrm>
            <a:off x="4005072" y="2185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0"/>
          <p:cNvSpPr txBox="1"/>
          <p:nvPr/>
        </p:nvSpPr>
        <p:spPr>
          <a:xfrm>
            <a:off x="4572000" y="2084832"/>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One word: what is a CRM to you today?</a:t>
            </a:r>
            <a:endParaRPr lang="en-US" sz="1300" dirty="0"/>
          </a:p>
        </p:txBody>
      </p:sp>
      <p:sp>
        <p:nvSpPr>
          <p:cNvPr id="15" name="Shape 11"/>
          <p:cNvSpPr/>
          <p:nvPr/>
        </p:nvSpPr>
        <p:spPr>
          <a:xfrm>
            <a:off x="9601200" y="2103120"/>
            <a:ext cx="1874520" cy="219456"/>
          </a:xfrm>
          <a:prstGeom prst="roundRect">
            <a:avLst>
              <a:gd name="adj" fmla="val 33333"/>
            </a:avLst>
          </a:prstGeom>
          <a:solidFill>
            <a:srgbClr val="2E6FBF"/>
          </a:solidFill>
          <a:ln/>
        </p:spPr>
      </p:sp>
      <p:sp>
        <p:nvSpPr>
          <p:cNvPr id="16" name="Text 12"/>
          <p:cNvSpPr txBox="1"/>
          <p:nvPr/>
        </p:nvSpPr>
        <p:spPr>
          <a:xfrm>
            <a:off x="9601200" y="2103120"/>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WORD CLOUD</a:t>
            </a:r>
            <a:endParaRPr lang="en-US" sz="800" dirty="0"/>
          </a:p>
        </p:txBody>
      </p:sp>
      <p:sp>
        <p:nvSpPr>
          <p:cNvPr id="17" name="Text 13"/>
          <p:cNvSpPr txBox="1"/>
          <p:nvPr/>
        </p:nvSpPr>
        <p:spPr>
          <a:xfrm>
            <a:off x="9601200" y="2359152"/>
            <a:ext cx="1874520" cy="365760"/>
          </a:xfrm>
          <a:prstGeom prst="rect">
            <a:avLst/>
          </a:prstGeom>
          <a:noFill/>
          <a:ln/>
        </p:spPr>
        <p:txBody>
          <a:bodyPr wrap="square" lIns="0" tIns="0" rIns="0" bIns="0" rtlCol="0" anchor="t"/>
          <a:lstStyle/>
          <a:p>
            <a:pPr algn="l" indent="0" marL="0">
              <a:buNone/>
            </a:pPr>
            <a:endParaRPr lang="en-US" sz="900" dirty="0"/>
          </a:p>
        </p:txBody>
      </p:sp>
      <p:sp>
        <p:nvSpPr>
          <p:cNvPr id="18" name="Shape 14"/>
          <p:cNvSpPr/>
          <p:nvPr/>
        </p:nvSpPr>
        <p:spPr>
          <a:xfrm>
            <a:off x="3840480" y="2862072"/>
            <a:ext cx="7799832" cy="758952"/>
          </a:xfrm>
          <a:prstGeom prst="roundRect">
            <a:avLst>
              <a:gd name="adj" fmla="val 9639"/>
            </a:avLst>
          </a:prstGeom>
          <a:solidFill>
            <a:srgbClr val="1B2156"/>
          </a:solidFill>
          <a:ln/>
        </p:spPr>
      </p:sp>
      <p:sp>
        <p:nvSpPr>
          <p:cNvPr id="19" name="Shape 15"/>
          <p:cNvSpPr/>
          <p:nvPr/>
        </p:nvSpPr>
        <p:spPr>
          <a:xfrm>
            <a:off x="4005072" y="3035808"/>
            <a:ext cx="411480" cy="411480"/>
          </a:xfrm>
          <a:prstGeom prst="ellipse">
            <a:avLst/>
          </a:prstGeom>
          <a:solidFill>
            <a:srgbClr val="4A8FDB"/>
          </a:solidFill>
          <a:ln/>
        </p:spPr>
      </p:sp>
      <p:sp>
        <p:nvSpPr>
          <p:cNvPr id="20" name="Text 16"/>
          <p:cNvSpPr txBox="1"/>
          <p:nvPr/>
        </p:nvSpPr>
        <p:spPr>
          <a:xfrm>
            <a:off x="4005072" y="30358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1" name="Text 17"/>
          <p:cNvSpPr txBox="1"/>
          <p:nvPr/>
        </p:nvSpPr>
        <p:spPr>
          <a:xfrm>
            <a:off x="4572000" y="2935224"/>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Who will manage customer relationships in 2030?</a:t>
            </a:r>
            <a:endParaRPr lang="en-US" sz="1300" dirty="0"/>
          </a:p>
        </p:txBody>
      </p:sp>
      <p:sp>
        <p:nvSpPr>
          <p:cNvPr id="22" name="Shape 18"/>
          <p:cNvSpPr/>
          <p:nvPr/>
        </p:nvSpPr>
        <p:spPr>
          <a:xfrm>
            <a:off x="9601200" y="2953512"/>
            <a:ext cx="1874520" cy="219456"/>
          </a:xfrm>
          <a:prstGeom prst="roundRect">
            <a:avLst>
              <a:gd name="adj" fmla="val 33333"/>
            </a:avLst>
          </a:prstGeom>
          <a:solidFill>
            <a:srgbClr val="2E6FBF"/>
          </a:solidFill>
          <a:ln/>
        </p:spPr>
      </p:sp>
      <p:sp>
        <p:nvSpPr>
          <p:cNvPr id="23" name="Text 19"/>
          <p:cNvSpPr txBox="1"/>
          <p:nvPr/>
        </p:nvSpPr>
        <p:spPr>
          <a:xfrm>
            <a:off x="9601200" y="2953512"/>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24" name="Text 20"/>
          <p:cNvSpPr txBox="1"/>
          <p:nvPr/>
        </p:nvSpPr>
        <p:spPr>
          <a:xfrm>
            <a:off x="9601200" y="3209544"/>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People · AI agents · both, with clear rules</a:t>
            </a:r>
            <a:endParaRPr lang="en-US" sz="900" dirty="0"/>
          </a:p>
        </p:txBody>
      </p:sp>
      <p:sp>
        <p:nvSpPr>
          <p:cNvPr id="25" name="Shape 21"/>
          <p:cNvSpPr/>
          <p:nvPr/>
        </p:nvSpPr>
        <p:spPr>
          <a:xfrm>
            <a:off x="3840480" y="3712464"/>
            <a:ext cx="7799832" cy="758952"/>
          </a:xfrm>
          <a:prstGeom prst="roundRect">
            <a:avLst>
              <a:gd name="adj" fmla="val 9639"/>
            </a:avLst>
          </a:prstGeom>
          <a:solidFill>
            <a:srgbClr val="1B2156"/>
          </a:solidFill>
          <a:ln/>
        </p:spPr>
      </p:sp>
      <p:sp>
        <p:nvSpPr>
          <p:cNvPr id="26" name="Shape 22"/>
          <p:cNvSpPr/>
          <p:nvPr/>
        </p:nvSpPr>
        <p:spPr>
          <a:xfrm>
            <a:off x="4005072" y="3886200"/>
            <a:ext cx="411480" cy="411480"/>
          </a:xfrm>
          <a:prstGeom prst="ellipse">
            <a:avLst/>
          </a:prstGeom>
          <a:solidFill>
            <a:srgbClr val="4A8FDB"/>
          </a:solidFill>
          <a:ln/>
        </p:spPr>
      </p:sp>
      <p:sp>
        <p:nvSpPr>
          <p:cNvPr id="27" name="Text 23"/>
          <p:cNvSpPr txBox="1"/>
          <p:nvPr/>
        </p:nvSpPr>
        <p:spPr>
          <a:xfrm>
            <a:off x="4005072"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8" name="Text 24"/>
          <p:cNvSpPr txBox="1"/>
          <p:nvPr/>
        </p:nvSpPr>
        <p:spPr>
          <a:xfrm>
            <a:off x="4572000" y="3785616"/>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Would you let an AI agent answer a customer complaint without human review?</a:t>
            </a:r>
            <a:endParaRPr lang="en-US" sz="1300" dirty="0"/>
          </a:p>
        </p:txBody>
      </p:sp>
      <p:sp>
        <p:nvSpPr>
          <p:cNvPr id="29" name="Shape 25"/>
          <p:cNvSpPr/>
          <p:nvPr/>
        </p:nvSpPr>
        <p:spPr>
          <a:xfrm>
            <a:off x="9601200" y="3803904"/>
            <a:ext cx="1874520" cy="219456"/>
          </a:xfrm>
          <a:prstGeom prst="roundRect">
            <a:avLst>
              <a:gd name="adj" fmla="val 33333"/>
            </a:avLst>
          </a:prstGeom>
          <a:solidFill>
            <a:srgbClr val="2E6FBF"/>
          </a:solidFill>
          <a:ln/>
        </p:spPr>
      </p:sp>
      <p:sp>
        <p:nvSpPr>
          <p:cNvPr id="30" name="Text 26"/>
          <p:cNvSpPr txBox="1"/>
          <p:nvPr/>
        </p:nvSpPr>
        <p:spPr>
          <a:xfrm>
            <a:off x="9601200" y="3803904"/>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31" name="Text 27"/>
          <p:cNvSpPr txBox="1"/>
          <p:nvPr/>
        </p:nvSpPr>
        <p:spPr>
          <a:xfrm>
            <a:off x="9601200" y="4059936"/>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Yes · only small cases · never</a:t>
            </a:r>
            <a:endParaRPr lang="en-US" sz="900" dirty="0"/>
          </a:p>
        </p:txBody>
      </p:sp>
      <p:sp>
        <p:nvSpPr>
          <p:cNvPr id="32" name="Shape 28"/>
          <p:cNvSpPr/>
          <p:nvPr/>
        </p:nvSpPr>
        <p:spPr>
          <a:xfrm>
            <a:off x="3840480" y="4562856"/>
            <a:ext cx="7799832" cy="758952"/>
          </a:xfrm>
          <a:prstGeom prst="roundRect">
            <a:avLst>
              <a:gd name="adj" fmla="val 9639"/>
            </a:avLst>
          </a:prstGeom>
          <a:solidFill>
            <a:srgbClr val="1B2156"/>
          </a:solidFill>
          <a:ln/>
        </p:spPr>
      </p:sp>
      <p:sp>
        <p:nvSpPr>
          <p:cNvPr id="33" name="Shape 29"/>
          <p:cNvSpPr/>
          <p:nvPr/>
        </p:nvSpPr>
        <p:spPr>
          <a:xfrm>
            <a:off x="4005072" y="4736592"/>
            <a:ext cx="411480" cy="411480"/>
          </a:xfrm>
          <a:prstGeom prst="ellipse">
            <a:avLst/>
          </a:prstGeom>
          <a:solidFill>
            <a:srgbClr val="4A8FDB"/>
          </a:solidFill>
          <a:ln/>
        </p:spPr>
      </p:sp>
      <p:sp>
        <p:nvSpPr>
          <p:cNvPr id="34" name="Text 30"/>
          <p:cNvSpPr txBox="1"/>
          <p:nvPr/>
        </p:nvSpPr>
        <p:spPr>
          <a:xfrm>
            <a:off x="4005072" y="47365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35" name="Text 31"/>
          <p:cNvSpPr txBox="1"/>
          <p:nvPr/>
        </p:nvSpPr>
        <p:spPr>
          <a:xfrm>
            <a:off x="4572000" y="4636008"/>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How much do you trust companies with your personal customer data?</a:t>
            </a:r>
            <a:endParaRPr lang="en-US" sz="1300" dirty="0"/>
          </a:p>
        </p:txBody>
      </p:sp>
      <p:sp>
        <p:nvSpPr>
          <p:cNvPr id="36" name="Shape 32"/>
          <p:cNvSpPr/>
          <p:nvPr/>
        </p:nvSpPr>
        <p:spPr>
          <a:xfrm>
            <a:off x="9601200" y="4654296"/>
            <a:ext cx="1874520" cy="219456"/>
          </a:xfrm>
          <a:prstGeom prst="roundRect">
            <a:avLst>
              <a:gd name="adj" fmla="val 33333"/>
            </a:avLst>
          </a:prstGeom>
          <a:solidFill>
            <a:srgbClr val="2E6FBF"/>
          </a:solidFill>
          <a:ln/>
        </p:spPr>
      </p:sp>
      <p:sp>
        <p:nvSpPr>
          <p:cNvPr id="37" name="Text 33"/>
          <p:cNvSpPr txBox="1"/>
          <p:nvPr/>
        </p:nvSpPr>
        <p:spPr>
          <a:xfrm>
            <a:off x="9601200" y="4654296"/>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SCALE 1–5</a:t>
            </a:r>
            <a:endParaRPr lang="en-US" sz="800" dirty="0"/>
          </a:p>
        </p:txBody>
      </p:sp>
      <p:sp>
        <p:nvSpPr>
          <p:cNvPr id="38" name="Text 34"/>
          <p:cNvSpPr txBox="1"/>
          <p:nvPr/>
        </p:nvSpPr>
        <p:spPr>
          <a:xfrm>
            <a:off x="9601200" y="4910328"/>
            <a:ext cx="1874520" cy="365760"/>
          </a:xfrm>
          <a:prstGeom prst="rect">
            <a:avLst/>
          </a:prstGeom>
          <a:noFill/>
          <a:ln/>
        </p:spPr>
        <p:txBody>
          <a:bodyPr wrap="square" lIns="0" tIns="0" rIns="0" bIns="0" rtlCol="0" anchor="t"/>
          <a:lstStyle/>
          <a:p>
            <a:pPr algn="l" indent="0" marL="0">
              <a:buNone/>
            </a:pPr>
            <a:endParaRPr lang="en-US" sz="900" dirty="0"/>
          </a:p>
        </p:txBody>
      </p:sp>
      <p:sp>
        <p:nvSpPr>
          <p:cNvPr id="39" name="Shape 35"/>
          <p:cNvSpPr/>
          <p:nvPr/>
        </p:nvSpPr>
        <p:spPr>
          <a:xfrm>
            <a:off x="3840480" y="5413248"/>
            <a:ext cx="7799832" cy="758952"/>
          </a:xfrm>
          <a:prstGeom prst="roundRect">
            <a:avLst>
              <a:gd name="adj" fmla="val 9639"/>
            </a:avLst>
          </a:prstGeom>
          <a:solidFill>
            <a:srgbClr val="1B2156"/>
          </a:solidFill>
          <a:ln/>
        </p:spPr>
      </p:sp>
      <p:sp>
        <p:nvSpPr>
          <p:cNvPr id="40" name="Shape 36"/>
          <p:cNvSpPr/>
          <p:nvPr/>
        </p:nvSpPr>
        <p:spPr>
          <a:xfrm>
            <a:off x="4005072" y="5586984"/>
            <a:ext cx="411480" cy="411480"/>
          </a:xfrm>
          <a:prstGeom prst="ellipse">
            <a:avLst/>
          </a:prstGeom>
          <a:solidFill>
            <a:srgbClr val="4A8FDB"/>
          </a:solidFill>
          <a:ln/>
        </p:spPr>
      </p:sp>
      <p:sp>
        <p:nvSpPr>
          <p:cNvPr id="41" name="Text 37"/>
          <p:cNvSpPr txBox="1"/>
          <p:nvPr/>
        </p:nvSpPr>
        <p:spPr>
          <a:xfrm>
            <a:off x="4005072" y="5586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42" name="Text 38"/>
          <p:cNvSpPr txBox="1"/>
          <p:nvPr/>
        </p:nvSpPr>
        <p:spPr>
          <a:xfrm>
            <a:off x="4572000" y="5486400"/>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As CMO with €1M for CRM — where does it go first?</a:t>
            </a:r>
            <a:endParaRPr lang="en-US" sz="1300" dirty="0"/>
          </a:p>
        </p:txBody>
      </p:sp>
      <p:sp>
        <p:nvSpPr>
          <p:cNvPr id="43" name="Shape 39"/>
          <p:cNvSpPr/>
          <p:nvPr/>
        </p:nvSpPr>
        <p:spPr>
          <a:xfrm>
            <a:off x="9601200" y="5504688"/>
            <a:ext cx="1874520" cy="219456"/>
          </a:xfrm>
          <a:prstGeom prst="roundRect">
            <a:avLst>
              <a:gd name="adj" fmla="val 33333"/>
            </a:avLst>
          </a:prstGeom>
          <a:solidFill>
            <a:srgbClr val="2E6FBF"/>
          </a:solidFill>
          <a:ln/>
        </p:spPr>
      </p:sp>
      <p:sp>
        <p:nvSpPr>
          <p:cNvPr id="44" name="Text 40"/>
          <p:cNvSpPr txBox="1"/>
          <p:nvPr/>
        </p:nvSpPr>
        <p:spPr>
          <a:xfrm>
            <a:off x="9601200" y="5504688"/>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 · REPEAT</a:t>
            </a:r>
            <a:endParaRPr lang="en-US" sz="800" dirty="0"/>
          </a:p>
        </p:txBody>
      </p:sp>
      <p:sp>
        <p:nvSpPr>
          <p:cNvPr id="45" name="Text 41"/>
          <p:cNvSpPr txBox="1"/>
          <p:nvPr/>
        </p:nvSpPr>
        <p:spPr>
          <a:xfrm>
            <a:off x="9601200" y="5760720"/>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Data quality · AI agents · new software · people</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Live: AI linking millions of data points</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Emidio demonstrates a highly complex AI workflow we developed — applied to customers: millions of interactions turned into one customer view and a next best action.</a:t>
            </a:r>
            <a:endParaRPr lang="en-US" sz="1400" dirty="0"/>
          </a:p>
        </p:txBody>
      </p:sp>
      <p:sp>
        <p:nvSpPr>
          <p:cNvPr id="5" name="Shape 2"/>
          <p:cNvSpPr/>
          <p:nvPr/>
        </p:nvSpPr>
        <p:spPr>
          <a:xfrm>
            <a:off x="548640" y="2057400"/>
            <a:ext cx="7406640" cy="4114800"/>
          </a:xfrm>
          <a:prstGeom prst="roundRect">
            <a:avLst>
              <a:gd name="adj" fmla="val 1778"/>
            </a:avLst>
          </a:prstGeom>
          <a:solidFill>
            <a:srgbClr val="1B2156"/>
          </a:solidFill>
          <a:ln w="15875">
            <a:solidFill>
              <a:srgbClr val="4A8FDB"/>
            </a:solidFill>
            <a:prstDash val="dash"/>
          </a:ln>
        </p:spPr>
      </p:sp>
      <p:pic>
        <p:nvPicPr>
          <p:cNvPr id="6" name="Image 0" descr="/home/user/work/assets/network.png">    </p:cNvPr>
          <p:cNvPicPr>
            <a:picLocks noChangeAspect="1"/>
          </p:cNvPicPr>
          <p:nvPr/>
        </p:nvPicPr>
        <p:blipFill>
          <a:blip r:embed="rId1">
            <a:alphaModFix amt="75000"/>
          </a:blip>
          <a:stretch>
            <a:fillRect/>
          </a:stretch>
        </p:blipFill>
        <p:spPr>
          <a:xfrm>
            <a:off x="731520" y="2194560"/>
            <a:ext cx="7040880" cy="3840480"/>
          </a:xfrm>
          <a:prstGeom prst="rect">
            <a:avLst/>
          </a:prstGeom>
        </p:spPr>
      </p:pic>
      <p:sp>
        <p:nvSpPr>
          <p:cNvPr id="7" name="Shape 3"/>
          <p:cNvSpPr/>
          <p:nvPr/>
        </p:nvSpPr>
        <p:spPr>
          <a:xfrm>
            <a:off x="2331720" y="3566160"/>
            <a:ext cx="3840480" cy="1051560"/>
          </a:xfrm>
          <a:prstGeom prst="roundRect">
            <a:avLst>
              <a:gd name="adj" fmla="val 6957"/>
            </a:avLst>
          </a:prstGeom>
          <a:solidFill>
            <a:srgbClr val="0F1341"/>
          </a:solidFill>
          <a:ln w="12700">
            <a:solidFill>
              <a:srgbClr val="4A8FDB"/>
            </a:solidFill>
            <a:prstDash val="solid"/>
          </a:ln>
        </p:spPr>
      </p:sp>
      <p:sp>
        <p:nvSpPr>
          <p:cNvPr id="8" name="Shape 4"/>
          <p:cNvSpPr/>
          <p:nvPr/>
        </p:nvSpPr>
        <p:spPr>
          <a:xfrm>
            <a:off x="2971800" y="3685032"/>
            <a:ext cx="2560320" cy="274320"/>
          </a:xfrm>
          <a:prstGeom prst="roundRect">
            <a:avLst>
              <a:gd name="adj" fmla="val 26667"/>
            </a:avLst>
          </a:prstGeom>
          <a:solidFill>
            <a:srgbClr val="4A8FDB"/>
          </a:solidFill>
          <a:ln/>
        </p:spPr>
      </p:sp>
      <p:sp>
        <p:nvSpPr>
          <p:cNvPr id="9" name="Text 5"/>
          <p:cNvSpPr txBox="1"/>
          <p:nvPr/>
        </p:nvSpPr>
        <p:spPr>
          <a:xfrm>
            <a:off x="2971800" y="3685032"/>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  ·  LIVE DEMO</a:t>
            </a:r>
            <a:endParaRPr lang="en-US" sz="900" dirty="0"/>
          </a:p>
        </p:txBody>
      </p:sp>
      <p:sp>
        <p:nvSpPr>
          <p:cNvPr id="10" name="Text 6"/>
          <p:cNvSpPr txBox="1"/>
          <p:nvPr/>
        </p:nvSpPr>
        <p:spPr>
          <a:xfrm>
            <a:off x="2377440" y="4069080"/>
            <a:ext cx="3749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Emidio · AI workflow on screen</a:t>
            </a:r>
            <a:endParaRPr lang="en-US" sz="1400" dirty="0"/>
          </a:p>
        </p:txBody>
      </p:sp>
      <p:sp>
        <p:nvSpPr>
          <p:cNvPr id="11" name="Shape 7"/>
          <p:cNvSpPr/>
          <p:nvPr/>
        </p:nvSpPr>
        <p:spPr>
          <a:xfrm>
            <a:off x="8229600" y="2057400"/>
            <a:ext cx="3410712" cy="1261872"/>
          </a:xfrm>
          <a:prstGeom prst="roundRect">
            <a:avLst>
              <a:gd name="adj" fmla="val 5797"/>
            </a:avLst>
          </a:prstGeom>
          <a:solidFill>
            <a:srgbClr val="1B2156"/>
          </a:solidFill>
          <a:ln/>
        </p:spPr>
      </p:sp>
      <p:sp>
        <p:nvSpPr>
          <p:cNvPr id="12" name="Shape 8"/>
          <p:cNvSpPr/>
          <p:nvPr/>
        </p:nvSpPr>
        <p:spPr>
          <a:xfrm>
            <a:off x="8412480" y="2441448"/>
            <a:ext cx="502920" cy="502920"/>
          </a:xfrm>
          <a:prstGeom prst="ellipse">
            <a:avLst/>
          </a:prstGeom>
          <a:solidFill>
            <a:srgbClr val="2E6FBF"/>
          </a:solidFill>
          <a:ln/>
        </p:spPr>
      </p:sp>
      <p:pic>
        <p:nvPicPr>
          <p:cNvPr id="13" name="Image 1" descr="preencoded.png">    </p:cNvPr>
          <p:cNvPicPr>
            <a:picLocks noChangeAspect="1"/>
          </p:cNvPicPr>
          <p:nvPr/>
        </p:nvPicPr>
        <p:blipFill>
          <a:blip r:embed="rId2"/>
          <a:stretch>
            <a:fillRect/>
          </a:stretch>
        </p:blipFill>
        <p:spPr>
          <a:xfrm>
            <a:off x="8522208" y="2551176"/>
            <a:ext cx="283464" cy="283464"/>
          </a:xfrm>
          <a:prstGeom prst="rect">
            <a:avLst/>
          </a:prstGeom>
        </p:spPr>
      </p:pic>
      <p:sp>
        <p:nvSpPr>
          <p:cNvPr id="14" name="Text 9"/>
          <p:cNvSpPr txBox="1"/>
          <p:nvPr/>
        </p:nvSpPr>
        <p:spPr>
          <a:xfrm>
            <a:off x="9098280" y="2258568"/>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Millions of data points</a:t>
            </a:r>
            <a:endParaRPr lang="en-US" sz="1300" dirty="0"/>
          </a:p>
        </p:txBody>
      </p:sp>
      <p:sp>
        <p:nvSpPr>
          <p:cNvPr id="15" name="Text 10"/>
          <p:cNvSpPr txBox="1"/>
          <p:nvPr/>
        </p:nvSpPr>
        <p:spPr>
          <a:xfrm>
            <a:off x="9098280" y="2624328"/>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Many sources linked in one model</a:t>
            </a:r>
            <a:endParaRPr lang="en-US" sz="1100" dirty="0"/>
          </a:p>
        </p:txBody>
      </p:sp>
      <p:sp>
        <p:nvSpPr>
          <p:cNvPr id="16" name="Shape 11"/>
          <p:cNvSpPr/>
          <p:nvPr/>
        </p:nvSpPr>
        <p:spPr>
          <a:xfrm>
            <a:off x="8229600" y="3456432"/>
            <a:ext cx="3410712" cy="1261872"/>
          </a:xfrm>
          <a:prstGeom prst="roundRect">
            <a:avLst>
              <a:gd name="adj" fmla="val 5797"/>
            </a:avLst>
          </a:prstGeom>
          <a:solidFill>
            <a:srgbClr val="1B2156"/>
          </a:solidFill>
          <a:ln/>
        </p:spPr>
      </p:sp>
      <p:sp>
        <p:nvSpPr>
          <p:cNvPr id="17" name="Shape 12"/>
          <p:cNvSpPr/>
          <p:nvPr/>
        </p:nvSpPr>
        <p:spPr>
          <a:xfrm>
            <a:off x="8412480" y="3840480"/>
            <a:ext cx="502920" cy="502920"/>
          </a:xfrm>
          <a:prstGeom prst="ellipse">
            <a:avLst/>
          </a:prstGeom>
          <a:solidFill>
            <a:srgbClr val="2E6FBF"/>
          </a:solidFill>
          <a:ln/>
        </p:spPr>
      </p:sp>
      <p:pic>
        <p:nvPicPr>
          <p:cNvPr id="18" name="Image 2" descr="preencoded.png">    </p:cNvPr>
          <p:cNvPicPr>
            <a:picLocks noChangeAspect="1"/>
          </p:cNvPicPr>
          <p:nvPr/>
        </p:nvPicPr>
        <p:blipFill>
          <a:blip r:embed="rId3"/>
          <a:stretch>
            <a:fillRect/>
          </a:stretch>
        </p:blipFill>
        <p:spPr>
          <a:xfrm>
            <a:off x="8522208" y="3950208"/>
            <a:ext cx="283464" cy="283464"/>
          </a:xfrm>
          <a:prstGeom prst="rect">
            <a:avLst/>
          </a:prstGeom>
        </p:spPr>
      </p:pic>
      <p:sp>
        <p:nvSpPr>
          <p:cNvPr id="19" name="Text 13"/>
          <p:cNvSpPr txBox="1"/>
          <p:nvPr/>
        </p:nvSpPr>
        <p:spPr>
          <a:xfrm>
            <a:off x="9098280" y="3657600"/>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Multiple AI agents</a:t>
            </a:r>
            <a:endParaRPr lang="en-US" sz="1300" dirty="0"/>
          </a:p>
        </p:txBody>
      </p:sp>
      <p:sp>
        <p:nvSpPr>
          <p:cNvPr id="20" name="Text 14"/>
          <p:cNvSpPr txBox="1"/>
          <p:nvPr/>
        </p:nvSpPr>
        <p:spPr>
          <a:xfrm>
            <a:off x="9098280" y="4023360"/>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Research, matching and scoring in one flow</a:t>
            </a:r>
            <a:endParaRPr lang="en-US" sz="1100" dirty="0"/>
          </a:p>
        </p:txBody>
      </p:sp>
      <p:sp>
        <p:nvSpPr>
          <p:cNvPr id="21" name="Shape 15"/>
          <p:cNvSpPr/>
          <p:nvPr/>
        </p:nvSpPr>
        <p:spPr>
          <a:xfrm>
            <a:off x="8229600" y="4855464"/>
            <a:ext cx="3410712" cy="1261872"/>
          </a:xfrm>
          <a:prstGeom prst="roundRect">
            <a:avLst>
              <a:gd name="adj" fmla="val 5797"/>
            </a:avLst>
          </a:prstGeom>
          <a:solidFill>
            <a:srgbClr val="1B2156"/>
          </a:solidFill>
          <a:ln/>
        </p:spPr>
      </p:sp>
      <p:sp>
        <p:nvSpPr>
          <p:cNvPr id="22" name="Shape 16"/>
          <p:cNvSpPr/>
          <p:nvPr/>
        </p:nvSpPr>
        <p:spPr>
          <a:xfrm>
            <a:off x="8412480" y="5239512"/>
            <a:ext cx="502920" cy="502920"/>
          </a:xfrm>
          <a:prstGeom prst="ellipse">
            <a:avLst/>
          </a:prstGeom>
          <a:solidFill>
            <a:srgbClr val="2E6FBF"/>
          </a:solidFill>
          <a:ln/>
        </p:spPr>
      </p:sp>
      <p:pic>
        <p:nvPicPr>
          <p:cNvPr id="23" name="Image 3" descr="preencoded.png">    </p:cNvPr>
          <p:cNvPicPr>
            <a:picLocks noChangeAspect="1"/>
          </p:cNvPicPr>
          <p:nvPr/>
        </p:nvPicPr>
        <p:blipFill>
          <a:blip r:embed="rId4"/>
          <a:stretch>
            <a:fillRect/>
          </a:stretch>
        </p:blipFill>
        <p:spPr>
          <a:xfrm>
            <a:off x="8522208" y="5349240"/>
            <a:ext cx="283464" cy="283464"/>
          </a:xfrm>
          <a:prstGeom prst="rect">
            <a:avLst/>
          </a:prstGeom>
        </p:spPr>
      </p:pic>
      <p:sp>
        <p:nvSpPr>
          <p:cNvPr id="24" name="Text 17"/>
          <p:cNvSpPr txBox="1"/>
          <p:nvPr/>
        </p:nvSpPr>
        <p:spPr>
          <a:xfrm>
            <a:off x="9098280" y="5056632"/>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From data to decision</a:t>
            </a:r>
            <a:endParaRPr lang="en-US" sz="1300" dirty="0"/>
          </a:p>
        </p:txBody>
      </p:sp>
      <p:sp>
        <p:nvSpPr>
          <p:cNvPr id="25" name="Text 18"/>
          <p:cNvSpPr txBox="1"/>
          <p:nvPr/>
        </p:nvSpPr>
        <p:spPr>
          <a:xfrm>
            <a:off x="9098280" y="5422392"/>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The output is a recommendation, not a dashboard</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2057400"/>
            <a:ext cx="6583680" cy="1737360"/>
          </a:xfrm>
          <a:prstGeom prst="rect">
            <a:avLst/>
          </a:prstGeom>
          <a:noFill/>
          <a:ln/>
        </p:spPr>
        <p:txBody>
          <a:bodyPr wrap="square" lIns="0" tIns="0" rIns="0" bIns="0" rtlCol="0" anchor="b"/>
          <a:lstStyle/>
          <a:p>
            <a:pPr indent="0" marL="0">
              <a:buNone/>
            </a:pPr>
            <a:r>
              <a:rPr lang="en-US" sz="4000" b="1" dirty="0">
                <a:solidFill>
                  <a:srgbClr val="0F1341"/>
                </a:solidFill>
                <a:latin typeface="Montserrat" pitchFamily="34" charset="0"/>
                <a:ea typeface="Montserrat" pitchFamily="34" charset="-122"/>
                <a:cs typeface="Montserrat" pitchFamily="34" charset="-120"/>
              </a:rPr>
              <a:t>The Future of CRM: AI-Native Customer Relationships</a:t>
            </a:r>
            <a:endParaRPr lang="en-US" sz="4000" dirty="0"/>
          </a:p>
        </p:txBody>
      </p:sp>
      <p:sp>
        <p:nvSpPr>
          <p:cNvPr id="3" name="Text 1"/>
          <p:cNvSpPr txBox="1"/>
          <p:nvPr/>
        </p:nvSpPr>
        <p:spPr>
          <a:xfrm>
            <a:off x="566928" y="3977640"/>
            <a:ext cx="6035040" cy="914400"/>
          </a:xfrm>
          <a:prstGeom prst="rect">
            <a:avLst/>
          </a:prstGeom>
          <a:noFill/>
          <a:ln/>
        </p:spPr>
        <p:txBody>
          <a:bodyPr wrap="square" lIns="0" tIns="0" rIns="0" bIns="0" rtlCol="0" anchor="t"/>
          <a:lstStyle/>
          <a:p>
            <a:pPr indent="0" marL="0">
              <a:buNone/>
            </a:pPr>
            <a:r>
              <a:rPr lang="en-US" sz="1600" dirty="0">
                <a:solidFill>
                  <a:srgbClr val="5B6270"/>
                </a:solidFill>
                <a:latin typeface="Montserrat" pitchFamily="34" charset="0"/>
                <a:ea typeface="Montserrat" pitchFamily="34" charset="-122"/>
                <a:cs typeface="Montserrat" pitchFamily="34" charset="-120"/>
              </a:rPr>
              <a:t>How CRM systems will work, how AI gets into them — and what still holds from the textbook.</a:t>
            </a:r>
            <a:endParaRPr lang="en-US" sz="1600" dirty="0"/>
          </a:p>
        </p:txBody>
      </p:sp>
      <p:sp>
        <p:nvSpPr>
          <p:cNvPr id="4" name="Text 2"/>
          <p:cNvSpPr txBox="1"/>
          <p:nvPr/>
        </p:nvSpPr>
        <p:spPr>
          <a:xfrm>
            <a:off x="566928" y="6080760"/>
            <a:ext cx="3657600" cy="320040"/>
          </a:xfrm>
          <a:prstGeom prst="rect">
            <a:avLst/>
          </a:prstGeom>
          <a:noFill/>
          <a:ln/>
        </p:spPr>
        <p:txBody>
          <a:bodyPr wrap="square" lIns="0" tIns="0" rIns="0" bIns="0" rtlCol="0" anchor="t"/>
          <a:lstStyle/>
          <a:p>
            <a:pPr indent="0" marL="0">
              <a:buNone/>
            </a:pPr>
            <a:r>
              <a:rPr lang="en-US" sz="1200" dirty="0">
                <a:solidFill>
                  <a:srgbClr val="8A93A3"/>
                </a:solidFill>
                <a:latin typeface="Montserrat" pitchFamily="34" charset="0"/>
                <a:ea typeface="Montserrat" pitchFamily="34" charset="-122"/>
                <a:cs typeface="Montserrat" pitchFamily="34" charset="-120"/>
              </a:rPr>
              <a:t>Rome, October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ChatGPT: 1 million users in just 5 days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Time it took to reach 1 million users</a:t>
            </a:r>
            <a:endParaRPr lang="en-US" sz="1300" dirty="0"/>
          </a:p>
        </p:txBody>
      </p:sp>
      <p:sp>
        <p:nvSpPr>
          <p:cNvPr id="5" name="Shape 2"/>
          <p:cNvSpPr/>
          <p:nvPr/>
        </p:nvSpPr>
        <p:spPr>
          <a:xfrm>
            <a:off x="2103120" y="1828800"/>
            <a:ext cx="0" cy="3730752"/>
          </a:xfrm>
          <a:prstGeom prst="line">
            <a:avLst/>
          </a:prstGeom>
          <a:noFill/>
          <a:ln w="12700">
            <a:solidFill>
              <a:srgbClr val="C9D3E3"/>
            </a:solidFill>
            <a:prstDash val="solid"/>
          </a:ln>
        </p:spPr>
      </p:sp>
      <p:sp>
        <p:nvSpPr>
          <p:cNvPr id="6" name="Text 3"/>
          <p:cNvSpPr txBox="1"/>
          <p:nvPr/>
        </p:nvSpPr>
        <p:spPr>
          <a:xfrm>
            <a:off x="548640" y="2011680"/>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Netflix</a:t>
            </a:r>
            <a:endParaRPr lang="en-US" sz="1500" dirty="0"/>
          </a:p>
        </p:txBody>
      </p:sp>
      <p:sp>
        <p:nvSpPr>
          <p:cNvPr id="7" name="Shape 4"/>
          <p:cNvSpPr/>
          <p:nvPr/>
        </p:nvSpPr>
        <p:spPr>
          <a:xfrm>
            <a:off x="2103120" y="2011680"/>
            <a:ext cx="5120640" cy="566928"/>
          </a:xfrm>
          <a:prstGeom prst="rect">
            <a:avLst/>
          </a:prstGeom>
          <a:solidFill>
            <a:srgbClr val="0F1341"/>
          </a:solidFill>
          <a:ln/>
        </p:spPr>
      </p:sp>
      <p:sp>
        <p:nvSpPr>
          <p:cNvPr id="8" name="Text 5"/>
          <p:cNvSpPr txBox="1"/>
          <p:nvPr/>
        </p:nvSpPr>
        <p:spPr>
          <a:xfrm>
            <a:off x="2103120" y="2011680"/>
            <a:ext cx="512064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3.5 years</a:t>
            </a:r>
            <a:endParaRPr lang="en-US" sz="1400" dirty="0"/>
          </a:p>
        </p:txBody>
      </p:sp>
      <p:sp>
        <p:nvSpPr>
          <p:cNvPr id="9" name="Text 6"/>
          <p:cNvSpPr txBox="1"/>
          <p:nvPr/>
        </p:nvSpPr>
        <p:spPr>
          <a:xfrm>
            <a:off x="548640" y="2944368"/>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Airbnb</a:t>
            </a:r>
            <a:endParaRPr lang="en-US" sz="1500" dirty="0"/>
          </a:p>
        </p:txBody>
      </p:sp>
      <p:sp>
        <p:nvSpPr>
          <p:cNvPr id="10" name="Shape 7"/>
          <p:cNvSpPr/>
          <p:nvPr/>
        </p:nvSpPr>
        <p:spPr>
          <a:xfrm>
            <a:off x="2103120" y="2944368"/>
            <a:ext cx="3657600" cy="566928"/>
          </a:xfrm>
          <a:prstGeom prst="rect">
            <a:avLst/>
          </a:prstGeom>
          <a:solidFill>
            <a:srgbClr val="283070"/>
          </a:solidFill>
          <a:ln/>
        </p:spPr>
      </p:sp>
      <p:sp>
        <p:nvSpPr>
          <p:cNvPr id="11" name="Text 8"/>
          <p:cNvSpPr txBox="1"/>
          <p:nvPr/>
        </p:nvSpPr>
        <p:spPr>
          <a:xfrm>
            <a:off x="2103120" y="2944368"/>
            <a:ext cx="365760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2.5 years</a:t>
            </a:r>
            <a:endParaRPr lang="en-US" sz="1400" dirty="0"/>
          </a:p>
        </p:txBody>
      </p:sp>
      <p:sp>
        <p:nvSpPr>
          <p:cNvPr id="12" name="Text 9"/>
          <p:cNvSpPr txBox="1"/>
          <p:nvPr/>
        </p:nvSpPr>
        <p:spPr>
          <a:xfrm>
            <a:off x="548640" y="3877056"/>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Twitter</a:t>
            </a:r>
            <a:endParaRPr lang="en-US" sz="1500" dirty="0"/>
          </a:p>
        </p:txBody>
      </p:sp>
      <p:sp>
        <p:nvSpPr>
          <p:cNvPr id="13" name="Shape 10"/>
          <p:cNvSpPr/>
          <p:nvPr/>
        </p:nvSpPr>
        <p:spPr>
          <a:xfrm>
            <a:off x="2103120" y="3877056"/>
            <a:ext cx="2926080" cy="566928"/>
          </a:xfrm>
          <a:prstGeom prst="rect">
            <a:avLst/>
          </a:prstGeom>
          <a:solidFill>
            <a:srgbClr val="6A7FA8"/>
          </a:solidFill>
          <a:ln/>
        </p:spPr>
      </p:sp>
      <p:sp>
        <p:nvSpPr>
          <p:cNvPr id="14" name="Text 11"/>
          <p:cNvSpPr txBox="1"/>
          <p:nvPr/>
        </p:nvSpPr>
        <p:spPr>
          <a:xfrm>
            <a:off x="2103120" y="3877056"/>
            <a:ext cx="292608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 years</a:t>
            </a:r>
            <a:endParaRPr lang="en-US" sz="1400" dirty="0"/>
          </a:p>
        </p:txBody>
      </p:sp>
      <p:sp>
        <p:nvSpPr>
          <p:cNvPr id="15" name="Text 12"/>
          <p:cNvSpPr txBox="1"/>
          <p:nvPr/>
        </p:nvSpPr>
        <p:spPr>
          <a:xfrm>
            <a:off x="548640" y="4809744"/>
            <a:ext cx="1371600" cy="566928"/>
          </a:xfrm>
          <a:prstGeom prst="rect">
            <a:avLst/>
          </a:prstGeom>
          <a:noFill/>
          <a:ln/>
        </p:spPr>
        <p:txBody>
          <a:bodyPr wrap="square" lIns="0" tIns="0" rIns="0" bIns="0" rtlCol="0" anchor="ctr"/>
          <a:lstStyle/>
          <a:p>
            <a:pPr algn="r" indent="0" marL="0">
              <a:buNone/>
            </a:pPr>
            <a:r>
              <a:rPr lang="en-US" sz="1500" b="1" dirty="0">
                <a:solidFill>
                  <a:srgbClr val="2E6FBF"/>
                </a:solidFill>
                <a:latin typeface="Montserrat" pitchFamily="34" charset="0"/>
                <a:ea typeface="Montserrat" pitchFamily="34" charset="-122"/>
                <a:cs typeface="Montserrat" pitchFamily="34" charset="-120"/>
              </a:rPr>
              <a:t>ChatGPT</a:t>
            </a:r>
            <a:endParaRPr lang="en-US" sz="1500" dirty="0"/>
          </a:p>
        </p:txBody>
      </p:sp>
      <p:sp>
        <p:nvSpPr>
          <p:cNvPr id="16" name="Shape 13"/>
          <p:cNvSpPr/>
          <p:nvPr/>
        </p:nvSpPr>
        <p:spPr>
          <a:xfrm>
            <a:off x="2103120" y="4809744"/>
            <a:ext cx="82296" cy="566928"/>
          </a:xfrm>
          <a:prstGeom prst="rect">
            <a:avLst/>
          </a:prstGeom>
          <a:solidFill>
            <a:srgbClr val="2E6FBF"/>
          </a:solidFill>
          <a:ln/>
        </p:spPr>
      </p:sp>
      <p:sp>
        <p:nvSpPr>
          <p:cNvPr id="17" name="Text 14"/>
          <p:cNvSpPr txBox="1"/>
          <p:nvPr/>
        </p:nvSpPr>
        <p:spPr>
          <a:xfrm>
            <a:off x="2331720" y="4809744"/>
            <a:ext cx="1828800" cy="566928"/>
          </a:xfrm>
          <a:prstGeom prst="rect">
            <a:avLst/>
          </a:prstGeom>
          <a:noFill/>
          <a:ln/>
        </p:spPr>
        <p:txBody>
          <a:bodyPr wrap="square" lIns="0" tIns="0" rIns="0" bIns="0" rtlCol="0" anchor="ctr"/>
          <a:lstStyle/>
          <a:p>
            <a:pPr indent="0" marL="0">
              <a:buNone/>
            </a:pPr>
            <a:r>
              <a:rPr lang="en-US" sz="1500" b="1" dirty="0">
                <a:solidFill>
                  <a:srgbClr val="2E6FBF"/>
                </a:solidFill>
                <a:latin typeface="Montserrat" pitchFamily="34" charset="0"/>
                <a:ea typeface="Montserrat" pitchFamily="34" charset="-122"/>
                <a:cs typeface="Montserrat" pitchFamily="34" charset="-120"/>
              </a:rPr>
              <a:t>5 days</a:t>
            </a:r>
            <a:endParaRPr lang="en-US" sz="1500" dirty="0"/>
          </a:p>
        </p:txBody>
      </p:sp>
      <p:sp>
        <p:nvSpPr>
          <p:cNvPr id="18" name="Shape 15"/>
          <p:cNvSpPr/>
          <p:nvPr/>
        </p:nvSpPr>
        <p:spPr>
          <a:xfrm>
            <a:off x="7955280" y="1828800"/>
            <a:ext cx="3685032" cy="3520440"/>
          </a:xfrm>
          <a:prstGeom prst="roundRect">
            <a:avLst>
              <a:gd name="adj" fmla="val 2078"/>
            </a:avLst>
          </a:prstGeom>
          <a:solidFill>
            <a:srgbClr val="0F1341"/>
          </a:solidFill>
          <a:ln/>
        </p:spPr>
      </p:sp>
      <p:sp>
        <p:nvSpPr>
          <p:cNvPr id="19" name="Text 16"/>
          <p:cNvSpPr txBox="1"/>
          <p:nvPr/>
        </p:nvSpPr>
        <p:spPr>
          <a:xfrm>
            <a:off x="8183880" y="2011680"/>
            <a:ext cx="3291840" cy="1280160"/>
          </a:xfrm>
          <a:prstGeom prst="rect">
            <a:avLst/>
          </a:prstGeom>
          <a:noFill/>
          <a:ln/>
        </p:spPr>
        <p:txBody>
          <a:bodyPr wrap="square" lIns="0" tIns="0" rIns="0" bIns="0" rtlCol="0" anchor="t"/>
          <a:lstStyle/>
          <a:p>
            <a:pPr indent="0" marL="0">
              <a:buNone/>
            </a:pPr>
            <a:r>
              <a:rPr lang="en-US" sz="8800" b="1" dirty="0">
                <a:solidFill>
                  <a:srgbClr val="FFFFFF"/>
                </a:solidFill>
                <a:latin typeface="Montserrat" pitchFamily="34" charset="0"/>
                <a:ea typeface="Montserrat" pitchFamily="34" charset="-122"/>
                <a:cs typeface="Montserrat" pitchFamily="34" charset="-120"/>
              </a:rPr>
              <a:t>5</a:t>
            </a:r>
            <a:endParaRPr lang="en-US" sz="8800" dirty="0"/>
          </a:p>
        </p:txBody>
      </p:sp>
      <p:sp>
        <p:nvSpPr>
          <p:cNvPr id="20" name="Text 17"/>
          <p:cNvSpPr txBox="1"/>
          <p:nvPr/>
        </p:nvSpPr>
        <p:spPr>
          <a:xfrm>
            <a:off x="9144000" y="2606040"/>
            <a:ext cx="2194560" cy="548640"/>
          </a:xfrm>
          <a:prstGeom prst="rect">
            <a:avLst/>
          </a:prstGeom>
          <a:noFill/>
          <a:ln/>
        </p:spPr>
        <p:txBody>
          <a:bodyPr wrap="square" lIns="0" tIns="0" rIns="0" bIns="0" rtlCol="0" anchor="t"/>
          <a:lstStyle/>
          <a:p>
            <a:pPr indent="0" marL="0">
              <a:buNone/>
            </a:pPr>
            <a:r>
              <a:rPr lang="en-US" sz="2800" b="1" dirty="0">
                <a:solidFill>
                  <a:srgbClr val="4A8FDB"/>
                </a:solidFill>
                <a:latin typeface="Montserrat" pitchFamily="34" charset="0"/>
                <a:ea typeface="Montserrat" pitchFamily="34" charset="-122"/>
                <a:cs typeface="Montserrat" pitchFamily="34" charset="-120"/>
              </a:rPr>
              <a:t>days</a:t>
            </a:r>
            <a:endParaRPr lang="en-US" sz="2800" dirty="0"/>
          </a:p>
        </p:txBody>
      </p:sp>
      <p:sp>
        <p:nvSpPr>
          <p:cNvPr id="21" name="Text 18"/>
          <p:cNvSpPr txBox="1"/>
          <p:nvPr/>
        </p:nvSpPr>
        <p:spPr>
          <a:xfrm>
            <a:off x="8183880" y="3429000"/>
            <a:ext cx="3246120" cy="914400"/>
          </a:xfrm>
          <a:prstGeom prst="rect">
            <a:avLst/>
          </a:prstGeom>
          <a:noFill/>
          <a:ln/>
        </p:spPr>
        <p:txBody>
          <a:bodyPr wrap="square" lIns="0" tIns="0" rIns="0" bIns="0" rtlCol="0" anchor="t"/>
          <a:lstStyle/>
          <a:p>
            <a:pPr indent="0" marL="0">
              <a:buNone/>
            </a:pPr>
            <a:r>
              <a:rPr lang="en-US" sz="1400" dirty="0">
                <a:solidFill>
                  <a:srgbClr val="FFFFFF"/>
                </a:solidFill>
                <a:latin typeface="Montserrat" pitchFamily="34" charset="0"/>
                <a:ea typeface="Montserrat" pitchFamily="34" charset="-122"/>
                <a:cs typeface="Montserrat" pitchFamily="34" charset="-120"/>
              </a:rPr>
              <a:t>from launch to one million users — faster than any consumer product before it.</a:t>
            </a:r>
            <a:endParaRPr lang="en-US" sz="1400" dirty="0"/>
          </a:p>
        </p:txBody>
      </p:sp>
      <p:sp>
        <p:nvSpPr>
          <p:cNvPr id="22" name="Text 19"/>
          <p:cNvSpPr txBox="1"/>
          <p:nvPr/>
        </p:nvSpPr>
        <p:spPr>
          <a:xfrm>
            <a:off x="8183880" y="4434840"/>
            <a:ext cx="3246120" cy="77724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For CRM: customers now ask an AI assistant before they ask your brand — a new touchpoint.</a:t>
            </a:r>
            <a:endParaRPr lang="en-US" sz="1200" dirty="0"/>
          </a:p>
        </p:txBody>
      </p:sp>
      <p:sp>
        <p:nvSpPr>
          <p:cNvPr id="23" name="Text 20"/>
          <p:cNvSpPr txBox="1"/>
          <p:nvPr/>
        </p:nvSpPr>
        <p:spPr>
          <a:xfrm>
            <a:off x="548640" y="5806440"/>
            <a:ext cx="694944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Statista, based on company announcements. ChatGPT launched on 30 November 2022.</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AI's IQ: from 96 to 136 in one year</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Best AI model on standardised IQ tests — one year apart</a:t>
            </a:r>
            <a:endParaRPr lang="en-US" sz="1300" dirty="0"/>
          </a:p>
        </p:txBody>
      </p:sp>
      <p:sp>
        <p:nvSpPr>
          <p:cNvPr id="5" name="Shape 2"/>
          <p:cNvSpPr/>
          <p:nvPr/>
        </p:nvSpPr>
        <p:spPr>
          <a:xfrm>
            <a:off x="548640" y="1828800"/>
            <a:ext cx="3291840" cy="1828800"/>
          </a:xfrm>
          <a:prstGeom prst="roundRect">
            <a:avLst>
              <a:gd name="adj" fmla="val 4000"/>
            </a:avLst>
          </a:prstGeom>
          <a:solidFill>
            <a:srgbClr val="F3F7FC"/>
          </a:solidFill>
          <a:ln/>
        </p:spPr>
      </p:sp>
      <p:sp>
        <p:nvSpPr>
          <p:cNvPr id="6" name="Text 3"/>
          <p:cNvSpPr txBox="1"/>
          <p:nvPr/>
        </p:nvSpPr>
        <p:spPr>
          <a:xfrm>
            <a:off x="777240" y="1965960"/>
            <a:ext cx="2743200" cy="320040"/>
          </a:xfrm>
          <a:prstGeom prst="rect">
            <a:avLst/>
          </a:prstGeom>
          <a:noFill/>
          <a:ln/>
        </p:spPr>
        <p:txBody>
          <a:bodyPr wrap="square" lIns="0" tIns="0" rIns="0" bIns="0" rtlCol="0" anchor="t"/>
          <a:lstStyle/>
          <a:p>
            <a:pPr indent="0" marL="0">
              <a:buNone/>
            </a:pPr>
            <a:r>
              <a:rPr lang="en-US" sz="1300" b="1" dirty="0">
                <a:solidFill>
                  <a:srgbClr val="8A93A3"/>
                </a:solidFill>
                <a:latin typeface="Montserrat" pitchFamily="34" charset="0"/>
                <a:ea typeface="Montserrat" pitchFamily="34" charset="-122"/>
                <a:cs typeface="Montserrat" pitchFamily="34" charset="-120"/>
              </a:rPr>
              <a:t>2024</a:t>
            </a:r>
            <a:endParaRPr lang="en-US" sz="1300" dirty="0"/>
          </a:p>
        </p:txBody>
      </p:sp>
      <p:sp>
        <p:nvSpPr>
          <p:cNvPr id="7" name="Text 4"/>
          <p:cNvSpPr txBox="1"/>
          <p:nvPr/>
        </p:nvSpPr>
        <p:spPr>
          <a:xfrm>
            <a:off x="777240" y="2286000"/>
            <a:ext cx="2926080" cy="822960"/>
          </a:xfrm>
          <a:prstGeom prst="rect">
            <a:avLst/>
          </a:prstGeom>
          <a:noFill/>
          <a:ln/>
        </p:spPr>
        <p:txBody>
          <a:bodyPr wrap="square" lIns="0" tIns="0" rIns="0" bIns="0" rtlCol="0" anchor="t"/>
          <a:lstStyle/>
          <a:p>
            <a:pPr indent="0" marL="0">
              <a:buNone/>
            </a:pPr>
            <a:r>
              <a:rPr lang="en-US" sz="4400" b="1" dirty="0">
                <a:solidFill>
                  <a:srgbClr val="6A7FA8"/>
                </a:solidFill>
                <a:latin typeface="Montserrat" pitchFamily="34" charset="0"/>
                <a:ea typeface="Montserrat" pitchFamily="34" charset="-122"/>
                <a:cs typeface="Montserrat" pitchFamily="34" charset="-120"/>
              </a:rPr>
              <a:t>IQ 96</a:t>
            </a:r>
            <a:endParaRPr lang="en-US" sz="4400" dirty="0"/>
          </a:p>
        </p:txBody>
      </p:sp>
      <p:sp>
        <p:nvSpPr>
          <p:cNvPr id="8" name="Text 5"/>
          <p:cNvSpPr txBox="1"/>
          <p:nvPr/>
        </p:nvSpPr>
        <p:spPr>
          <a:xfrm>
            <a:off x="777240" y="3154680"/>
            <a:ext cx="2926080" cy="32004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Best model, offline test</a:t>
            </a:r>
            <a:endParaRPr lang="en-US" sz="1200" dirty="0"/>
          </a:p>
        </p:txBody>
      </p:sp>
      <p:sp>
        <p:nvSpPr>
          <p:cNvPr id="9" name="Shape 6"/>
          <p:cNvSpPr/>
          <p:nvPr/>
        </p:nvSpPr>
        <p:spPr>
          <a:xfrm>
            <a:off x="548640" y="3840480"/>
            <a:ext cx="3291840" cy="1828800"/>
          </a:xfrm>
          <a:prstGeom prst="roundRect">
            <a:avLst>
              <a:gd name="adj" fmla="val 4000"/>
            </a:avLst>
          </a:prstGeom>
          <a:solidFill>
            <a:srgbClr val="0F1341"/>
          </a:solidFill>
          <a:ln/>
        </p:spPr>
      </p:sp>
      <p:sp>
        <p:nvSpPr>
          <p:cNvPr id="10" name="Text 7"/>
          <p:cNvSpPr txBox="1"/>
          <p:nvPr/>
        </p:nvSpPr>
        <p:spPr>
          <a:xfrm>
            <a:off x="777240" y="3977640"/>
            <a:ext cx="2743200" cy="320040"/>
          </a:xfrm>
          <a:prstGeom prst="rect">
            <a:avLst/>
          </a:prstGeom>
          <a:noFill/>
          <a:ln/>
        </p:spPr>
        <p:txBody>
          <a:bodyPr wrap="square" lIns="0" tIns="0" rIns="0" bIns="0" rtlCol="0" anchor="t"/>
          <a:lstStyle/>
          <a:p>
            <a:pPr indent="0" marL="0">
              <a:buNone/>
            </a:pPr>
            <a:r>
              <a:rPr lang="en-US" sz="1300" b="1" dirty="0">
                <a:solidFill>
                  <a:srgbClr val="4A8FDB"/>
                </a:solidFill>
                <a:latin typeface="Montserrat" pitchFamily="34" charset="0"/>
                <a:ea typeface="Montserrat" pitchFamily="34" charset="-122"/>
                <a:cs typeface="Montserrat" pitchFamily="34" charset="-120"/>
              </a:rPr>
              <a:t>2025</a:t>
            </a:r>
            <a:endParaRPr lang="en-US" sz="1300" dirty="0"/>
          </a:p>
        </p:txBody>
      </p:sp>
      <p:sp>
        <p:nvSpPr>
          <p:cNvPr id="11" name="Text 8"/>
          <p:cNvSpPr txBox="1"/>
          <p:nvPr/>
        </p:nvSpPr>
        <p:spPr>
          <a:xfrm>
            <a:off x="777240" y="4297680"/>
            <a:ext cx="2926080" cy="822960"/>
          </a:xfrm>
          <a:prstGeom prst="rect">
            <a:avLst/>
          </a:prstGeom>
          <a:noFill/>
          <a:ln/>
        </p:spPr>
        <p:txBody>
          <a:bodyPr wrap="square" lIns="0" tIns="0" rIns="0" bIns="0" rtlCol="0" anchor="t"/>
          <a:lstStyle/>
          <a:p>
            <a:pPr indent="0" marL="0">
              <a:buNone/>
            </a:pPr>
            <a:r>
              <a:rPr lang="en-US" sz="4400" b="1" dirty="0">
                <a:solidFill>
                  <a:srgbClr val="FFFFFF"/>
                </a:solidFill>
                <a:latin typeface="Montserrat" pitchFamily="34" charset="0"/>
                <a:ea typeface="Montserrat" pitchFamily="34" charset="-122"/>
                <a:cs typeface="Montserrat" pitchFamily="34" charset="-120"/>
              </a:rPr>
              <a:t>IQ 136</a:t>
            </a:r>
            <a:endParaRPr lang="en-US" sz="4400" dirty="0"/>
          </a:p>
        </p:txBody>
      </p:sp>
      <p:sp>
        <p:nvSpPr>
          <p:cNvPr id="12" name="Text 9"/>
          <p:cNvSpPr txBox="1"/>
          <p:nvPr/>
        </p:nvSpPr>
        <p:spPr>
          <a:xfrm>
            <a:off x="777240" y="5166360"/>
            <a:ext cx="2926080"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Best model, Mensa Norway test</a:t>
            </a:r>
            <a:endParaRPr lang="en-US" sz="1200" dirty="0"/>
          </a:p>
        </p:txBody>
      </p:sp>
      <p:sp>
        <p:nvSpPr>
          <p:cNvPr id="13" name="Shape 10"/>
          <p:cNvSpPr/>
          <p:nvPr/>
        </p:nvSpPr>
        <p:spPr>
          <a:xfrm>
            <a:off x="4160520" y="1828800"/>
            <a:ext cx="7479792" cy="1828800"/>
          </a:xfrm>
          <a:prstGeom prst="roundRect">
            <a:avLst>
              <a:gd name="adj" fmla="val 4000"/>
            </a:avLst>
          </a:prstGeom>
          <a:solidFill>
            <a:srgbClr val="FFFFFF"/>
          </a:solidFill>
          <a:ln w="12700">
            <a:solidFill>
              <a:srgbClr val="C9D3E3"/>
            </a:solidFill>
            <a:prstDash val="solid"/>
          </a:ln>
        </p:spPr>
      </p:sp>
      <p:pic>
        <p:nvPicPr>
          <p:cNvPr id="14" name="Image 0" descr="/home/user/work/assets/iq2024.png">    </p:cNvPr>
          <p:cNvPicPr>
            <a:picLocks noChangeAspect="1"/>
          </p:cNvPicPr>
          <p:nvPr/>
        </p:nvPicPr>
        <p:blipFill>
          <a:blip r:embed="rId1"/>
          <a:stretch>
            <a:fillRect/>
          </a:stretch>
        </p:blipFill>
        <p:spPr>
          <a:xfrm>
            <a:off x="4343400" y="2057400"/>
            <a:ext cx="5897880" cy="1499616"/>
          </a:xfrm>
          <a:prstGeom prst="rect">
            <a:avLst/>
          </a:prstGeom>
        </p:spPr>
      </p:pic>
      <p:sp>
        <p:nvSpPr>
          <p:cNvPr id="15" name="Text 11"/>
          <p:cNvSpPr txBox="1"/>
          <p:nvPr/>
        </p:nvSpPr>
        <p:spPr>
          <a:xfrm>
            <a:off x="10332720" y="2011680"/>
            <a:ext cx="1188720" cy="365760"/>
          </a:xfrm>
          <a:prstGeom prst="rect">
            <a:avLst/>
          </a:prstGeom>
          <a:noFill/>
          <a:ln/>
        </p:spPr>
        <p:txBody>
          <a:bodyPr wrap="square" lIns="0" tIns="0" rIns="0" bIns="0" rtlCol="0" anchor="t"/>
          <a:lstStyle/>
          <a:p>
            <a:pPr algn="r" indent="0" marL="0">
              <a:buNone/>
            </a:pPr>
            <a:r>
              <a:rPr lang="en-US" sz="1600" b="1" dirty="0">
                <a:solidFill>
                  <a:srgbClr val="6A7FA8"/>
                </a:solidFill>
                <a:latin typeface="Montserrat" pitchFamily="34" charset="0"/>
                <a:ea typeface="Montserrat" pitchFamily="34" charset="-122"/>
                <a:cs typeface="Montserrat" pitchFamily="34" charset="-120"/>
              </a:rPr>
              <a:t>2024</a:t>
            </a:r>
            <a:endParaRPr lang="en-US" sz="1600" dirty="0"/>
          </a:p>
        </p:txBody>
      </p:sp>
      <p:sp>
        <p:nvSpPr>
          <p:cNvPr id="16" name="Shape 12"/>
          <p:cNvSpPr/>
          <p:nvPr/>
        </p:nvSpPr>
        <p:spPr>
          <a:xfrm>
            <a:off x="4160520" y="3840480"/>
            <a:ext cx="7479792" cy="1828800"/>
          </a:xfrm>
          <a:prstGeom prst="roundRect">
            <a:avLst>
              <a:gd name="adj" fmla="val 4000"/>
            </a:avLst>
          </a:prstGeom>
          <a:solidFill>
            <a:srgbClr val="FFFFFF"/>
          </a:solidFill>
          <a:ln w="12700">
            <a:solidFill>
              <a:srgbClr val="C9D3E3"/>
            </a:solidFill>
            <a:prstDash val="solid"/>
          </a:ln>
        </p:spPr>
      </p:sp>
      <p:pic>
        <p:nvPicPr>
          <p:cNvPr id="17" name="Image 1" descr="/home/user/work/assets/iq2025.png">    </p:cNvPr>
          <p:cNvPicPr>
            <a:picLocks noChangeAspect="1"/>
          </p:cNvPicPr>
          <p:nvPr/>
        </p:nvPicPr>
        <p:blipFill>
          <a:blip r:embed="rId2"/>
          <a:stretch>
            <a:fillRect/>
          </a:stretch>
        </p:blipFill>
        <p:spPr>
          <a:xfrm>
            <a:off x="4800600" y="3913632"/>
            <a:ext cx="4690872" cy="1700784"/>
          </a:xfrm>
          <a:prstGeom prst="rect">
            <a:avLst/>
          </a:prstGeom>
        </p:spPr>
      </p:pic>
      <p:sp>
        <p:nvSpPr>
          <p:cNvPr id="18" name="Text 13"/>
          <p:cNvSpPr txBox="1"/>
          <p:nvPr/>
        </p:nvSpPr>
        <p:spPr>
          <a:xfrm>
            <a:off x="10332720" y="4023360"/>
            <a:ext cx="1188720" cy="365760"/>
          </a:xfrm>
          <a:prstGeom prst="rect">
            <a:avLst/>
          </a:prstGeom>
          <a:noFill/>
          <a:ln/>
        </p:spPr>
        <p:txBody>
          <a:bodyPr wrap="square" lIns="0" tIns="0" rIns="0" bIns="0" rtlCol="0" anchor="t"/>
          <a:lstStyle/>
          <a:p>
            <a:pPr algn="r" indent="0" marL="0">
              <a:buNone/>
            </a:pPr>
            <a:r>
              <a:rPr lang="en-US" sz="1600" b="1" dirty="0">
                <a:solidFill>
                  <a:srgbClr val="2E6FBF"/>
                </a:solidFill>
                <a:latin typeface="Montserrat" pitchFamily="34" charset="0"/>
                <a:ea typeface="Montserrat" pitchFamily="34" charset="-122"/>
                <a:cs typeface="Montserrat" pitchFamily="34" charset="-120"/>
              </a:rPr>
              <a:t>2025</a:t>
            </a:r>
            <a:endParaRPr lang="en-US" sz="1600" dirty="0"/>
          </a:p>
        </p:txBody>
      </p:sp>
      <p:sp>
        <p:nvSpPr>
          <p:cNvPr id="19" name="Text 14"/>
          <p:cNvSpPr txBox="1"/>
          <p:nvPr/>
        </p:nvSpPr>
        <p:spPr>
          <a:xfrm>
            <a:off x="548640" y="5806440"/>
            <a:ext cx="109728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TrackingAI.org (MaximumTruth.org) — IQ scores, average of last 7 tests. Average human = 100.</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Why AI is (still) hardly replacing jobs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Capability is rising fast — but real work is messy</a:t>
            </a:r>
            <a:endParaRPr lang="en-US" sz="1300" dirty="0"/>
          </a:p>
        </p:txBody>
      </p:sp>
      <p:sp>
        <p:nvSpPr>
          <p:cNvPr id="5" name="Shape 2"/>
          <p:cNvSpPr/>
          <p:nvPr/>
        </p:nvSpPr>
        <p:spPr>
          <a:xfrm>
            <a:off x="548640" y="1874520"/>
            <a:ext cx="566928" cy="566928"/>
          </a:xfrm>
          <a:prstGeom prst="ellipse">
            <a:avLst/>
          </a:prstGeom>
          <a:solidFill>
            <a:srgbClr val="D9E8F8"/>
          </a:solidFill>
          <a:ln/>
        </p:spPr>
      </p:sp>
      <p:sp>
        <p:nvSpPr>
          <p:cNvPr id="6" name="Text 3"/>
          <p:cNvSpPr txBox="1"/>
          <p:nvPr/>
        </p:nvSpPr>
        <p:spPr>
          <a:xfrm>
            <a:off x="1325880" y="1874520"/>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So far, hardly any job losses from AI</a:t>
            </a:r>
            <a:endParaRPr lang="en-US" sz="1600" dirty="0"/>
          </a:p>
        </p:txBody>
      </p:sp>
      <p:sp>
        <p:nvSpPr>
          <p:cNvPr id="7" name="Shape 4"/>
          <p:cNvSpPr/>
          <p:nvPr/>
        </p:nvSpPr>
        <p:spPr>
          <a:xfrm>
            <a:off x="548640" y="2770632"/>
            <a:ext cx="566928" cy="566928"/>
          </a:xfrm>
          <a:prstGeom prst="ellipse">
            <a:avLst/>
          </a:prstGeom>
          <a:solidFill>
            <a:srgbClr val="D9E8F8"/>
          </a:solidFill>
          <a:ln/>
        </p:spPr>
      </p:sp>
      <p:sp>
        <p:nvSpPr>
          <p:cNvPr id="8" name="Text 5"/>
          <p:cNvSpPr txBox="1"/>
          <p:nvPr/>
        </p:nvSpPr>
        <p:spPr>
          <a:xfrm>
            <a:off x="1325880" y="2770632"/>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AI hits its limits in complex, dynamic workflows</a:t>
            </a:r>
            <a:endParaRPr lang="en-US" sz="1600" dirty="0"/>
          </a:p>
        </p:txBody>
      </p:sp>
      <p:sp>
        <p:nvSpPr>
          <p:cNvPr id="9" name="Shape 6"/>
          <p:cNvSpPr/>
          <p:nvPr/>
        </p:nvSpPr>
        <p:spPr>
          <a:xfrm>
            <a:off x="548640" y="3666744"/>
            <a:ext cx="566928" cy="566928"/>
          </a:xfrm>
          <a:prstGeom prst="ellipse">
            <a:avLst/>
          </a:prstGeom>
          <a:solidFill>
            <a:srgbClr val="D9E8F8"/>
          </a:solidFill>
          <a:ln/>
        </p:spPr>
      </p:sp>
      <p:sp>
        <p:nvSpPr>
          <p:cNvPr id="10" name="Text 7"/>
          <p:cNvSpPr txBox="1"/>
          <p:nvPr/>
        </p:nvSpPr>
        <p:spPr>
          <a:xfrm>
            <a:off x="1325880" y="3666744"/>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Office and routine work stable so far — despite automation risk</a:t>
            </a:r>
            <a:endParaRPr lang="en-US" sz="1600" dirty="0"/>
          </a:p>
        </p:txBody>
      </p:sp>
      <p:sp>
        <p:nvSpPr>
          <p:cNvPr id="11" name="Shape 8"/>
          <p:cNvSpPr/>
          <p:nvPr/>
        </p:nvSpPr>
        <p:spPr>
          <a:xfrm>
            <a:off x="548640" y="4562856"/>
            <a:ext cx="566928" cy="566928"/>
          </a:xfrm>
          <a:prstGeom prst="ellipse">
            <a:avLst/>
          </a:prstGeom>
          <a:solidFill>
            <a:srgbClr val="D9E8F8"/>
          </a:solidFill>
          <a:ln/>
        </p:spPr>
      </p:sp>
      <p:sp>
        <p:nvSpPr>
          <p:cNvPr id="12" name="Text 9"/>
          <p:cNvSpPr txBox="1"/>
          <p:nvPr/>
        </p:nvSpPr>
        <p:spPr>
          <a:xfrm>
            <a:off x="1325880" y="4562856"/>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Demand for AI skills is growing sharply</a:t>
            </a:r>
            <a:endParaRPr lang="en-US" sz="1600" dirty="0"/>
          </a:p>
        </p:txBody>
      </p:sp>
      <p:sp>
        <p:nvSpPr>
          <p:cNvPr id="13" name="Shape 10"/>
          <p:cNvSpPr/>
          <p:nvPr/>
        </p:nvSpPr>
        <p:spPr>
          <a:xfrm>
            <a:off x="548640" y="5486400"/>
            <a:ext cx="5897880" cy="566928"/>
          </a:xfrm>
          <a:prstGeom prst="roundRect">
            <a:avLst>
              <a:gd name="adj" fmla="val 12903"/>
            </a:avLst>
          </a:prstGeom>
          <a:solidFill>
            <a:srgbClr val="F3F7FC"/>
          </a:solidFill>
          <a:ln/>
        </p:spPr>
      </p:sp>
      <p:sp>
        <p:nvSpPr>
          <p:cNvPr id="14" name="Text 11"/>
          <p:cNvSpPr txBox="1"/>
          <p:nvPr/>
        </p:nvSpPr>
        <p:spPr>
          <a:xfrm>
            <a:off x="731520" y="5486400"/>
            <a:ext cx="5577840" cy="566928"/>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For you: </a:t>
            </a:r>
            <a:pPr indent="0" marL="0">
              <a:buNone/>
            </a:pPr>
            <a:r>
              <a:rPr lang="en-US" sz="1200" dirty="0">
                <a:solidFill>
                  <a:srgbClr val="0F1341"/>
                </a:solidFill>
                <a:latin typeface="Montserrat" pitchFamily="34" charset="0"/>
                <a:ea typeface="Montserrat" pitchFamily="34" charset="-122"/>
                <a:cs typeface="Montserrat" pitchFamily="34" charset="-120"/>
              </a:rPr>
              <a:t>Answering a standard question is a clean task. Rescuing a relationship is messy — that stays human.</a:t>
            </a:r>
            <a:endParaRPr lang="en-US" sz="1200" dirty="0"/>
          </a:p>
        </p:txBody>
      </p:sp>
      <p:sp>
        <p:nvSpPr>
          <p:cNvPr id="15" name="Shape 12"/>
          <p:cNvSpPr/>
          <p:nvPr/>
        </p:nvSpPr>
        <p:spPr>
          <a:xfrm>
            <a:off x="6766560" y="1737360"/>
            <a:ext cx="4873752" cy="4526280"/>
          </a:xfrm>
          <a:prstGeom prst="roundRect">
            <a:avLst>
              <a:gd name="adj" fmla="val 1616"/>
            </a:avLst>
          </a:prstGeom>
          <a:solidFill>
            <a:srgbClr val="0F1341"/>
          </a:solidFill>
          <a:ln/>
        </p:spPr>
      </p:sp>
      <p:sp>
        <p:nvSpPr>
          <p:cNvPr id="16" name="Text 13"/>
          <p:cNvSpPr txBox="1"/>
          <p:nvPr/>
        </p:nvSpPr>
        <p:spPr>
          <a:xfrm>
            <a:off x="6995160" y="1874520"/>
            <a:ext cx="4480560" cy="54864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AI's ability to automate jobs is constrained by task “messiness”</a:t>
            </a:r>
            <a:endParaRPr lang="en-US" sz="1300" dirty="0"/>
          </a:p>
        </p:txBody>
      </p:sp>
      <p:sp>
        <p:nvSpPr>
          <p:cNvPr id="17" name="Text 14"/>
          <p:cNvSpPr txBox="1"/>
          <p:nvPr/>
        </p:nvSpPr>
        <p:spPr>
          <a:xfrm>
            <a:off x="6995160" y="2423160"/>
            <a:ext cx="4480560" cy="274320"/>
          </a:xfrm>
          <a:prstGeom prst="rect">
            <a:avLst/>
          </a:prstGeom>
          <a:noFill/>
          <a:ln/>
        </p:spPr>
        <p:txBody>
          <a:bodyPr wrap="square" lIns="0" tIns="0" rIns="0" bIns="0" rtlCol="0" anchor="t"/>
          <a:lstStyle/>
          <a:p>
            <a:pPr indent="0" marL="0">
              <a:buNone/>
            </a:pPr>
            <a:r>
              <a:rPr lang="en-US" sz="1000" dirty="0">
                <a:solidFill>
                  <a:srgbClr val="C9D3E3"/>
                </a:solidFill>
                <a:latin typeface="Montserrat" pitchFamily="34" charset="0"/>
                <a:ea typeface="Montserrat" pitchFamily="34" charset="-122"/>
                <a:cs typeface="Montserrat" pitchFamily="34" charset="-120"/>
              </a:rPr>
              <a:t>AI task success rate by messiness of the task (%)</a:t>
            </a:r>
            <a:endParaRPr lang="en-US" sz="1000" dirty="0"/>
          </a:p>
        </p:txBody>
      </p:sp>
      <p:graphicFrame>
        <p:nvGraphicFramePr>
          <p:cNvPr id="18" name="Chart 0" descr=""/>
          <p:cNvGraphicFramePr/>
          <p:nvPr/>
        </p:nvGraphicFramePr>
        <p:xfrm>
          <a:off x="6858000" y="2697480"/>
          <a:ext cx="4663440" cy="306324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6995160" y="5760720"/>
            <a:ext cx="4480560" cy="411480"/>
          </a:xfrm>
          <a:prstGeom prst="rect">
            <a:avLst/>
          </a:prstGeom>
          <a:noFill/>
          <a:ln/>
        </p:spPr>
        <p:txBody>
          <a:bodyPr wrap="square" lIns="0" tIns="0" rIns="0" bIns="0" rtlCol="0" anchor="t"/>
          <a:lstStyle/>
          <a:p>
            <a:pPr indent="0" marL="0">
              <a:buNone/>
            </a:pPr>
            <a:r>
              <a:rPr lang="en-US" sz="900" i="1" dirty="0">
                <a:solidFill>
                  <a:srgbClr val="C9D3E3"/>
                </a:solidFill>
                <a:latin typeface="Montserrat" pitchFamily="34" charset="0"/>
                <a:ea typeface="Montserrat" pitchFamily="34" charset="-122"/>
                <a:cs typeface="Montserrat" pitchFamily="34" charset="-120"/>
              </a:rPr>
              <a:t>Tasks taking a human professional ≤ 1 hour. Source: METR / Measuring AI Ability (values read from published chart).</a:t>
            </a:r>
            <a:endParaRPr lang="en-US" sz="900" dirty="0"/>
          </a:p>
        </p:txBody>
      </p:sp>
      <p:pic>
        <p:nvPicPr>
          <p:cNvPr id="20" name="Image 0" descr="preencoded.png">    </p:cNvPr>
          <p:cNvPicPr>
            <a:picLocks noChangeAspect="1"/>
          </p:cNvPicPr>
          <p:nvPr/>
        </p:nvPicPr>
        <p:blipFill>
          <a:blip r:embed="rId2"/>
          <a:stretch>
            <a:fillRect/>
          </a:stretch>
        </p:blipFill>
        <p:spPr>
          <a:xfrm>
            <a:off x="676656" y="2002536"/>
            <a:ext cx="310896" cy="310896"/>
          </a:xfrm>
          <a:prstGeom prst="rect">
            <a:avLst/>
          </a:prstGeom>
        </p:spPr>
      </p:pic>
      <p:pic>
        <p:nvPicPr>
          <p:cNvPr id="21" name="Image 1" descr="preencoded.png">    </p:cNvPr>
          <p:cNvPicPr>
            <a:picLocks noChangeAspect="1"/>
          </p:cNvPicPr>
          <p:nvPr/>
        </p:nvPicPr>
        <p:blipFill>
          <a:blip r:embed="rId3"/>
          <a:stretch>
            <a:fillRect/>
          </a:stretch>
        </p:blipFill>
        <p:spPr>
          <a:xfrm>
            <a:off x="676656" y="2898648"/>
            <a:ext cx="310896" cy="310896"/>
          </a:xfrm>
          <a:prstGeom prst="rect">
            <a:avLst/>
          </a:prstGeom>
        </p:spPr>
      </p:pic>
      <p:pic>
        <p:nvPicPr>
          <p:cNvPr id="22" name="Image 2" descr="preencoded.png">    </p:cNvPr>
          <p:cNvPicPr>
            <a:picLocks noChangeAspect="1"/>
          </p:cNvPicPr>
          <p:nvPr/>
        </p:nvPicPr>
        <p:blipFill>
          <a:blip r:embed="rId4"/>
          <a:stretch>
            <a:fillRect/>
          </a:stretch>
        </p:blipFill>
        <p:spPr>
          <a:xfrm>
            <a:off x="676656" y="3794760"/>
            <a:ext cx="310896" cy="310896"/>
          </a:xfrm>
          <a:prstGeom prst="rect">
            <a:avLst/>
          </a:prstGeom>
        </p:spPr>
      </p:pic>
      <p:pic>
        <p:nvPicPr>
          <p:cNvPr id="23" name="Image 3" descr="preencoded.png">    </p:cNvPr>
          <p:cNvPicPr>
            <a:picLocks noChangeAspect="1"/>
          </p:cNvPicPr>
          <p:nvPr/>
        </p:nvPicPr>
        <p:blipFill>
          <a:blip r:embed="rId5"/>
          <a:stretch>
            <a:fillRect/>
          </a:stretch>
        </p:blipFill>
        <p:spPr>
          <a:xfrm>
            <a:off x="676656" y="4690872"/>
            <a:ext cx="310896" cy="3108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Core skills in 2030</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Share of employers calling a skill core today (x) vs expecting it to grow by 2030 (y)</a:t>
            </a:r>
            <a:endParaRPr lang="en-US" sz="1300" dirty="0"/>
          </a:p>
        </p:txBody>
      </p:sp>
      <p:sp>
        <p:nvSpPr>
          <p:cNvPr id="5" name="Shape 2"/>
          <p:cNvSpPr/>
          <p:nvPr/>
        </p:nvSpPr>
        <p:spPr>
          <a:xfrm>
            <a:off x="548640" y="1719072"/>
            <a:ext cx="5897880" cy="4315968"/>
          </a:xfrm>
          <a:prstGeom prst="roundRect">
            <a:avLst>
              <a:gd name="adj" fmla="val 1695"/>
            </a:avLst>
          </a:prstGeom>
          <a:solidFill>
            <a:srgbClr val="FFFFFF"/>
          </a:solidFill>
          <a:ln w="12700">
            <a:solidFill>
              <a:srgbClr val="C9D3E3"/>
            </a:solidFill>
            <a:prstDash val="solid"/>
          </a:ln>
        </p:spPr>
      </p:sp>
      <p:pic>
        <p:nvPicPr>
          <p:cNvPr id="6" name="Image 0" descr="/home/user/work/assets/wef.png">    </p:cNvPr>
          <p:cNvPicPr>
            <a:picLocks noChangeAspect="1"/>
          </p:cNvPicPr>
          <p:nvPr/>
        </p:nvPicPr>
        <p:blipFill>
          <a:blip r:embed="rId1"/>
          <a:stretch>
            <a:fillRect/>
          </a:stretch>
        </p:blipFill>
        <p:spPr>
          <a:xfrm>
            <a:off x="640080" y="1783080"/>
            <a:ext cx="5715000" cy="4187952"/>
          </a:xfrm>
          <a:prstGeom prst="rect">
            <a:avLst/>
          </a:prstGeom>
        </p:spPr>
      </p:pic>
      <p:sp>
        <p:nvSpPr>
          <p:cNvPr id="7" name="Shape 3"/>
          <p:cNvSpPr/>
          <p:nvPr/>
        </p:nvSpPr>
        <p:spPr>
          <a:xfrm>
            <a:off x="6812280" y="1783080"/>
            <a:ext cx="384048" cy="384048"/>
          </a:xfrm>
          <a:prstGeom prst="ellipse">
            <a:avLst/>
          </a:prstGeom>
          <a:solidFill>
            <a:srgbClr val="2E6FBF"/>
          </a:solidFill>
          <a:ln/>
        </p:spPr>
      </p:sp>
      <p:sp>
        <p:nvSpPr>
          <p:cNvPr id="8" name="Text 4"/>
          <p:cNvSpPr txBox="1"/>
          <p:nvPr/>
        </p:nvSpPr>
        <p:spPr>
          <a:xfrm>
            <a:off x="6812280" y="17830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5"/>
          <p:cNvSpPr txBox="1"/>
          <p:nvPr/>
        </p:nvSpPr>
        <p:spPr>
          <a:xfrm>
            <a:off x="7360920" y="1737360"/>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AI and big data</a:t>
            </a:r>
            <a:endParaRPr lang="en-US" sz="1400" dirty="0"/>
          </a:p>
        </p:txBody>
      </p:sp>
      <p:sp>
        <p:nvSpPr>
          <p:cNvPr id="10" name="Text 6"/>
          <p:cNvSpPr txBox="1"/>
          <p:nvPr/>
        </p:nvSpPr>
        <p:spPr>
          <a:xfrm>
            <a:off x="7360920" y="2084832"/>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the fastest-growing skill of all — almost 9 in 10 employers expect it to grow</a:t>
            </a:r>
            <a:endParaRPr lang="en-US" sz="1200" dirty="0"/>
          </a:p>
        </p:txBody>
      </p:sp>
      <p:sp>
        <p:nvSpPr>
          <p:cNvPr id="11" name="Shape 7"/>
          <p:cNvSpPr/>
          <p:nvPr/>
        </p:nvSpPr>
        <p:spPr>
          <a:xfrm>
            <a:off x="6812280" y="2807208"/>
            <a:ext cx="384048" cy="384048"/>
          </a:xfrm>
          <a:prstGeom prst="ellipse">
            <a:avLst/>
          </a:prstGeom>
          <a:solidFill>
            <a:srgbClr val="2E6FBF"/>
          </a:solidFill>
          <a:ln/>
        </p:spPr>
      </p:sp>
      <p:sp>
        <p:nvSpPr>
          <p:cNvPr id="12" name="Text 8"/>
          <p:cNvSpPr txBox="1"/>
          <p:nvPr/>
        </p:nvSpPr>
        <p:spPr>
          <a:xfrm>
            <a:off x="6812280" y="2807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3" name="Text 9"/>
          <p:cNvSpPr txBox="1"/>
          <p:nvPr/>
        </p:nvSpPr>
        <p:spPr>
          <a:xfrm>
            <a:off x="7360920" y="2761488"/>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Thinking skills stay core</a:t>
            </a:r>
            <a:endParaRPr lang="en-US" sz="1400" dirty="0"/>
          </a:p>
        </p:txBody>
      </p:sp>
      <p:sp>
        <p:nvSpPr>
          <p:cNvPr id="14" name="Text 10"/>
          <p:cNvSpPr txBox="1"/>
          <p:nvPr/>
        </p:nvSpPr>
        <p:spPr>
          <a:xfrm>
            <a:off x="7360920" y="3108960"/>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analytical thinking, creative thinking, systems thinking</a:t>
            </a:r>
            <a:endParaRPr lang="en-US" sz="1200" dirty="0"/>
          </a:p>
        </p:txBody>
      </p:sp>
      <p:sp>
        <p:nvSpPr>
          <p:cNvPr id="15" name="Shape 11"/>
          <p:cNvSpPr/>
          <p:nvPr/>
        </p:nvSpPr>
        <p:spPr>
          <a:xfrm>
            <a:off x="6812280" y="3831336"/>
            <a:ext cx="384048" cy="384048"/>
          </a:xfrm>
          <a:prstGeom prst="ellipse">
            <a:avLst/>
          </a:prstGeom>
          <a:solidFill>
            <a:srgbClr val="2E6FBF"/>
          </a:solidFill>
          <a:ln/>
        </p:spPr>
      </p:sp>
      <p:sp>
        <p:nvSpPr>
          <p:cNvPr id="16" name="Text 12"/>
          <p:cNvSpPr txBox="1"/>
          <p:nvPr/>
        </p:nvSpPr>
        <p:spPr>
          <a:xfrm>
            <a:off x="681228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7" name="Text 13"/>
          <p:cNvSpPr txBox="1"/>
          <p:nvPr/>
        </p:nvSpPr>
        <p:spPr>
          <a:xfrm>
            <a:off x="7360920" y="3785616"/>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Human skills rise with AI</a:t>
            </a:r>
            <a:endParaRPr lang="en-US" sz="1400" dirty="0"/>
          </a:p>
        </p:txBody>
      </p:sp>
      <p:sp>
        <p:nvSpPr>
          <p:cNvPr id="18" name="Text 14"/>
          <p:cNvSpPr txBox="1"/>
          <p:nvPr/>
        </p:nvSpPr>
        <p:spPr>
          <a:xfrm>
            <a:off x="7360920" y="4133088"/>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resilience, curiosity and lifelong learning, leadership</a:t>
            </a:r>
            <a:endParaRPr lang="en-US" sz="1200" dirty="0"/>
          </a:p>
        </p:txBody>
      </p:sp>
      <p:sp>
        <p:nvSpPr>
          <p:cNvPr id="19" name="Shape 15"/>
          <p:cNvSpPr/>
          <p:nvPr/>
        </p:nvSpPr>
        <p:spPr>
          <a:xfrm>
            <a:off x="6812280" y="4846320"/>
            <a:ext cx="4828032" cy="1188720"/>
          </a:xfrm>
          <a:prstGeom prst="roundRect">
            <a:avLst>
              <a:gd name="adj" fmla="val 6154"/>
            </a:avLst>
          </a:prstGeom>
          <a:solidFill>
            <a:srgbClr val="0F1341"/>
          </a:solidFill>
          <a:ln/>
        </p:spPr>
      </p:sp>
      <p:sp>
        <p:nvSpPr>
          <p:cNvPr id="20" name="Text 16"/>
          <p:cNvSpPr txBox="1"/>
          <p:nvPr/>
        </p:nvSpPr>
        <p:spPr>
          <a:xfrm>
            <a:off x="7040880" y="4846320"/>
            <a:ext cx="4434840" cy="1188720"/>
          </a:xfrm>
          <a:prstGeom prst="rect">
            <a:avLst/>
          </a:prstGeom>
          <a:noFill/>
          <a:ln/>
        </p:spPr>
        <p:txBody>
          <a:bodyPr wrap="square" lIns="0" tIns="0" rIns="0" bIns="0" rtlCol="0" anchor="ctr"/>
          <a:lstStyle/>
          <a:p>
            <a:pPr indent="0" marL="0">
              <a:buNone/>
            </a:pPr>
            <a:r>
              <a:rPr lang="en-US" sz="1300" dirty="0">
                <a:solidFill>
                  <a:srgbClr val="FFFFFF"/>
                </a:solidFill>
                <a:latin typeface="Montserrat" pitchFamily="34" charset="0"/>
                <a:ea typeface="Montserrat" pitchFamily="34" charset="-122"/>
                <a:cs typeface="Montserrat" pitchFamily="34" charset="-120"/>
              </a:rPr>
              <a:t>The CRM profile of 2030: AI and data skills plus empathy and service orientation.</a:t>
            </a:r>
            <a:endParaRPr lang="en-US" sz="1300" dirty="0"/>
          </a:p>
        </p:txBody>
      </p:sp>
      <p:sp>
        <p:nvSpPr>
          <p:cNvPr id="21" name="Text 17"/>
          <p:cNvSpPr txBox="1"/>
          <p:nvPr/>
        </p:nvSpPr>
        <p:spPr>
          <a:xfrm>
            <a:off x="1920240" y="6080760"/>
            <a:ext cx="54864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World Economic Forum, Future of Jobs Report 2025, Figure 3.6.</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“Augmented Intelligence”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Not human or machine — the value sits in the overlap</a:t>
            </a:r>
            <a:endParaRPr lang="en-US" sz="1300" dirty="0"/>
          </a:p>
        </p:txBody>
      </p:sp>
      <p:sp>
        <p:nvSpPr>
          <p:cNvPr id="5" name="Shape 2"/>
          <p:cNvSpPr/>
          <p:nvPr/>
        </p:nvSpPr>
        <p:spPr>
          <a:xfrm>
            <a:off x="822960" y="1783080"/>
            <a:ext cx="4572000" cy="4343400"/>
          </a:xfrm>
          <a:prstGeom prst="ellipse">
            <a:avLst/>
          </a:prstGeom>
          <a:solidFill>
            <a:srgbClr val="D9E8F8">
              <a:alpha val="85000"/>
            </a:srgbClr>
          </a:solidFill>
          <a:ln w="38100">
            <a:solidFill>
              <a:srgbClr val="4A8FDB"/>
            </a:solidFill>
            <a:prstDash val="solid"/>
          </a:ln>
        </p:spPr>
      </p:sp>
      <p:sp>
        <p:nvSpPr>
          <p:cNvPr id="6" name="Shape 3"/>
          <p:cNvSpPr/>
          <p:nvPr/>
        </p:nvSpPr>
        <p:spPr>
          <a:xfrm>
            <a:off x="3566160" y="1783080"/>
            <a:ext cx="4572000" cy="4343400"/>
          </a:xfrm>
          <a:prstGeom prst="ellipse">
            <a:avLst/>
          </a:prstGeom>
          <a:solidFill>
            <a:srgbClr val="6A7FA8">
              <a:alpha val="55000"/>
            </a:srgbClr>
          </a:solidFill>
          <a:ln w="38100">
            <a:solidFill>
              <a:srgbClr val="0F1341"/>
            </a:solidFill>
            <a:prstDash val="solid"/>
          </a:ln>
        </p:spPr>
      </p:sp>
      <p:sp>
        <p:nvSpPr>
          <p:cNvPr id="7" name="Text 4"/>
          <p:cNvSpPr txBox="1"/>
          <p:nvPr/>
        </p:nvSpPr>
        <p:spPr>
          <a:xfrm>
            <a:off x="1097280" y="3520440"/>
            <a:ext cx="2377440" cy="822960"/>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Human</a:t>
            </a:r>
            <a:endParaRPr lang="en-US" sz="1800" dirty="0"/>
          </a:p>
          <a:p>
            <a:pPr algn="ctr" indent="0" marL="0">
              <a:buNone/>
            </a:pPr>
            <a:r>
              <a:rPr lang="en-US" sz="1800" b="1" dirty="0">
                <a:solidFill>
                  <a:srgbClr val="2E6FBF"/>
                </a:solidFill>
                <a:latin typeface="Montserrat" pitchFamily="34" charset="0"/>
                <a:ea typeface="Montserrat" pitchFamily="34" charset="-122"/>
                <a:cs typeface="Montserrat" pitchFamily="34" charset="-120"/>
              </a:rPr>
              <a:t>Intelligence</a:t>
            </a:r>
            <a:endParaRPr lang="en-US" sz="1800" dirty="0"/>
          </a:p>
        </p:txBody>
      </p:sp>
      <p:sp>
        <p:nvSpPr>
          <p:cNvPr id="8" name="Text 5"/>
          <p:cNvSpPr txBox="1"/>
          <p:nvPr/>
        </p:nvSpPr>
        <p:spPr>
          <a:xfrm>
            <a:off x="3611880" y="3520440"/>
            <a:ext cx="17373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Augmented</a:t>
            </a:r>
            <a:endParaRPr lang="en-US" sz="1600" dirty="0"/>
          </a:p>
          <a:p>
            <a:pPr algn="ctr" indent="0" marL="0">
              <a:buNone/>
            </a:pPr>
            <a:r>
              <a:rPr lang="en-US" sz="1600" b="1" dirty="0">
                <a:solidFill>
                  <a:srgbClr val="FFFFFF"/>
                </a:solidFill>
                <a:latin typeface="Montserrat" pitchFamily="34" charset="0"/>
                <a:ea typeface="Montserrat" pitchFamily="34" charset="-122"/>
                <a:cs typeface="Montserrat" pitchFamily="34" charset="-120"/>
              </a:rPr>
              <a:t>Intelligence</a:t>
            </a:r>
            <a:endParaRPr lang="en-US" sz="1600" dirty="0"/>
          </a:p>
        </p:txBody>
      </p:sp>
      <p:sp>
        <p:nvSpPr>
          <p:cNvPr id="9" name="Text 6"/>
          <p:cNvSpPr txBox="1"/>
          <p:nvPr/>
        </p:nvSpPr>
        <p:spPr>
          <a:xfrm>
            <a:off x="5486400" y="3520440"/>
            <a:ext cx="2377440" cy="822960"/>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Artificial</a:t>
            </a:r>
            <a:endParaRPr lang="en-US" sz="1800" dirty="0"/>
          </a:p>
          <a:p>
            <a:pPr algn="ctr" indent="0" marL="0">
              <a:buNone/>
            </a:pPr>
            <a:r>
              <a:rPr lang="en-US" sz="1800" b="1" dirty="0">
                <a:solidFill>
                  <a:srgbClr val="0F1341"/>
                </a:solidFill>
                <a:latin typeface="Montserrat" pitchFamily="34" charset="0"/>
                <a:ea typeface="Montserrat" pitchFamily="34" charset="-122"/>
                <a:cs typeface="Montserrat" pitchFamily="34" charset="-120"/>
              </a:rPr>
              <a:t>Intelligence</a:t>
            </a:r>
            <a:endParaRPr lang="en-US" sz="1800" dirty="0"/>
          </a:p>
        </p:txBody>
      </p:sp>
      <p:sp>
        <p:nvSpPr>
          <p:cNvPr id="10" name="Shape 7"/>
          <p:cNvSpPr/>
          <p:nvPr/>
        </p:nvSpPr>
        <p:spPr>
          <a:xfrm>
            <a:off x="8595360" y="1874520"/>
            <a:ext cx="1280160" cy="274320"/>
          </a:xfrm>
          <a:prstGeom prst="roundRect">
            <a:avLst>
              <a:gd name="adj" fmla="val 26667"/>
            </a:avLst>
          </a:prstGeom>
          <a:solidFill>
            <a:srgbClr val="2E6FBF"/>
          </a:solidFill>
          <a:ln/>
        </p:spPr>
      </p:sp>
      <p:sp>
        <p:nvSpPr>
          <p:cNvPr id="11" name="Text 8"/>
          <p:cNvSpPr txBox="1"/>
          <p:nvPr/>
        </p:nvSpPr>
        <p:spPr>
          <a:xfrm>
            <a:off x="8595360" y="18745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HUMAN</a:t>
            </a:r>
            <a:endParaRPr lang="en-US" sz="900" dirty="0"/>
          </a:p>
        </p:txBody>
      </p:sp>
      <p:sp>
        <p:nvSpPr>
          <p:cNvPr id="12" name="Text 9"/>
          <p:cNvSpPr txBox="1"/>
          <p:nvPr/>
        </p:nvSpPr>
        <p:spPr>
          <a:xfrm>
            <a:off x="8595360" y="22585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Judgement, context, trust, responsibility</a:t>
            </a:r>
            <a:endParaRPr lang="en-US" sz="1300" dirty="0"/>
          </a:p>
        </p:txBody>
      </p:sp>
      <p:sp>
        <p:nvSpPr>
          <p:cNvPr id="13" name="Shape 10"/>
          <p:cNvSpPr/>
          <p:nvPr/>
        </p:nvSpPr>
        <p:spPr>
          <a:xfrm>
            <a:off x="8595360" y="3246120"/>
            <a:ext cx="1280160" cy="274320"/>
          </a:xfrm>
          <a:prstGeom prst="roundRect">
            <a:avLst>
              <a:gd name="adj" fmla="val 26667"/>
            </a:avLst>
          </a:prstGeom>
          <a:solidFill>
            <a:srgbClr val="0F1341"/>
          </a:solidFill>
          <a:ln/>
        </p:spPr>
      </p:sp>
      <p:sp>
        <p:nvSpPr>
          <p:cNvPr id="14" name="Text 11"/>
          <p:cNvSpPr txBox="1"/>
          <p:nvPr/>
        </p:nvSpPr>
        <p:spPr>
          <a:xfrm>
            <a:off x="8595360" y="32461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a:t>
            </a:r>
            <a:endParaRPr lang="en-US" sz="900" dirty="0"/>
          </a:p>
        </p:txBody>
      </p:sp>
      <p:sp>
        <p:nvSpPr>
          <p:cNvPr id="15" name="Text 12"/>
          <p:cNvSpPr txBox="1"/>
          <p:nvPr/>
        </p:nvSpPr>
        <p:spPr>
          <a:xfrm>
            <a:off x="8595360" y="36301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Speed, scale, pattern recognition, tireless testing</a:t>
            </a:r>
            <a:endParaRPr lang="en-US" sz="1300" dirty="0"/>
          </a:p>
        </p:txBody>
      </p:sp>
      <p:sp>
        <p:nvSpPr>
          <p:cNvPr id="16" name="Shape 13"/>
          <p:cNvSpPr/>
          <p:nvPr/>
        </p:nvSpPr>
        <p:spPr>
          <a:xfrm>
            <a:off x="8595360" y="4617720"/>
            <a:ext cx="3044952" cy="274320"/>
          </a:xfrm>
          <a:prstGeom prst="roundRect">
            <a:avLst>
              <a:gd name="adj" fmla="val 26667"/>
            </a:avLst>
          </a:prstGeom>
          <a:solidFill>
            <a:srgbClr val="6A7FA8"/>
          </a:solidFill>
          <a:ln/>
        </p:spPr>
      </p:sp>
      <p:sp>
        <p:nvSpPr>
          <p:cNvPr id="17" name="Text 14"/>
          <p:cNvSpPr txBox="1"/>
          <p:nvPr/>
        </p:nvSpPr>
        <p:spPr>
          <a:xfrm>
            <a:off x="8595360" y="4617720"/>
            <a:ext cx="3044952"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AUGMENTED — CRM</a:t>
            </a:r>
            <a:endParaRPr lang="en-US" sz="900" dirty="0"/>
          </a:p>
        </p:txBody>
      </p:sp>
      <p:sp>
        <p:nvSpPr>
          <p:cNvPr id="18" name="Text 15"/>
          <p:cNvSpPr txBox="1"/>
          <p:nvPr/>
        </p:nvSpPr>
        <p:spPr>
          <a:xfrm>
            <a:off x="8595360" y="50017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Agents handle millions of routine interactions — people own the relationships that matter and set the rules.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Rethinking CRM</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The classic CRM types — how they worked, what AI does today, what AI-native means</a:t>
            </a:r>
            <a:endParaRPr lang="en-US" sz="1300" dirty="0"/>
          </a:p>
        </p:txBody>
      </p:sp>
      <p:sp>
        <p:nvSpPr>
          <p:cNvPr id="5" name="Shape 2"/>
          <p:cNvSpPr/>
          <p:nvPr/>
        </p:nvSpPr>
        <p:spPr>
          <a:xfrm>
            <a:off x="2560320" y="1783080"/>
            <a:ext cx="2953512" cy="347472"/>
          </a:xfrm>
          <a:prstGeom prst="roundRect">
            <a:avLst>
              <a:gd name="adj" fmla="val 21053"/>
            </a:avLst>
          </a:prstGeom>
          <a:solidFill>
            <a:srgbClr val="C9D3E3"/>
          </a:solidFill>
          <a:ln/>
        </p:spPr>
      </p:sp>
      <p:sp>
        <p:nvSpPr>
          <p:cNvPr id="6" name="Text 3"/>
          <p:cNvSpPr txBox="1"/>
          <p:nvPr/>
        </p:nvSpPr>
        <p:spPr>
          <a:xfrm>
            <a:off x="256032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0F1341"/>
                </a:solidFill>
                <a:latin typeface="Montserrat" pitchFamily="34" charset="0"/>
                <a:ea typeface="Montserrat" pitchFamily="34" charset="-122"/>
                <a:cs typeface="Montserrat" pitchFamily="34" charset="-120"/>
              </a:rPr>
              <a:t>BEFORE</a:t>
            </a:r>
            <a:endParaRPr lang="en-US" sz="1100" dirty="0"/>
          </a:p>
        </p:txBody>
      </p:sp>
      <p:sp>
        <p:nvSpPr>
          <p:cNvPr id="7" name="Shape 4"/>
          <p:cNvSpPr/>
          <p:nvPr/>
        </p:nvSpPr>
        <p:spPr>
          <a:xfrm>
            <a:off x="5623560" y="1783080"/>
            <a:ext cx="2953512" cy="347472"/>
          </a:xfrm>
          <a:prstGeom prst="roundRect">
            <a:avLst>
              <a:gd name="adj" fmla="val 21053"/>
            </a:avLst>
          </a:prstGeom>
          <a:solidFill>
            <a:srgbClr val="4A8FDB"/>
          </a:solidFill>
          <a:ln/>
        </p:spPr>
      </p:sp>
      <p:sp>
        <p:nvSpPr>
          <p:cNvPr id="8" name="Text 5"/>
          <p:cNvSpPr txBox="1"/>
          <p:nvPr/>
        </p:nvSpPr>
        <p:spPr>
          <a:xfrm>
            <a:off x="562356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NOW, WITH AI</a:t>
            </a:r>
            <a:endParaRPr lang="en-US" sz="1100" dirty="0"/>
          </a:p>
        </p:txBody>
      </p:sp>
      <p:sp>
        <p:nvSpPr>
          <p:cNvPr id="9" name="Shape 6"/>
          <p:cNvSpPr/>
          <p:nvPr/>
        </p:nvSpPr>
        <p:spPr>
          <a:xfrm>
            <a:off x="8686800" y="1783080"/>
            <a:ext cx="2953512" cy="347472"/>
          </a:xfrm>
          <a:prstGeom prst="roundRect">
            <a:avLst>
              <a:gd name="adj" fmla="val 21053"/>
            </a:avLst>
          </a:prstGeom>
          <a:solidFill>
            <a:srgbClr val="0F1341"/>
          </a:solidFill>
          <a:ln/>
        </p:spPr>
      </p:sp>
      <p:sp>
        <p:nvSpPr>
          <p:cNvPr id="10" name="Text 7"/>
          <p:cNvSpPr txBox="1"/>
          <p:nvPr/>
        </p:nvSpPr>
        <p:spPr>
          <a:xfrm>
            <a:off x="868680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AI-NATIVE</a:t>
            </a:r>
            <a:endParaRPr lang="en-US" sz="1100" dirty="0"/>
          </a:p>
        </p:txBody>
      </p:sp>
      <p:sp>
        <p:nvSpPr>
          <p:cNvPr id="11" name="Text 8"/>
          <p:cNvSpPr txBox="1"/>
          <p:nvPr/>
        </p:nvSpPr>
        <p:spPr>
          <a:xfrm>
            <a:off x="548640" y="2286000"/>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Operational CRM</a:t>
            </a:r>
            <a:endParaRPr lang="en-US" sz="1400" dirty="0"/>
          </a:p>
        </p:txBody>
      </p:sp>
      <p:sp>
        <p:nvSpPr>
          <p:cNvPr id="12" name="Shape 9"/>
          <p:cNvSpPr/>
          <p:nvPr/>
        </p:nvSpPr>
        <p:spPr>
          <a:xfrm>
            <a:off x="2560320" y="2286000"/>
            <a:ext cx="2953512" cy="786384"/>
          </a:xfrm>
          <a:prstGeom prst="roundRect">
            <a:avLst>
              <a:gd name="adj" fmla="val 9302"/>
            </a:avLst>
          </a:prstGeom>
          <a:solidFill>
            <a:srgbClr val="F3F7FC"/>
          </a:solidFill>
          <a:ln/>
        </p:spPr>
      </p:sp>
      <p:sp>
        <p:nvSpPr>
          <p:cNvPr id="13" name="Text 10"/>
          <p:cNvSpPr txBox="1"/>
          <p:nvPr/>
        </p:nvSpPr>
        <p:spPr>
          <a:xfrm>
            <a:off x="272491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Sales, service and marketing records typed in by hand</a:t>
            </a:r>
            <a:endParaRPr lang="en-US" sz="1250" dirty="0"/>
          </a:p>
        </p:txBody>
      </p:sp>
      <p:sp>
        <p:nvSpPr>
          <p:cNvPr id="14" name="Shape 11"/>
          <p:cNvSpPr/>
          <p:nvPr/>
        </p:nvSpPr>
        <p:spPr>
          <a:xfrm>
            <a:off x="5623560" y="2286000"/>
            <a:ext cx="2953512" cy="786384"/>
          </a:xfrm>
          <a:prstGeom prst="roundRect">
            <a:avLst>
              <a:gd name="adj" fmla="val 9302"/>
            </a:avLst>
          </a:prstGeom>
          <a:solidFill>
            <a:srgbClr val="D9E8F8"/>
          </a:solidFill>
          <a:ln/>
        </p:spPr>
      </p:sp>
      <p:sp>
        <p:nvSpPr>
          <p:cNvPr id="15" name="Text 12"/>
          <p:cNvSpPr txBox="1"/>
          <p:nvPr/>
        </p:nvSpPr>
        <p:spPr>
          <a:xfrm>
            <a:off x="578815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Auto-logging, AI-written emails and call summaries</a:t>
            </a:r>
            <a:endParaRPr lang="en-US" sz="1250" dirty="0"/>
          </a:p>
        </p:txBody>
      </p:sp>
      <p:sp>
        <p:nvSpPr>
          <p:cNvPr id="16" name="Shape 13"/>
          <p:cNvSpPr/>
          <p:nvPr/>
        </p:nvSpPr>
        <p:spPr>
          <a:xfrm>
            <a:off x="8686800" y="2286000"/>
            <a:ext cx="2953512" cy="786384"/>
          </a:xfrm>
          <a:prstGeom prst="roundRect">
            <a:avLst>
              <a:gd name="adj" fmla="val 9302"/>
            </a:avLst>
          </a:prstGeom>
          <a:solidFill>
            <a:srgbClr val="0F1341"/>
          </a:solidFill>
          <a:ln/>
        </p:spPr>
      </p:sp>
      <p:sp>
        <p:nvSpPr>
          <p:cNvPr id="17" name="Text 14"/>
          <p:cNvSpPr txBox="1"/>
          <p:nvPr/>
        </p:nvSpPr>
        <p:spPr>
          <a:xfrm>
            <a:off x="8851392" y="2286000"/>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Agents run service, sales and marketing tasks end-to-end</a:t>
            </a:r>
            <a:endParaRPr lang="en-US" sz="1250" dirty="0"/>
          </a:p>
        </p:txBody>
      </p:sp>
      <p:sp>
        <p:nvSpPr>
          <p:cNvPr id="18" name="Text 15"/>
          <p:cNvSpPr txBox="1"/>
          <p:nvPr/>
        </p:nvSpPr>
        <p:spPr>
          <a:xfrm>
            <a:off x="548640" y="3182112"/>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Analytical CRM</a:t>
            </a:r>
            <a:endParaRPr lang="en-US" sz="1400" dirty="0"/>
          </a:p>
        </p:txBody>
      </p:sp>
      <p:sp>
        <p:nvSpPr>
          <p:cNvPr id="19" name="Shape 16"/>
          <p:cNvSpPr/>
          <p:nvPr/>
        </p:nvSpPr>
        <p:spPr>
          <a:xfrm>
            <a:off x="2560320" y="3182112"/>
            <a:ext cx="2953512" cy="786384"/>
          </a:xfrm>
          <a:prstGeom prst="roundRect">
            <a:avLst>
              <a:gd name="adj" fmla="val 9302"/>
            </a:avLst>
          </a:prstGeom>
          <a:solidFill>
            <a:srgbClr val="F3F7FC"/>
          </a:solidFill>
          <a:ln/>
        </p:spPr>
      </p:sp>
      <p:sp>
        <p:nvSpPr>
          <p:cNvPr id="20" name="Text 17"/>
          <p:cNvSpPr txBox="1"/>
          <p:nvPr/>
        </p:nvSpPr>
        <p:spPr>
          <a:xfrm>
            <a:off x="272491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Monthly reports and RFM segments</a:t>
            </a:r>
            <a:endParaRPr lang="en-US" sz="1250" dirty="0"/>
          </a:p>
        </p:txBody>
      </p:sp>
      <p:sp>
        <p:nvSpPr>
          <p:cNvPr id="21" name="Shape 18"/>
          <p:cNvSpPr/>
          <p:nvPr/>
        </p:nvSpPr>
        <p:spPr>
          <a:xfrm>
            <a:off x="5623560" y="3182112"/>
            <a:ext cx="2953512" cy="786384"/>
          </a:xfrm>
          <a:prstGeom prst="roundRect">
            <a:avLst>
              <a:gd name="adj" fmla="val 9302"/>
            </a:avLst>
          </a:prstGeom>
          <a:solidFill>
            <a:srgbClr val="D9E8F8"/>
          </a:solidFill>
          <a:ln/>
        </p:spPr>
      </p:sp>
      <p:sp>
        <p:nvSpPr>
          <p:cNvPr id="22" name="Text 19"/>
          <p:cNvSpPr txBox="1"/>
          <p:nvPr/>
        </p:nvSpPr>
        <p:spPr>
          <a:xfrm>
            <a:off x="578815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Predictive scores: churn, CLV, propensity</a:t>
            </a:r>
            <a:endParaRPr lang="en-US" sz="1250" dirty="0"/>
          </a:p>
        </p:txBody>
      </p:sp>
      <p:sp>
        <p:nvSpPr>
          <p:cNvPr id="23" name="Shape 20"/>
          <p:cNvSpPr/>
          <p:nvPr/>
        </p:nvSpPr>
        <p:spPr>
          <a:xfrm>
            <a:off x="8686800" y="3182112"/>
            <a:ext cx="2953512" cy="786384"/>
          </a:xfrm>
          <a:prstGeom prst="roundRect">
            <a:avLst>
              <a:gd name="adj" fmla="val 9302"/>
            </a:avLst>
          </a:prstGeom>
          <a:solidFill>
            <a:srgbClr val="0F1341"/>
          </a:solidFill>
          <a:ln/>
        </p:spPr>
      </p:sp>
      <p:sp>
        <p:nvSpPr>
          <p:cNvPr id="24" name="Text 21"/>
          <p:cNvSpPr txBox="1"/>
          <p:nvPr/>
        </p:nvSpPr>
        <p:spPr>
          <a:xfrm>
            <a:off x="8851392" y="3182112"/>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A segment of one — models update with every interaction</a:t>
            </a:r>
            <a:endParaRPr lang="en-US" sz="1250" dirty="0"/>
          </a:p>
        </p:txBody>
      </p:sp>
      <p:sp>
        <p:nvSpPr>
          <p:cNvPr id="25" name="Text 22"/>
          <p:cNvSpPr txBox="1"/>
          <p:nvPr/>
        </p:nvSpPr>
        <p:spPr>
          <a:xfrm>
            <a:off x="548640" y="4078224"/>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Collaborative CRM</a:t>
            </a:r>
            <a:endParaRPr lang="en-US" sz="1400" dirty="0"/>
          </a:p>
        </p:txBody>
      </p:sp>
      <p:sp>
        <p:nvSpPr>
          <p:cNvPr id="26" name="Shape 23"/>
          <p:cNvSpPr/>
          <p:nvPr/>
        </p:nvSpPr>
        <p:spPr>
          <a:xfrm>
            <a:off x="2560320" y="4078224"/>
            <a:ext cx="2953512" cy="786384"/>
          </a:xfrm>
          <a:prstGeom prst="roundRect">
            <a:avLst>
              <a:gd name="adj" fmla="val 9302"/>
            </a:avLst>
          </a:prstGeom>
          <a:solidFill>
            <a:srgbClr val="F3F7FC"/>
          </a:solidFill>
          <a:ln/>
        </p:spPr>
      </p:sp>
      <p:sp>
        <p:nvSpPr>
          <p:cNvPr id="27" name="Text 24"/>
          <p:cNvSpPr txBox="1"/>
          <p:nvPr/>
        </p:nvSpPr>
        <p:spPr>
          <a:xfrm>
            <a:off x="272491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Silos between departments and partners</a:t>
            </a:r>
            <a:endParaRPr lang="en-US" sz="1250" dirty="0"/>
          </a:p>
        </p:txBody>
      </p:sp>
      <p:sp>
        <p:nvSpPr>
          <p:cNvPr id="28" name="Shape 25"/>
          <p:cNvSpPr/>
          <p:nvPr/>
        </p:nvSpPr>
        <p:spPr>
          <a:xfrm>
            <a:off x="5623560" y="4078224"/>
            <a:ext cx="2953512" cy="786384"/>
          </a:xfrm>
          <a:prstGeom prst="roundRect">
            <a:avLst>
              <a:gd name="adj" fmla="val 9302"/>
            </a:avLst>
          </a:prstGeom>
          <a:solidFill>
            <a:srgbClr val="D9E8F8"/>
          </a:solidFill>
          <a:ln/>
        </p:spPr>
      </p:sp>
      <p:sp>
        <p:nvSpPr>
          <p:cNvPr id="29" name="Text 26"/>
          <p:cNvSpPr txBox="1"/>
          <p:nvPr/>
        </p:nvSpPr>
        <p:spPr>
          <a:xfrm>
            <a:off x="578815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Shared dashboards across teams</a:t>
            </a:r>
            <a:endParaRPr lang="en-US" sz="1250" dirty="0"/>
          </a:p>
        </p:txBody>
      </p:sp>
      <p:sp>
        <p:nvSpPr>
          <p:cNvPr id="30" name="Shape 27"/>
          <p:cNvSpPr/>
          <p:nvPr/>
        </p:nvSpPr>
        <p:spPr>
          <a:xfrm>
            <a:off x="8686800" y="4078224"/>
            <a:ext cx="2953512" cy="786384"/>
          </a:xfrm>
          <a:prstGeom prst="roundRect">
            <a:avLst>
              <a:gd name="adj" fmla="val 9302"/>
            </a:avLst>
          </a:prstGeom>
          <a:solidFill>
            <a:srgbClr val="0F1341"/>
          </a:solidFill>
          <a:ln/>
        </p:spPr>
      </p:sp>
      <p:sp>
        <p:nvSpPr>
          <p:cNvPr id="31" name="Text 28"/>
          <p:cNvSpPr txBox="1"/>
          <p:nvPr/>
        </p:nvSpPr>
        <p:spPr>
          <a:xfrm>
            <a:off x="8851392" y="4078224"/>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customer context shared by people, agents and partners</a:t>
            </a:r>
            <a:endParaRPr lang="en-US" sz="1250" dirty="0"/>
          </a:p>
        </p:txBody>
      </p:sp>
      <p:sp>
        <p:nvSpPr>
          <p:cNvPr id="32" name="Text 29"/>
          <p:cNvSpPr txBox="1"/>
          <p:nvPr/>
        </p:nvSpPr>
        <p:spPr>
          <a:xfrm>
            <a:off x="548640" y="4974336"/>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Strategic CRM</a:t>
            </a:r>
            <a:endParaRPr lang="en-US" sz="1400" dirty="0"/>
          </a:p>
        </p:txBody>
      </p:sp>
      <p:sp>
        <p:nvSpPr>
          <p:cNvPr id="33" name="Shape 30"/>
          <p:cNvSpPr/>
          <p:nvPr/>
        </p:nvSpPr>
        <p:spPr>
          <a:xfrm>
            <a:off x="2560320" y="4974336"/>
            <a:ext cx="2953512" cy="786384"/>
          </a:xfrm>
          <a:prstGeom prst="roundRect">
            <a:avLst>
              <a:gd name="adj" fmla="val 9302"/>
            </a:avLst>
          </a:prstGeom>
          <a:solidFill>
            <a:srgbClr val="F3F7FC"/>
          </a:solidFill>
          <a:ln/>
        </p:spPr>
      </p:sp>
      <p:sp>
        <p:nvSpPr>
          <p:cNvPr id="34" name="Text 31"/>
          <p:cNvSpPr txBox="1"/>
          <p:nvPr/>
        </p:nvSpPr>
        <p:spPr>
          <a:xfrm>
            <a:off x="272491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CRM as an IT project</a:t>
            </a:r>
            <a:endParaRPr lang="en-US" sz="1250" dirty="0"/>
          </a:p>
        </p:txBody>
      </p:sp>
      <p:sp>
        <p:nvSpPr>
          <p:cNvPr id="35" name="Shape 32"/>
          <p:cNvSpPr/>
          <p:nvPr/>
        </p:nvSpPr>
        <p:spPr>
          <a:xfrm>
            <a:off x="5623560" y="4974336"/>
            <a:ext cx="2953512" cy="786384"/>
          </a:xfrm>
          <a:prstGeom prst="roundRect">
            <a:avLst>
              <a:gd name="adj" fmla="val 9302"/>
            </a:avLst>
          </a:prstGeom>
          <a:solidFill>
            <a:srgbClr val="D9E8F8"/>
          </a:solidFill>
          <a:ln/>
        </p:spPr>
      </p:sp>
      <p:sp>
        <p:nvSpPr>
          <p:cNvPr id="36" name="Text 33"/>
          <p:cNvSpPr txBox="1"/>
          <p:nvPr/>
        </p:nvSpPr>
        <p:spPr>
          <a:xfrm>
            <a:off x="578815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AI pilots on top of the CRM</a:t>
            </a:r>
            <a:endParaRPr lang="en-US" sz="1250" dirty="0"/>
          </a:p>
        </p:txBody>
      </p:sp>
      <p:sp>
        <p:nvSpPr>
          <p:cNvPr id="37" name="Shape 34"/>
          <p:cNvSpPr/>
          <p:nvPr/>
        </p:nvSpPr>
        <p:spPr>
          <a:xfrm>
            <a:off x="8686800" y="4974336"/>
            <a:ext cx="2953512" cy="786384"/>
          </a:xfrm>
          <a:prstGeom prst="roundRect">
            <a:avLst>
              <a:gd name="adj" fmla="val 9302"/>
            </a:avLst>
          </a:prstGeom>
          <a:solidFill>
            <a:srgbClr val="0F1341"/>
          </a:solidFill>
          <a:ln/>
        </p:spPr>
      </p:sp>
      <p:sp>
        <p:nvSpPr>
          <p:cNvPr id="38" name="Text 35"/>
          <p:cNvSpPr txBox="1"/>
          <p:nvPr/>
        </p:nvSpPr>
        <p:spPr>
          <a:xfrm>
            <a:off x="8851392" y="4974336"/>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The CRM as the company's learning system</a:t>
            </a:r>
            <a:endParaRPr lang="en-US" sz="1250" dirty="0"/>
          </a:p>
        </p:txBody>
      </p:sp>
      <p:sp>
        <p:nvSpPr>
          <p:cNvPr id="39" name="Text 36"/>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rgbClr val="5B6270"/>
                </a:solidFill>
                <a:latin typeface="Montserrat" pitchFamily="34" charset="0"/>
                <a:ea typeface="Montserrat" pitchFamily="34" charset="-122"/>
                <a:cs typeface="Montserrat" pitchFamily="34" charset="-120"/>
              </a:rPr>
              <a:t>The taxonomy from your course still holds. What changes is who does the work — and how fast the system learns.</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Back to the textbook: the theory holds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Four concepts from your CRM course — and what AI changes about them</a:t>
            </a:r>
            <a:endParaRPr lang="en-US" sz="1300" dirty="0"/>
          </a:p>
        </p:txBody>
      </p:sp>
      <p:sp>
        <p:nvSpPr>
          <p:cNvPr id="5" name="Text 2"/>
          <p:cNvSpPr txBox="1"/>
          <p:nvPr/>
        </p:nvSpPr>
        <p:spPr>
          <a:xfrm>
            <a:off x="548640" y="1755648"/>
            <a:ext cx="32004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CONCEPT</a:t>
            </a:r>
            <a:endParaRPr lang="en-US" sz="900" dirty="0"/>
          </a:p>
        </p:txBody>
      </p:sp>
      <p:sp>
        <p:nvSpPr>
          <p:cNvPr id="6" name="Text 3"/>
          <p:cNvSpPr txBox="1"/>
          <p:nvPr/>
        </p:nvSpPr>
        <p:spPr>
          <a:xfrm>
            <a:off x="397764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WHAT IT SAYS</a:t>
            </a:r>
            <a:endParaRPr lang="en-US" sz="900" dirty="0"/>
          </a:p>
        </p:txBody>
      </p:sp>
      <p:sp>
        <p:nvSpPr>
          <p:cNvPr id="7" name="Text 4"/>
          <p:cNvSpPr txBox="1"/>
          <p:nvPr/>
        </p:nvSpPr>
        <p:spPr>
          <a:xfrm>
            <a:off x="7818120" y="1755648"/>
            <a:ext cx="365760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WHAT AI CHANGES</a:t>
            </a:r>
            <a:endParaRPr lang="en-US" sz="900" dirty="0"/>
          </a:p>
        </p:txBody>
      </p:sp>
      <p:sp>
        <p:nvSpPr>
          <p:cNvPr id="8" name="Shape 5"/>
          <p:cNvSpPr/>
          <p:nvPr/>
        </p:nvSpPr>
        <p:spPr>
          <a:xfrm>
            <a:off x="548640" y="2029968"/>
            <a:ext cx="11091672" cy="804672"/>
          </a:xfrm>
          <a:prstGeom prst="roundRect">
            <a:avLst>
              <a:gd name="adj" fmla="val 9091"/>
            </a:avLst>
          </a:prstGeom>
          <a:solidFill>
            <a:srgbClr val="F3F7FC"/>
          </a:solidFill>
          <a:ln/>
        </p:spPr>
      </p:sp>
      <p:sp>
        <p:nvSpPr>
          <p:cNvPr id="9" name="Text 6"/>
          <p:cNvSpPr txBox="1"/>
          <p:nvPr/>
        </p:nvSpPr>
        <p:spPr>
          <a:xfrm>
            <a:off x="731520" y="2148840"/>
            <a:ext cx="3108960"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Customer lifetime value</a:t>
            </a:r>
            <a:endParaRPr lang="en-US" sz="1400" dirty="0"/>
          </a:p>
        </p:txBody>
      </p:sp>
      <p:sp>
        <p:nvSpPr>
          <p:cNvPr id="10" name="Text 7"/>
          <p:cNvSpPr txBox="1"/>
          <p:nvPr/>
        </p:nvSpPr>
        <p:spPr>
          <a:xfrm>
            <a:off x="731520" y="2487168"/>
            <a:ext cx="3108960" cy="256032"/>
          </a:xfrm>
          <a:prstGeom prst="rect">
            <a:avLst/>
          </a:prstGeom>
          <a:noFill/>
          <a:ln/>
        </p:spPr>
        <p:txBody>
          <a:bodyPr wrap="square" lIns="0" tIns="0" rIns="0" bIns="0" rtlCol="0" anchor="t"/>
          <a:lstStyle/>
          <a:p>
            <a:pPr indent="0" marL="0">
              <a:buNone/>
            </a:pPr>
            <a:r>
              <a:rPr lang="en-US" sz="1100" i="1" dirty="0">
                <a:solidFill>
                  <a:srgbClr val="2E6FBF"/>
                </a:solidFill>
                <a:latin typeface="Montserrat" pitchFamily="34" charset="0"/>
                <a:ea typeface="Montserrat" pitchFamily="34" charset="-122"/>
                <a:cs typeface="Montserrat" pitchFamily="34" charset="-120"/>
              </a:rPr>
              <a:t>Kumar &amp; Reinartz</a:t>
            </a:r>
            <a:endParaRPr lang="en-US" sz="1100" dirty="0"/>
          </a:p>
        </p:txBody>
      </p:sp>
      <p:sp>
        <p:nvSpPr>
          <p:cNvPr id="11" name="Text 8"/>
          <p:cNvSpPr txBox="1"/>
          <p:nvPr/>
        </p:nvSpPr>
        <p:spPr>
          <a:xfrm>
            <a:off x="3977640" y="2029968"/>
            <a:ext cx="3611880" cy="804672"/>
          </a:xfrm>
          <a:prstGeom prst="rect">
            <a:avLst/>
          </a:prstGeom>
          <a:noFill/>
          <a:ln/>
        </p:spPr>
        <p:txBody>
          <a:bodyPr wrap="square" lIns="0" tIns="0" rIns="0" bIns="0" rtlCol="0" anchor="ctr"/>
          <a:lstStyle/>
          <a:p>
            <a:pPr indent="0" marL="0">
              <a:buNone/>
            </a:pPr>
            <a:r>
              <a:rPr lang="en-US" sz="1200" dirty="0">
                <a:solidFill>
                  <a:srgbClr val="5B6270"/>
                </a:solidFill>
                <a:latin typeface="Montserrat" pitchFamily="34" charset="0"/>
                <a:ea typeface="Montserrat" pitchFamily="34" charset="-122"/>
                <a:cs typeface="Montserrat" pitchFamily="34" charset="-120"/>
              </a:rPr>
              <a:t>Invest in customers according to their future value, not past revenue</a:t>
            </a:r>
            <a:endParaRPr lang="en-US" sz="1200" dirty="0"/>
          </a:p>
        </p:txBody>
      </p:sp>
      <p:sp>
        <p:nvSpPr>
          <p:cNvPr id="12" name="Text 9"/>
          <p:cNvSpPr txBox="1"/>
          <p:nvPr/>
        </p:nvSpPr>
        <p:spPr>
          <a:xfrm>
            <a:off x="7818120" y="2029968"/>
            <a:ext cx="3657600" cy="804672"/>
          </a:xfrm>
          <a:prstGeom prst="rect">
            <a:avLst/>
          </a:prstGeom>
          <a:noFill/>
          <a:ln/>
        </p:spPr>
        <p:txBody>
          <a:bodyPr wrap="square" lIns="0" tIns="0" rIns="0" bIns="0" rtlCol="0" anchor="ctr"/>
          <a:lstStyle/>
          <a:p>
            <a:pPr indent="0" marL="0">
              <a:buNone/>
            </a:pPr>
            <a:r>
              <a:rPr lang="en-US" sz="1250" b="1" dirty="0">
                <a:solidFill>
                  <a:srgbClr val="0F1341"/>
                </a:solidFill>
                <a:latin typeface="Montserrat" pitchFamily="34" charset="0"/>
                <a:ea typeface="Montserrat" pitchFamily="34" charset="-122"/>
                <a:cs typeface="Montserrat" pitchFamily="34" charset="-120"/>
              </a:rPr>
              <a:t>CLV predicted per customer, updated daily — and acted on by agents</a:t>
            </a:r>
            <a:endParaRPr lang="en-US" sz="1250" dirty="0"/>
          </a:p>
        </p:txBody>
      </p:sp>
      <p:sp>
        <p:nvSpPr>
          <p:cNvPr id="13" name="Shape 10"/>
          <p:cNvSpPr/>
          <p:nvPr/>
        </p:nvSpPr>
        <p:spPr>
          <a:xfrm>
            <a:off x="548640" y="2926080"/>
            <a:ext cx="11091672" cy="804672"/>
          </a:xfrm>
          <a:prstGeom prst="roundRect">
            <a:avLst>
              <a:gd name="adj" fmla="val 9091"/>
            </a:avLst>
          </a:prstGeom>
          <a:solidFill>
            <a:srgbClr val="F3F7FC"/>
          </a:solidFill>
          <a:ln/>
        </p:spPr>
      </p:sp>
      <p:sp>
        <p:nvSpPr>
          <p:cNvPr id="14" name="Text 11"/>
          <p:cNvSpPr txBox="1"/>
          <p:nvPr/>
        </p:nvSpPr>
        <p:spPr>
          <a:xfrm>
            <a:off x="731520" y="3044952"/>
            <a:ext cx="3108960"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Strategic CRM framework</a:t>
            </a:r>
            <a:endParaRPr lang="en-US" sz="1400" dirty="0"/>
          </a:p>
        </p:txBody>
      </p:sp>
      <p:sp>
        <p:nvSpPr>
          <p:cNvPr id="15" name="Text 12"/>
          <p:cNvSpPr txBox="1"/>
          <p:nvPr/>
        </p:nvSpPr>
        <p:spPr>
          <a:xfrm>
            <a:off x="731520" y="3383280"/>
            <a:ext cx="3108960" cy="256032"/>
          </a:xfrm>
          <a:prstGeom prst="rect">
            <a:avLst/>
          </a:prstGeom>
          <a:noFill/>
          <a:ln/>
        </p:spPr>
        <p:txBody>
          <a:bodyPr wrap="square" lIns="0" tIns="0" rIns="0" bIns="0" rtlCol="0" anchor="t"/>
          <a:lstStyle/>
          <a:p>
            <a:pPr indent="0" marL="0">
              <a:buNone/>
            </a:pPr>
            <a:r>
              <a:rPr lang="en-US" sz="1100" i="1" dirty="0">
                <a:solidFill>
                  <a:srgbClr val="2E6FBF"/>
                </a:solidFill>
                <a:latin typeface="Montserrat" pitchFamily="34" charset="0"/>
                <a:ea typeface="Montserrat" pitchFamily="34" charset="-122"/>
                <a:cs typeface="Montserrat" pitchFamily="34" charset="-120"/>
              </a:rPr>
              <a:t>Payne &amp; Frow, 2005</a:t>
            </a:r>
            <a:endParaRPr lang="en-US" sz="1100" dirty="0"/>
          </a:p>
        </p:txBody>
      </p:sp>
      <p:sp>
        <p:nvSpPr>
          <p:cNvPr id="16" name="Text 13"/>
          <p:cNvSpPr txBox="1"/>
          <p:nvPr/>
        </p:nvSpPr>
        <p:spPr>
          <a:xfrm>
            <a:off x="3977640" y="2926080"/>
            <a:ext cx="3611880" cy="804672"/>
          </a:xfrm>
          <a:prstGeom prst="rect">
            <a:avLst/>
          </a:prstGeom>
          <a:noFill/>
          <a:ln/>
        </p:spPr>
        <p:txBody>
          <a:bodyPr wrap="square" lIns="0" tIns="0" rIns="0" bIns="0" rtlCol="0" anchor="ctr"/>
          <a:lstStyle/>
          <a:p>
            <a:pPr indent="0" marL="0">
              <a:buNone/>
            </a:pPr>
            <a:r>
              <a:rPr lang="en-US" sz="1200" dirty="0">
                <a:solidFill>
                  <a:srgbClr val="5B6270"/>
                </a:solidFill>
                <a:latin typeface="Montserrat" pitchFamily="34" charset="0"/>
                <a:ea typeface="Montserrat" pitchFamily="34" charset="-122"/>
                <a:cs typeface="Montserrat" pitchFamily="34" charset="-120"/>
              </a:rPr>
              <a:t>Strategy, value creation, multichannel integration, information management, performance</a:t>
            </a:r>
            <a:endParaRPr lang="en-US" sz="1200" dirty="0"/>
          </a:p>
        </p:txBody>
      </p:sp>
      <p:sp>
        <p:nvSpPr>
          <p:cNvPr id="17" name="Text 14"/>
          <p:cNvSpPr txBox="1"/>
          <p:nvPr/>
        </p:nvSpPr>
        <p:spPr>
          <a:xfrm>
            <a:off x="7818120" y="2926080"/>
            <a:ext cx="3657600" cy="804672"/>
          </a:xfrm>
          <a:prstGeom prst="rect">
            <a:avLst/>
          </a:prstGeom>
          <a:noFill/>
          <a:ln/>
        </p:spPr>
        <p:txBody>
          <a:bodyPr wrap="square" lIns="0" tIns="0" rIns="0" bIns="0" rtlCol="0" anchor="ctr"/>
          <a:lstStyle/>
          <a:p>
            <a:pPr indent="0" marL="0">
              <a:buNone/>
            </a:pPr>
            <a:r>
              <a:rPr lang="en-US" sz="1250" b="1" dirty="0">
                <a:solidFill>
                  <a:srgbClr val="0F1341"/>
                </a:solidFill>
                <a:latin typeface="Montserrat" pitchFamily="34" charset="0"/>
                <a:ea typeface="Montserrat" pitchFamily="34" charset="-122"/>
                <a:cs typeface="Montserrat" pitchFamily="34" charset="-120"/>
              </a:rPr>
              <a:t>Information management and channel integration become largely automated</a:t>
            </a:r>
            <a:endParaRPr lang="en-US" sz="1250" dirty="0"/>
          </a:p>
        </p:txBody>
      </p:sp>
      <p:sp>
        <p:nvSpPr>
          <p:cNvPr id="18" name="Shape 15"/>
          <p:cNvSpPr/>
          <p:nvPr/>
        </p:nvSpPr>
        <p:spPr>
          <a:xfrm>
            <a:off x="548640" y="3822192"/>
            <a:ext cx="11091672" cy="804672"/>
          </a:xfrm>
          <a:prstGeom prst="roundRect">
            <a:avLst>
              <a:gd name="adj" fmla="val 9091"/>
            </a:avLst>
          </a:prstGeom>
          <a:solidFill>
            <a:srgbClr val="F3F7FC"/>
          </a:solidFill>
          <a:ln/>
        </p:spPr>
      </p:sp>
      <p:sp>
        <p:nvSpPr>
          <p:cNvPr id="19" name="Text 16"/>
          <p:cNvSpPr txBox="1"/>
          <p:nvPr/>
        </p:nvSpPr>
        <p:spPr>
          <a:xfrm>
            <a:off x="731520" y="3941064"/>
            <a:ext cx="3108960"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Customer journey</a:t>
            </a:r>
            <a:endParaRPr lang="en-US" sz="1400" dirty="0"/>
          </a:p>
        </p:txBody>
      </p:sp>
      <p:sp>
        <p:nvSpPr>
          <p:cNvPr id="20" name="Text 17"/>
          <p:cNvSpPr txBox="1"/>
          <p:nvPr/>
        </p:nvSpPr>
        <p:spPr>
          <a:xfrm>
            <a:off x="731520" y="4279392"/>
            <a:ext cx="3108960" cy="256032"/>
          </a:xfrm>
          <a:prstGeom prst="rect">
            <a:avLst/>
          </a:prstGeom>
          <a:noFill/>
          <a:ln/>
        </p:spPr>
        <p:txBody>
          <a:bodyPr wrap="square" lIns="0" tIns="0" rIns="0" bIns="0" rtlCol="0" anchor="t"/>
          <a:lstStyle/>
          <a:p>
            <a:pPr indent="0" marL="0">
              <a:buNone/>
            </a:pPr>
            <a:r>
              <a:rPr lang="en-US" sz="1100" i="1" dirty="0">
                <a:solidFill>
                  <a:srgbClr val="2E6FBF"/>
                </a:solidFill>
                <a:latin typeface="Montserrat" pitchFamily="34" charset="0"/>
                <a:ea typeface="Montserrat" pitchFamily="34" charset="-122"/>
                <a:cs typeface="Montserrat" pitchFamily="34" charset="-120"/>
              </a:rPr>
              <a:t>Lemon &amp; Verhoef, 2016</a:t>
            </a:r>
            <a:endParaRPr lang="en-US" sz="1100" dirty="0"/>
          </a:p>
        </p:txBody>
      </p:sp>
      <p:sp>
        <p:nvSpPr>
          <p:cNvPr id="21" name="Text 18"/>
          <p:cNvSpPr txBox="1"/>
          <p:nvPr/>
        </p:nvSpPr>
        <p:spPr>
          <a:xfrm>
            <a:off x="3977640" y="3822192"/>
            <a:ext cx="3611880" cy="804672"/>
          </a:xfrm>
          <a:prstGeom prst="rect">
            <a:avLst/>
          </a:prstGeom>
          <a:noFill/>
          <a:ln/>
        </p:spPr>
        <p:txBody>
          <a:bodyPr wrap="square" lIns="0" tIns="0" rIns="0" bIns="0" rtlCol="0" anchor="ctr"/>
          <a:lstStyle/>
          <a:p>
            <a:pPr indent="0" marL="0">
              <a:buNone/>
            </a:pPr>
            <a:r>
              <a:rPr lang="en-US" sz="1200" dirty="0">
                <a:solidFill>
                  <a:srgbClr val="5B6270"/>
                </a:solidFill>
                <a:latin typeface="Montserrat" pitchFamily="34" charset="0"/>
                <a:ea typeface="Montserrat" pitchFamily="34" charset="-122"/>
                <a:cs typeface="Montserrat" pitchFamily="34" charset="-120"/>
              </a:rPr>
              <a:t>Experience is created across touchpoints — many outside the firm's control</a:t>
            </a:r>
            <a:endParaRPr lang="en-US" sz="1200" dirty="0"/>
          </a:p>
        </p:txBody>
      </p:sp>
      <p:sp>
        <p:nvSpPr>
          <p:cNvPr id="22" name="Text 19"/>
          <p:cNvSpPr txBox="1"/>
          <p:nvPr/>
        </p:nvSpPr>
        <p:spPr>
          <a:xfrm>
            <a:off x="7818120" y="3822192"/>
            <a:ext cx="3657600" cy="804672"/>
          </a:xfrm>
          <a:prstGeom prst="rect">
            <a:avLst/>
          </a:prstGeom>
          <a:noFill/>
          <a:ln/>
        </p:spPr>
        <p:txBody>
          <a:bodyPr wrap="square" lIns="0" tIns="0" rIns="0" bIns="0" rtlCol="0" anchor="ctr"/>
          <a:lstStyle/>
          <a:p>
            <a:pPr indent="0" marL="0">
              <a:buNone/>
            </a:pPr>
            <a:r>
              <a:rPr lang="en-US" sz="1250" b="1" dirty="0">
                <a:solidFill>
                  <a:srgbClr val="0F1341"/>
                </a:solidFill>
                <a:latin typeface="Montserrat" pitchFamily="34" charset="0"/>
                <a:ea typeface="Montserrat" pitchFamily="34" charset="-122"/>
                <a:cs typeface="Montserrat" pitchFamily="34" charset="-120"/>
              </a:rPr>
              <a:t>Journeys orchestrated in real time — including the customer's own AI assistant</a:t>
            </a:r>
            <a:endParaRPr lang="en-US" sz="1250" dirty="0"/>
          </a:p>
        </p:txBody>
      </p:sp>
      <p:sp>
        <p:nvSpPr>
          <p:cNvPr id="23" name="Shape 20"/>
          <p:cNvSpPr/>
          <p:nvPr/>
        </p:nvSpPr>
        <p:spPr>
          <a:xfrm>
            <a:off x="548640" y="4718304"/>
            <a:ext cx="11091672" cy="804672"/>
          </a:xfrm>
          <a:prstGeom prst="roundRect">
            <a:avLst>
              <a:gd name="adj" fmla="val 9091"/>
            </a:avLst>
          </a:prstGeom>
          <a:solidFill>
            <a:srgbClr val="0F1341"/>
          </a:solidFill>
          <a:ln/>
        </p:spPr>
      </p:sp>
      <p:sp>
        <p:nvSpPr>
          <p:cNvPr id="24" name="Text 21"/>
          <p:cNvSpPr txBox="1"/>
          <p:nvPr/>
        </p:nvSpPr>
        <p:spPr>
          <a:xfrm>
            <a:off x="731520" y="4837176"/>
            <a:ext cx="3108960" cy="329184"/>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Commitment–trust theory</a:t>
            </a:r>
            <a:endParaRPr lang="en-US" sz="1400" dirty="0"/>
          </a:p>
        </p:txBody>
      </p:sp>
      <p:sp>
        <p:nvSpPr>
          <p:cNvPr id="25" name="Text 22"/>
          <p:cNvSpPr txBox="1"/>
          <p:nvPr/>
        </p:nvSpPr>
        <p:spPr>
          <a:xfrm>
            <a:off x="731520" y="5175504"/>
            <a:ext cx="3108960" cy="256032"/>
          </a:xfrm>
          <a:prstGeom prst="rect">
            <a:avLst/>
          </a:prstGeom>
          <a:noFill/>
          <a:ln/>
        </p:spPr>
        <p:txBody>
          <a:bodyPr wrap="square" lIns="0" tIns="0" rIns="0" bIns="0" rtlCol="0" anchor="t"/>
          <a:lstStyle/>
          <a:p>
            <a:pPr indent="0" marL="0">
              <a:buNone/>
            </a:pPr>
            <a:r>
              <a:rPr lang="en-US" sz="1100" i="1" dirty="0">
                <a:solidFill>
                  <a:srgbClr val="4A8FDB"/>
                </a:solidFill>
                <a:latin typeface="Montserrat" pitchFamily="34" charset="0"/>
                <a:ea typeface="Montserrat" pitchFamily="34" charset="-122"/>
                <a:cs typeface="Montserrat" pitchFamily="34" charset="-120"/>
              </a:rPr>
              <a:t>Morgan &amp; Hunt, 1994</a:t>
            </a:r>
            <a:endParaRPr lang="en-US" sz="1100" dirty="0"/>
          </a:p>
        </p:txBody>
      </p:sp>
      <p:sp>
        <p:nvSpPr>
          <p:cNvPr id="26" name="Text 23"/>
          <p:cNvSpPr txBox="1"/>
          <p:nvPr/>
        </p:nvSpPr>
        <p:spPr>
          <a:xfrm>
            <a:off x="3977640" y="4718304"/>
            <a:ext cx="3611880" cy="804672"/>
          </a:xfrm>
          <a:prstGeom prst="rect">
            <a:avLst/>
          </a:prstGeom>
          <a:noFill/>
          <a:ln/>
        </p:spPr>
        <p:txBody>
          <a:bodyPr wrap="square" lIns="0" tIns="0" rIns="0" bIns="0" rtlCol="0" anchor="ctr"/>
          <a:lstStyle/>
          <a:p>
            <a:pPr indent="0" marL="0">
              <a:buNone/>
            </a:pPr>
            <a:r>
              <a:rPr lang="en-US" sz="1200" dirty="0">
                <a:solidFill>
                  <a:srgbClr val="C9D3E3"/>
                </a:solidFill>
                <a:latin typeface="Montserrat" pitchFamily="34" charset="0"/>
                <a:ea typeface="Montserrat" pitchFamily="34" charset="-122"/>
                <a:cs typeface="Montserrat" pitchFamily="34" charset="-120"/>
              </a:rPr>
              <a:t>Relationships rest on commitment and trust</a:t>
            </a:r>
            <a:endParaRPr lang="en-US" sz="1200" dirty="0"/>
          </a:p>
        </p:txBody>
      </p:sp>
      <p:sp>
        <p:nvSpPr>
          <p:cNvPr id="27" name="Text 24"/>
          <p:cNvSpPr txBox="1"/>
          <p:nvPr/>
        </p:nvSpPr>
        <p:spPr>
          <a:xfrm>
            <a:off x="7818120" y="4718304"/>
            <a:ext cx="3657600" cy="804672"/>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When AI speaks for the brand, trust becomes the scarce asset</a:t>
            </a:r>
            <a:endParaRPr lang="en-US" sz="1250" dirty="0"/>
          </a:p>
        </p:txBody>
      </p:sp>
      <p:sp>
        <p:nvSpPr>
          <p:cNvPr id="28" name="Text 25"/>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rgbClr val="2E6FBF"/>
                </a:solidFill>
                <a:latin typeface="Montserrat" pitchFamily="34" charset="0"/>
                <a:ea typeface="Montserrat" pitchFamily="34" charset="-122"/>
                <a:cs typeface="Montserrat" pitchFamily="34" charset="-120"/>
              </a:rPr>
              <a:t>Takeaway: AI does not replace CRM theory — it finally makes it executable at scale.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The CRM of 2030: a system that acts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What a future CRM system looks like — from storing data to taking action</a:t>
            </a:r>
            <a:endParaRPr lang="en-US" sz="1300" dirty="0"/>
          </a:p>
        </p:txBody>
      </p:sp>
      <p:sp>
        <p:nvSpPr>
          <p:cNvPr id="5" name="Shape 2"/>
          <p:cNvSpPr/>
          <p:nvPr/>
        </p:nvSpPr>
        <p:spPr>
          <a:xfrm>
            <a:off x="548640" y="1783080"/>
            <a:ext cx="6720840" cy="841248"/>
          </a:xfrm>
          <a:prstGeom prst="roundRect">
            <a:avLst>
              <a:gd name="adj" fmla="val 8696"/>
            </a:avLst>
          </a:prstGeom>
          <a:solidFill>
            <a:srgbClr val="D9E8F8"/>
          </a:solidFill>
          <a:ln/>
        </p:spPr>
      </p:sp>
      <p:pic>
        <p:nvPicPr>
          <p:cNvPr id="6" name="Image 0" descr="preencoded.png">    </p:cNvPr>
          <p:cNvPicPr>
            <a:picLocks noChangeAspect="1"/>
          </p:cNvPicPr>
          <p:nvPr/>
        </p:nvPicPr>
        <p:blipFill>
          <a:blip r:embed="rId1"/>
          <a:stretch>
            <a:fillRect/>
          </a:stretch>
        </p:blipFill>
        <p:spPr>
          <a:xfrm>
            <a:off x="777240" y="2029968"/>
            <a:ext cx="365760" cy="365760"/>
          </a:xfrm>
          <a:prstGeom prst="rect">
            <a:avLst/>
          </a:prstGeom>
        </p:spPr>
      </p:pic>
      <p:sp>
        <p:nvSpPr>
          <p:cNvPr id="7" name="Text 3"/>
          <p:cNvSpPr txBox="1"/>
          <p:nvPr/>
        </p:nvSpPr>
        <p:spPr>
          <a:xfrm>
            <a:off x="1325880" y="1874520"/>
            <a:ext cx="2011680" cy="274320"/>
          </a:xfrm>
          <a:prstGeom prst="rect">
            <a:avLst/>
          </a:prstGeom>
          <a:noFill/>
          <a:ln/>
        </p:spPr>
        <p:txBody>
          <a:bodyPr wrap="square" lIns="0" tIns="0" rIns="0" bIns="0" rtlCol="0" anchor="t"/>
          <a:lstStyle/>
          <a:p>
            <a:pPr indent="0" marL="0">
              <a:buNone/>
            </a:pPr>
            <a:r>
              <a:rPr lang="en-US" sz="1100" b="1" spc="100" kern="0" dirty="0">
                <a:solidFill>
                  <a:srgbClr val="0F1341"/>
                </a:solidFill>
                <a:latin typeface="Montserrat" pitchFamily="34" charset="0"/>
                <a:ea typeface="Montserrat" pitchFamily="34" charset="-122"/>
                <a:cs typeface="Montserrat" pitchFamily="34" charset="-120"/>
              </a:rPr>
              <a:t>INTERACTION</a:t>
            </a:r>
            <a:endParaRPr lang="en-US" sz="1100" dirty="0"/>
          </a:p>
        </p:txBody>
      </p:sp>
      <p:sp>
        <p:nvSpPr>
          <p:cNvPr id="8" name="Text 4"/>
          <p:cNvSpPr txBox="1"/>
          <p:nvPr/>
        </p:nvSpPr>
        <p:spPr>
          <a:xfrm>
            <a:off x="1325880" y="2130552"/>
            <a:ext cx="5760720" cy="457200"/>
          </a:xfrm>
          <a:prstGeom prst="rect">
            <a:avLst/>
          </a:prstGeom>
          <a:noFill/>
          <a:ln/>
        </p:spPr>
        <p:txBody>
          <a:bodyPr wrap="square" lIns="0" tIns="0" rIns="0" bIns="0" rtlCol="0" anchor="t"/>
          <a:lstStyle/>
          <a:p>
            <a:pPr indent="0" marL="0">
              <a:buNone/>
            </a:pPr>
            <a:r>
              <a:rPr lang="en-US" sz="1200" dirty="0">
                <a:solidFill>
                  <a:srgbClr val="0F1341"/>
                </a:solidFill>
                <a:latin typeface="Montserrat" pitchFamily="34" charset="0"/>
                <a:ea typeface="Montserrat" pitchFamily="34" charset="-122"/>
                <a:cs typeface="Montserrat" pitchFamily="34" charset="-120"/>
              </a:rPr>
              <a:t>Every channel: web, app, email, chat, voice — and the customer's own AI assistant</a:t>
            </a:r>
            <a:endParaRPr lang="en-US" sz="1200" dirty="0"/>
          </a:p>
        </p:txBody>
      </p:sp>
      <p:sp>
        <p:nvSpPr>
          <p:cNvPr id="9" name="Shape 5"/>
          <p:cNvSpPr/>
          <p:nvPr/>
        </p:nvSpPr>
        <p:spPr>
          <a:xfrm>
            <a:off x="548640" y="2715768"/>
            <a:ext cx="6720840" cy="841248"/>
          </a:xfrm>
          <a:prstGeom prst="roundRect">
            <a:avLst>
              <a:gd name="adj" fmla="val 8696"/>
            </a:avLst>
          </a:prstGeom>
          <a:solidFill>
            <a:srgbClr val="2E6FBF"/>
          </a:solidFill>
          <a:ln/>
        </p:spPr>
      </p:sp>
      <p:pic>
        <p:nvPicPr>
          <p:cNvPr id="10" name="Image 1" descr="preencoded.png">    </p:cNvPr>
          <p:cNvPicPr>
            <a:picLocks noChangeAspect="1"/>
          </p:cNvPicPr>
          <p:nvPr/>
        </p:nvPicPr>
        <p:blipFill>
          <a:blip r:embed="rId2"/>
          <a:stretch>
            <a:fillRect/>
          </a:stretch>
        </p:blipFill>
        <p:spPr>
          <a:xfrm>
            <a:off x="777240" y="2962656"/>
            <a:ext cx="365760" cy="365760"/>
          </a:xfrm>
          <a:prstGeom prst="rect">
            <a:avLst/>
          </a:prstGeom>
        </p:spPr>
      </p:pic>
      <p:sp>
        <p:nvSpPr>
          <p:cNvPr id="11" name="Text 6"/>
          <p:cNvSpPr txBox="1"/>
          <p:nvPr/>
        </p:nvSpPr>
        <p:spPr>
          <a:xfrm>
            <a:off x="1325880" y="2807208"/>
            <a:ext cx="2011680" cy="274320"/>
          </a:xfrm>
          <a:prstGeom prst="rect">
            <a:avLst/>
          </a:prstGeom>
          <a:noFill/>
          <a:ln/>
        </p:spPr>
        <p:txBody>
          <a:bodyPr wrap="square" lIns="0" tIns="0" rIns="0" bIns="0" rtlCol="0" anchor="t"/>
          <a:lstStyle/>
          <a:p>
            <a:pPr indent="0" marL="0">
              <a:buNone/>
            </a:pPr>
            <a:r>
              <a:rPr lang="en-US" sz="1100" b="1" spc="100" kern="0" dirty="0">
                <a:solidFill>
                  <a:srgbClr val="FFFFFF"/>
                </a:solidFill>
                <a:latin typeface="Montserrat" pitchFamily="34" charset="0"/>
                <a:ea typeface="Montserrat" pitchFamily="34" charset="-122"/>
                <a:cs typeface="Montserrat" pitchFamily="34" charset="-120"/>
              </a:rPr>
              <a:t>AGENTS</a:t>
            </a:r>
            <a:endParaRPr lang="en-US" sz="1100" dirty="0"/>
          </a:p>
        </p:txBody>
      </p:sp>
      <p:sp>
        <p:nvSpPr>
          <p:cNvPr id="12" name="Text 7"/>
          <p:cNvSpPr txBox="1"/>
          <p:nvPr/>
        </p:nvSpPr>
        <p:spPr>
          <a:xfrm>
            <a:off x="1325880" y="3063240"/>
            <a:ext cx="5760720" cy="457200"/>
          </a:xfrm>
          <a:prstGeom prst="rect">
            <a:avLst/>
          </a:prstGeom>
          <a:noFill/>
          <a:ln/>
        </p:spPr>
        <p:txBody>
          <a:bodyPr wrap="square" lIns="0" tIns="0" rIns="0" bIns="0" rtlCol="0" anchor="t"/>
          <a:lstStyle/>
          <a:p>
            <a:pPr indent="0" marL="0">
              <a:buNone/>
            </a:pPr>
            <a:r>
              <a:rPr lang="en-US" sz="1200" dirty="0">
                <a:solidFill>
                  <a:srgbClr val="FFFFFF"/>
                </a:solidFill>
                <a:latin typeface="Montserrat" pitchFamily="34" charset="0"/>
                <a:ea typeface="Montserrat" pitchFamily="34" charset="-122"/>
                <a:cs typeface="Montserrat" pitchFamily="34" charset="-120"/>
              </a:rPr>
              <a:t>Service, sales and marketing agents act within guardrails — people handle the exceptions</a:t>
            </a:r>
            <a:endParaRPr lang="en-US" sz="1200" dirty="0"/>
          </a:p>
        </p:txBody>
      </p:sp>
      <p:sp>
        <p:nvSpPr>
          <p:cNvPr id="13" name="Shape 8"/>
          <p:cNvSpPr/>
          <p:nvPr/>
        </p:nvSpPr>
        <p:spPr>
          <a:xfrm>
            <a:off x="548640" y="3648456"/>
            <a:ext cx="6720840" cy="841248"/>
          </a:xfrm>
          <a:prstGeom prst="roundRect">
            <a:avLst>
              <a:gd name="adj" fmla="val 8696"/>
            </a:avLst>
          </a:prstGeom>
          <a:solidFill>
            <a:srgbClr val="6A7FA8"/>
          </a:solidFill>
          <a:ln/>
        </p:spPr>
      </p:sp>
      <p:pic>
        <p:nvPicPr>
          <p:cNvPr id="14" name="Image 2" descr="preencoded.png">    </p:cNvPr>
          <p:cNvPicPr>
            <a:picLocks noChangeAspect="1"/>
          </p:cNvPicPr>
          <p:nvPr/>
        </p:nvPicPr>
        <p:blipFill>
          <a:blip r:embed="rId3"/>
          <a:stretch>
            <a:fillRect/>
          </a:stretch>
        </p:blipFill>
        <p:spPr>
          <a:xfrm>
            <a:off x="777240" y="3895344"/>
            <a:ext cx="365760" cy="365760"/>
          </a:xfrm>
          <a:prstGeom prst="rect">
            <a:avLst/>
          </a:prstGeom>
        </p:spPr>
      </p:pic>
      <p:sp>
        <p:nvSpPr>
          <p:cNvPr id="15" name="Text 9"/>
          <p:cNvSpPr txBox="1"/>
          <p:nvPr/>
        </p:nvSpPr>
        <p:spPr>
          <a:xfrm>
            <a:off x="1325880" y="3739896"/>
            <a:ext cx="2011680" cy="274320"/>
          </a:xfrm>
          <a:prstGeom prst="rect">
            <a:avLst/>
          </a:prstGeom>
          <a:noFill/>
          <a:ln/>
        </p:spPr>
        <p:txBody>
          <a:bodyPr wrap="square" lIns="0" tIns="0" rIns="0" bIns="0" rtlCol="0" anchor="t"/>
          <a:lstStyle/>
          <a:p>
            <a:pPr indent="0" marL="0">
              <a:buNone/>
            </a:pPr>
            <a:r>
              <a:rPr lang="en-US" sz="1100" b="1" spc="100" kern="0" dirty="0">
                <a:solidFill>
                  <a:srgbClr val="FFFFFF"/>
                </a:solidFill>
                <a:latin typeface="Montserrat" pitchFamily="34" charset="0"/>
                <a:ea typeface="Montserrat" pitchFamily="34" charset="-122"/>
                <a:cs typeface="Montserrat" pitchFamily="34" charset="-120"/>
              </a:rPr>
              <a:t>INTELLIGENCE</a:t>
            </a:r>
            <a:endParaRPr lang="en-US" sz="1100" dirty="0"/>
          </a:p>
        </p:txBody>
      </p:sp>
      <p:sp>
        <p:nvSpPr>
          <p:cNvPr id="16" name="Text 10"/>
          <p:cNvSpPr txBox="1"/>
          <p:nvPr/>
        </p:nvSpPr>
        <p:spPr>
          <a:xfrm>
            <a:off x="1325880" y="3995928"/>
            <a:ext cx="5760720" cy="457200"/>
          </a:xfrm>
          <a:prstGeom prst="rect">
            <a:avLst/>
          </a:prstGeom>
          <a:noFill/>
          <a:ln/>
        </p:spPr>
        <p:txBody>
          <a:bodyPr wrap="square" lIns="0" tIns="0" rIns="0" bIns="0" rtlCol="0" anchor="t"/>
          <a:lstStyle/>
          <a:p>
            <a:pPr indent="0" marL="0">
              <a:buNone/>
            </a:pPr>
            <a:r>
              <a:rPr lang="en-US" sz="1200" dirty="0">
                <a:solidFill>
                  <a:srgbClr val="FFFFFF"/>
                </a:solidFill>
                <a:latin typeface="Montserrat" pitchFamily="34" charset="0"/>
                <a:ea typeface="Montserrat" pitchFamily="34" charset="-122"/>
                <a:cs typeface="Montserrat" pitchFamily="34" charset="-120"/>
              </a:rPr>
              <a:t>Predictive models (churn, CLV, next best action) + LLMs that read emails, calls and reviews</a:t>
            </a:r>
            <a:endParaRPr lang="en-US" sz="1200" dirty="0"/>
          </a:p>
        </p:txBody>
      </p:sp>
      <p:sp>
        <p:nvSpPr>
          <p:cNvPr id="17" name="Shape 11"/>
          <p:cNvSpPr/>
          <p:nvPr/>
        </p:nvSpPr>
        <p:spPr>
          <a:xfrm>
            <a:off x="548640" y="4581144"/>
            <a:ext cx="6720840" cy="841248"/>
          </a:xfrm>
          <a:prstGeom prst="roundRect">
            <a:avLst>
              <a:gd name="adj" fmla="val 8696"/>
            </a:avLst>
          </a:prstGeom>
          <a:solidFill>
            <a:srgbClr val="0F1341"/>
          </a:solidFill>
          <a:ln/>
        </p:spPr>
      </p:sp>
      <p:pic>
        <p:nvPicPr>
          <p:cNvPr id="18" name="Image 3" descr="preencoded.png">    </p:cNvPr>
          <p:cNvPicPr>
            <a:picLocks noChangeAspect="1"/>
          </p:cNvPicPr>
          <p:nvPr/>
        </p:nvPicPr>
        <p:blipFill>
          <a:blip r:embed="rId4"/>
          <a:stretch>
            <a:fillRect/>
          </a:stretch>
        </p:blipFill>
        <p:spPr>
          <a:xfrm>
            <a:off x="777240" y="4828032"/>
            <a:ext cx="365760" cy="365760"/>
          </a:xfrm>
          <a:prstGeom prst="rect">
            <a:avLst/>
          </a:prstGeom>
        </p:spPr>
      </p:pic>
      <p:sp>
        <p:nvSpPr>
          <p:cNvPr id="19" name="Text 12"/>
          <p:cNvSpPr txBox="1"/>
          <p:nvPr/>
        </p:nvSpPr>
        <p:spPr>
          <a:xfrm>
            <a:off x="1325880" y="4672584"/>
            <a:ext cx="2011680" cy="274320"/>
          </a:xfrm>
          <a:prstGeom prst="rect">
            <a:avLst/>
          </a:prstGeom>
          <a:noFill/>
          <a:ln/>
        </p:spPr>
        <p:txBody>
          <a:bodyPr wrap="square" lIns="0" tIns="0" rIns="0" bIns="0" rtlCol="0" anchor="t"/>
          <a:lstStyle/>
          <a:p>
            <a:pPr indent="0" marL="0">
              <a:buNone/>
            </a:pPr>
            <a:r>
              <a:rPr lang="en-US" sz="1100" b="1" spc="100" kern="0" dirty="0">
                <a:solidFill>
                  <a:srgbClr val="FFFFFF"/>
                </a:solidFill>
                <a:latin typeface="Montserrat" pitchFamily="34" charset="0"/>
                <a:ea typeface="Montserrat" pitchFamily="34" charset="-122"/>
                <a:cs typeface="Montserrat" pitchFamily="34" charset="-120"/>
              </a:rPr>
              <a:t>DATA</a:t>
            </a:r>
            <a:endParaRPr lang="en-US" sz="1100" dirty="0"/>
          </a:p>
        </p:txBody>
      </p:sp>
      <p:sp>
        <p:nvSpPr>
          <p:cNvPr id="20" name="Text 13"/>
          <p:cNvSpPr txBox="1"/>
          <p:nvPr/>
        </p:nvSpPr>
        <p:spPr>
          <a:xfrm>
            <a:off x="1325880" y="4928616"/>
            <a:ext cx="5760720" cy="457200"/>
          </a:xfrm>
          <a:prstGeom prst="rect">
            <a:avLst/>
          </a:prstGeom>
          <a:noFill/>
          <a:ln/>
        </p:spPr>
        <p:txBody>
          <a:bodyPr wrap="square" lIns="0" tIns="0" rIns="0" bIns="0" rtlCol="0" anchor="t"/>
          <a:lstStyle/>
          <a:p>
            <a:pPr indent="0" marL="0">
              <a:buNone/>
            </a:pPr>
            <a:r>
              <a:rPr lang="en-US" sz="1200" dirty="0">
                <a:solidFill>
                  <a:srgbClr val="FFFFFF"/>
                </a:solidFill>
                <a:latin typeface="Montserrat" pitchFamily="34" charset="0"/>
                <a:ea typeface="Montserrat" pitchFamily="34" charset="-122"/>
                <a:cs typeface="Montserrat" pitchFamily="34" charset="-120"/>
              </a:rPr>
              <a:t>Unified, consented customer data — linked to ERP, e-commerce and service systems</a:t>
            </a:r>
            <a:endParaRPr lang="en-US" sz="1200" dirty="0"/>
          </a:p>
        </p:txBody>
      </p:sp>
      <p:sp>
        <p:nvSpPr>
          <p:cNvPr id="21" name="Shape 14"/>
          <p:cNvSpPr/>
          <p:nvPr/>
        </p:nvSpPr>
        <p:spPr>
          <a:xfrm>
            <a:off x="7406640" y="1783080"/>
            <a:ext cx="868680" cy="3639312"/>
          </a:xfrm>
          <a:prstGeom prst="roundRect">
            <a:avLst>
              <a:gd name="adj" fmla="val 8421"/>
            </a:avLst>
          </a:prstGeom>
          <a:solidFill>
            <a:srgbClr val="FFFFFF"/>
          </a:solidFill>
          <a:ln w="19050">
            <a:solidFill>
              <a:srgbClr val="0F1341"/>
            </a:solidFill>
            <a:prstDash val="solid"/>
          </a:ln>
        </p:spPr>
      </p:sp>
      <p:sp>
        <p:nvSpPr>
          <p:cNvPr id="22" name="Text 15"/>
          <p:cNvSpPr txBox="1"/>
          <p:nvPr/>
        </p:nvSpPr>
        <p:spPr>
          <a:xfrm>
            <a:off x="7406640" y="1783080"/>
            <a:ext cx="868680" cy="3639312"/>
          </a:xfrm>
          <a:prstGeom prst="rect">
            <a:avLst/>
          </a:prstGeom>
          <a:noFill/>
          <a:ln/>
        </p:spPr>
        <p:txBody>
          <a:bodyPr wrap="square" lIns="0" tIns="0" rIns="0" bIns="0" rtlCol="0" anchor="ctr" vert="vert270"/>
          <a:lstStyle/>
          <a:p>
            <a:pPr algn="ctr" indent="0" marL="0">
              <a:buNone/>
            </a:pPr>
            <a:r>
              <a:rPr lang="en-US" sz="1200" b="1" dirty="0">
                <a:solidFill>
                  <a:srgbClr val="0F1341"/>
                </a:solidFill>
                <a:latin typeface="Montserrat" pitchFamily="34" charset="0"/>
                <a:ea typeface="Montserrat" pitchFamily="34" charset="-122"/>
                <a:cs typeface="Montserrat" pitchFamily="34" charset="-120"/>
              </a:rPr>
              <a:t>GOVERNANCE &amp; TRUST</a:t>
            </a:r>
            <a:endParaRPr lang="en-US" sz="1300" dirty="0"/>
          </a:p>
          <a:p>
            <a:pPr algn="ctr" indent="0" marL="0">
              <a:buNone/>
            </a:pPr>
            <a:r>
              <a:rPr lang="en-US" sz="950" dirty="0">
                <a:solidFill>
                  <a:srgbClr val="0F1341"/>
                </a:solidFill>
                <a:latin typeface="Montserrat" pitchFamily="34" charset="0"/>
                <a:ea typeface="Montserrat" pitchFamily="34" charset="-122"/>
                <a:cs typeface="Montserrat" pitchFamily="34" charset="-120"/>
              </a:rPr>
              <a:t>GDPR · AI Act · consent · audit trail</a:t>
            </a:r>
            <a:endParaRPr lang="en-US" sz="1300" dirty="0"/>
          </a:p>
        </p:txBody>
      </p:sp>
      <p:sp>
        <p:nvSpPr>
          <p:cNvPr id="23" name="Text 16"/>
          <p:cNvSpPr txBox="1"/>
          <p:nvPr/>
        </p:nvSpPr>
        <p:spPr>
          <a:xfrm>
            <a:off x="8595360" y="1783080"/>
            <a:ext cx="3017520" cy="274320"/>
          </a:xfrm>
          <a:prstGeom prst="rect">
            <a:avLst/>
          </a:prstGeom>
          <a:noFill/>
          <a:ln/>
        </p:spPr>
        <p:txBody>
          <a:bodyPr wrap="square" lIns="0" tIns="0" rIns="0" bIns="0" rtlCol="0" anchor="t"/>
          <a:lstStyle/>
          <a:p>
            <a:pPr indent="0" marL="0">
              <a:buNone/>
            </a:pPr>
            <a:r>
              <a:rPr lang="en-US" sz="1000" b="1" spc="100" kern="0" dirty="0">
                <a:solidFill>
                  <a:srgbClr val="2E6FBF"/>
                </a:solidFill>
                <a:latin typeface="Montserrat" pitchFamily="34" charset="0"/>
                <a:ea typeface="Montserrat" pitchFamily="34" charset="-122"/>
                <a:cs typeface="Montserrat" pitchFamily="34" charset="-120"/>
              </a:rPr>
              <a:t>WHAT IS NEW</a:t>
            </a:r>
            <a:endParaRPr lang="en-US" sz="1000" dirty="0"/>
          </a:p>
        </p:txBody>
      </p:sp>
      <p:sp>
        <p:nvSpPr>
          <p:cNvPr id="24" name="Shape 17"/>
          <p:cNvSpPr/>
          <p:nvPr/>
        </p:nvSpPr>
        <p:spPr>
          <a:xfrm>
            <a:off x="8595360" y="2148840"/>
            <a:ext cx="365760" cy="365760"/>
          </a:xfrm>
          <a:prstGeom prst="ellipse">
            <a:avLst/>
          </a:prstGeom>
          <a:solidFill>
            <a:srgbClr val="2E6FBF"/>
          </a:solidFill>
          <a:ln/>
        </p:spPr>
      </p:sp>
      <p:sp>
        <p:nvSpPr>
          <p:cNvPr id="25" name="Text 18"/>
          <p:cNvSpPr txBox="1"/>
          <p:nvPr/>
        </p:nvSpPr>
        <p:spPr>
          <a:xfrm>
            <a:off x="8595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26" name="Text 19"/>
          <p:cNvSpPr txBox="1"/>
          <p:nvPr/>
        </p:nvSpPr>
        <p:spPr>
          <a:xfrm>
            <a:off x="9098280" y="2130552"/>
            <a:ext cx="2560320" cy="45720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From records to context</a:t>
            </a:r>
            <a:endParaRPr lang="en-US" sz="1300" dirty="0"/>
          </a:p>
        </p:txBody>
      </p:sp>
      <p:sp>
        <p:nvSpPr>
          <p:cNvPr id="27" name="Text 20"/>
          <p:cNvSpPr txBox="1"/>
          <p:nvPr/>
        </p:nvSpPr>
        <p:spPr>
          <a:xfrm>
            <a:off x="9098280" y="2560320"/>
            <a:ext cx="2560320" cy="6400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Most customer knowledge is text — LLMs make it usable.</a:t>
            </a:r>
            <a:endParaRPr lang="en-US" sz="1150" dirty="0"/>
          </a:p>
        </p:txBody>
      </p:sp>
      <p:sp>
        <p:nvSpPr>
          <p:cNvPr id="28" name="Shape 21"/>
          <p:cNvSpPr/>
          <p:nvPr/>
        </p:nvSpPr>
        <p:spPr>
          <a:xfrm>
            <a:off x="8595360" y="3337560"/>
            <a:ext cx="365760" cy="365760"/>
          </a:xfrm>
          <a:prstGeom prst="ellipse">
            <a:avLst/>
          </a:prstGeom>
          <a:solidFill>
            <a:srgbClr val="2E6FBF"/>
          </a:solidFill>
          <a:ln/>
        </p:spPr>
      </p:sp>
      <p:sp>
        <p:nvSpPr>
          <p:cNvPr id="29" name="Text 22"/>
          <p:cNvSpPr txBox="1"/>
          <p:nvPr/>
        </p:nvSpPr>
        <p:spPr>
          <a:xfrm>
            <a:off x="859536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30" name="Text 23"/>
          <p:cNvSpPr txBox="1"/>
          <p:nvPr/>
        </p:nvSpPr>
        <p:spPr>
          <a:xfrm>
            <a:off x="9098280" y="3319272"/>
            <a:ext cx="2560320" cy="45720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From dashboards to actions</a:t>
            </a:r>
            <a:endParaRPr lang="en-US" sz="1300" dirty="0"/>
          </a:p>
        </p:txBody>
      </p:sp>
      <p:sp>
        <p:nvSpPr>
          <p:cNvPr id="31" name="Text 24"/>
          <p:cNvSpPr txBox="1"/>
          <p:nvPr/>
        </p:nvSpPr>
        <p:spPr>
          <a:xfrm>
            <a:off x="9098280" y="3749040"/>
            <a:ext cx="2560320" cy="6400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The system does not only show the next best action — it takes it.</a:t>
            </a:r>
            <a:endParaRPr lang="en-US" sz="1150" dirty="0"/>
          </a:p>
        </p:txBody>
      </p:sp>
      <p:sp>
        <p:nvSpPr>
          <p:cNvPr id="32" name="Shape 25"/>
          <p:cNvSpPr/>
          <p:nvPr/>
        </p:nvSpPr>
        <p:spPr>
          <a:xfrm>
            <a:off x="8595360" y="4526280"/>
            <a:ext cx="365760" cy="365760"/>
          </a:xfrm>
          <a:prstGeom prst="ellipse">
            <a:avLst/>
          </a:prstGeom>
          <a:solidFill>
            <a:srgbClr val="2E6FBF"/>
          </a:solidFill>
          <a:ln/>
        </p:spPr>
      </p:sp>
      <p:sp>
        <p:nvSpPr>
          <p:cNvPr id="33" name="Text 26"/>
          <p:cNvSpPr txBox="1"/>
          <p:nvPr/>
        </p:nvSpPr>
        <p:spPr>
          <a:xfrm>
            <a:off x="8595360" y="4526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34" name="Text 27"/>
          <p:cNvSpPr txBox="1"/>
          <p:nvPr/>
        </p:nvSpPr>
        <p:spPr>
          <a:xfrm>
            <a:off x="9098280" y="4507992"/>
            <a:ext cx="2560320" cy="45720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From one channel owner to many agents</a:t>
            </a:r>
            <a:endParaRPr lang="en-US" sz="1300" dirty="0"/>
          </a:p>
        </p:txBody>
      </p:sp>
      <p:sp>
        <p:nvSpPr>
          <p:cNvPr id="35" name="Text 28"/>
          <p:cNvSpPr txBox="1"/>
          <p:nvPr/>
        </p:nvSpPr>
        <p:spPr>
          <a:xfrm>
            <a:off x="9098280" y="4937760"/>
            <a:ext cx="2560320" cy="6400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Including agents that act for the customer.</a:t>
            </a:r>
            <a:endParaRPr lang="en-US" sz="1150" dirty="0"/>
          </a:p>
        </p:txBody>
      </p:sp>
      <p:sp>
        <p:nvSpPr>
          <p:cNvPr id="36" name="Shape 29"/>
          <p:cNvSpPr/>
          <p:nvPr/>
        </p:nvSpPr>
        <p:spPr>
          <a:xfrm>
            <a:off x="548640" y="5669280"/>
            <a:ext cx="11091672" cy="457200"/>
          </a:xfrm>
          <a:prstGeom prst="roundRect">
            <a:avLst>
              <a:gd name="adj" fmla="val 16000"/>
            </a:avLst>
          </a:prstGeom>
          <a:solidFill>
            <a:srgbClr val="0F1341"/>
          </a:solidFill>
          <a:ln/>
        </p:spPr>
      </p:sp>
      <p:sp>
        <p:nvSpPr>
          <p:cNvPr id="37" name="Text 30"/>
          <p:cNvSpPr txBox="1"/>
          <p:nvPr/>
        </p:nvSpPr>
        <p:spPr>
          <a:xfrm>
            <a:off x="777240" y="5669280"/>
            <a:ext cx="10698480" cy="45720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From system of record to system of action: </a:t>
            </a:r>
            <a:pPr indent="0" marL="0">
              <a:buNone/>
            </a:pPr>
            <a:r>
              <a:rPr lang="en-US" sz="1300" dirty="0">
                <a:solidFill>
                  <a:srgbClr val="FFFFFF"/>
                </a:solidFill>
                <a:latin typeface="Montserrat" pitchFamily="34" charset="0"/>
                <a:ea typeface="Montserrat" pitchFamily="34" charset="-122"/>
                <a:cs typeface="Montserrat" pitchFamily="34" charset="-120"/>
              </a:rPr>
              <a:t>the CRM stops waiting for input and starts doing the work.</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 day in the CRM of 2030</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One complaint, five steps, a few minutes — case: a European online fashion brand</a:t>
            </a:r>
            <a:endParaRPr lang="en-US" sz="1300" dirty="0"/>
          </a:p>
        </p:txBody>
      </p:sp>
      <p:sp>
        <p:nvSpPr>
          <p:cNvPr id="5" name="Shape 2"/>
          <p:cNvSpPr/>
          <p:nvPr/>
        </p:nvSpPr>
        <p:spPr>
          <a:xfrm>
            <a:off x="548640" y="1783080"/>
            <a:ext cx="2084832" cy="2240280"/>
          </a:xfrm>
          <a:prstGeom prst="roundRect">
            <a:avLst>
              <a:gd name="adj" fmla="val 3509"/>
            </a:avLst>
          </a:prstGeom>
          <a:solidFill>
            <a:srgbClr val="F3F7FC"/>
          </a:solidFill>
          <a:ln/>
        </p:spPr>
      </p:sp>
      <p:sp>
        <p:nvSpPr>
          <p:cNvPr id="6" name="Shape 3"/>
          <p:cNvSpPr/>
          <p:nvPr/>
        </p:nvSpPr>
        <p:spPr>
          <a:xfrm>
            <a:off x="731520" y="1947672"/>
            <a:ext cx="365760" cy="365760"/>
          </a:xfrm>
          <a:prstGeom prst="ellipse">
            <a:avLst/>
          </a:prstGeom>
          <a:solidFill>
            <a:srgbClr val="2E6FBF"/>
          </a:solidFill>
          <a:ln/>
        </p:spPr>
      </p:sp>
      <p:sp>
        <p:nvSpPr>
          <p:cNvPr id="7" name="Text 4"/>
          <p:cNvSpPr txBox="1"/>
          <p:nvPr/>
        </p:nvSpPr>
        <p:spPr>
          <a:xfrm>
            <a:off x="73152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pic>
        <p:nvPicPr>
          <p:cNvPr id="8" name="Image 0" descr="preencoded.png">    </p:cNvPr>
          <p:cNvPicPr>
            <a:picLocks noChangeAspect="1"/>
          </p:cNvPicPr>
          <p:nvPr/>
        </p:nvPicPr>
        <p:blipFill>
          <a:blip r:embed="rId1"/>
          <a:stretch>
            <a:fillRect/>
          </a:stretch>
        </p:blipFill>
        <p:spPr>
          <a:xfrm>
            <a:off x="2103120" y="1947672"/>
            <a:ext cx="347472" cy="347472"/>
          </a:xfrm>
          <a:prstGeom prst="rect">
            <a:avLst/>
          </a:prstGeom>
        </p:spPr>
      </p:pic>
      <p:sp>
        <p:nvSpPr>
          <p:cNvPr id="9" name="Text 5"/>
          <p:cNvSpPr txBox="1"/>
          <p:nvPr/>
        </p:nvSpPr>
        <p:spPr>
          <a:xfrm>
            <a:off x="73152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Signal</a:t>
            </a:r>
            <a:endParaRPr lang="en-US" sz="1400" dirty="0"/>
          </a:p>
        </p:txBody>
      </p:sp>
      <p:sp>
        <p:nvSpPr>
          <p:cNvPr id="10" name="Text 6"/>
          <p:cNvSpPr txBox="1"/>
          <p:nvPr/>
        </p:nvSpPr>
        <p:spPr>
          <a:xfrm>
            <a:off x="731520" y="2834640"/>
            <a:ext cx="1783080" cy="10972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A loyal customer writes an angry email: second late delivery</a:t>
            </a:r>
            <a:endParaRPr lang="en-US" sz="1150" dirty="0"/>
          </a:p>
        </p:txBody>
      </p:sp>
      <p:sp>
        <p:nvSpPr>
          <p:cNvPr id="11" name="Shape 7"/>
          <p:cNvSpPr/>
          <p:nvPr/>
        </p:nvSpPr>
        <p:spPr>
          <a:xfrm>
            <a:off x="2788920" y="1783080"/>
            <a:ext cx="2084832" cy="2240280"/>
          </a:xfrm>
          <a:prstGeom prst="roundRect">
            <a:avLst>
              <a:gd name="adj" fmla="val 3509"/>
            </a:avLst>
          </a:prstGeom>
          <a:solidFill>
            <a:srgbClr val="F3F7FC"/>
          </a:solidFill>
          <a:ln/>
        </p:spPr>
      </p:sp>
      <p:sp>
        <p:nvSpPr>
          <p:cNvPr id="12" name="Shape 8"/>
          <p:cNvSpPr/>
          <p:nvPr/>
        </p:nvSpPr>
        <p:spPr>
          <a:xfrm>
            <a:off x="2971800" y="1947672"/>
            <a:ext cx="365760" cy="365760"/>
          </a:xfrm>
          <a:prstGeom prst="ellipse">
            <a:avLst/>
          </a:prstGeom>
          <a:solidFill>
            <a:srgbClr val="2E6FBF"/>
          </a:solidFill>
          <a:ln/>
        </p:spPr>
      </p:sp>
      <p:sp>
        <p:nvSpPr>
          <p:cNvPr id="13" name="Text 9"/>
          <p:cNvSpPr txBox="1"/>
          <p:nvPr/>
        </p:nvSpPr>
        <p:spPr>
          <a:xfrm>
            <a:off x="297180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pic>
        <p:nvPicPr>
          <p:cNvPr id="14" name="Image 1" descr="preencoded.png">    </p:cNvPr>
          <p:cNvPicPr>
            <a:picLocks noChangeAspect="1"/>
          </p:cNvPicPr>
          <p:nvPr/>
        </p:nvPicPr>
        <p:blipFill>
          <a:blip r:embed="rId2"/>
          <a:stretch>
            <a:fillRect/>
          </a:stretch>
        </p:blipFill>
        <p:spPr>
          <a:xfrm>
            <a:off x="4343400" y="1947672"/>
            <a:ext cx="347472" cy="347472"/>
          </a:xfrm>
          <a:prstGeom prst="rect">
            <a:avLst/>
          </a:prstGeom>
        </p:spPr>
      </p:pic>
      <p:sp>
        <p:nvSpPr>
          <p:cNvPr id="15" name="Text 10"/>
          <p:cNvSpPr txBox="1"/>
          <p:nvPr/>
        </p:nvSpPr>
        <p:spPr>
          <a:xfrm>
            <a:off x="297180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Understand</a:t>
            </a:r>
            <a:endParaRPr lang="en-US" sz="1400" dirty="0"/>
          </a:p>
        </p:txBody>
      </p:sp>
      <p:sp>
        <p:nvSpPr>
          <p:cNvPr id="16" name="Text 11"/>
          <p:cNvSpPr txBox="1"/>
          <p:nvPr/>
        </p:nvSpPr>
        <p:spPr>
          <a:xfrm>
            <a:off x="2971800" y="2834640"/>
            <a:ext cx="1783080" cy="10972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Agent reads tone, order history and CLV: high-value, churn risk up</a:t>
            </a:r>
            <a:endParaRPr lang="en-US" sz="1150" dirty="0"/>
          </a:p>
        </p:txBody>
      </p:sp>
      <p:sp>
        <p:nvSpPr>
          <p:cNvPr id="17" name="Shape 12"/>
          <p:cNvSpPr/>
          <p:nvPr/>
        </p:nvSpPr>
        <p:spPr>
          <a:xfrm>
            <a:off x="5029200" y="1783080"/>
            <a:ext cx="2084832" cy="2240280"/>
          </a:xfrm>
          <a:prstGeom prst="roundRect">
            <a:avLst>
              <a:gd name="adj" fmla="val 3509"/>
            </a:avLst>
          </a:prstGeom>
          <a:solidFill>
            <a:srgbClr val="0F1341"/>
          </a:solidFill>
          <a:ln/>
        </p:spPr>
      </p:sp>
      <p:sp>
        <p:nvSpPr>
          <p:cNvPr id="18" name="Shape 13"/>
          <p:cNvSpPr/>
          <p:nvPr/>
        </p:nvSpPr>
        <p:spPr>
          <a:xfrm>
            <a:off x="5212080" y="1947672"/>
            <a:ext cx="365760" cy="365760"/>
          </a:xfrm>
          <a:prstGeom prst="ellipse">
            <a:avLst/>
          </a:prstGeom>
          <a:solidFill>
            <a:srgbClr val="4A8FDB"/>
          </a:solidFill>
          <a:ln/>
        </p:spPr>
      </p:sp>
      <p:sp>
        <p:nvSpPr>
          <p:cNvPr id="19" name="Text 14"/>
          <p:cNvSpPr txBox="1"/>
          <p:nvPr/>
        </p:nvSpPr>
        <p:spPr>
          <a:xfrm>
            <a:off x="5212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pic>
        <p:nvPicPr>
          <p:cNvPr id="20" name="Image 2" descr="preencoded.png">    </p:cNvPr>
          <p:cNvPicPr>
            <a:picLocks noChangeAspect="1"/>
          </p:cNvPicPr>
          <p:nvPr/>
        </p:nvPicPr>
        <p:blipFill>
          <a:blip r:embed="rId3"/>
          <a:stretch>
            <a:fillRect/>
          </a:stretch>
        </p:blipFill>
        <p:spPr>
          <a:xfrm>
            <a:off x="6583680" y="1947672"/>
            <a:ext cx="347472" cy="347472"/>
          </a:xfrm>
          <a:prstGeom prst="rect">
            <a:avLst/>
          </a:prstGeom>
        </p:spPr>
      </p:pic>
      <p:sp>
        <p:nvSpPr>
          <p:cNvPr id="21" name="Text 15"/>
          <p:cNvSpPr txBox="1"/>
          <p:nvPr/>
        </p:nvSpPr>
        <p:spPr>
          <a:xfrm>
            <a:off x="5212080" y="2468880"/>
            <a:ext cx="1783080" cy="365760"/>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Decide</a:t>
            </a:r>
            <a:endParaRPr lang="en-US" sz="1400" dirty="0"/>
          </a:p>
        </p:txBody>
      </p:sp>
      <p:sp>
        <p:nvSpPr>
          <p:cNvPr id="22" name="Text 16"/>
          <p:cNvSpPr txBox="1"/>
          <p:nvPr/>
        </p:nvSpPr>
        <p:spPr>
          <a:xfrm>
            <a:off x="5212080" y="2834640"/>
            <a:ext cx="1783080" cy="1097280"/>
          </a:xfrm>
          <a:prstGeom prst="rect">
            <a:avLst/>
          </a:prstGeom>
          <a:noFill/>
          <a:ln/>
        </p:spPr>
        <p:txBody>
          <a:bodyPr wrap="square" lIns="0" tIns="0" rIns="0" bIns="0" rtlCol="0" anchor="t"/>
          <a:lstStyle/>
          <a:p>
            <a:pPr indent="0" marL="0">
              <a:buNone/>
            </a:pPr>
            <a:r>
              <a:rPr lang="en-US" sz="1150" dirty="0">
                <a:solidFill>
                  <a:srgbClr val="C9D3E3"/>
                </a:solidFill>
                <a:latin typeface="Montserrat" pitchFamily="34" charset="0"/>
                <a:ea typeface="Montserrat" pitchFamily="34" charset="-122"/>
                <a:cs typeface="Montserrat" pitchFamily="34" charset="-120"/>
              </a:rPr>
              <a:t>Rule: compensation under €50 is autonomous, above needs a human</a:t>
            </a:r>
            <a:endParaRPr lang="en-US" sz="1150" dirty="0"/>
          </a:p>
        </p:txBody>
      </p:sp>
      <p:sp>
        <p:nvSpPr>
          <p:cNvPr id="23" name="Shape 17"/>
          <p:cNvSpPr/>
          <p:nvPr/>
        </p:nvSpPr>
        <p:spPr>
          <a:xfrm>
            <a:off x="7269480" y="1783080"/>
            <a:ext cx="2084832" cy="2240280"/>
          </a:xfrm>
          <a:prstGeom prst="roundRect">
            <a:avLst>
              <a:gd name="adj" fmla="val 3509"/>
            </a:avLst>
          </a:prstGeom>
          <a:solidFill>
            <a:srgbClr val="F3F7FC"/>
          </a:solidFill>
          <a:ln/>
        </p:spPr>
      </p:sp>
      <p:sp>
        <p:nvSpPr>
          <p:cNvPr id="24" name="Shape 18"/>
          <p:cNvSpPr/>
          <p:nvPr/>
        </p:nvSpPr>
        <p:spPr>
          <a:xfrm>
            <a:off x="7452360" y="1947672"/>
            <a:ext cx="365760" cy="365760"/>
          </a:xfrm>
          <a:prstGeom prst="ellipse">
            <a:avLst/>
          </a:prstGeom>
          <a:solidFill>
            <a:srgbClr val="2E6FBF"/>
          </a:solidFill>
          <a:ln/>
        </p:spPr>
      </p:sp>
      <p:sp>
        <p:nvSpPr>
          <p:cNvPr id="25" name="Text 19"/>
          <p:cNvSpPr txBox="1"/>
          <p:nvPr/>
        </p:nvSpPr>
        <p:spPr>
          <a:xfrm>
            <a:off x="745236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pic>
        <p:nvPicPr>
          <p:cNvPr id="26" name="Image 3" descr="preencoded.png">    </p:cNvPr>
          <p:cNvPicPr>
            <a:picLocks noChangeAspect="1"/>
          </p:cNvPicPr>
          <p:nvPr/>
        </p:nvPicPr>
        <p:blipFill>
          <a:blip r:embed="rId4"/>
          <a:stretch>
            <a:fillRect/>
          </a:stretch>
        </p:blipFill>
        <p:spPr>
          <a:xfrm>
            <a:off x="8823960" y="1947672"/>
            <a:ext cx="347472" cy="347472"/>
          </a:xfrm>
          <a:prstGeom prst="rect">
            <a:avLst/>
          </a:prstGeom>
        </p:spPr>
      </p:pic>
      <p:sp>
        <p:nvSpPr>
          <p:cNvPr id="27" name="Text 20"/>
          <p:cNvSpPr txBox="1"/>
          <p:nvPr/>
        </p:nvSpPr>
        <p:spPr>
          <a:xfrm>
            <a:off x="745236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Act</a:t>
            </a:r>
            <a:endParaRPr lang="en-US" sz="1400" dirty="0"/>
          </a:p>
        </p:txBody>
      </p:sp>
      <p:sp>
        <p:nvSpPr>
          <p:cNvPr id="28" name="Text 21"/>
          <p:cNvSpPr txBox="1"/>
          <p:nvPr/>
        </p:nvSpPr>
        <p:spPr>
          <a:xfrm>
            <a:off x="7452360" y="2834640"/>
            <a:ext cx="1783080" cy="10972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Apology, voucher and priority shipping — ERP updated, reason logged</a:t>
            </a:r>
            <a:endParaRPr lang="en-US" sz="1150" dirty="0"/>
          </a:p>
        </p:txBody>
      </p:sp>
      <p:sp>
        <p:nvSpPr>
          <p:cNvPr id="29" name="Shape 22"/>
          <p:cNvSpPr/>
          <p:nvPr/>
        </p:nvSpPr>
        <p:spPr>
          <a:xfrm>
            <a:off x="9509760" y="1783080"/>
            <a:ext cx="2084832" cy="2240280"/>
          </a:xfrm>
          <a:prstGeom prst="roundRect">
            <a:avLst>
              <a:gd name="adj" fmla="val 3509"/>
            </a:avLst>
          </a:prstGeom>
          <a:solidFill>
            <a:srgbClr val="F3F7FC"/>
          </a:solidFill>
          <a:ln/>
        </p:spPr>
      </p:sp>
      <p:sp>
        <p:nvSpPr>
          <p:cNvPr id="30" name="Shape 23"/>
          <p:cNvSpPr/>
          <p:nvPr/>
        </p:nvSpPr>
        <p:spPr>
          <a:xfrm>
            <a:off x="9692640" y="1947672"/>
            <a:ext cx="365760" cy="365760"/>
          </a:xfrm>
          <a:prstGeom prst="ellipse">
            <a:avLst/>
          </a:prstGeom>
          <a:solidFill>
            <a:srgbClr val="2E6FBF"/>
          </a:solidFill>
          <a:ln/>
        </p:spPr>
      </p:sp>
      <p:sp>
        <p:nvSpPr>
          <p:cNvPr id="31" name="Text 24"/>
          <p:cNvSpPr txBox="1"/>
          <p:nvPr/>
        </p:nvSpPr>
        <p:spPr>
          <a:xfrm>
            <a:off x="969264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pic>
        <p:nvPicPr>
          <p:cNvPr id="32" name="Image 4" descr="preencoded.png">    </p:cNvPr>
          <p:cNvPicPr>
            <a:picLocks noChangeAspect="1"/>
          </p:cNvPicPr>
          <p:nvPr/>
        </p:nvPicPr>
        <p:blipFill>
          <a:blip r:embed="rId5"/>
          <a:stretch>
            <a:fillRect/>
          </a:stretch>
        </p:blipFill>
        <p:spPr>
          <a:xfrm>
            <a:off x="11064240" y="1947672"/>
            <a:ext cx="347472" cy="347472"/>
          </a:xfrm>
          <a:prstGeom prst="rect">
            <a:avLst/>
          </a:prstGeom>
        </p:spPr>
      </p:pic>
      <p:sp>
        <p:nvSpPr>
          <p:cNvPr id="33" name="Text 25"/>
          <p:cNvSpPr txBox="1"/>
          <p:nvPr/>
        </p:nvSpPr>
        <p:spPr>
          <a:xfrm>
            <a:off x="969264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Learn</a:t>
            </a:r>
            <a:endParaRPr lang="en-US" sz="1400" dirty="0"/>
          </a:p>
        </p:txBody>
      </p:sp>
      <p:sp>
        <p:nvSpPr>
          <p:cNvPr id="34" name="Text 26"/>
          <p:cNvSpPr txBox="1"/>
          <p:nvPr/>
        </p:nvSpPr>
        <p:spPr>
          <a:xfrm>
            <a:off x="9692640" y="2834640"/>
            <a:ext cx="1783080" cy="109728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Did she buy again? The outcome trains the churn model</a:t>
            </a:r>
            <a:endParaRPr lang="en-US" sz="1150" dirty="0"/>
          </a:p>
        </p:txBody>
      </p:sp>
      <p:sp>
        <p:nvSpPr>
          <p:cNvPr id="35" name="Shape 27"/>
          <p:cNvSpPr/>
          <p:nvPr/>
        </p:nvSpPr>
        <p:spPr>
          <a:xfrm>
            <a:off x="548640" y="4251960"/>
            <a:ext cx="1463040" cy="274320"/>
          </a:xfrm>
          <a:prstGeom prst="roundRect">
            <a:avLst>
              <a:gd name="adj" fmla="val 26667"/>
            </a:avLst>
          </a:prstGeom>
          <a:solidFill>
            <a:srgbClr val="C9D3E3"/>
          </a:solidFill>
          <a:ln/>
        </p:spPr>
      </p:sp>
      <p:sp>
        <p:nvSpPr>
          <p:cNvPr id="36" name="Text 28"/>
          <p:cNvSpPr txBox="1"/>
          <p:nvPr/>
        </p:nvSpPr>
        <p:spPr>
          <a:xfrm>
            <a:off x="548640" y="4251960"/>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ILLUSTRATIVE</a:t>
            </a:r>
            <a:endParaRPr lang="en-US" sz="900" dirty="0"/>
          </a:p>
        </p:txBody>
      </p:sp>
      <p:sp>
        <p:nvSpPr>
          <p:cNvPr id="37" name="Shape 29"/>
          <p:cNvSpPr/>
          <p:nvPr/>
        </p:nvSpPr>
        <p:spPr>
          <a:xfrm>
            <a:off x="548640" y="4617720"/>
            <a:ext cx="5440680" cy="1051560"/>
          </a:xfrm>
          <a:prstGeom prst="roundRect">
            <a:avLst>
              <a:gd name="adj" fmla="val 6957"/>
            </a:avLst>
          </a:prstGeom>
          <a:solidFill>
            <a:srgbClr val="F3F7FC"/>
          </a:solidFill>
          <a:ln/>
        </p:spPr>
      </p:sp>
      <p:sp>
        <p:nvSpPr>
          <p:cNvPr id="38" name="Text 30"/>
          <p:cNvSpPr txBox="1"/>
          <p:nvPr/>
        </p:nvSpPr>
        <p:spPr>
          <a:xfrm>
            <a:off x="777240" y="4617720"/>
            <a:ext cx="5029200" cy="1051560"/>
          </a:xfrm>
          <a:prstGeom prst="rect">
            <a:avLst/>
          </a:prstGeom>
          <a:noFill/>
          <a:ln/>
        </p:spPr>
        <p:txBody>
          <a:bodyPr wrap="square" lIns="0" tIns="0" rIns="0" bIns="0" rtlCol="0" anchor="ctr"/>
          <a:lstStyle/>
          <a:p>
            <a:pPr indent="0" marL="0">
              <a:buNone/>
            </a:pPr>
            <a:r>
              <a:rPr lang="en-US" sz="1250" b="1" dirty="0">
                <a:solidFill>
                  <a:srgbClr val="8A93A3"/>
                </a:solidFill>
                <a:latin typeface="Montserrat" pitchFamily="34" charset="0"/>
                <a:ea typeface="Montserrat" pitchFamily="34" charset="-122"/>
                <a:cs typeface="Montserrat" pitchFamily="34" charset="-120"/>
              </a:rPr>
              <a:t>Today  </a:t>
            </a:r>
            <a:pPr indent="0" marL="0">
              <a:buNone/>
            </a:pPr>
            <a:r>
              <a:rPr lang="en-US" sz="1250" dirty="0">
                <a:solidFill>
                  <a:srgbClr val="5B6270"/>
                </a:solidFill>
                <a:latin typeface="Montserrat" pitchFamily="34" charset="0"/>
                <a:ea typeface="Montserrat" pitchFamily="34" charset="-122"/>
                <a:cs typeface="Montserrat" pitchFamily="34" charset="-120"/>
              </a:rPr>
              <a:t>The ticket waits in a queue, a service agent opens three systems, the customer waits two days — and may be gone.</a:t>
            </a:r>
            <a:endParaRPr lang="en-US" sz="1250" dirty="0"/>
          </a:p>
        </p:txBody>
      </p:sp>
      <p:sp>
        <p:nvSpPr>
          <p:cNvPr id="39" name="Shape 31"/>
          <p:cNvSpPr/>
          <p:nvPr/>
        </p:nvSpPr>
        <p:spPr>
          <a:xfrm>
            <a:off x="6199632" y="4617720"/>
            <a:ext cx="5440680" cy="1051560"/>
          </a:xfrm>
          <a:prstGeom prst="roundRect">
            <a:avLst>
              <a:gd name="adj" fmla="val 6957"/>
            </a:avLst>
          </a:prstGeom>
          <a:solidFill>
            <a:srgbClr val="0F1341"/>
          </a:solidFill>
          <a:ln/>
        </p:spPr>
      </p:sp>
      <p:sp>
        <p:nvSpPr>
          <p:cNvPr id="40" name="Text 32"/>
          <p:cNvSpPr txBox="1"/>
          <p:nvPr/>
        </p:nvSpPr>
        <p:spPr>
          <a:xfrm>
            <a:off x="6428232" y="4617720"/>
            <a:ext cx="5029200" cy="1051560"/>
          </a:xfrm>
          <a:prstGeom prst="rect">
            <a:avLst/>
          </a:prstGeom>
          <a:noFill/>
          <a:ln/>
        </p:spPr>
        <p:txBody>
          <a:bodyPr wrap="square" lIns="0" tIns="0" rIns="0" bIns="0" rtlCol="0" anchor="ctr"/>
          <a:lstStyle/>
          <a:p>
            <a:pPr indent="0" marL="0">
              <a:buNone/>
            </a:pPr>
            <a:r>
              <a:rPr lang="en-US" sz="1250" b="1" dirty="0">
                <a:solidFill>
                  <a:srgbClr val="4A8FDB"/>
                </a:solidFill>
                <a:latin typeface="Montserrat" pitchFamily="34" charset="0"/>
                <a:ea typeface="Montserrat" pitchFamily="34" charset="-122"/>
                <a:cs typeface="Montserrat" pitchFamily="34" charset="-120"/>
              </a:rPr>
              <a:t>2030  </a:t>
            </a:r>
            <a:pPr indent="0" marL="0">
              <a:buNone/>
            </a:pPr>
            <a:r>
              <a:rPr lang="en-US" sz="1250" dirty="0">
                <a:solidFill>
                  <a:srgbClr val="FFFFFF"/>
                </a:solidFill>
                <a:latin typeface="Montserrat" pitchFamily="34" charset="0"/>
                <a:ea typeface="Montserrat" pitchFamily="34" charset="-122"/>
                <a:cs typeface="Montserrat" pitchFamily="34" charset="-120"/>
              </a:rPr>
              <a:t>Answered in minutes, within clear rules. People handle the cases above the threshold — and the relationships that matter.</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How AI gets into an existing CRM</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Four integration patterns — from switching on a feature to building your own layer</a:t>
            </a:r>
            <a:endParaRPr lang="en-US" sz="1300" dirty="0"/>
          </a:p>
        </p:txBody>
      </p:sp>
      <p:sp>
        <p:nvSpPr>
          <p:cNvPr id="5" name="Shape 2"/>
          <p:cNvSpPr/>
          <p:nvPr/>
        </p:nvSpPr>
        <p:spPr>
          <a:xfrm>
            <a:off x="548640" y="1783080"/>
            <a:ext cx="2615184" cy="2880360"/>
          </a:xfrm>
          <a:prstGeom prst="roundRect">
            <a:avLst>
              <a:gd name="adj" fmla="val 2797"/>
            </a:avLst>
          </a:prstGeom>
          <a:solidFill>
            <a:srgbClr val="F3F7FC"/>
          </a:solidFill>
          <a:ln/>
        </p:spPr>
      </p:sp>
      <p:sp>
        <p:nvSpPr>
          <p:cNvPr id="6" name="Text 3"/>
          <p:cNvSpPr txBox="1"/>
          <p:nvPr/>
        </p:nvSpPr>
        <p:spPr>
          <a:xfrm>
            <a:off x="749808" y="1920240"/>
            <a:ext cx="914400" cy="365760"/>
          </a:xfrm>
          <a:prstGeom prst="rect">
            <a:avLst/>
          </a:prstGeom>
          <a:noFill/>
          <a:ln/>
        </p:spPr>
        <p:txBody>
          <a:bodyPr wrap="square" lIns="0" tIns="0" rIns="0" bIns="0" rtlCol="0" anchor="t"/>
          <a:lstStyle/>
          <a:p>
            <a:pPr indent="0" marL="0">
              <a:buNone/>
            </a:pPr>
            <a:r>
              <a:rPr lang="en-US" sz="1600" b="1" dirty="0">
                <a:solidFill>
                  <a:srgbClr val="2E6FBF"/>
                </a:solidFill>
                <a:latin typeface="Montserrat" pitchFamily="34" charset="0"/>
                <a:ea typeface="Montserrat" pitchFamily="34" charset="-122"/>
                <a:cs typeface="Montserrat" pitchFamily="34" charset="-120"/>
              </a:rPr>
              <a:t>01</a:t>
            </a:r>
            <a:endParaRPr lang="en-US" sz="1600" dirty="0"/>
          </a:p>
        </p:txBody>
      </p:sp>
      <p:sp>
        <p:nvSpPr>
          <p:cNvPr id="7" name="Shape 4"/>
          <p:cNvSpPr/>
          <p:nvPr/>
        </p:nvSpPr>
        <p:spPr>
          <a:xfrm>
            <a:off x="2057400" y="2029968"/>
            <a:ext cx="155448" cy="155448"/>
          </a:xfrm>
          <a:prstGeom prst="ellipse">
            <a:avLst/>
          </a:prstGeom>
          <a:solidFill>
            <a:srgbClr val="2E6FBF"/>
          </a:solidFill>
          <a:ln/>
        </p:spPr>
      </p:sp>
      <p:sp>
        <p:nvSpPr>
          <p:cNvPr id="8" name="Shape 5"/>
          <p:cNvSpPr/>
          <p:nvPr/>
        </p:nvSpPr>
        <p:spPr>
          <a:xfrm>
            <a:off x="2295144" y="2029968"/>
            <a:ext cx="155448" cy="155448"/>
          </a:xfrm>
          <a:prstGeom prst="ellipse">
            <a:avLst/>
          </a:prstGeom>
          <a:solidFill>
            <a:srgbClr val="C9D3E3"/>
          </a:solidFill>
          <a:ln/>
        </p:spPr>
      </p:sp>
      <p:sp>
        <p:nvSpPr>
          <p:cNvPr id="9" name="Shape 6"/>
          <p:cNvSpPr/>
          <p:nvPr/>
        </p:nvSpPr>
        <p:spPr>
          <a:xfrm>
            <a:off x="2532888" y="2029968"/>
            <a:ext cx="155448" cy="155448"/>
          </a:xfrm>
          <a:prstGeom prst="ellipse">
            <a:avLst/>
          </a:prstGeom>
          <a:solidFill>
            <a:srgbClr val="C9D3E3"/>
          </a:solidFill>
          <a:ln/>
        </p:spPr>
      </p:sp>
      <p:sp>
        <p:nvSpPr>
          <p:cNvPr id="10" name="Shape 7"/>
          <p:cNvSpPr/>
          <p:nvPr/>
        </p:nvSpPr>
        <p:spPr>
          <a:xfrm>
            <a:off x="2770632" y="2029968"/>
            <a:ext cx="155448" cy="155448"/>
          </a:xfrm>
          <a:prstGeom prst="ellipse">
            <a:avLst/>
          </a:prstGeom>
          <a:solidFill>
            <a:srgbClr val="C9D3E3"/>
          </a:solidFill>
          <a:ln/>
        </p:spPr>
      </p:sp>
      <p:sp>
        <p:nvSpPr>
          <p:cNvPr id="11" name="Text 8"/>
          <p:cNvSpPr txBox="1"/>
          <p:nvPr/>
        </p:nvSpPr>
        <p:spPr>
          <a:xfrm>
            <a:off x="749808" y="2331720"/>
            <a:ext cx="2240280" cy="54864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Built-in copilots</a:t>
            </a:r>
            <a:endParaRPr lang="en-US" sz="1400" dirty="0"/>
          </a:p>
        </p:txBody>
      </p:sp>
      <p:sp>
        <p:nvSpPr>
          <p:cNvPr id="12" name="Text 9"/>
          <p:cNvSpPr txBox="1"/>
          <p:nvPr/>
        </p:nvSpPr>
        <p:spPr>
          <a:xfrm>
            <a:off x="749808" y="2880360"/>
            <a:ext cx="2240280" cy="640080"/>
          </a:xfrm>
          <a:prstGeom prst="rect">
            <a:avLst/>
          </a:prstGeom>
          <a:noFill/>
          <a:ln/>
        </p:spPr>
        <p:txBody>
          <a:bodyPr wrap="square" lIns="0" tIns="0" rIns="0" bIns="0" rtlCol="0" anchor="t"/>
          <a:lstStyle/>
          <a:p>
            <a:pPr indent="0" marL="0">
              <a:buNone/>
            </a:pPr>
            <a:r>
              <a:rPr lang="en-US" sz="1200" dirty="0">
                <a:solidFill>
                  <a:srgbClr val="0F1341"/>
                </a:solidFill>
                <a:latin typeface="Montserrat" pitchFamily="34" charset="0"/>
                <a:ea typeface="Montserrat" pitchFamily="34" charset="-122"/>
                <a:cs typeface="Montserrat" pitchFamily="34" charset="-120"/>
              </a:rPr>
              <a:t>Switch on the AI of your CRM vendor</a:t>
            </a:r>
            <a:endParaRPr lang="en-US" sz="1200" dirty="0"/>
          </a:p>
        </p:txBody>
      </p:sp>
      <p:sp>
        <p:nvSpPr>
          <p:cNvPr id="13" name="Text 10"/>
          <p:cNvSpPr txBox="1"/>
          <p:nvPr/>
        </p:nvSpPr>
        <p:spPr>
          <a:xfrm>
            <a:off x="749808" y="3520440"/>
            <a:ext cx="2240280" cy="502920"/>
          </a:xfrm>
          <a:prstGeom prst="rect">
            <a:avLst/>
          </a:prstGeom>
          <a:noFill/>
          <a:ln/>
        </p:spPr>
        <p:txBody>
          <a:bodyPr wrap="square" lIns="0" tIns="0" rIns="0" bIns="0" rtlCol="0" anchor="t"/>
          <a:lstStyle/>
          <a:p>
            <a:pPr indent="0" marL="0">
              <a:buNone/>
            </a:pPr>
            <a:r>
              <a:rPr lang="en-US" sz="1050" i="1" dirty="0">
                <a:solidFill>
                  <a:srgbClr val="5B6270"/>
                </a:solidFill>
                <a:latin typeface="Montserrat" pitchFamily="34" charset="0"/>
                <a:ea typeface="Montserrat" pitchFamily="34" charset="-122"/>
                <a:cs typeface="Montserrat" pitchFamily="34" charset="-120"/>
              </a:rPr>
              <a:t>e.g. Agentforce, HubSpot Breeze, Dynamics 365 Copilot</a:t>
            </a:r>
            <a:endParaRPr lang="en-US" sz="1050" dirty="0"/>
          </a:p>
        </p:txBody>
      </p:sp>
      <p:sp>
        <p:nvSpPr>
          <p:cNvPr id="14" name="Text 11"/>
          <p:cNvSpPr txBox="1"/>
          <p:nvPr/>
        </p:nvSpPr>
        <p:spPr>
          <a:xfrm>
            <a:off x="749808" y="4069080"/>
            <a:ext cx="2240280" cy="502920"/>
          </a:xfrm>
          <a:prstGeom prst="rect">
            <a:avLst/>
          </a:prstGeom>
          <a:noFill/>
          <a:ln/>
        </p:spPr>
        <p:txBody>
          <a:bodyPr wrap="square" lIns="0" tIns="0" rIns="0" bIns="0" rtlCol="0" anchor="t"/>
          <a:lstStyle/>
          <a:p>
            <a:pPr indent="0" marL="0">
              <a:buNone/>
            </a:pPr>
            <a:r>
              <a:rPr lang="en-US" sz="1050" b="1" dirty="0">
                <a:solidFill>
                  <a:srgbClr val="2E6FBF"/>
                </a:solidFill>
                <a:latin typeface="Montserrat" pitchFamily="34" charset="0"/>
                <a:ea typeface="Montserrat" pitchFamily="34" charset="-122"/>
                <a:cs typeface="Montserrat" pitchFamily="34" charset="-120"/>
              </a:rPr>
              <a:t>Fast start · limited to the platform's data</a:t>
            </a:r>
            <a:endParaRPr lang="en-US" sz="1050" dirty="0"/>
          </a:p>
        </p:txBody>
      </p:sp>
      <p:sp>
        <p:nvSpPr>
          <p:cNvPr id="15" name="Shape 12"/>
          <p:cNvSpPr/>
          <p:nvPr/>
        </p:nvSpPr>
        <p:spPr>
          <a:xfrm>
            <a:off x="3374136" y="1783080"/>
            <a:ext cx="2615184" cy="2880360"/>
          </a:xfrm>
          <a:prstGeom prst="roundRect">
            <a:avLst>
              <a:gd name="adj" fmla="val 2797"/>
            </a:avLst>
          </a:prstGeom>
          <a:solidFill>
            <a:srgbClr val="F3F7FC"/>
          </a:solidFill>
          <a:ln/>
        </p:spPr>
      </p:sp>
      <p:sp>
        <p:nvSpPr>
          <p:cNvPr id="16" name="Text 13"/>
          <p:cNvSpPr txBox="1"/>
          <p:nvPr/>
        </p:nvSpPr>
        <p:spPr>
          <a:xfrm>
            <a:off x="3575304" y="1920240"/>
            <a:ext cx="914400" cy="365760"/>
          </a:xfrm>
          <a:prstGeom prst="rect">
            <a:avLst/>
          </a:prstGeom>
          <a:noFill/>
          <a:ln/>
        </p:spPr>
        <p:txBody>
          <a:bodyPr wrap="square" lIns="0" tIns="0" rIns="0" bIns="0" rtlCol="0" anchor="t"/>
          <a:lstStyle/>
          <a:p>
            <a:pPr indent="0" marL="0">
              <a:buNone/>
            </a:pPr>
            <a:r>
              <a:rPr lang="en-US" sz="1600" b="1" dirty="0">
                <a:solidFill>
                  <a:srgbClr val="2E6FBF"/>
                </a:solidFill>
                <a:latin typeface="Montserrat" pitchFamily="34" charset="0"/>
                <a:ea typeface="Montserrat" pitchFamily="34" charset="-122"/>
                <a:cs typeface="Montserrat" pitchFamily="34" charset="-120"/>
              </a:rPr>
              <a:t>02</a:t>
            </a:r>
            <a:endParaRPr lang="en-US" sz="1600" dirty="0"/>
          </a:p>
        </p:txBody>
      </p:sp>
      <p:sp>
        <p:nvSpPr>
          <p:cNvPr id="17" name="Shape 14"/>
          <p:cNvSpPr/>
          <p:nvPr/>
        </p:nvSpPr>
        <p:spPr>
          <a:xfrm>
            <a:off x="4882896" y="2029968"/>
            <a:ext cx="155448" cy="155448"/>
          </a:xfrm>
          <a:prstGeom prst="ellipse">
            <a:avLst/>
          </a:prstGeom>
          <a:solidFill>
            <a:srgbClr val="2E6FBF"/>
          </a:solidFill>
          <a:ln/>
        </p:spPr>
      </p:sp>
      <p:sp>
        <p:nvSpPr>
          <p:cNvPr id="18" name="Shape 15"/>
          <p:cNvSpPr/>
          <p:nvPr/>
        </p:nvSpPr>
        <p:spPr>
          <a:xfrm>
            <a:off x="5120640" y="2029968"/>
            <a:ext cx="155448" cy="155448"/>
          </a:xfrm>
          <a:prstGeom prst="ellipse">
            <a:avLst/>
          </a:prstGeom>
          <a:solidFill>
            <a:srgbClr val="2E6FBF"/>
          </a:solidFill>
          <a:ln/>
        </p:spPr>
      </p:sp>
      <p:sp>
        <p:nvSpPr>
          <p:cNvPr id="19" name="Shape 16"/>
          <p:cNvSpPr/>
          <p:nvPr/>
        </p:nvSpPr>
        <p:spPr>
          <a:xfrm>
            <a:off x="5358384" y="2029968"/>
            <a:ext cx="155448" cy="155448"/>
          </a:xfrm>
          <a:prstGeom prst="ellipse">
            <a:avLst/>
          </a:prstGeom>
          <a:solidFill>
            <a:srgbClr val="C9D3E3"/>
          </a:solidFill>
          <a:ln/>
        </p:spPr>
      </p:sp>
      <p:sp>
        <p:nvSpPr>
          <p:cNvPr id="20" name="Shape 17"/>
          <p:cNvSpPr/>
          <p:nvPr/>
        </p:nvSpPr>
        <p:spPr>
          <a:xfrm>
            <a:off x="5596128" y="2029968"/>
            <a:ext cx="155448" cy="155448"/>
          </a:xfrm>
          <a:prstGeom prst="ellipse">
            <a:avLst/>
          </a:prstGeom>
          <a:solidFill>
            <a:srgbClr val="C9D3E3"/>
          </a:solidFill>
          <a:ln/>
        </p:spPr>
      </p:sp>
      <p:sp>
        <p:nvSpPr>
          <p:cNvPr id="21" name="Text 18"/>
          <p:cNvSpPr txBox="1"/>
          <p:nvPr/>
        </p:nvSpPr>
        <p:spPr>
          <a:xfrm>
            <a:off x="3575304" y="2331720"/>
            <a:ext cx="2240280" cy="54864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Workflow automation</a:t>
            </a:r>
            <a:endParaRPr lang="en-US" sz="1400" dirty="0"/>
          </a:p>
        </p:txBody>
      </p:sp>
      <p:sp>
        <p:nvSpPr>
          <p:cNvPr id="22" name="Text 19"/>
          <p:cNvSpPr txBox="1"/>
          <p:nvPr/>
        </p:nvSpPr>
        <p:spPr>
          <a:xfrm>
            <a:off x="3575304" y="2880360"/>
            <a:ext cx="2240280" cy="640080"/>
          </a:xfrm>
          <a:prstGeom prst="rect">
            <a:avLst/>
          </a:prstGeom>
          <a:noFill/>
          <a:ln/>
        </p:spPr>
        <p:txBody>
          <a:bodyPr wrap="square" lIns="0" tIns="0" rIns="0" bIns="0" rtlCol="0" anchor="t"/>
          <a:lstStyle/>
          <a:p>
            <a:pPr indent="0" marL="0">
              <a:buNone/>
            </a:pPr>
            <a:r>
              <a:rPr lang="en-US" sz="1200" dirty="0">
                <a:solidFill>
                  <a:srgbClr val="0F1341"/>
                </a:solidFill>
                <a:latin typeface="Montserrat" pitchFamily="34" charset="0"/>
                <a:ea typeface="Montserrat" pitchFamily="34" charset="-122"/>
                <a:cs typeface="Montserrat" pitchFamily="34" charset="-120"/>
              </a:rPr>
              <a:t>CRM events trigger AI steps via APIs</a:t>
            </a:r>
            <a:endParaRPr lang="en-US" sz="1200" dirty="0"/>
          </a:p>
        </p:txBody>
      </p:sp>
      <p:sp>
        <p:nvSpPr>
          <p:cNvPr id="23" name="Text 20"/>
          <p:cNvSpPr txBox="1"/>
          <p:nvPr/>
        </p:nvSpPr>
        <p:spPr>
          <a:xfrm>
            <a:off x="3575304" y="3520440"/>
            <a:ext cx="2240280" cy="502920"/>
          </a:xfrm>
          <a:prstGeom prst="rect">
            <a:avLst/>
          </a:prstGeom>
          <a:noFill/>
          <a:ln/>
        </p:spPr>
        <p:txBody>
          <a:bodyPr wrap="square" lIns="0" tIns="0" rIns="0" bIns="0" rtlCol="0" anchor="t"/>
          <a:lstStyle/>
          <a:p>
            <a:pPr indent="0" marL="0">
              <a:buNone/>
            </a:pPr>
            <a:r>
              <a:rPr lang="en-US" sz="1050" i="1" dirty="0">
                <a:solidFill>
                  <a:srgbClr val="5B6270"/>
                </a:solidFill>
                <a:latin typeface="Montserrat" pitchFamily="34" charset="0"/>
                <a:ea typeface="Montserrat" pitchFamily="34" charset="-122"/>
                <a:cs typeface="Montserrat" pitchFamily="34" charset="-120"/>
              </a:rPr>
              <a:t>e.g. Make, Zapier, n8n</a:t>
            </a:r>
            <a:endParaRPr lang="en-US" sz="1050" dirty="0"/>
          </a:p>
        </p:txBody>
      </p:sp>
      <p:sp>
        <p:nvSpPr>
          <p:cNvPr id="24" name="Text 21"/>
          <p:cNvSpPr txBox="1"/>
          <p:nvPr/>
        </p:nvSpPr>
        <p:spPr>
          <a:xfrm>
            <a:off x="3575304" y="4069080"/>
            <a:ext cx="2240280" cy="502920"/>
          </a:xfrm>
          <a:prstGeom prst="rect">
            <a:avLst/>
          </a:prstGeom>
          <a:noFill/>
          <a:ln/>
        </p:spPr>
        <p:txBody>
          <a:bodyPr wrap="square" lIns="0" tIns="0" rIns="0" bIns="0" rtlCol="0" anchor="t"/>
          <a:lstStyle/>
          <a:p>
            <a:pPr indent="0" marL="0">
              <a:buNone/>
            </a:pPr>
            <a:r>
              <a:rPr lang="en-US" sz="1050" b="1" dirty="0">
                <a:solidFill>
                  <a:srgbClr val="2E6FBF"/>
                </a:solidFill>
                <a:latin typeface="Montserrat" pitchFamily="34" charset="0"/>
                <a:ea typeface="Montserrat" pitchFamily="34" charset="-122"/>
                <a:cs typeface="Montserrat" pitchFamily="34" charset="-120"/>
              </a:rPr>
              <a:t>Quick wins · needs maintenance</a:t>
            </a:r>
            <a:endParaRPr lang="en-US" sz="1050" dirty="0"/>
          </a:p>
        </p:txBody>
      </p:sp>
      <p:sp>
        <p:nvSpPr>
          <p:cNvPr id="25" name="Shape 22"/>
          <p:cNvSpPr/>
          <p:nvPr/>
        </p:nvSpPr>
        <p:spPr>
          <a:xfrm>
            <a:off x="6199632" y="1783080"/>
            <a:ext cx="2615184" cy="2880360"/>
          </a:xfrm>
          <a:prstGeom prst="roundRect">
            <a:avLst>
              <a:gd name="adj" fmla="val 2797"/>
            </a:avLst>
          </a:prstGeom>
          <a:solidFill>
            <a:srgbClr val="0F1341"/>
          </a:solidFill>
          <a:ln/>
        </p:spPr>
      </p:sp>
      <p:sp>
        <p:nvSpPr>
          <p:cNvPr id="26" name="Text 23"/>
          <p:cNvSpPr txBox="1"/>
          <p:nvPr/>
        </p:nvSpPr>
        <p:spPr>
          <a:xfrm>
            <a:off x="6400800" y="1920240"/>
            <a:ext cx="914400" cy="365760"/>
          </a:xfrm>
          <a:prstGeom prst="rect">
            <a:avLst/>
          </a:prstGeom>
          <a:noFill/>
          <a:ln/>
        </p:spPr>
        <p:txBody>
          <a:bodyPr wrap="square" lIns="0" tIns="0" rIns="0" bIns="0" rtlCol="0" anchor="t"/>
          <a:lstStyle/>
          <a:p>
            <a:pPr indent="0" marL="0">
              <a:buNone/>
            </a:pPr>
            <a:r>
              <a:rPr lang="en-US" sz="1600" b="1" dirty="0">
                <a:solidFill>
                  <a:srgbClr val="4A8FDB"/>
                </a:solidFill>
                <a:latin typeface="Montserrat" pitchFamily="34" charset="0"/>
                <a:ea typeface="Montserrat" pitchFamily="34" charset="-122"/>
                <a:cs typeface="Montserrat" pitchFamily="34" charset="-120"/>
              </a:rPr>
              <a:t>03</a:t>
            </a:r>
            <a:endParaRPr lang="en-US" sz="1600" dirty="0"/>
          </a:p>
        </p:txBody>
      </p:sp>
      <p:sp>
        <p:nvSpPr>
          <p:cNvPr id="27" name="Shape 24"/>
          <p:cNvSpPr/>
          <p:nvPr/>
        </p:nvSpPr>
        <p:spPr>
          <a:xfrm>
            <a:off x="7708392" y="2029968"/>
            <a:ext cx="155448" cy="155448"/>
          </a:xfrm>
          <a:prstGeom prst="ellipse">
            <a:avLst/>
          </a:prstGeom>
          <a:solidFill>
            <a:srgbClr val="4A8FDB"/>
          </a:solidFill>
          <a:ln/>
        </p:spPr>
      </p:sp>
      <p:sp>
        <p:nvSpPr>
          <p:cNvPr id="28" name="Shape 25"/>
          <p:cNvSpPr/>
          <p:nvPr/>
        </p:nvSpPr>
        <p:spPr>
          <a:xfrm>
            <a:off x="7946136" y="2029968"/>
            <a:ext cx="155448" cy="155448"/>
          </a:xfrm>
          <a:prstGeom prst="ellipse">
            <a:avLst/>
          </a:prstGeom>
          <a:solidFill>
            <a:srgbClr val="4A8FDB"/>
          </a:solidFill>
          <a:ln/>
        </p:spPr>
      </p:sp>
      <p:sp>
        <p:nvSpPr>
          <p:cNvPr id="29" name="Shape 26"/>
          <p:cNvSpPr/>
          <p:nvPr/>
        </p:nvSpPr>
        <p:spPr>
          <a:xfrm>
            <a:off x="8183880" y="2029968"/>
            <a:ext cx="155448" cy="155448"/>
          </a:xfrm>
          <a:prstGeom prst="ellipse">
            <a:avLst/>
          </a:prstGeom>
          <a:solidFill>
            <a:srgbClr val="4A8FDB"/>
          </a:solidFill>
          <a:ln/>
        </p:spPr>
      </p:sp>
      <p:sp>
        <p:nvSpPr>
          <p:cNvPr id="30" name="Shape 27"/>
          <p:cNvSpPr/>
          <p:nvPr/>
        </p:nvSpPr>
        <p:spPr>
          <a:xfrm>
            <a:off x="8421624" y="2029968"/>
            <a:ext cx="155448" cy="155448"/>
          </a:xfrm>
          <a:prstGeom prst="ellipse">
            <a:avLst/>
          </a:prstGeom>
          <a:solidFill>
            <a:srgbClr val="2A3170"/>
          </a:solidFill>
          <a:ln/>
        </p:spPr>
      </p:sp>
      <p:sp>
        <p:nvSpPr>
          <p:cNvPr id="31" name="Text 28"/>
          <p:cNvSpPr txBox="1"/>
          <p:nvPr/>
        </p:nvSpPr>
        <p:spPr>
          <a:xfrm>
            <a:off x="6400800" y="2331720"/>
            <a:ext cx="2240280" cy="548640"/>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AI agents with connectors</a:t>
            </a:r>
            <a:endParaRPr lang="en-US" sz="1400" dirty="0"/>
          </a:p>
        </p:txBody>
      </p:sp>
      <p:sp>
        <p:nvSpPr>
          <p:cNvPr id="32" name="Text 29"/>
          <p:cNvSpPr txBox="1"/>
          <p:nvPr/>
        </p:nvSpPr>
        <p:spPr>
          <a:xfrm>
            <a:off x="6400800" y="2880360"/>
            <a:ext cx="2240280" cy="640080"/>
          </a:xfrm>
          <a:prstGeom prst="rect">
            <a:avLst/>
          </a:prstGeom>
          <a:noFill/>
          <a:ln/>
        </p:spPr>
        <p:txBody>
          <a:bodyPr wrap="square" lIns="0" tIns="0" rIns="0" bIns="0" rtlCol="0" anchor="t"/>
          <a:lstStyle/>
          <a:p>
            <a:pPr indent="0" marL="0">
              <a:buNone/>
            </a:pPr>
            <a:r>
              <a:rPr lang="en-US" sz="1200" dirty="0">
                <a:solidFill>
                  <a:srgbClr val="FFFFFF"/>
                </a:solidFill>
                <a:latin typeface="Montserrat" pitchFamily="34" charset="0"/>
                <a:ea typeface="Montserrat" pitchFamily="34" charset="-122"/>
                <a:cs typeface="Montserrat" pitchFamily="34" charset="-120"/>
              </a:rPr>
              <a:t>Agents read and write the CRM through APIs or MCP</a:t>
            </a:r>
            <a:endParaRPr lang="en-US" sz="1200" dirty="0"/>
          </a:p>
        </p:txBody>
      </p:sp>
      <p:sp>
        <p:nvSpPr>
          <p:cNvPr id="33" name="Text 30"/>
          <p:cNvSpPr txBox="1"/>
          <p:nvPr/>
        </p:nvSpPr>
        <p:spPr>
          <a:xfrm>
            <a:off x="6400800" y="3520440"/>
            <a:ext cx="2240280" cy="502920"/>
          </a:xfrm>
          <a:prstGeom prst="rect">
            <a:avLst/>
          </a:prstGeom>
          <a:noFill/>
          <a:ln/>
        </p:spPr>
        <p:txBody>
          <a:bodyPr wrap="square" lIns="0" tIns="0" rIns="0" bIns="0" rtlCol="0" anchor="t"/>
          <a:lstStyle/>
          <a:p>
            <a:pPr indent="0" marL="0">
              <a:buNone/>
            </a:pPr>
            <a:r>
              <a:rPr lang="en-US" sz="1050" i="1" dirty="0">
                <a:solidFill>
                  <a:srgbClr val="C9D3E3"/>
                </a:solidFill>
                <a:latin typeface="Montserrat" pitchFamily="34" charset="0"/>
                <a:ea typeface="Montserrat" pitchFamily="34" charset="-122"/>
                <a:cs typeface="Montserrat" pitchFamily="34" charset="-120"/>
              </a:rPr>
              <a:t>One agent across CRM, ERP, email</a:t>
            </a:r>
            <a:endParaRPr lang="en-US" sz="1050" dirty="0"/>
          </a:p>
        </p:txBody>
      </p:sp>
      <p:sp>
        <p:nvSpPr>
          <p:cNvPr id="34" name="Text 31"/>
          <p:cNvSpPr txBox="1"/>
          <p:nvPr/>
        </p:nvSpPr>
        <p:spPr>
          <a:xfrm>
            <a:off x="6400800" y="4069080"/>
            <a:ext cx="2240280" cy="502920"/>
          </a:xfrm>
          <a:prstGeom prst="rect">
            <a:avLst/>
          </a:prstGeom>
          <a:noFill/>
          <a:ln/>
        </p:spPr>
        <p:txBody>
          <a:bodyPr wrap="square" lIns="0" tIns="0" rIns="0" bIns="0" rtlCol="0" anchor="t"/>
          <a:lstStyle/>
          <a:p>
            <a:pPr indent="0" marL="0">
              <a:buNone/>
            </a:pPr>
            <a:r>
              <a:rPr lang="en-US" sz="1050" b="1" dirty="0">
                <a:solidFill>
                  <a:srgbClr val="4A8FDB"/>
                </a:solidFill>
                <a:latin typeface="Montserrat" pitchFamily="34" charset="0"/>
                <a:ea typeface="Montserrat" pitchFamily="34" charset="-122"/>
                <a:cs typeface="Montserrat" pitchFamily="34" charset="-120"/>
              </a:rPr>
              <a:t>Flexible · needs clear permissions</a:t>
            </a:r>
            <a:endParaRPr lang="en-US" sz="1050" dirty="0"/>
          </a:p>
        </p:txBody>
      </p:sp>
      <p:sp>
        <p:nvSpPr>
          <p:cNvPr id="35" name="Shape 32"/>
          <p:cNvSpPr/>
          <p:nvPr/>
        </p:nvSpPr>
        <p:spPr>
          <a:xfrm>
            <a:off x="9025128" y="1783080"/>
            <a:ext cx="2615184" cy="2880360"/>
          </a:xfrm>
          <a:prstGeom prst="roundRect">
            <a:avLst>
              <a:gd name="adj" fmla="val 2797"/>
            </a:avLst>
          </a:prstGeom>
          <a:solidFill>
            <a:srgbClr val="F3F7FC"/>
          </a:solidFill>
          <a:ln/>
        </p:spPr>
      </p:sp>
      <p:sp>
        <p:nvSpPr>
          <p:cNvPr id="36" name="Text 33"/>
          <p:cNvSpPr txBox="1"/>
          <p:nvPr/>
        </p:nvSpPr>
        <p:spPr>
          <a:xfrm>
            <a:off x="9226296" y="1920240"/>
            <a:ext cx="914400" cy="365760"/>
          </a:xfrm>
          <a:prstGeom prst="rect">
            <a:avLst/>
          </a:prstGeom>
          <a:noFill/>
          <a:ln/>
        </p:spPr>
        <p:txBody>
          <a:bodyPr wrap="square" lIns="0" tIns="0" rIns="0" bIns="0" rtlCol="0" anchor="t"/>
          <a:lstStyle/>
          <a:p>
            <a:pPr indent="0" marL="0">
              <a:buNone/>
            </a:pPr>
            <a:r>
              <a:rPr lang="en-US" sz="1600" b="1" dirty="0">
                <a:solidFill>
                  <a:srgbClr val="2E6FBF"/>
                </a:solidFill>
                <a:latin typeface="Montserrat" pitchFamily="34" charset="0"/>
                <a:ea typeface="Montserrat" pitchFamily="34" charset="-122"/>
                <a:cs typeface="Montserrat" pitchFamily="34" charset="-120"/>
              </a:rPr>
              <a:t>04</a:t>
            </a:r>
            <a:endParaRPr lang="en-US" sz="1600" dirty="0"/>
          </a:p>
        </p:txBody>
      </p:sp>
      <p:sp>
        <p:nvSpPr>
          <p:cNvPr id="37" name="Shape 34"/>
          <p:cNvSpPr/>
          <p:nvPr/>
        </p:nvSpPr>
        <p:spPr>
          <a:xfrm>
            <a:off x="10533888" y="2029968"/>
            <a:ext cx="155448" cy="155448"/>
          </a:xfrm>
          <a:prstGeom prst="ellipse">
            <a:avLst/>
          </a:prstGeom>
          <a:solidFill>
            <a:srgbClr val="2E6FBF"/>
          </a:solidFill>
          <a:ln/>
        </p:spPr>
      </p:sp>
      <p:sp>
        <p:nvSpPr>
          <p:cNvPr id="38" name="Shape 35"/>
          <p:cNvSpPr/>
          <p:nvPr/>
        </p:nvSpPr>
        <p:spPr>
          <a:xfrm>
            <a:off x="10771632" y="2029968"/>
            <a:ext cx="155448" cy="155448"/>
          </a:xfrm>
          <a:prstGeom prst="ellipse">
            <a:avLst/>
          </a:prstGeom>
          <a:solidFill>
            <a:srgbClr val="2E6FBF"/>
          </a:solidFill>
          <a:ln/>
        </p:spPr>
      </p:sp>
      <p:sp>
        <p:nvSpPr>
          <p:cNvPr id="39" name="Shape 36"/>
          <p:cNvSpPr/>
          <p:nvPr/>
        </p:nvSpPr>
        <p:spPr>
          <a:xfrm>
            <a:off x="11009376" y="2029968"/>
            <a:ext cx="155448" cy="155448"/>
          </a:xfrm>
          <a:prstGeom prst="ellipse">
            <a:avLst/>
          </a:prstGeom>
          <a:solidFill>
            <a:srgbClr val="2E6FBF"/>
          </a:solidFill>
          <a:ln/>
        </p:spPr>
      </p:sp>
      <p:sp>
        <p:nvSpPr>
          <p:cNvPr id="40" name="Shape 37"/>
          <p:cNvSpPr/>
          <p:nvPr/>
        </p:nvSpPr>
        <p:spPr>
          <a:xfrm>
            <a:off x="11247120" y="2029968"/>
            <a:ext cx="155448" cy="155448"/>
          </a:xfrm>
          <a:prstGeom prst="ellipse">
            <a:avLst/>
          </a:prstGeom>
          <a:solidFill>
            <a:srgbClr val="2E6FBF"/>
          </a:solidFill>
          <a:ln/>
        </p:spPr>
      </p:sp>
      <p:sp>
        <p:nvSpPr>
          <p:cNvPr id="41" name="Text 38"/>
          <p:cNvSpPr txBox="1"/>
          <p:nvPr/>
        </p:nvSpPr>
        <p:spPr>
          <a:xfrm>
            <a:off x="9226296" y="2331720"/>
            <a:ext cx="2240280" cy="54864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Data platform + own models</a:t>
            </a:r>
            <a:endParaRPr lang="en-US" sz="1400" dirty="0"/>
          </a:p>
        </p:txBody>
      </p:sp>
      <p:sp>
        <p:nvSpPr>
          <p:cNvPr id="42" name="Text 39"/>
          <p:cNvSpPr txBox="1"/>
          <p:nvPr/>
        </p:nvSpPr>
        <p:spPr>
          <a:xfrm>
            <a:off x="9226296" y="2880360"/>
            <a:ext cx="2240280" cy="640080"/>
          </a:xfrm>
          <a:prstGeom prst="rect">
            <a:avLst/>
          </a:prstGeom>
          <a:noFill/>
          <a:ln/>
        </p:spPr>
        <p:txBody>
          <a:bodyPr wrap="square" lIns="0" tIns="0" rIns="0" bIns="0" rtlCol="0" anchor="t"/>
          <a:lstStyle/>
          <a:p>
            <a:pPr indent="0" marL="0">
              <a:buNone/>
            </a:pPr>
            <a:r>
              <a:rPr lang="en-US" sz="1200" dirty="0">
                <a:solidFill>
                  <a:srgbClr val="0F1341"/>
                </a:solidFill>
                <a:latin typeface="Montserrat" pitchFamily="34" charset="0"/>
                <a:ea typeface="Montserrat" pitchFamily="34" charset="-122"/>
                <a:cs typeface="Montserrat" pitchFamily="34" charset="-120"/>
              </a:rPr>
              <a:t>CRM, ERP and web data in one warehouse, own models</a:t>
            </a:r>
            <a:endParaRPr lang="en-US" sz="1200" dirty="0"/>
          </a:p>
        </p:txBody>
      </p:sp>
      <p:sp>
        <p:nvSpPr>
          <p:cNvPr id="43" name="Text 40"/>
          <p:cNvSpPr txBox="1"/>
          <p:nvPr/>
        </p:nvSpPr>
        <p:spPr>
          <a:xfrm>
            <a:off x="9226296" y="3520440"/>
            <a:ext cx="2240280" cy="502920"/>
          </a:xfrm>
          <a:prstGeom prst="rect">
            <a:avLst/>
          </a:prstGeom>
          <a:noFill/>
          <a:ln/>
        </p:spPr>
        <p:txBody>
          <a:bodyPr wrap="square" lIns="0" tIns="0" rIns="0" bIns="0" rtlCol="0" anchor="t"/>
          <a:lstStyle/>
          <a:p>
            <a:pPr indent="0" marL="0">
              <a:buNone/>
            </a:pPr>
            <a:r>
              <a:rPr lang="en-US" sz="1050" i="1" dirty="0">
                <a:solidFill>
                  <a:srgbClr val="5B6270"/>
                </a:solidFill>
                <a:latin typeface="Montserrat" pitchFamily="34" charset="0"/>
                <a:ea typeface="Montserrat" pitchFamily="34" charset="-122"/>
                <a:cs typeface="Montserrat" pitchFamily="34" charset="-120"/>
              </a:rPr>
              <a:t>Results written back to the CRM</a:t>
            </a:r>
            <a:endParaRPr lang="en-US" sz="1050" dirty="0"/>
          </a:p>
        </p:txBody>
      </p:sp>
      <p:sp>
        <p:nvSpPr>
          <p:cNvPr id="44" name="Text 41"/>
          <p:cNvSpPr txBox="1"/>
          <p:nvPr/>
        </p:nvSpPr>
        <p:spPr>
          <a:xfrm>
            <a:off x="9226296" y="4069080"/>
            <a:ext cx="2240280" cy="502920"/>
          </a:xfrm>
          <a:prstGeom prst="rect">
            <a:avLst/>
          </a:prstGeom>
          <a:noFill/>
          <a:ln/>
        </p:spPr>
        <p:txBody>
          <a:bodyPr wrap="square" lIns="0" tIns="0" rIns="0" bIns="0" rtlCol="0" anchor="t"/>
          <a:lstStyle/>
          <a:p>
            <a:pPr indent="0" marL="0">
              <a:buNone/>
            </a:pPr>
            <a:r>
              <a:rPr lang="en-US" sz="1050" b="1" dirty="0">
                <a:solidFill>
                  <a:srgbClr val="2E6FBF"/>
                </a:solidFill>
                <a:latin typeface="Montserrat" pitchFamily="34" charset="0"/>
                <a:ea typeface="Montserrat" pitchFamily="34" charset="-122"/>
                <a:cs typeface="Montserrat" pitchFamily="34" charset="-120"/>
              </a:rPr>
              <a:t>Most control · highest effort</a:t>
            </a:r>
            <a:endParaRPr lang="en-US" sz="1050" dirty="0"/>
          </a:p>
        </p:txBody>
      </p:sp>
      <p:sp>
        <p:nvSpPr>
          <p:cNvPr id="45" name="Text 42"/>
          <p:cNvSpPr txBox="1"/>
          <p:nvPr/>
        </p:nvSpPr>
        <p:spPr>
          <a:xfrm>
            <a:off x="8778240" y="1481328"/>
            <a:ext cx="2862072" cy="228600"/>
          </a:xfrm>
          <a:prstGeom prst="rect">
            <a:avLst/>
          </a:prstGeom>
          <a:noFill/>
          <a:ln/>
        </p:spPr>
        <p:txBody>
          <a:bodyPr wrap="square" lIns="0" tIns="0" rIns="0" bIns="0" rtlCol="0" anchor="t"/>
          <a:lstStyle/>
          <a:p>
            <a:pPr algn="r" indent="0" marL="0">
              <a:buNone/>
            </a:pPr>
            <a:r>
              <a:rPr lang="en-US" sz="900" b="1" dirty="0">
                <a:solidFill>
                  <a:srgbClr val="8A93A3"/>
                </a:solidFill>
                <a:latin typeface="Montserrat" pitchFamily="34" charset="0"/>
                <a:ea typeface="Montserrat" pitchFamily="34" charset="-122"/>
                <a:cs typeface="Montserrat" pitchFamily="34" charset="-120"/>
              </a:rPr>
              <a:t>EFFORT  ●○○○ → ●●●●</a:t>
            </a:r>
            <a:endParaRPr lang="en-US" sz="900" dirty="0"/>
          </a:p>
        </p:txBody>
      </p:sp>
      <p:sp>
        <p:nvSpPr>
          <p:cNvPr id="46" name="Text 43"/>
          <p:cNvSpPr txBox="1"/>
          <p:nvPr/>
        </p:nvSpPr>
        <p:spPr>
          <a:xfrm>
            <a:off x="548640" y="4846320"/>
            <a:ext cx="73152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THE ROADMAP — THE SAME IN EVERY CASE</a:t>
            </a:r>
            <a:endParaRPr lang="en-US" sz="1000" dirty="0"/>
          </a:p>
        </p:txBody>
      </p:sp>
      <p:sp>
        <p:nvSpPr>
          <p:cNvPr id="47" name="Shape 44"/>
          <p:cNvSpPr/>
          <p:nvPr/>
        </p:nvSpPr>
        <p:spPr>
          <a:xfrm>
            <a:off x="548640" y="5166360"/>
            <a:ext cx="2194560" cy="548640"/>
          </a:xfrm>
          <a:prstGeom prst="chevron">
            <a:avLst/>
          </a:prstGeom>
          <a:solidFill>
            <a:srgbClr val="0F1341"/>
          </a:solidFill>
          <a:ln/>
        </p:spPr>
      </p:sp>
      <p:sp>
        <p:nvSpPr>
          <p:cNvPr id="48" name="Text 45"/>
          <p:cNvSpPr txBox="1"/>
          <p:nvPr/>
        </p:nvSpPr>
        <p:spPr>
          <a:xfrm>
            <a:off x="822960" y="5166360"/>
            <a:ext cx="16916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Clean data</a:t>
            </a:r>
            <a:endParaRPr lang="en-US" sz="1200" dirty="0"/>
          </a:p>
        </p:txBody>
      </p:sp>
      <p:sp>
        <p:nvSpPr>
          <p:cNvPr id="49" name="Shape 46"/>
          <p:cNvSpPr/>
          <p:nvPr/>
        </p:nvSpPr>
        <p:spPr>
          <a:xfrm>
            <a:off x="2788920" y="5166360"/>
            <a:ext cx="2194560" cy="548640"/>
          </a:xfrm>
          <a:prstGeom prst="chevron">
            <a:avLst/>
          </a:prstGeom>
          <a:solidFill>
            <a:srgbClr val="D9E8F8"/>
          </a:solidFill>
          <a:ln/>
        </p:spPr>
      </p:sp>
      <p:sp>
        <p:nvSpPr>
          <p:cNvPr id="50" name="Text 47"/>
          <p:cNvSpPr txBox="1"/>
          <p:nvPr/>
        </p:nvSpPr>
        <p:spPr>
          <a:xfrm>
            <a:off x="3063240" y="5166360"/>
            <a:ext cx="1691640" cy="548640"/>
          </a:xfrm>
          <a:prstGeom prst="rect">
            <a:avLst/>
          </a:prstGeom>
          <a:noFill/>
          <a:ln/>
        </p:spPr>
        <p:txBody>
          <a:bodyPr wrap="square" lIns="0" tIns="0" rIns="0" bIns="0" rtlCol="0" anchor="ctr"/>
          <a:lstStyle/>
          <a:p>
            <a:pPr algn="ctr" indent="0" marL="0">
              <a:buNone/>
            </a:pPr>
            <a:r>
              <a:rPr lang="en-US" sz="1200" b="1" dirty="0">
                <a:solidFill>
                  <a:srgbClr val="0F1341"/>
                </a:solidFill>
                <a:latin typeface="Montserrat" pitchFamily="34" charset="0"/>
                <a:ea typeface="Montserrat" pitchFamily="34" charset="-122"/>
                <a:cs typeface="Montserrat" pitchFamily="34" charset="-120"/>
              </a:rPr>
              <a:t>One use case</a:t>
            </a:r>
            <a:endParaRPr lang="en-US" sz="1200" dirty="0"/>
          </a:p>
        </p:txBody>
      </p:sp>
      <p:sp>
        <p:nvSpPr>
          <p:cNvPr id="51" name="Shape 48"/>
          <p:cNvSpPr/>
          <p:nvPr/>
        </p:nvSpPr>
        <p:spPr>
          <a:xfrm>
            <a:off x="5029200" y="5166360"/>
            <a:ext cx="2194560" cy="548640"/>
          </a:xfrm>
          <a:prstGeom prst="chevron">
            <a:avLst/>
          </a:prstGeom>
          <a:solidFill>
            <a:srgbClr val="D9E8F8"/>
          </a:solidFill>
          <a:ln/>
        </p:spPr>
      </p:sp>
      <p:sp>
        <p:nvSpPr>
          <p:cNvPr id="52" name="Text 49"/>
          <p:cNvSpPr txBox="1"/>
          <p:nvPr/>
        </p:nvSpPr>
        <p:spPr>
          <a:xfrm>
            <a:off x="5303520" y="5166360"/>
            <a:ext cx="1691640" cy="548640"/>
          </a:xfrm>
          <a:prstGeom prst="rect">
            <a:avLst/>
          </a:prstGeom>
          <a:noFill/>
          <a:ln/>
        </p:spPr>
        <p:txBody>
          <a:bodyPr wrap="square" lIns="0" tIns="0" rIns="0" bIns="0" rtlCol="0" anchor="ctr"/>
          <a:lstStyle/>
          <a:p>
            <a:pPr algn="ctr" indent="0" marL="0">
              <a:buNone/>
            </a:pPr>
            <a:r>
              <a:rPr lang="en-US" sz="1200" b="1" dirty="0">
                <a:solidFill>
                  <a:srgbClr val="0F1341"/>
                </a:solidFill>
                <a:latin typeface="Montserrat" pitchFamily="34" charset="0"/>
                <a:ea typeface="Montserrat" pitchFamily="34" charset="-122"/>
                <a:cs typeface="Montserrat" pitchFamily="34" charset="-120"/>
              </a:rPr>
              <a:t>Human in the loop</a:t>
            </a:r>
            <a:endParaRPr lang="en-US" sz="1200" dirty="0"/>
          </a:p>
        </p:txBody>
      </p:sp>
      <p:sp>
        <p:nvSpPr>
          <p:cNvPr id="53" name="Shape 50"/>
          <p:cNvSpPr/>
          <p:nvPr/>
        </p:nvSpPr>
        <p:spPr>
          <a:xfrm>
            <a:off x="7269480" y="5166360"/>
            <a:ext cx="2194560" cy="548640"/>
          </a:xfrm>
          <a:prstGeom prst="chevron">
            <a:avLst/>
          </a:prstGeom>
          <a:solidFill>
            <a:srgbClr val="D9E8F8"/>
          </a:solidFill>
          <a:ln/>
        </p:spPr>
      </p:sp>
      <p:sp>
        <p:nvSpPr>
          <p:cNvPr id="54" name="Text 51"/>
          <p:cNvSpPr txBox="1"/>
          <p:nvPr/>
        </p:nvSpPr>
        <p:spPr>
          <a:xfrm>
            <a:off x="7543800" y="5166360"/>
            <a:ext cx="1691640" cy="548640"/>
          </a:xfrm>
          <a:prstGeom prst="rect">
            <a:avLst/>
          </a:prstGeom>
          <a:noFill/>
          <a:ln/>
        </p:spPr>
        <p:txBody>
          <a:bodyPr wrap="square" lIns="0" tIns="0" rIns="0" bIns="0" rtlCol="0" anchor="ctr"/>
          <a:lstStyle/>
          <a:p>
            <a:pPr algn="ctr" indent="0" marL="0">
              <a:buNone/>
            </a:pPr>
            <a:r>
              <a:rPr lang="en-US" sz="1200" b="1" dirty="0">
                <a:solidFill>
                  <a:srgbClr val="0F1341"/>
                </a:solidFill>
                <a:latin typeface="Montserrat" pitchFamily="34" charset="0"/>
                <a:ea typeface="Montserrat" pitchFamily="34" charset="-122"/>
                <a:cs typeface="Montserrat" pitchFamily="34" charset="-120"/>
              </a:rPr>
              <a:t>Measure</a:t>
            </a:r>
            <a:endParaRPr lang="en-US" sz="1200" dirty="0"/>
          </a:p>
        </p:txBody>
      </p:sp>
      <p:sp>
        <p:nvSpPr>
          <p:cNvPr id="55" name="Shape 52"/>
          <p:cNvSpPr/>
          <p:nvPr/>
        </p:nvSpPr>
        <p:spPr>
          <a:xfrm>
            <a:off x="9509760" y="5166360"/>
            <a:ext cx="2194560" cy="548640"/>
          </a:xfrm>
          <a:prstGeom prst="chevron">
            <a:avLst/>
          </a:prstGeom>
          <a:solidFill>
            <a:srgbClr val="2E6FBF"/>
          </a:solidFill>
          <a:ln/>
        </p:spPr>
      </p:sp>
      <p:sp>
        <p:nvSpPr>
          <p:cNvPr id="56" name="Text 53"/>
          <p:cNvSpPr txBox="1"/>
          <p:nvPr/>
        </p:nvSpPr>
        <p:spPr>
          <a:xfrm>
            <a:off x="9784080" y="5166360"/>
            <a:ext cx="16916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Scale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Live: an AI agent inside the CRM</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Pattern 03 on stage — an agent reads, analyses and writes back to a CRM</a:t>
            </a:r>
            <a:endParaRPr lang="en-US" sz="1300" dirty="0"/>
          </a:p>
        </p:txBody>
      </p:sp>
      <p:sp>
        <p:nvSpPr>
          <p:cNvPr id="5" name="Shape 2"/>
          <p:cNvSpPr/>
          <p:nvPr/>
        </p:nvSpPr>
        <p:spPr>
          <a:xfrm>
            <a:off x="548640" y="1783080"/>
            <a:ext cx="2615184" cy="1828800"/>
          </a:xfrm>
          <a:prstGeom prst="roundRect">
            <a:avLst>
              <a:gd name="adj" fmla="val 4000"/>
            </a:avLst>
          </a:prstGeom>
          <a:solidFill>
            <a:srgbClr val="F3F7FC"/>
          </a:solidFill>
          <a:ln/>
        </p:spPr>
      </p:sp>
      <p:sp>
        <p:nvSpPr>
          <p:cNvPr id="6" name="Shape 3"/>
          <p:cNvSpPr/>
          <p:nvPr/>
        </p:nvSpPr>
        <p:spPr>
          <a:xfrm>
            <a:off x="749808" y="1965960"/>
            <a:ext cx="384048" cy="384048"/>
          </a:xfrm>
          <a:prstGeom prst="ellipse">
            <a:avLst/>
          </a:prstGeom>
          <a:solidFill>
            <a:srgbClr val="2E6FBF"/>
          </a:solidFill>
          <a:ln/>
        </p:spPr>
      </p:sp>
      <p:sp>
        <p:nvSpPr>
          <p:cNvPr id="7" name="Text 4"/>
          <p:cNvSpPr txBox="1"/>
          <p:nvPr/>
        </p:nvSpPr>
        <p:spPr>
          <a:xfrm>
            <a:off x="749808"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pic>
        <p:nvPicPr>
          <p:cNvPr id="8" name="Image 0" descr="preencoded.png">    </p:cNvPr>
          <p:cNvPicPr>
            <a:picLocks noChangeAspect="1"/>
          </p:cNvPicPr>
          <p:nvPr/>
        </p:nvPicPr>
        <p:blipFill>
          <a:blip r:embed="rId1"/>
          <a:stretch>
            <a:fillRect/>
          </a:stretch>
        </p:blipFill>
        <p:spPr>
          <a:xfrm>
            <a:off x="2606040" y="1965960"/>
            <a:ext cx="365760" cy="365760"/>
          </a:xfrm>
          <a:prstGeom prst="rect">
            <a:avLst/>
          </a:prstGeom>
        </p:spPr>
      </p:pic>
      <p:sp>
        <p:nvSpPr>
          <p:cNvPr id="9" name="Text 5"/>
          <p:cNvSpPr txBox="1"/>
          <p:nvPr/>
        </p:nvSpPr>
        <p:spPr>
          <a:xfrm>
            <a:off x="749808"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Sandbox CRM</a:t>
            </a:r>
            <a:endParaRPr lang="en-US" sz="1400" dirty="0"/>
          </a:p>
        </p:txBody>
      </p:sp>
      <p:sp>
        <p:nvSpPr>
          <p:cNvPr id="10" name="Text 6"/>
          <p:cNvSpPr txBox="1"/>
          <p:nvPr/>
        </p:nvSpPr>
        <p:spPr>
          <a:xfrm>
            <a:off x="749808"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Synthetic customers, orders and tickets</a:t>
            </a:r>
            <a:endParaRPr lang="en-US" sz="1200" dirty="0"/>
          </a:p>
        </p:txBody>
      </p:sp>
      <p:sp>
        <p:nvSpPr>
          <p:cNvPr id="11" name="Shape 7"/>
          <p:cNvSpPr/>
          <p:nvPr/>
        </p:nvSpPr>
        <p:spPr>
          <a:xfrm>
            <a:off x="3374136" y="1783080"/>
            <a:ext cx="2615184" cy="1828800"/>
          </a:xfrm>
          <a:prstGeom prst="roundRect">
            <a:avLst>
              <a:gd name="adj" fmla="val 4000"/>
            </a:avLst>
          </a:prstGeom>
          <a:solidFill>
            <a:srgbClr val="F3F7FC"/>
          </a:solidFill>
          <a:ln/>
        </p:spPr>
      </p:sp>
      <p:sp>
        <p:nvSpPr>
          <p:cNvPr id="12" name="Shape 8"/>
          <p:cNvSpPr/>
          <p:nvPr/>
        </p:nvSpPr>
        <p:spPr>
          <a:xfrm>
            <a:off x="3575304" y="1965960"/>
            <a:ext cx="384048" cy="384048"/>
          </a:xfrm>
          <a:prstGeom prst="ellipse">
            <a:avLst/>
          </a:prstGeom>
          <a:solidFill>
            <a:srgbClr val="2E6FBF"/>
          </a:solidFill>
          <a:ln/>
        </p:spPr>
      </p:sp>
      <p:sp>
        <p:nvSpPr>
          <p:cNvPr id="13" name="Text 9"/>
          <p:cNvSpPr txBox="1"/>
          <p:nvPr/>
        </p:nvSpPr>
        <p:spPr>
          <a:xfrm>
            <a:off x="3575304"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pic>
        <p:nvPicPr>
          <p:cNvPr id="14" name="Image 1" descr="preencoded.png">    </p:cNvPr>
          <p:cNvPicPr>
            <a:picLocks noChangeAspect="1"/>
          </p:cNvPicPr>
          <p:nvPr/>
        </p:nvPicPr>
        <p:blipFill>
          <a:blip r:embed="rId2"/>
          <a:stretch>
            <a:fillRect/>
          </a:stretch>
        </p:blipFill>
        <p:spPr>
          <a:xfrm>
            <a:off x="5431536" y="1965960"/>
            <a:ext cx="365760" cy="365760"/>
          </a:xfrm>
          <a:prstGeom prst="rect">
            <a:avLst/>
          </a:prstGeom>
        </p:spPr>
      </p:pic>
      <p:sp>
        <p:nvSpPr>
          <p:cNvPr id="15" name="Text 10"/>
          <p:cNvSpPr txBox="1"/>
          <p:nvPr/>
        </p:nvSpPr>
        <p:spPr>
          <a:xfrm>
            <a:off x="3575304"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Connect</a:t>
            </a:r>
            <a:endParaRPr lang="en-US" sz="1400" dirty="0"/>
          </a:p>
        </p:txBody>
      </p:sp>
      <p:sp>
        <p:nvSpPr>
          <p:cNvPr id="16" name="Text 11"/>
          <p:cNvSpPr txBox="1"/>
          <p:nvPr/>
        </p:nvSpPr>
        <p:spPr>
          <a:xfrm>
            <a:off x="3575304"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Claude Code via API or MCP connector</a:t>
            </a:r>
            <a:endParaRPr lang="en-US" sz="1200" dirty="0"/>
          </a:p>
        </p:txBody>
      </p:sp>
      <p:sp>
        <p:nvSpPr>
          <p:cNvPr id="17" name="Shape 12"/>
          <p:cNvSpPr/>
          <p:nvPr/>
        </p:nvSpPr>
        <p:spPr>
          <a:xfrm>
            <a:off x="6199632" y="1783080"/>
            <a:ext cx="2615184" cy="1828800"/>
          </a:xfrm>
          <a:prstGeom prst="roundRect">
            <a:avLst>
              <a:gd name="adj" fmla="val 4000"/>
            </a:avLst>
          </a:prstGeom>
          <a:solidFill>
            <a:srgbClr val="F3F7FC"/>
          </a:solidFill>
          <a:ln/>
        </p:spPr>
      </p:sp>
      <p:sp>
        <p:nvSpPr>
          <p:cNvPr id="18" name="Shape 13"/>
          <p:cNvSpPr/>
          <p:nvPr/>
        </p:nvSpPr>
        <p:spPr>
          <a:xfrm>
            <a:off x="6400800" y="1965960"/>
            <a:ext cx="384048" cy="384048"/>
          </a:xfrm>
          <a:prstGeom prst="ellipse">
            <a:avLst/>
          </a:prstGeom>
          <a:solidFill>
            <a:srgbClr val="2E6FBF"/>
          </a:solidFill>
          <a:ln/>
        </p:spPr>
      </p:sp>
      <p:sp>
        <p:nvSpPr>
          <p:cNvPr id="19" name="Text 14"/>
          <p:cNvSpPr txBox="1"/>
          <p:nvPr/>
        </p:nvSpPr>
        <p:spPr>
          <a:xfrm>
            <a:off x="640080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pic>
        <p:nvPicPr>
          <p:cNvPr id="20" name="Image 2" descr="preencoded.png">    </p:cNvPr>
          <p:cNvPicPr>
            <a:picLocks noChangeAspect="1"/>
          </p:cNvPicPr>
          <p:nvPr/>
        </p:nvPicPr>
        <p:blipFill>
          <a:blip r:embed="rId3"/>
          <a:stretch>
            <a:fillRect/>
          </a:stretch>
        </p:blipFill>
        <p:spPr>
          <a:xfrm>
            <a:off x="8257032" y="1965960"/>
            <a:ext cx="365760" cy="365760"/>
          </a:xfrm>
          <a:prstGeom prst="rect">
            <a:avLst/>
          </a:prstGeom>
        </p:spPr>
      </p:pic>
      <p:sp>
        <p:nvSpPr>
          <p:cNvPr id="21" name="Text 15"/>
          <p:cNvSpPr txBox="1"/>
          <p:nvPr/>
        </p:nvSpPr>
        <p:spPr>
          <a:xfrm>
            <a:off x="6400800" y="2514600"/>
            <a:ext cx="22402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Analyse</a:t>
            </a:r>
            <a:endParaRPr lang="en-US" sz="1400" dirty="0"/>
          </a:p>
        </p:txBody>
      </p:sp>
      <p:sp>
        <p:nvSpPr>
          <p:cNvPr id="22" name="Text 16"/>
          <p:cNvSpPr txBox="1"/>
          <p:nvPr/>
        </p:nvSpPr>
        <p:spPr>
          <a:xfrm>
            <a:off x="6400800" y="2880360"/>
            <a:ext cx="2240280" cy="64008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Find falling order frequency, estimate CLV</a:t>
            </a:r>
            <a:endParaRPr lang="en-US" sz="1200" dirty="0"/>
          </a:p>
        </p:txBody>
      </p:sp>
      <p:sp>
        <p:nvSpPr>
          <p:cNvPr id="23" name="Shape 17"/>
          <p:cNvSpPr/>
          <p:nvPr/>
        </p:nvSpPr>
        <p:spPr>
          <a:xfrm>
            <a:off x="9025128" y="1783080"/>
            <a:ext cx="2615184" cy="1828800"/>
          </a:xfrm>
          <a:prstGeom prst="roundRect">
            <a:avLst>
              <a:gd name="adj" fmla="val 4000"/>
            </a:avLst>
          </a:prstGeom>
          <a:solidFill>
            <a:srgbClr val="0F1341"/>
          </a:solidFill>
          <a:ln/>
        </p:spPr>
      </p:sp>
      <p:sp>
        <p:nvSpPr>
          <p:cNvPr id="24" name="Shape 18"/>
          <p:cNvSpPr/>
          <p:nvPr/>
        </p:nvSpPr>
        <p:spPr>
          <a:xfrm>
            <a:off x="9226296" y="1965960"/>
            <a:ext cx="384048" cy="384048"/>
          </a:xfrm>
          <a:prstGeom prst="ellipse">
            <a:avLst/>
          </a:prstGeom>
          <a:solidFill>
            <a:srgbClr val="4A8FDB"/>
          </a:solidFill>
          <a:ln/>
        </p:spPr>
      </p:sp>
      <p:sp>
        <p:nvSpPr>
          <p:cNvPr id="25" name="Text 19"/>
          <p:cNvSpPr txBox="1"/>
          <p:nvPr/>
        </p:nvSpPr>
        <p:spPr>
          <a:xfrm>
            <a:off x="9226296"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pic>
        <p:nvPicPr>
          <p:cNvPr id="26" name="Image 3" descr="preencoded.png">    </p:cNvPr>
          <p:cNvPicPr>
            <a:picLocks noChangeAspect="1"/>
          </p:cNvPicPr>
          <p:nvPr/>
        </p:nvPicPr>
        <p:blipFill>
          <a:blip r:embed="rId4"/>
          <a:stretch>
            <a:fillRect/>
          </a:stretch>
        </p:blipFill>
        <p:spPr>
          <a:xfrm>
            <a:off x="11082528" y="1965960"/>
            <a:ext cx="365760" cy="365760"/>
          </a:xfrm>
          <a:prstGeom prst="rect">
            <a:avLst/>
          </a:prstGeom>
        </p:spPr>
      </p:pic>
      <p:sp>
        <p:nvSpPr>
          <p:cNvPr id="27" name="Text 20"/>
          <p:cNvSpPr txBox="1"/>
          <p:nvPr/>
        </p:nvSpPr>
        <p:spPr>
          <a:xfrm>
            <a:off x="9226296" y="2514600"/>
            <a:ext cx="2240280" cy="365760"/>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Write back</a:t>
            </a:r>
            <a:endParaRPr lang="en-US" sz="1400" dirty="0"/>
          </a:p>
        </p:txBody>
      </p:sp>
      <p:sp>
        <p:nvSpPr>
          <p:cNvPr id="28" name="Text 21"/>
          <p:cNvSpPr txBox="1"/>
          <p:nvPr/>
        </p:nvSpPr>
        <p:spPr>
          <a:xfrm>
            <a:off x="9226296" y="2880360"/>
            <a:ext cx="2240280"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Draft emails as tasks — a person approves</a:t>
            </a:r>
            <a:endParaRPr lang="en-US" sz="1200" dirty="0"/>
          </a:p>
        </p:txBody>
      </p:sp>
      <p:sp>
        <p:nvSpPr>
          <p:cNvPr id="29" name="Shape 22"/>
          <p:cNvSpPr/>
          <p:nvPr/>
        </p:nvSpPr>
        <p:spPr>
          <a:xfrm>
            <a:off x="548640" y="3931920"/>
            <a:ext cx="2560320" cy="274320"/>
          </a:xfrm>
          <a:prstGeom prst="roundRect">
            <a:avLst>
              <a:gd name="adj" fmla="val 26667"/>
            </a:avLst>
          </a:prstGeom>
          <a:solidFill>
            <a:srgbClr val="2E6FBF"/>
          </a:solidFill>
          <a:ln/>
        </p:spPr>
      </p:sp>
      <p:sp>
        <p:nvSpPr>
          <p:cNvPr id="30" name="Text 23"/>
          <p:cNvSpPr txBox="1"/>
          <p:nvPr/>
        </p:nvSpPr>
        <p:spPr>
          <a:xfrm>
            <a:off x="548640" y="3931920"/>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LIVE DEMO  ·  CLAUDE CODE</a:t>
            </a:r>
            <a:endParaRPr lang="en-US" sz="900" dirty="0"/>
          </a:p>
        </p:txBody>
      </p:sp>
      <p:sp>
        <p:nvSpPr>
          <p:cNvPr id="31" name="Text 24"/>
          <p:cNvSpPr txBox="1"/>
          <p:nvPr/>
        </p:nvSpPr>
        <p:spPr>
          <a:xfrm>
            <a:off x="548640" y="4343400"/>
            <a:ext cx="5394960" cy="128016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You set the rules. </a:t>
            </a:r>
            <a:pPr indent="0" marL="0">
              <a:buNone/>
            </a:pPr>
            <a:r>
              <a:rPr lang="en-US" sz="1300" dirty="0">
                <a:solidFill>
                  <a:srgbClr val="0F1341"/>
                </a:solidFill>
                <a:latin typeface="Montserrat" pitchFamily="34" charset="0"/>
                <a:ea typeface="Montserrat" pitchFamily="34" charset="-122"/>
                <a:cs typeface="Montserrat" pitchFamily="34" charset="-120"/>
              </a:rPr>
              <a:t>Change the segment or add a guardrail — for example “only customers who agreed to marketing emails” — and the agent reruns in seconds.</a:t>
            </a:r>
            <a:endParaRPr lang="en-US" sz="1300" dirty="0"/>
          </a:p>
        </p:txBody>
      </p:sp>
      <p:sp>
        <p:nvSpPr>
          <p:cNvPr id="32" name="Shape 25"/>
          <p:cNvSpPr/>
          <p:nvPr/>
        </p:nvSpPr>
        <p:spPr>
          <a:xfrm>
            <a:off x="6263640" y="3931920"/>
            <a:ext cx="5376672" cy="1783080"/>
          </a:xfrm>
          <a:prstGeom prst="roundRect">
            <a:avLst>
              <a:gd name="adj" fmla="val 4103"/>
            </a:avLst>
          </a:prstGeom>
          <a:solidFill>
            <a:srgbClr val="0F1341"/>
          </a:solidFill>
          <a:ln/>
        </p:spPr>
      </p:sp>
      <p:sp>
        <p:nvSpPr>
          <p:cNvPr id="33" name="Text 26"/>
          <p:cNvSpPr txBox="1"/>
          <p:nvPr/>
        </p:nvSpPr>
        <p:spPr>
          <a:xfrm>
            <a:off x="6492240" y="4041648"/>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THE PROMPT ON STAGE</a:t>
            </a:r>
            <a:endParaRPr lang="en-US" sz="1000" dirty="0"/>
          </a:p>
        </p:txBody>
      </p:sp>
      <p:sp>
        <p:nvSpPr>
          <p:cNvPr id="34" name="Text 27"/>
          <p:cNvSpPr txBox="1"/>
          <p:nvPr/>
        </p:nvSpPr>
        <p:spPr>
          <a:xfrm>
            <a:off x="6492240" y="4343400"/>
            <a:ext cx="4937760" cy="128016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Find customers whose order frequency dropped by half in the last 90 days. Estimate their CLV. For the top 10, draft a personal win-back email and create a review task. Do not send anything.</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Beyond your own data: five AI engines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Your CRM knows today's customers — BMV adds evidence about the ones you don't have yet</a:t>
            </a:r>
            <a:endParaRPr lang="en-US" sz="1300" dirty="0"/>
          </a:p>
        </p:txBody>
      </p:sp>
      <p:sp>
        <p:nvSpPr>
          <p:cNvPr id="5" name="Text 2"/>
          <p:cNvSpPr txBox="1"/>
          <p:nvPr/>
        </p:nvSpPr>
        <p:spPr>
          <a:xfrm>
            <a:off x="54864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ENGINE  ·  AI MECHANISM</a:t>
            </a:r>
            <a:endParaRPr lang="en-US" sz="900" dirty="0"/>
          </a:p>
        </p:txBody>
      </p:sp>
      <p:sp>
        <p:nvSpPr>
          <p:cNvPr id="6" name="Text 3"/>
          <p:cNvSpPr txBox="1"/>
          <p:nvPr/>
        </p:nvSpPr>
        <p:spPr>
          <a:xfrm>
            <a:off x="416052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WHAT IT DOES</a:t>
            </a:r>
            <a:endParaRPr lang="en-US" sz="900" dirty="0"/>
          </a:p>
        </p:txBody>
      </p:sp>
      <p:sp>
        <p:nvSpPr>
          <p:cNvPr id="7" name="Text 4"/>
          <p:cNvSpPr txBox="1"/>
          <p:nvPr/>
        </p:nvSpPr>
        <p:spPr>
          <a:xfrm>
            <a:off x="8092440" y="1755648"/>
            <a:ext cx="356616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WHAT IT ADDS TO THE CRM</a:t>
            </a:r>
            <a:endParaRPr lang="en-US" sz="900" dirty="0"/>
          </a:p>
        </p:txBody>
      </p:sp>
      <p:sp>
        <p:nvSpPr>
          <p:cNvPr id="8" name="Shape 5"/>
          <p:cNvSpPr/>
          <p:nvPr/>
        </p:nvSpPr>
        <p:spPr>
          <a:xfrm>
            <a:off x="548640" y="2029968"/>
            <a:ext cx="11091672" cy="676656"/>
          </a:xfrm>
          <a:prstGeom prst="roundRect">
            <a:avLst>
              <a:gd name="adj" fmla="val 10811"/>
            </a:avLst>
          </a:prstGeom>
          <a:solidFill>
            <a:srgbClr val="F3F7FC"/>
          </a:solidFill>
          <a:ln/>
        </p:spPr>
      </p:sp>
      <p:sp>
        <p:nvSpPr>
          <p:cNvPr id="9" name="Shape 6"/>
          <p:cNvSpPr/>
          <p:nvPr/>
        </p:nvSpPr>
        <p:spPr>
          <a:xfrm>
            <a:off x="685800" y="2157984"/>
            <a:ext cx="420624" cy="420624"/>
          </a:xfrm>
          <a:prstGeom prst="ellipse">
            <a:avLst/>
          </a:prstGeom>
          <a:solidFill>
            <a:srgbClr val="0F1341"/>
          </a:solidFill>
          <a:ln/>
        </p:spPr>
      </p:sp>
      <p:sp>
        <p:nvSpPr>
          <p:cNvPr id="10" name="Text 7"/>
          <p:cNvSpPr txBox="1"/>
          <p:nvPr/>
        </p:nvSpPr>
        <p:spPr>
          <a:xfrm>
            <a:off x="685800" y="215798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E4</a:t>
            </a:r>
            <a:endParaRPr lang="en-US" sz="1100" dirty="0"/>
          </a:p>
        </p:txBody>
      </p:sp>
      <p:sp>
        <p:nvSpPr>
          <p:cNvPr id="11" name="Text 8"/>
          <p:cNvSpPr txBox="1"/>
          <p:nvPr/>
        </p:nvSpPr>
        <p:spPr>
          <a:xfrm>
            <a:off x="1234440" y="2103120"/>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Context Engine</a:t>
            </a:r>
            <a:endParaRPr lang="en-US" sz="1300" dirty="0"/>
          </a:p>
        </p:txBody>
      </p:sp>
      <p:sp>
        <p:nvSpPr>
          <p:cNvPr id="12" name="Text 9"/>
          <p:cNvSpPr txBox="1"/>
          <p:nvPr/>
        </p:nvSpPr>
        <p:spPr>
          <a:xfrm>
            <a:off x="1234440" y="2414016"/>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LLM RESEARCH AGENT</a:t>
            </a:r>
            <a:endParaRPr lang="en-US" sz="900" dirty="0"/>
          </a:p>
        </p:txBody>
      </p:sp>
      <p:sp>
        <p:nvSpPr>
          <p:cNvPr id="13" name="Text 10"/>
          <p:cNvSpPr txBox="1"/>
          <p:nvPr/>
        </p:nvSpPr>
        <p:spPr>
          <a:xfrm>
            <a:off x="4160520" y="2029968"/>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Reads competitor sites, reviews, regulation and news — extracts only what sources state</a:t>
            </a:r>
            <a:endParaRPr lang="en-US" sz="1100" dirty="0"/>
          </a:p>
        </p:txBody>
      </p:sp>
      <p:sp>
        <p:nvSpPr>
          <p:cNvPr id="14" name="Text 11"/>
          <p:cNvSpPr txBox="1"/>
          <p:nvPr/>
        </p:nvSpPr>
        <p:spPr>
          <a:xfrm>
            <a:off x="8092440" y="2029968"/>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What competitors offer your customers — prices, reviews, rules</a:t>
            </a:r>
            <a:endParaRPr lang="en-US" sz="1200" dirty="0"/>
          </a:p>
        </p:txBody>
      </p:sp>
      <p:sp>
        <p:nvSpPr>
          <p:cNvPr id="15" name="Shape 12"/>
          <p:cNvSpPr/>
          <p:nvPr/>
        </p:nvSpPr>
        <p:spPr>
          <a:xfrm>
            <a:off x="548640" y="2779776"/>
            <a:ext cx="11091672" cy="676656"/>
          </a:xfrm>
          <a:prstGeom prst="roundRect">
            <a:avLst>
              <a:gd name="adj" fmla="val 10811"/>
            </a:avLst>
          </a:prstGeom>
          <a:solidFill>
            <a:srgbClr val="F3F7FC"/>
          </a:solidFill>
          <a:ln/>
        </p:spPr>
      </p:sp>
      <p:sp>
        <p:nvSpPr>
          <p:cNvPr id="16" name="Shape 13"/>
          <p:cNvSpPr/>
          <p:nvPr/>
        </p:nvSpPr>
        <p:spPr>
          <a:xfrm>
            <a:off x="685800" y="2907792"/>
            <a:ext cx="420624" cy="420624"/>
          </a:xfrm>
          <a:prstGeom prst="ellipse">
            <a:avLst/>
          </a:prstGeom>
          <a:solidFill>
            <a:srgbClr val="0F1341"/>
          </a:solidFill>
          <a:ln/>
        </p:spPr>
      </p:sp>
      <p:sp>
        <p:nvSpPr>
          <p:cNvPr id="17" name="Text 14"/>
          <p:cNvSpPr txBox="1"/>
          <p:nvPr/>
        </p:nvSpPr>
        <p:spPr>
          <a:xfrm>
            <a:off x="685800" y="290779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E5</a:t>
            </a:r>
            <a:endParaRPr lang="en-US" sz="1100" dirty="0"/>
          </a:p>
        </p:txBody>
      </p:sp>
      <p:sp>
        <p:nvSpPr>
          <p:cNvPr id="18" name="Text 15"/>
          <p:cNvSpPr txBox="1"/>
          <p:nvPr/>
        </p:nvSpPr>
        <p:spPr>
          <a:xfrm>
            <a:off x="1234440" y="2852928"/>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Aggregate Research</a:t>
            </a:r>
            <a:endParaRPr lang="en-US" sz="1300" dirty="0"/>
          </a:p>
        </p:txBody>
      </p:sp>
      <p:sp>
        <p:nvSpPr>
          <p:cNvPr id="19" name="Text 16"/>
          <p:cNvSpPr txBox="1"/>
          <p:nvPr/>
        </p:nvSpPr>
        <p:spPr>
          <a:xfrm>
            <a:off x="1234440" y="3163824"/>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STATISTICAL AGENT</a:t>
            </a:r>
            <a:endParaRPr lang="en-US" sz="900" dirty="0"/>
          </a:p>
        </p:txBody>
      </p:sp>
      <p:sp>
        <p:nvSpPr>
          <p:cNvPr id="20" name="Text 17"/>
          <p:cNvSpPr txBox="1"/>
          <p:nvPr/>
        </p:nvSpPr>
        <p:spPr>
          <a:xfrm>
            <a:off x="4160520" y="2779776"/>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Official statistics, TAM / SAM / SOM — top-down and bottom-up</a:t>
            </a:r>
            <a:endParaRPr lang="en-US" sz="1100" dirty="0"/>
          </a:p>
        </p:txBody>
      </p:sp>
      <p:sp>
        <p:nvSpPr>
          <p:cNvPr id="21" name="Text 18"/>
          <p:cNvSpPr txBox="1"/>
          <p:nvPr/>
        </p:nvSpPr>
        <p:spPr>
          <a:xfrm>
            <a:off x="8092440" y="2779776"/>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How many potential customers exist per segment</a:t>
            </a:r>
            <a:endParaRPr lang="en-US" sz="1200" dirty="0"/>
          </a:p>
        </p:txBody>
      </p:sp>
      <p:sp>
        <p:nvSpPr>
          <p:cNvPr id="22" name="Shape 19"/>
          <p:cNvSpPr/>
          <p:nvPr/>
        </p:nvSpPr>
        <p:spPr>
          <a:xfrm>
            <a:off x="548640" y="3529584"/>
            <a:ext cx="11091672" cy="676656"/>
          </a:xfrm>
          <a:prstGeom prst="roundRect">
            <a:avLst>
              <a:gd name="adj" fmla="val 10811"/>
            </a:avLst>
          </a:prstGeom>
          <a:solidFill>
            <a:srgbClr val="F3F7FC"/>
          </a:solidFill>
          <a:ln/>
        </p:spPr>
      </p:sp>
      <p:sp>
        <p:nvSpPr>
          <p:cNvPr id="23" name="Shape 20"/>
          <p:cNvSpPr/>
          <p:nvPr/>
        </p:nvSpPr>
        <p:spPr>
          <a:xfrm>
            <a:off x="685800" y="3657600"/>
            <a:ext cx="420624" cy="420624"/>
          </a:xfrm>
          <a:prstGeom prst="ellipse">
            <a:avLst/>
          </a:prstGeom>
          <a:solidFill>
            <a:srgbClr val="0F1341"/>
          </a:solidFill>
          <a:ln/>
        </p:spPr>
      </p:sp>
      <p:sp>
        <p:nvSpPr>
          <p:cNvPr id="24" name="Text 21"/>
          <p:cNvSpPr txBox="1"/>
          <p:nvPr/>
        </p:nvSpPr>
        <p:spPr>
          <a:xfrm>
            <a:off x="685800" y="3657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E2</a:t>
            </a:r>
            <a:endParaRPr lang="en-US" sz="1100" dirty="0"/>
          </a:p>
        </p:txBody>
      </p:sp>
      <p:sp>
        <p:nvSpPr>
          <p:cNvPr id="25" name="Text 22"/>
          <p:cNvSpPr txBox="1"/>
          <p:nvPr/>
        </p:nvSpPr>
        <p:spPr>
          <a:xfrm>
            <a:off x="1234440" y="3602736"/>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Simulated Mind</a:t>
            </a:r>
            <a:endParaRPr lang="en-US" sz="1300" dirty="0"/>
          </a:p>
        </p:txBody>
      </p:sp>
      <p:sp>
        <p:nvSpPr>
          <p:cNvPr id="26" name="Text 23"/>
          <p:cNvSpPr txBox="1"/>
          <p:nvPr/>
        </p:nvSpPr>
        <p:spPr>
          <a:xfrm>
            <a:off x="1234440" y="3913632"/>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NEURO-AI MODEL</a:t>
            </a:r>
            <a:endParaRPr lang="en-US" sz="900" dirty="0"/>
          </a:p>
        </p:txBody>
      </p:sp>
      <p:sp>
        <p:nvSpPr>
          <p:cNvPr id="27" name="Text 24"/>
          <p:cNvSpPr txBox="1"/>
          <p:nvPr/>
        </p:nvSpPr>
        <p:spPr>
          <a:xfrm>
            <a:off x="4160520" y="3529584"/>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Predicts a segment's attention and valuation response to a message or price</a:t>
            </a:r>
            <a:endParaRPr lang="en-US" sz="1100" dirty="0"/>
          </a:p>
        </p:txBody>
      </p:sp>
      <p:sp>
        <p:nvSpPr>
          <p:cNvPr id="28" name="Text 25"/>
          <p:cNvSpPr txBox="1"/>
          <p:nvPr/>
        </p:nvSpPr>
        <p:spPr>
          <a:xfrm>
            <a:off x="8092440" y="3529584"/>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How a segment reacts to a new offer — before the campaign</a:t>
            </a:r>
            <a:endParaRPr lang="en-US" sz="1200" dirty="0"/>
          </a:p>
        </p:txBody>
      </p:sp>
      <p:sp>
        <p:nvSpPr>
          <p:cNvPr id="29" name="Shape 26"/>
          <p:cNvSpPr/>
          <p:nvPr/>
        </p:nvSpPr>
        <p:spPr>
          <a:xfrm>
            <a:off x="548640" y="4279392"/>
            <a:ext cx="11091672" cy="676656"/>
          </a:xfrm>
          <a:prstGeom prst="roundRect">
            <a:avLst>
              <a:gd name="adj" fmla="val 10811"/>
            </a:avLst>
          </a:prstGeom>
          <a:solidFill>
            <a:srgbClr val="F3F7FC"/>
          </a:solidFill>
          <a:ln/>
        </p:spPr>
      </p:sp>
      <p:sp>
        <p:nvSpPr>
          <p:cNvPr id="30" name="Shape 27"/>
          <p:cNvSpPr/>
          <p:nvPr/>
        </p:nvSpPr>
        <p:spPr>
          <a:xfrm>
            <a:off x="685800" y="4407408"/>
            <a:ext cx="420624" cy="420624"/>
          </a:xfrm>
          <a:prstGeom prst="ellipse">
            <a:avLst/>
          </a:prstGeom>
          <a:solidFill>
            <a:srgbClr val="0F1341"/>
          </a:solidFill>
          <a:ln/>
        </p:spPr>
      </p:sp>
      <p:sp>
        <p:nvSpPr>
          <p:cNvPr id="31" name="Text 28"/>
          <p:cNvSpPr txBox="1"/>
          <p:nvPr/>
        </p:nvSpPr>
        <p:spPr>
          <a:xfrm>
            <a:off x="685800" y="440740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E3</a:t>
            </a:r>
            <a:endParaRPr lang="en-US" sz="1100" dirty="0"/>
          </a:p>
        </p:txBody>
      </p:sp>
      <p:sp>
        <p:nvSpPr>
          <p:cNvPr id="32" name="Text 29"/>
          <p:cNvSpPr txBox="1"/>
          <p:nvPr/>
        </p:nvSpPr>
        <p:spPr>
          <a:xfrm>
            <a:off x="1234440" y="4352544"/>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Market World</a:t>
            </a:r>
            <a:endParaRPr lang="en-US" sz="1300" dirty="0"/>
          </a:p>
        </p:txBody>
      </p:sp>
      <p:sp>
        <p:nvSpPr>
          <p:cNvPr id="33" name="Text 30"/>
          <p:cNvSpPr txBox="1"/>
          <p:nvPr/>
        </p:nvSpPr>
        <p:spPr>
          <a:xfrm>
            <a:off x="1234440" y="4663440"/>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MULTI-AGENT SIMULATION</a:t>
            </a:r>
            <a:endParaRPr lang="en-US" sz="900" dirty="0"/>
          </a:p>
        </p:txBody>
      </p:sp>
      <p:sp>
        <p:nvSpPr>
          <p:cNvPr id="34" name="Text 31"/>
          <p:cNvSpPr txBox="1"/>
          <p:nvPr/>
        </p:nvSpPr>
        <p:spPr>
          <a:xfrm>
            <a:off x="4160520" y="4279392"/>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A synthetic market of buyer archetypes — trusted only once calibrated</a:t>
            </a:r>
            <a:endParaRPr lang="en-US" sz="1100" dirty="0"/>
          </a:p>
        </p:txBody>
      </p:sp>
      <p:sp>
        <p:nvSpPr>
          <p:cNvPr id="35" name="Text 32"/>
          <p:cNvSpPr txBox="1"/>
          <p:nvPr/>
        </p:nvSpPr>
        <p:spPr>
          <a:xfrm>
            <a:off x="8092440" y="4279392"/>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Simulated customers test a new loyalty or pricing model</a:t>
            </a:r>
            <a:endParaRPr lang="en-US" sz="1200" dirty="0"/>
          </a:p>
        </p:txBody>
      </p:sp>
      <p:sp>
        <p:nvSpPr>
          <p:cNvPr id="36" name="Shape 33"/>
          <p:cNvSpPr/>
          <p:nvPr/>
        </p:nvSpPr>
        <p:spPr>
          <a:xfrm>
            <a:off x="548640" y="5029200"/>
            <a:ext cx="11091672" cy="676656"/>
          </a:xfrm>
          <a:prstGeom prst="roundRect">
            <a:avLst>
              <a:gd name="adj" fmla="val 10811"/>
            </a:avLst>
          </a:prstGeom>
          <a:solidFill>
            <a:srgbClr val="D9E8F8"/>
          </a:solidFill>
          <a:ln/>
        </p:spPr>
      </p:sp>
      <p:sp>
        <p:nvSpPr>
          <p:cNvPr id="37" name="Shape 34"/>
          <p:cNvSpPr/>
          <p:nvPr/>
        </p:nvSpPr>
        <p:spPr>
          <a:xfrm>
            <a:off x="685800" y="5157216"/>
            <a:ext cx="420624" cy="420624"/>
          </a:xfrm>
          <a:prstGeom prst="ellipse">
            <a:avLst/>
          </a:prstGeom>
          <a:solidFill>
            <a:srgbClr val="2E6FBF"/>
          </a:solidFill>
          <a:ln/>
        </p:spPr>
      </p:sp>
      <p:sp>
        <p:nvSpPr>
          <p:cNvPr id="38" name="Text 35"/>
          <p:cNvSpPr txBox="1"/>
          <p:nvPr/>
        </p:nvSpPr>
        <p:spPr>
          <a:xfrm>
            <a:off x="685800" y="515721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E1</a:t>
            </a:r>
            <a:endParaRPr lang="en-US" sz="1100" dirty="0"/>
          </a:p>
        </p:txBody>
      </p:sp>
      <p:sp>
        <p:nvSpPr>
          <p:cNvPr id="39" name="Text 36"/>
          <p:cNvSpPr txBox="1"/>
          <p:nvPr/>
        </p:nvSpPr>
        <p:spPr>
          <a:xfrm>
            <a:off x="1234440" y="5102352"/>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Cold Email Engine</a:t>
            </a:r>
            <a:endParaRPr lang="en-US" sz="1300" dirty="0"/>
          </a:p>
        </p:txBody>
      </p:sp>
      <p:sp>
        <p:nvSpPr>
          <p:cNvPr id="40" name="Text 37"/>
          <p:cNvSpPr txBox="1"/>
          <p:nvPr/>
        </p:nvSpPr>
        <p:spPr>
          <a:xfrm>
            <a:off x="1234440" y="5413248"/>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AUTONOMOUS EXPERIMENT</a:t>
            </a:r>
            <a:endParaRPr lang="en-US" sz="900" dirty="0"/>
          </a:p>
        </p:txBody>
      </p:sp>
      <p:sp>
        <p:nvSpPr>
          <p:cNvPr id="41" name="Text 38"/>
          <p:cNvSpPr txBox="1"/>
          <p:nvPr/>
        </p:nvSpPr>
        <p:spPr>
          <a:xfrm>
            <a:off x="4160520" y="5029200"/>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Finds, writes, sends, classifies replies — real behaviour, measured</a:t>
            </a:r>
            <a:endParaRPr lang="en-US" sz="1100" dirty="0"/>
          </a:p>
        </p:txBody>
      </p:sp>
      <p:sp>
        <p:nvSpPr>
          <p:cNvPr id="42" name="Text 39"/>
          <p:cNvSpPr txBox="1"/>
          <p:nvPr/>
        </p:nvSpPr>
        <p:spPr>
          <a:xfrm>
            <a:off x="8092440" y="5029200"/>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Real reactions from prospects to a new offer</a:t>
            </a:r>
            <a:endParaRPr lang="en-US" sz="1200" dirty="0"/>
          </a:p>
        </p:txBody>
      </p:sp>
      <p:sp>
        <p:nvSpPr>
          <p:cNvPr id="43" name="Shape 40"/>
          <p:cNvSpPr/>
          <p:nvPr/>
        </p:nvSpPr>
        <p:spPr>
          <a:xfrm>
            <a:off x="548640" y="5852160"/>
            <a:ext cx="11091672" cy="384048"/>
          </a:xfrm>
          <a:prstGeom prst="roundRect">
            <a:avLst>
              <a:gd name="adj" fmla="val 19048"/>
            </a:avLst>
          </a:prstGeom>
          <a:solidFill>
            <a:srgbClr val="0F1341"/>
          </a:solidFill>
          <a:ln/>
        </p:spPr>
      </p:sp>
      <p:sp>
        <p:nvSpPr>
          <p:cNvPr id="44" name="Text 41"/>
          <p:cNvSpPr txBox="1"/>
          <p:nvPr/>
        </p:nvSpPr>
        <p:spPr>
          <a:xfrm>
            <a:off x="777240" y="5852160"/>
            <a:ext cx="10698480" cy="384048"/>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Behaviour over opinion: </a:t>
            </a:r>
            <a:pPr indent="0" marL="0">
              <a:buNone/>
            </a:pPr>
            <a:r>
              <a:rPr lang="en-US" sz="1300" dirty="0">
                <a:solidFill>
                  <a:srgbClr val="FFFFFF"/>
                </a:solidFill>
                <a:latin typeface="Montserrat" pitchFamily="34" charset="0"/>
                <a:ea typeface="Montserrat" pitchFamily="34" charset="-122"/>
                <a:cs typeface="Montserrat" pitchFamily="34" charset="-120"/>
              </a:rPr>
              <a:t>your CRM explains today's customers — real tests reveal tomorrow's.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Design an AI-native CRM for LUISS</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Groups of 3–4, AI on your phone — your university is the company, you are the customer</a:t>
            </a:r>
            <a:endParaRPr lang="en-US" sz="1400" dirty="0"/>
          </a:p>
        </p:txBody>
      </p:sp>
      <p:sp>
        <p:nvSpPr>
          <p:cNvPr id="5" name="Shape 2"/>
          <p:cNvSpPr/>
          <p:nvPr/>
        </p:nvSpPr>
        <p:spPr>
          <a:xfrm>
            <a:off x="548640" y="2011680"/>
            <a:ext cx="2615184" cy="2331720"/>
          </a:xfrm>
          <a:prstGeom prst="roundRect">
            <a:avLst>
              <a:gd name="adj" fmla="val 3137"/>
            </a:avLst>
          </a:prstGeom>
          <a:solidFill>
            <a:srgbClr val="1B2156"/>
          </a:solidFill>
          <a:ln/>
        </p:spPr>
      </p:sp>
      <p:sp>
        <p:nvSpPr>
          <p:cNvPr id="6" name="Shape 3"/>
          <p:cNvSpPr/>
          <p:nvPr/>
        </p:nvSpPr>
        <p:spPr>
          <a:xfrm>
            <a:off x="731520" y="2194560"/>
            <a:ext cx="868680" cy="274320"/>
          </a:xfrm>
          <a:prstGeom prst="roundRect">
            <a:avLst>
              <a:gd name="adj" fmla="val 26667"/>
            </a:avLst>
          </a:prstGeom>
          <a:solidFill>
            <a:srgbClr val="4A8FDB"/>
          </a:solidFill>
          <a:ln/>
        </p:spPr>
      </p:sp>
      <p:sp>
        <p:nvSpPr>
          <p:cNvPr id="7" name="Text 4"/>
          <p:cNvSpPr txBox="1"/>
          <p:nvPr/>
        </p:nvSpPr>
        <p:spPr>
          <a:xfrm>
            <a:off x="731520"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8" name="Text 5"/>
          <p:cNvSpPr txBox="1"/>
          <p:nvPr/>
        </p:nvSpPr>
        <p:spPr>
          <a:xfrm>
            <a:off x="731520"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Map</a:t>
            </a:r>
            <a:endParaRPr lang="en-US" sz="1800" dirty="0"/>
          </a:p>
        </p:txBody>
      </p:sp>
      <p:sp>
        <p:nvSpPr>
          <p:cNvPr id="9" name="Text 6"/>
          <p:cNvSpPr txBox="1"/>
          <p:nvPr/>
        </p:nvSpPr>
        <p:spPr>
          <a:xfrm>
            <a:off x="731520"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The lifecycle: applicant → student → alumnus → recruiter or donor. Where is data — where is it lost?</a:t>
            </a:r>
            <a:endParaRPr lang="en-US" sz="1200" dirty="0"/>
          </a:p>
        </p:txBody>
      </p:sp>
      <p:sp>
        <p:nvSpPr>
          <p:cNvPr id="10" name="Shape 7"/>
          <p:cNvSpPr/>
          <p:nvPr/>
        </p:nvSpPr>
        <p:spPr>
          <a:xfrm>
            <a:off x="3374136" y="2011680"/>
            <a:ext cx="2615184" cy="2331720"/>
          </a:xfrm>
          <a:prstGeom prst="roundRect">
            <a:avLst>
              <a:gd name="adj" fmla="val 3137"/>
            </a:avLst>
          </a:prstGeom>
          <a:solidFill>
            <a:srgbClr val="1B2156"/>
          </a:solidFill>
          <a:ln/>
        </p:spPr>
      </p:sp>
      <p:sp>
        <p:nvSpPr>
          <p:cNvPr id="11" name="Shape 8"/>
          <p:cNvSpPr/>
          <p:nvPr/>
        </p:nvSpPr>
        <p:spPr>
          <a:xfrm>
            <a:off x="3557016" y="2194560"/>
            <a:ext cx="868680" cy="274320"/>
          </a:xfrm>
          <a:prstGeom prst="roundRect">
            <a:avLst>
              <a:gd name="adj" fmla="val 26667"/>
            </a:avLst>
          </a:prstGeom>
          <a:solidFill>
            <a:srgbClr val="4A8FDB"/>
          </a:solidFill>
          <a:ln/>
        </p:spPr>
      </p:sp>
      <p:sp>
        <p:nvSpPr>
          <p:cNvPr id="12" name="Text 9"/>
          <p:cNvSpPr txBox="1"/>
          <p:nvPr/>
        </p:nvSpPr>
        <p:spPr>
          <a:xfrm>
            <a:off x="3557016"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13" name="Text 10"/>
          <p:cNvSpPr txBox="1"/>
          <p:nvPr/>
        </p:nvSpPr>
        <p:spPr>
          <a:xfrm>
            <a:off x="3557016"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Design</a:t>
            </a:r>
            <a:endParaRPr lang="en-US" sz="1800" dirty="0"/>
          </a:p>
        </p:txBody>
      </p:sp>
      <p:sp>
        <p:nvSpPr>
          <p:cNvPr id="14" name="Text 11"/>
          <p:cNvSpPr txBox="1"/>
          <p:nvPr/>
        </p:nvSpPr>
        <p:spPr>
          <a:xfrm>
            <a:off x="3557016"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One agent at one moment of truth: what does it do, with which data?</a:t>
            </a:r>
            <a:endParaRPr lang="en-US" sz="1200" dirty="0"/>
          </a:p>
        </p:txBody>
      </p:sp>
      <p:sp>
        <p:nvSpPr>
          <p:cNvPr id="15" name="Shape 12"/>
          <p:cNvSpPr/>
          <p:nvPr/>
        </p:nvSpPr>
        <p:spPr>
          <a:xfrm>
            <a:off x="6199632" y="2011680"/>
            <a:ext cx="2615184" cy="2331720"/>
          </a:xfrm>
          <a:prstGeom prst="roundRect">
            <a:avLst>
              <a:gd name="adj" fmla="val 3137"/>
            </a:avLst>
          </a:prstGeom>
          <a:solidFill>
            <a:srgbClr val="1B2156"/>
          </a:solidFill>
          <a:ln/>
        </p:spPr>
      </p:sp>
      <p:sp>
        <p:nvSpPr>
          <p:cNvPr id="16" name="Shape 13"/>
          <p:cNvSpPr/>
          <p:nvPr/>
        </p:nvSpPr>
        <p:spPr>
          <a:xfrm>
            <a:off x="6382512" y="2194560"/>
            <a:ext cx="868680" cy="274320"/>
          </a:xfrm>
          <a:prstGeom prst="roundRect">
            <a:avLst>
              <a:gd name="adj" fmla="val 26667"/>
            </a:avLst>
          </a:prstGeom>
          <a:solidFill>
            <a:srgbClr val="4A8FDB"/>
          </a:solidFill>
          <a:ln/>
        </p:spPr>
      </p:sp>
      <p:sp>
        <p:nvSpPr>
          <p:cNvPr id="17" name="Text 14"/>
          <p:cNvSpPr txBox="1"/>
          <p:nvPr/>
        </p:nvSpPr>
        <p:spPr>
          <a:xfrm>
            <a:off x="6382512"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18" name="Text 15"/>
          <p:cNvSpPr txBox="1"/>
          <p:nvPr/>
        </p:nvSpPr>
        <p:spPr>
          <a:xfrm>
            <a:off x="6382512"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Guard</a:t>
            </a:r>
            <a:endParaRPr lang="en-US" sz="1800" dirty="0"/>
          </a:p>
        </p:txBody>
      </p:sp>
      <p:sp>
        <p:nvSpPr>
          <p:cNvPr id="19" name="Text 16"/>
          <p:cNvSpPr txBox="1"/>
          <p:nvPr/>
        </p:nvSpPr>
        <p:spPr>
          <a:xfrm>
            <a:off x="6382512"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One KPI and one guardrail: what may the agent never do without a human?</a:t>
            </a:r>
            <a:endParaRPr lang="en-US" sz="1200" dirty="0"/>
          </a:p>
        </p:txBody>
      </p:sp>
      <p:sp>
        <p:nvSpPr>
          <p:cNvPr id="20" name="Shape 17"/>
          <p:cNvSpPr/>
          <p:nvPr/>
        </p:nvSpPr>
        <p:spPr>
          <a:xfrm>
            <a:off x="9025128" y="2011680"/>
            <a:ext cx="2615184" cy="2331720"/>
          </a:xfrm>
          <a:prstGeom prst="roundRect">
            <a:avLst>
              <a:gd name="adj" fmla="val 3137"/>
            </a:avLst>
          </a:prstGeom>
          <a:solidFill>
            <a:srgbClr val="1B2156"/>
          </a:solidFill>
          <a:ln/>
        </p:spPr>
      </p:sp>
      <p:sp>
        <p:nvSpPr>
          <p:cNvPr id="21" name="Shape 18"/>
          <p:cNvSpPr/>
          <p:nvPr/>
        </p:nvSpPr>
        <p:spPr>
          <a:xfrm>
            <a:off x="9208008" y="2194560"/>
            <a:ext cx="868680" cy="274320"/>
          </a:xfrm>
          <a:prstGeom prst="roundRect">
            <a:avLst>
              <a:gd name="adj" fmla="val 26667"/>
            </a:avLst>
          </a:prstGeom>
          <a:solidFill>
            <a:srgbClr val="4A8FDB"/>
          </a:solidFill>
          <a:ln/>
        </p:spPr>
      </p:sp>
      <p:sp>
        <p:nvSpPr>
          <p:cNvPr id="22" name="Text 19"/>
          <p:cNvSpPr txBox="1"/>
          <p:nvPr/>
        </p:nvSpPr>
        <p:spPr>
          <a:xfrm>
            <a:off x="9208008"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23" name="Text 20"/>
          <p:cNvSpPr txBox="1"/>
          <p:nvPr/>
        </p:nvSpPr>
        <p:spPr>
          <a:xfrm>
            <a:off x="9208008"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Pitch</a:t>
            </a:r>
            <a:endParaRPr lang="en-US" sz="1800" dirty="0"/>
          </a:p>
        </p:txBody>
      </p:sp>
      <p:sp>
        <p:nvSpPr>
          <p:cNvPr id="24" name="Text 21"/>
          <p:cNvSpPr txBox="1"/>
          <p:nvPr/>
        </p:nvSpPr>
        <p:spPr>
          <a:xfrm>
            <a:off x="9208008"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30 seconds: moment, agent, data, KPI, guardrail.</a:t>
            </a:r>
            <a:endParaRPr lang="en-US" sz="1200" dirty="0"/>
          </a:p>
        </p:txBody>
      </p:sp>
      <p:sp>
        <p:nvSpPr>
          <p:cNvPr id="25" name="Text 22"/>
          <p:cNvSpPr txBox="1"/>
          <p:nvPr/>
        </p:nvSpPr>
        <p:spPr>
          <a:xfrm>
            <a:off x="548640" y="4617720"/>
            <a:ext cx="54864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WHAT EVERY GROUP HANDS IN (MENTI)</a:t>
            </a:r>
            <a:endParaRPr lang="en-US" sz="1000" dirty="0"/>
          </a:p>
        </p:txBody>
      </p:sp>
      <p:sp>
        <p:nvSpPr>
          <p:cNvPr id="26" name="Shape 23"/>
          <p:cNvSpPr/>
          <p:nvPr/>
        </p:nvSpPr>
        <p:spPr>
          <a:xfrm>
            <a:off x="548640" y="4956048"/>
            <a:ext cx="1517904" cy="548640"/>
          </a:xfrm>
          <a:prstGeom prst="roundRect">
            <a:avLst>
              <a:gd name="adj" fmla="val 13333"/>
            </a:avLst>
          </a:prstGeom>
          <a:solidFill>
            <a:srgbClr val="0F1341"/>
          </a:solidFill>
          <a:ln w="12700">
            <a:solidFill>
              <a:srgbClr val="6A7FA8"/>
            </a:solidFill>
            <a:prstDash val="solid"/>
          </a:ln>
        </p:spPr>
      </p:sp>
      <p:sp>
        <p:nvSpPr>
          <p:cNvPr id="27" name="Text 24"/>
          <p:cNvSpPr txBox="1"/>
          <p:nvPr/>
        </p:nvSpPr>
        <p:spPr>
          <a:xfrm>
            <a:off x="548640"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Moment of truth</a:t>
            </a:r>
            <a:endParaRPr lang="en-US" sz="1200" dirty="0"/>
          </a:p>
        </p:txBody>
      </p:sp>
      <p:sp>
        <p:nvSpPr>
          <p:cNvPr id="28" name="Shape 25"/>
          <p:cNvSpPr/>
          <p:nvPr/>
        </p:nvSpPr>
        <p:spPr>
          <a:xfrm>
            <a:off x="2203704" y="4956048"/>
            <a:ext cx="1517904" cy="548640"/>
          </a:xfrm>
          <a:prstGeom prst="roundRect">
            <a:avLst>
              <a:gd name="adj" fmla="val 13333"/>
            </a:avLst>
          </a:prstGeom>
          <a:solidFill>
            <a:srgbClr val="0F1341"/>
          </a:solidFill>
          <a:ln w="12700">
            <a:solidFill>
              <a:srgbClr val="6A7FA8"/>
            </a:solidFill>
            <a:prstDash val="solid"/>
          </a:ln>
        </p:spPr>
      </p:sp>
      <p:sp>
        <p:nvSpPr>
          <p:cNvPr id="29" name="Text 26"/>
          <p:cNvSpPr txBox="1"/>
          <p:nvPr/>
        </p:nvSpPr>
        <p:spPr>
          <a:xfrm>
            <a:off x="2203704"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Agent use case</a:t>
            </a:r>
            <a:endParaRPr lang="en-US" sz="1200" dirty="0"/>
          </a:p>
        </p:txBody>
      </p:sp>
      <p:sp>
        <p:nvSpPr>
          <p:cNvPr id="30" name="Shape 27"/>
          <p:cNvSpPr/>
          <p:nvPr/>
        </p:nvSpPr>
        <p:spPr>
          <a:xfrm>
            <a:off x="3858768" y="4956048"/>
            <a:ext cx="1517904" cy="548640"/>
          </a:xfrm>
          <a:prstGeom prst="roundRect">
            <a:avLst>
              <a:gd name="adj" fmla="val 13333"/>
            </a:avLst>
          </a:prstGeom>
          <a:solidFill>
            <a:srgbClr val="0F1341"/>
          </a:solidFill>
          <a:ln w="12700">
            <a:solidFill>
              <a:srgbClr val="6A7FA8"/>
            </a:solidFill>
            <a:prstDash val="solid"/>
          </a:ln>
        </p:spPr>
      </p:sp>
      <p:sp>
        <p:nvSpPr>
          <p:cNvPr id="31" name="Text 28"/>
          <p:cNvSpPr txBox="1"/>
          <p:nvPr/>
        </p:nvSpPr>
        <p:spPr>
          <a:xfrm>
            <a:off x="3858768"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Data needed</a:t>
            </a:r>
            <a:endParaRPr lang="en-US" sz="1200" dirty="0"/>
          </a:p>
        </p:txBody>
      </p:sp>
      <p:sp>
        <p:nvSpPr>
          <p:cNvPr id="32" name="Shape 29"/>
          <p:cNvSpPr/>
          <p:nvPr/>
        </p:nvSpPr>
        <p:spPr>
          <a:xfrm>
            <a:off x="5513832" y="4956048"/>
            <a:ext cx="1517904" cy="548640"/>
          </a:xfrm>
          <a:prstGeom prst="roundRect">
            <a:avLst>
              <a:gd name="adj" fmla="val 13333"/>
            </a:avLst>
          </a:prstGeom>
          <a:solidFill>
            <a:srgbClr val="0F1341"/>
          </a:solidFill>
          <a:ln w="12700">
            <a:solidFill>
              <a:srgbClr val="6A7FA8"/>
            </a:solidFill>
            <a:prstDash val="solid"/>
          </a:ln>
        </p:spPr>
      </p:sp>
      <p:sp>
        <p:nvSpPr>
          <p:cNvPr id="33" name="Text 30"/>
          <p:cNvSpPr txBox="1"/>
          <p:nvPr/>
        </p:nvSpPr>
        <p:spPr>
          <a:xfrm>
            <a:off x="5513832"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KPI</a:t>
            </a:r>
            <a:endParaRPr lang="en-US" sz="1200" dirty="0"/>
          </a:p>
        </p:txBody>
      </p:sp>
      <p:sp>
        <p:nvSpPr>
          <p:cNvPr id="34" name="Shape 31"/>
          <p:cNvSpPr/>
          <p:nvPr/>
        </p:nvSpPr>
        <p:spPr>
          <a:xfrm>
            <a:off x="7168896" y="4956048"/>
            <a:ext cx="1517904" cy="548640"/>
          </a:xfrm>
          <a:prstGeom prst="roundRect">
            <a:avLst>
              <a:gd name="adj" fmla="val 13333"/>
            </a:avLst>
          </a:prstGeom>
          <a:solidFill>
            <a:srgbClr val="0F1341"/>
          </a:solidFill>
          <a:ln w="12700">
            <a:solidFill>
              <a:srgbClr val="6A7FA8"/>
            </a:solidFill>
            <a:prstDash val="solid"/>
          </a:ln>
        </p:spPr>
      </p:sp>
      <p:sp>
        <p:nvSpPr>
          <p:cNvPr id="35" name="Text 32"/>
          <p:cNvSpPr txBox="1"/>
          <p:nvPr/>
        </p:nvSpPr>
        <p:spPr>
          <a:xfrm>
            <a:off x="7168896"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Guardrail</a:t>
            </a:r>
            <a:endParaRPr lang="en-US" sz="1200" dirty="0"/>
          </a:p>
        </p:txBody>
      </p:sp>
      <p:sp>
        <p:nvSpPr>
          <p:cNvPr id="36" name="Shape 33"/>
          <p:cNvSpPr/>
          <p:nvPr/>
        </p:nvSpPr>
        <p:spPr>
          <a:xfrm>
            <a:off x="9006840" y="4617720"/>
            <a:ext cx="2633472" cy="914400"/>
          </a:xfrm>
          <a:prstGeom prst="roundRect">
            <a:avLst>
              <a:gd name="adj" fmla="val 8000"/>
            </a:avLst>
          </a:prstGeom>
          <a:solidFill>
            <a:srgbClr val="2E6FBF"/>
          </a:solidFill>
          <a:ln/>
        </p:spPr>
      </p:sp>
      <p:pic>
        <p:nvPicPr>
          <p:cNvPr id="37" name="Image 0" descr="preencoded.png">    </p:cNvPr>
          <p:cNvPicPr>
            <a:picLocks noChangeAspect="1"/>
          </p:cNvPicPr>
          <p:nvPr/>
        </p:nvPicPr>
        <p:blipFill>
          <a:blip r:embed="rId1"/>
          <a:stretch>
            <a:fillRect/>
          </a:stretch>
        </p:blipFill>
        <p:spPr>
          <a:xfrm>
            <a:off x="9144000" y="4754880"/>
            <a:ext cx="640080" cy="640080"/>
          </a:xfrm>
          <a:prstGeom prst="rect">
            <a:avLst/>
          </a:prstGeom>
        </p:spPr>
      </p:pic>
      <p:sp>
        <p:nvSpPr>
          <p:cNvPr id="38" name="Text 34"/>
          <p:cNvSpPr txBox="1"/>
          <p:nvPr/>
        </p:nvSpPr>
        <p:spPr>
          <a:xfrm>
            <a:off x="9875520" y="466344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Montserrat" pitchFamily="34" charset="0"/>
                <a:ea typeface="Montserrat" pitchFamily="34" charset="-122"/>
                <a:cs typeface="Montserrat" pitchFamily="34" charset="-120"/>
              </a:rPr>
              <a:t>QR → data sheet + prompt</a:t>
            </a:r>
            <a:endParaRPr lang="en-US" sz="1000" dirty="0"/>
          </a:p>
          <a:p>
            <a:pPr indent="0" marL="0">
              <a:buNone/>
            </a:pPr>
            <a:r>
              <a:rPr lang="en-US" sz="1000" dirty="0">
                <a:solidFill>
                  <a:srgbClr val="FFFFFF"/>
                </a:solidFill>
                <a:latin typeface="Montserrat" pitchFamily="34" charset="0"/>
                <a:ea typeface="Montserrat" pitchFamily="34" charset="-122"/>
                <a:cs typeface="Montserrat" pitchFamily="34" charset="-120"/>
              </a:rPr>
              <a:t>Lifecycle template + prompt</a:t>
            </a:r>
            <a:endParaRPr lang="en-US" sz="1000" dirty="0"/>
          </a:p>
        </p:txBody>
      </p:sp>
      <p:sp>
        <p:nvSpPr>
          <p:cNvPr id="39" name="Text 35"/>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Remember Morgan &amp; Hunt: would you, as a student, trust this agent? If not, the design fails.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this means for CRM — and for you</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Four shifts for anyone working with customers in the next five years</a:t>
            </a:r>
            <a:endParaRPr lang="en-US" sz="1300" dirty="0"/>
          </a:p>
        </p:txBody>
      </p:sp>
      <p:sp>
        <p:nvSpPr>
          <p:cNvPr id="5" name="Shape 2"/>
          <p:cNvSpPr/>
          <p:nvPr/>
        </p:nvSpPr>
        <p:spPr>
          <a:xfrm>
            <a:off x="548640" y="1783080"/>
            <a:ext cx="5440680" cy="1783080"/>
          </a:xfrm>
          <a:prstGeom prst="roundRect">
            <a:avLst>
              <a:gd name="adj" fmla="val 4103"/>
            </a:avLst>
          </a:prstGeom>
          <a:solidFill>
            <a:srgbClr val="F3F7FC"/>
          </a:solidFill>
          <a:ln/>
        </p:spPr>
      </p:sp>
      <p:sp>
        <p:nvSpPr>
          <p:cNvPr id="6" name="Shape 3"/>
          <p:cNvSpPr/>
          <p:nvPr/>
        </p:nvSpPr>
        <p:spPr>
          <a:xfrm>
            <a:off x="777240" y="2039112"/>
            <a:ext cx="603504" cy="603504"/>
          </a:xfrm>
          <a:prstGeom prst="ellipse">
            <a:avLst/>
          </a:prstGeom>
          <a:solidFill>
            <a:srgbClr val="D9E8F8"/>
          </a:solidFill>
          <a:ln/>
        </p:spPr>
      </p:sp>
      <p:pic>
        <p:nvPicPr>
          <p:cNvPr id="7" name="Image 0" descr="preencoded.png">    </p:cNvPr>
          <p:cNvPicPr>
            <a:picLocks noChangeAspect="1"/>
          </p:cNvPicPr>
          <p:nvPr/>
        </p:nvPicPr>
        <p:blipFill>
          <a:blip r:embed="rId1"/>
          <a:stretch>
            <a:fillRect/>
          </a:stretch>
        </p:blipFill>
        <p:spPr>
          <a:xfrm>
            <a:off x="923544" y="2185416"/>
            <a:ext cx="310896" cy="310896"/>
          </a:xfrm>
          <a:prstGeom prst="rect">
            <a:avLst/>
          </a:prstGeom>
        </p:spPr>
      </p:pic>
      <p:sp>
        <p:nvSpPr>
          <p:cNvPr id="8" name="Text 4"/>
          <p:cNvSpPr txBox="1"/>
          <p:nvPr/>
        </p:nvSpPr>
        <p:spPr>
          <a:xfrm>
            <a:off x="1600200"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From CRM user to agent manager</a:t>
            </a:r>
            <a:endParaRPr lang="en-US" sz="1500" dirty="0"/>
          </a:p>
        </p:txBody>
      </p:sp>
      <p:sp>
        <p:nvSpPr>
          <p:cNvPr id="9" name="Text 5"/>
          <p:cNvSpPr txBox="1"/>
          <p:nvPr/>
        </p:nvSpPr>
        <p:spPr>
          <a:xfrm>
            <a:off x="1600200"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You will configure, supervise and improve agents — not fill in fields.</a:t>
            </a:r>
            <a:endParaRPr lang="en-US" sz="1250" dirty="0"/>
          </a:p>
        </p:txBody>
      </p:sp>
      <p:sp>
        <p:nvSpPr>
          <p:cNvPr id="10" name="Shape 6"/>
          <p:cNvSpPr/>
          <p:nvPr/>
        </p:nvSpPr>
        <p:spPr>
          <a:xfrm>
            <a:off x="6199632" y="1783080"/>
            <a:ext cx="5440680" cy="1783080"/>
          </a:xfrm>
          <a:prstGeom prst="roundRect">
            <a:avLst>
              <a:gd name="adj" fmla="val 4103"/>
            </a:avLst>
          </a:prstGeom>
          <a:solidFill>
            <a:srgbClr val="F3F7FC"/>
          </a:solidFill>
          <a:ln/>
        </p:spPr>
      </p:sp>
      <p:sp>
        <p:nvSpPr>
          <p:cNvPr id="11" name="Shape 7"/>
          <p:cNvSpPr/>
          <p:nvPr/>
        </p:nvSpPr>
        <p:spPr>
          <a:xfrm>
            <a:off x="6428232" y="2039112"/>
            <a:ext cx="603504" cy="603504"/>
          </a:xfrm>
          <a:prstGeom prst="ellipse">
            <a:avLst/>
          </a:prstGeom>
          <a:solidFill>
            <a:srgbClr val="D9E8F8"/>
          </a:solidFill>
          <a:ln/>
        </p:spPr>
      </p:sp>
      <p:pic>
        <p:nvPicPr>
          <p:cNvPr id="12" name="Image 1" descr="preencoded.png">    </p:cNvPr>
          <p:cNvPicPr>
            <a:picLocks noChangeAspect="1"/>
          </p:cNvPicPr>
          <p:nvPr/>
        </p:nvPicPr>
        <p:blipFill>
          <a:blip r:embed="rId2"/>
          <a:stretch>
            <a:fillRect/>
          </a:stretch>
        </p:blipFill>
        <p:spPr>
          <a:xfrm>
            <a:off x="6574536" y="2185416"/>
            <a:ext cx="310896" cy="310896"/>
          </a:xfrm>
          <a:prstGeom prst="rect">
            <a:avLst/>
          </a:prstGeom>
        </p:spPr>
      </p:pic>
      <p:sp>
        <p:nvSpPr>
          <p:cNvPr id="13" name="Text 8"/>
          <p:cNvSpPr txBox="1"/>
          <p:nvPr/>
        </p:nvSpPr>
        <p:spPr>
          <a:xfrm>
            <a:off x="7251192"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Data quality is strategy</a:t>
            </a:r>
            <a:endParaRPr lang="en-US" sz="1500" dirty="0"/>
          </a:p>
        </p:txBody>
      </p:sp>
      <p:sp>
        <p:nvSpPr>
          <p:cNvPr id="14" name="Text 9"/>
          <p:cNvSpPr txBox="1"/>
          <p:nvPr/>
        </p:nvSpPr>
        <p:spPr>
          <a:xfrm>
            <a:off x="7251192"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Clean, consented first-party data is the moat. An agent is only as good as the data it acts on.</a:t>
            </a:r>
            <a:endParaRPr lang="en-US" sz="1250" dirty="0"/>
          </a:p>
        </p:txBody>
      </p:sp>
      <p:sp>
        <p:nvSpPr>
          <p:cNvPr id="15" name="Shape 10"/>
          <p:cNvSpPr/>
          <p:nvPr/>
        </p:nvSpPr>
        <p:spPr>
          <a:xfrm>
            <a:off x="548640" y="3749040"/>
            <a:ext cx="5440680" cy="1783080"/>
          </a:xfrm>
          <a:prstGeom prst="roundRect">
            <a:avLst>
              <a:gd name="adj" fmla="val 4103"/>
            </a:avLst>
          </a:prstGeom>
          <a:solidFill>
            <a:srgbClr val="F3F7FC"/>
          </a:solidFill>
          <a:ln/>
        </p:spPr>
      </p:sp>
      <p:sp>
        <p:nvSpPr>
          <p:cNvPr id="16" name="Shape 11"/>
          <p:cNvSpPr/>
          <p:nvPr/>
        </p:nvSpPr>
        <p:spPr>
          <a:xfrm>
            <a:off x="777240" y="4005072"/>
            <a:ext cx="603504" cy="603504"/>
          </a:xfrm>
          <a:prstGeom prst="ellipse">
            <a:avLst/>
          </a:prstGeom>
          <a:solidFill>
            <a:srgbClr val="D9E8F8"/>
          </a:solidFill>
          <a:ln/>
        </p:spPr>
      </p:sp>
      <p:pic>
        <p:nvPicPr>
          <p:cNvPr id="17" name="Image 2" descr="preencoded.png">    </p:cNvPr>
          <p:cNvPicPr>
            <a:picLocks noChangeAspect="1"/>
          </p:cNvPicPr>
          <p:nvPr/>
        </p:nvPicPr>
        <p:blipFill>
          <a:blip r:embed="rId3"/>
          <a:stretch>
            <a:fillRect/>
          </a:stretch>
        </p:blipFill>
        <p:spPr>
          <a:xfrm>
            <a:off x="923544" y="4151376"/>
            <a:ext cx="310896" cy="310896"/>
          </a:xfrm>
          <a:prstGeom prst="rect">
            <a:avLst/>
          </a:prstGeom>
        </p:spPr>
      </p:pic>
      <p:sp>
        <p:nvSpPr>
          <p:cNvPr id="18" name="Text 12"/>
          <p:cNvSpPr txBox="1"/>
          <p:nvPr/>
        </p:nvSpPr>
        <p:spPr>
          <a:xfrm>
            <a:off x="1600200" y="397764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New KPIs</a:t>
            </a:r>
            <a:endParaRPr lang="en-US" sz="1500" dirty="0"/>
          </a:p>
        </p:txBody>
      </p:sp>
      <p:sp>
        <p:nvSpPr>
          <p:cNvPr id="19" name="Text 13"/>
          <p:cNvSpPr txBox="1"/>
          <p:nvPr/>
        </p:nvSpPr>
        <p:spPr>
          <a:xfrm>
            <a:off x="1600200" y="448056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Next to CLV and retention: AI resolution rate, escalation rate — and how well forecasts match reality.</a:t>
            </a:r>
            <a:endParaRPr lang="en-US" sz="1250" dirty="0"/>
          </a:p>
        </p:txBody>
      </p:sp>
      <p:sp>
        <p:nvSpPr>
          <p:cNvPr id="20" name="Shape 14"/>
          <p:cNvSpPr/>
          <p:nvPr/>
        </p:nvSpPr>
        <p:spPr>
          <a:xfrm>
            <a:off x="6199632" y="3749040"/>
            <a:ext cx="5440680" cy="1783080"/>
          </a:xfrm>
          <a:prstGeom prst="roundRect">
            <a:avLst>
              <a:gd name="adj" fmla="val 4103"/>
            </a:avLst>
          </a:prstGeom>
          <a:solidFill>
            <a:srgbClr val="0F1341"/>
          </a:solidFill>
          <a:ln/>
        </p:spPr>
      </p:sp>
      <p:sp>
        <p:nvSpPr>
          <p:cNvPr id="21" name="Shape 15"/>
          <p:cNvSpPr/>
          <p:nvPr/>
        </p:nvSpPr>
        <p:spPr>
          <a:xfrm>
            <a:off x="6428232" y="4005072"/>
            <a:ext cx="603504" cy="603504"/>
          </a:xfrm>
          <a:prstGeom prst="ellipse">
            <a:avLst/>
          </a:prstGeom>
          <a:solidFill>
            <a:srgbClr val="2E6FBF"/>
          </a:solidFill>
          <a:ln/>
        </p:spPr>
      </p:sp>
      <p:pic>
        <p:nvPicPr>
          <p:cNvPr id="22" name="Image 3" descr="preencoded.png">    </p:cNvPr>
          <p:cNvPicPr>
            <a:picLocks noChangeAspect="1"/>
          </p:cNvPicPr>
          <p:nvPr/>
        </p:nvPicPr>
        <p:blipFill>
          <a:blip r:embed="rId4"/>
          <a:stretch>
            <a:fillRect/>
          </a:stretch>
        </p:blipFill>
        <p:spPr>
          <a:xfrm>
            <a:off x="6574536" y="4151376"/>
            <a:ext cx="310896" cy="310896"/>
          </a:xfrm>
          <a:prstGeom prst="rect">
            <a:avLst/>
          </a:prstGeom>
        </p:spPr>
      </p:pic>
      <p:sp>
        <p:nvSpPr>
          <p:cNvPr id="23" name="Text 16"/>
          <p:cNvSpPr txBox="1"/>
          <p:nvPr/>
        </p:nvSpPr>
        <p:spPr>
          <a:xfrm>
            <a:off x="7251192" y="3977640"/>
            <a:ext cx="4160520" cy="45720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Trust is the differentiator</a:t>
            </a:r>
            <a:endParaRPr lang="en-US" sz="1500" dirty="0"/>
          </a:p>
        </p:txBody>
      </p:sp>
      <p:sp>
        <p:nvSpPr>
          <p:cNvPr id="24" name="Text 17"/>
          <p:cNvSpPr txBox="1"/>
          <p:nvPr/>
        </p:nvSpPr>
        <p:spPr>
          <a:xfrm>
            <a:off x="7251192" y="4480560"/>
            <a:ext cx="4160520" cy="960120"/>
          </a:xfrm>
          <a:prstGeom prst="rect">
            <a:avLst/>
          </a:prstGeom>
          <a:noFill/>
          <a:ln/>
        </p:spPr>
        <p:txBody>
          <a:bodyPr wrap="square" lIns="0" tIns="0" rIns="0" bIns="0" rtlCol="0" anchor="t"/>
          <a:lstStyle/>
          <a:p>
            <a:pPr indent="0" marL="0">
              <a:buNone/>
            </a:pPr>
            <a:r>
              <a:rPr lang="en-US" sz="1250" dirty="0">
                <a:solidFill>
                  <a:srgbClr val="C9D3E3"/>
                </a:solidFill>
                <a:latin typeface="Montserrat" pitchFamily="34" charset="0"/>
                <a:ea typeface="Montserrat" pitchFamily="34" charset="-122"/>
                <a:cs typeface="Montserrat" pitchFamily="34" charset="-120"/>
              </a:rPr>
              <a:t>Commitment–trust still applies: customers stay with brands they trust with their data and with their agents.</a:t>
            </a:r>
            <a:endParaRPr lang="en-US" sz="1250" dirty="0"/>
          </a:p>
        </p:txBody>
      </p:sp>
      <p:sp>
        <p:nvSpPr>
          <p:cNvPr id="25" name="Text 18"/>
          <p:cNvSpPr txBox="1"/>
          <p:nvPr/>
        </p:nvSpPr>
        <p:spPr>
          <a:xfrm>
            <a:off x="548640" y="5779008"/>
            <a:ext cx="11064240" cy="365760"/>
          </a:xfrm>
          <a:prstGeom prst="rect">
            <a:avLst/>
          </a:prstGeom>
          <a:noFill/>
          <a:ln/>
        </p:spPr>
        <p:txBody>
          <a:bodyPr wrap="square" lIns="0" tIns="0" rIns="0" bIns="0" rtlCol="0" anchor="t"/>
          <a:lstStyle/>
          <a:p>
            <a:pPr indent="0" marL="0">
              <a:buNone/>
            </a:pPr>
            <a:r>
              <a:rPr lang="en-US" sz="1200" b="1" dirty="0">
                <a:solidFill>
                  <a:srgbClr val="2E6FBF"/>
                </a:solidFill>
                <a:latin typeface="Montserrat" pitchFamily="34" charset="0"/>
                <a:ea typeface="Montserrat" pitchFamily="34" charset="-122"/>
                <a:cs typeface="Montserrat" pitchFamily="34" charset="-120"/>
              </a:rPr>
              <a:t>Three statements: the theory holds · the CRM becomes a system of action · trust is the scarcest asset.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685800"/>
            <a:ext cx="9509760" cy="1280160"/>
          </a:xfrm>
          <a:prstGeom prst="rect">
            <a:avLst/>
          </a:prstGeom>
          <a:noFill/>
          <a:ln/>
        </p:spPr>
        <p:txBody>
          <a:bodyPr wrap="square" lIns="0" tIns="0" rIns="0" bIns="0" rtlCol="0" anchor="t"/>
          <a:lstStyle/>
          <a:p>
            <a:pPr algn="l" indent="0" marL="0">
              <a:buNone/>
            </a:pPr>
            <a:r>
              <a:rPr lang="en-US" sz="3400" b="1" dirty="0">
                <a:solidFill>
                  <a:srgbClr val="FFFFFF"/>
                </a:solidFill>
                <a:latin typeface="Montserrat" pitchFamily="34" charset="0"/>
                <a:ea typeface="Montserrat" pitchFamily="34" charset="-122"/>
                <a:cs typeface="Montserrat" pitchFamily="34" charset="-120"/>
              </a:rPr>
              <a:t>AI can generate a strategy. Evidence tells you whether it works.</a:t>
            </a:r>
            <a:endParaRPr lang="en-US" sz="3400" dirty="0"/>
          </a:p>
        </p:txBody>
      </p:sp>
      <p:sp>
        <p:nvSpPr>
          <p:cNvPr id="3" name="Text 0"/>
          <p:cNvSpPr/>
          <p:nvPr>
            <p:ph idx="102" type="body" hasCustomPrompt="1"/>
          </p:nvPr>
        </p:nvSpPr>
        <p:spPr>
          <a:xfrm>
            <a:off x="548640" y="2057400"/>
            <a:ext cx="9509760" cy="411480"/>
          </a:xfrm>
          <a:prstGeom prst="rect">
            <a:avLst/>
          </a:prstGeom>
          <a:noFill/>
          <a:ln/>
        </p:spPr>
        <p:txBody>
          <a:bodyPr wrap="square" lIns="0" tIns="0" rIns="0" bIns="0" rtlCol="0" anchor="t"/>
          <a:lstStyle/>
          <a:p>
            <a:pPr algn="l" indent="0" marL="0">
              <a:buNone/>
            </a:pPr>
            <a:r>
              <a:rPr lang="en-US" sz="1600" dirty="0">
                <a:solidFill>
                  <a:srgbClr val="4A8FDB"/>
                </a:solidFill>
                <a:latin typeface="Montserrat" pitchFamily="34" charset="0"/>
                <a:ea typeface="Montserrat" pitchFamily="34" charset="-122"/>
                <a:cs typeface="Montserrat" pitchFamily="34" charset="-120"/>
              </a:rPr>
              <a:t>The advantage is not generating answers faster — it is testing assumptions faster.</a:t>
            </a:r>
            <a:endParaRPr lang="en-US" sz="1600" dirty="0"/>
          </a:p>
        </p:txBody>
      </p:sp>
      <p:sp>
        <p:nvSpPr>
          <p:cNvPr id="5" name="Shape 2"/>
          <p:cNvSpPr/>
          <p:nvPr/>
        </p:nvSpPr>
        <p:spPr>
          <a:xfrm>
            <a:off x="548640" y="2834640"/>
            <a:ext cx="2615184" cy="1325880"/>
          </a:xfrm>
          <a:prstGeom prst="roundRect">
            <a:avLst>
              <a:gd name="adj" fmla="val 5517"/>
            </a:avLst>
          </a:prstGeom>
          <a:solidFill>
            <a:srgbClr val="1B2156"/>
          </a:solidFill>
          <a:ln/>
        </p:spPr>
      </p:sp>
      <p:sp>
        <p:nvSpPr>
          <p:cNvPr id="6" name="Text 3"/>
          <p:cNvSpPr txBox="1"/>
          <p:nvPr/>
        </p:nvSpPr>
        <p:spPr>
          <a:xfrm>
            <a:off x="749808"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01</a:t>
            </a:r>
            <a:endParaRPr lang="en-US" sz="1400" dirty="0"/>
          </a:p>
        </p:txBody>
      </p:sp>
      <p:sp>
        <p:nvSpPr>
          <p:cNvPr id="7" name="Text 4"/>
          <p:cNvSpPr txBox="1"/>
          <p:nvPr/>
        </p:nvSpPr>
        <p:spPr>
          <a:xfrm>
            <a:off x="749808"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Identify</a:t>
            </a:r>
            <a:endParaRPr lang="en-US" sz="1700" dirty="0"/>
          </a:p>
        </p:txBody>
      </p:sp>
      <p:sp>
        <p:nvSpPr>
          <p:cNvPr id="8" name="Text 5"/>
          <p:cNvSpPr txBox="1"/>
          <p:nvPr/>
        </p:nvSpPr>
        <p:spPr>
          <a:xfrm>
            <a:off x="749808"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Find the opportunity</a:t>
            </a:r>
            <a:endParaRPr lang="en-US" sz="1200" dirty="0"/>
          </a:p>
        </p:txBody>
      </p:sp>
      <p:sp>
        <p:nvSpPr>
          <p:cNvPr id="9" name="Shape 6"/>
          <p:cNvSpPr/>
          <p:nvPr/>
        </p:nvSpPr>
        <p:spPr>
          <a:xfrm>
            <a:off x="3374136" y="2834640"/>
            <a:ext cx="2615184" cy="1325880"/>
          </a:xfrm>
          <a:prstGeom prst="roundRect">
            <a:avLst>
              <a:gd name="adj" fmla="val 5517"/>
            </a:avLst>
          </a:prstGeom>
          <a:solidFill>
            <a:srgbClr val="1B2156"/>
          </a:solidFill>
          <a:ln/>
        </p:spPr>
      </p:sp>
      <p:sp>
        <p:nvSpPr>
          <p:cNvPr id="10" name="Text 7"/>
          <p:cNvSpPr txBox="1"/>
          <p:nvPr/>
        </p:nvSpPr>
        <p:spPr>
          <a:xfrm>
            <a:off x="3575304"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02</a:t>
            </a:r>
            <a:endParaRPr lang="en-US" sz="1400" dirty="0"/>
          </a:p>
        </p:txBody>
      </p:sp>
      <p:sp>
        <p:nvSpPr>
          <p:cNvPr id="11" name="Text 8"/>
          <p:cNvSpPr txBox="1"/>
          <p:nvPr/>
        </p:nvSpPr>
        <p:spPr>
          <a:xfrm>
            <a:off x="3575304"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Quantify</a:t>
            </a:r>
            <a:endParaRPr lang="en-US" sz="1700" dirty="0"/>
          </a:p>
        </p:txBody>
      </p:sp>
      <p:sp>
        <p:nvSpPr>
          <p:cNvPr id="12" name="Text 9"/>
          <p:cNvSpPr txBox="1"/>
          <p:nvPr/>
        </p:nvSpPr>
        <p:spPr>
          <a:xfrm>
            <a:off x="3575304"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Build the business case</a:t>
            </a:r>
            <a:endParaRPr lang="en-US" sz="1200" dirty="0"/>
          </a:p>
        </p:txBody>
      </p:sp>
      <p:sp>
        <p:nvSpPr>
          <p:cNvPr id="13" name="Shape 10"/>
          <p:cNvSpPr/>
          <p:nvPr/>
        </p:nvSpPr>
        <p:spPr>
          <a:xfrm>
            <a:off x="6199632" y="2834640"/>
            <a:ext cx="2615184" cy="1325880"/>
          </a:xfrm>
          <a:prstGeom prst="roundRect">
            <a:avLst>
              <a:gd name="adj" fmla="val 5517"/>
            </a:avLst>
          </a:prstGeom>
          <a:solidFill>
            <a:srgbClr val="1B2156"/>
          </a:solidFill>
          <a:ln/>
        </p:spPr>
      </p:sp>
      <p:sp>
        <p:nvSpPr>
          <p:cNvPr id="14" name="Text 11"/>
          <p:cNvSpPr txBox="1"/>
          <p:nvPr/>
        </p:nvSpPr>
        <p:spPr>
          <a:xfrm>
            <a:off x="6400800"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03</a:t>
            </a:r>
            <a:endParaRPr lang="en-US" sz="1400" dirty="0"/>
          </a:p>
        </p:txBody>
      </p:sp>
      <p:sp>
        <p:nvSpPr>
          <p:cNvPr id="15" name="Text 12"/>
          <p:cNvSpPr txBox="1"/>
          <p:nvPr/>
        </p:nvSpPr>
        <p:spPr>
          <a:xfrm>
            <a:off x="6400800"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Experiment</a:t>
            </a:r>
            <a:endParaRPr lang="en-US" sz="1700" dirty="0"/>
          </a:p>
        </p:txBody>
      </p:sp>
      <p:sp>
        <p:nvSpPr>
          <p:cNvPr id="16" name="Text 13"/>
          <p:cNvSpPr txBox="1"/>
          <p:nvPr/>
        </p:nvSpPr>
        <p:spPr>
          <a:xfrm>
            <a:off x="6400800"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Collect real evidence</a:t>
            </a:r>
            <a:endParaRPr lang="en-US" sz="1200" dirty="0"/>
          </a:p>
        </p:txBody>
      </p:sp>
      <p:sp>
        <p:nvSpPr>
          <p:cNvPr id="17" name="Shape 14"/>
          <p:cNvSpPr/>
          <p:nvPr/>
        </p:nvSpPr>
        <p:spPr>
          <a:xfrm>
            <a:off x="9025128" y="2834640"/>
            <a:ext cx="2615184" cy="1325880"/>
          </a:xfrm>
          <a:prstGeom prst="roundRect">
            <a:avLst>
              <a:gd name="adj" fmla="val 5517"/>
            </a:avLst>
          </a:prstGeom>
          <a:solidFill>
            <a:srgbClr val="1B2156"/>
          </a:solidFill>
          <a:ln/>
        </p:spPr>
      </p:sp>
      <p:sp>
        <p:nvSpPr>
          <p:cNvPr id="18" name="Text 15"/>
          <p:cNvSpPr txBox="1"/>
          <p:nvPr/>
        </p:nvSpPr>
        <p:spPr>
          <a:xfrm>
            <a:off x="9226296"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04</a:t>
            </a:r>
            <a:endParaRPr lang="en-US" sz="1400" dirty="0"/>
          </a:p>
        </p:txBody>
      </p:sp>
      <p:sp>
        <p:nvSpPr>
          <p:cNvPr id="19" name="Text 16"/>
          <p:cNvSpPr txBox="1"/>
          <p:nvPr/>
        </p:nvSpPr>
        <p:spPr>
          <a:xfrm>
            <a:off x="9226296"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Decide</a:t>
            </a:r>
            <a:endParaRPr lang="en-US" sz="1700" dirty="0"/>
          </a:p>
        </p:txBody>
      </p:sp>
      <p:sp>
        <p:nvSpPr>
          <p:cNvPr id="20" name="Text 17"/>
          <p:cNvSpPr txBox="1"/>
          <p:nvPr/>
        </p:nvSpPr>
        <p:spPr>
          <a:xfrm>
            <a:off x="9226296"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Go, iterate or stop</a:t>
            </a:r>
            <a:endParaRPr lang="en-US" sz="1200" dirty="0"/>
          </a:p>
        </p:txBody>
      </p:sp>
      <p:sp>
        <p:nvSpPr>
          <p:cNvPr id="21" name="Text 18"/>
          <p:cNvSpPr txBox="1"/>
          <p:nvPr/>
        </p:nvSpPr>
        <p:spPr>
          <a:xfrm>
            <a:off x="548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WHO WE ARE</a:t>
            </a:r>
            <a:endParaRPr lang="en-US" sz="1000" dirty="0"/>
          </a:p>
        </p:txBody>
      </p:sp>
      <p:sp>
        <p:nvSpPr>
          <p:cNvPr id="22" name="Text 19"/>
          <p:cNvSpPr txBox="1"/>
          <p:nvPr/>
        </p:nvSpPr>
        <p:spPr>
          <a:xfrm>
            <a:off x="548640" y="4846320"/>
            <a:ext cx="5394960" cy="10972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EE-Partner (Milan) and asuno (Singapore) build AI-native systems for B2B companies — process automation for the DACH Mittelstand, and the Business Model Validator: an AI validation layer between idea and investment.</a:t>
            </a:r>
            <a:endParaRPr lang="en-US" sz="1200" dirty="0"/>
          </a:p>
        </p:txBody>
      </p:sp>
      <p:sp>
        <p:nvSpPr>
          <p:cNvPr id="23" name="Text 20"/>
          <p:cNvSpPr txBox="1"/>
          <p:nvPr/>
        </p:nvSpPr>
        <p:spPr>
          <a:xfrm>
            <a:off x="6263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WORK WITH US</a:t>
            </a:r>
            <a:endParaRPr lang="en-US" sz="1000" dirty="0"/>
          </a:p>
        </p:txBody>
      </p:sp>
      <p:sp>
        <p:nvSpPr>
          <p:cNvPr id="24" name="Text 21"/>
          <p:cNvSpPr txBox="1"/>
          <p:nvPr/>
        </p:nvSpPr>
        <p:spPr>
          <a:xfrm>
            <a:off x="6263640" y="4846320"/>
            <a:ext cx="5376672"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Thesis topics on AI-native CRM, agents and customer data; pilot participation.</a:t>
            </a:r>
            <a:endParaRPr lang="en-US" sz="1200" dirty="0"/>
          </a:p>
        </p:txBody>
      </p:sp>
      <p:sp>
        <p:nvSpPr>
          <p:cNvPr id="25" name="Text 22"/>
          <p:cNvSpPr txBox="1"/>
          <p:nvPr/>
        </p:nvSpPr>
        <p:spPr>
          <a:xfrm>
            <a:off x="6263640" y="5532120"/>
            <a:ext cx="5376672" cy="32004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Contact: [e-mail / LinkedIn]</a:t>
            </a:r>
            <a:endParaRPr lang="en-US" sz="1200" dirty="0"/>
          </a:p>
        </p:txBody>
      </p:sp>
      <p:pic>
        <p:nvPicPr>
          <p:cNvPr id="26" name="Image 0" descr="/home/user/work/assets/logo_w.png">    </p:cNvPr>
          <p:cNvPicPr>
            <a:picLocks noChangeAspect="1"/>
          </p:cNvPicPr>
          <p:nvPr/>
        </p:nvPicPr>
        <p:blipFill>
          <a:blip r:embed="rId1"/>
          <a:stretch>
            <a:fillRect/>
          </a:stretch>
        </p:blipFill>
        <p:spPr>
          <a:xfrm>
            <a:off x="566928" y="6053328"/>
            <a:ext cx="1143000" cy="42062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EE-Partner Lecture">
  <a:themeElements>
    <a:clrScheme name="EE-Partner Lecture">
      <a:dk1>
        <a:srgbClr val="0F1341"/>
      </a:dk1>
      <a:lt1>
        <a:srgbClr val="FFFFFF"/>
      </a:lt1>
      <a:dk2>
        <a:srgbClr val="5B6270"/>
      </a:dk2>
      <a:lt2>
        <a:srgbClr val="F3F7FC"/>
      </a:lt2>
      <a:accent1>
        <a:srgbClr val="2E6FBF"/>
      </a:accent1>
      <a:accent2>
        <a:srgbClr val="4A8FDB"/>
      </a:accent2>
      <a:accent3>
        <a:srgbClr val="8A93A3"/>
      </a:accent3>
      <a:accent4>
        <a:srgbClr val="D9E8F8"/>
      </a:accent4>
      <a:accent5>
        <a:srgbClr val="C9D3E3"/>
      </a:accent5>
      <a:accent6>
        <a:srgbClr val="6A7FA8"/>
      </a:accent6>
      <a:hlink>
        <a:srgbClr val="2E6FBF"/>
      </a:hlink>
      <a:folHlink>
        <a:srgbClr val="6A7FA8"/>
      </a:folHlink>
    </a:clrScheme>
    <a:fontScheme name="EE-Partner Lectur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EE-Partner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CRM: AI-Native Customer Relationships</dc:title>
  <dc:subject>PptxGenJS Presentation</dc:subject>
  <dc:creator>EE-Partner</dc:creator>
  <cp:lastModifiedBy>EE-Partner</cp:lastModifiedBy>
  <cp:revision>1</cp:revision>
  <dcterms:created xsi:type="dcterms:W3CDTF">2026-10-03T22:23:44Z</dcterms:created>
  <dcterms:modified xsi:type="dcterms:W3CDTF">2026-10-03T22:23:44Z</dcterms:modified>
</cp:coreProperties>
</file>