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el" id="{84AD3472-A36E-426C-F86D-55B5177B6329}">
          <p14:sldIdLst>
            <p14:sldId id="256"/>
          </p14:sldIdLst>
        </p14:section>
        <p14:section name="Ausgangslage" id="{44C845D4-8B6D-45D8-5169-79AC35D993B8}">
          <p14:sldIdLst>
            <p14:sldId id="257"/>
            <p14:sldId id="258"/>
          </p14:sldIdLst>
        </p14:section>
        <p14:section name="Zielbild und Lösung" id="{F408FDAD-7685-91A1-23A9-41B2EE57EB08}">
          <p14:sldIdLst>
            <p14:sldId id="259"/>
            <p14:sldId id="260"/>
          </p14:sldIdLst>
        </p14:section>
        <p14:section name="Commercial" id="{F29B603C-CE2F-2710-80C3-2D4553044F3C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7733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Quellen: Workshop VMT am 06.10.2026 (Vertrieb, IT, kaufmännische Leitung) und Besprechungszusammenfassung vom 07.10.2026. Eine automatisierte Kontaktaufnahme ist ausdrücklich nicht vorgesehen. LinkedIn ist die wichtigste Quelle für Zuschläge; eingebunden wird sie über einen Datenanbieter und die Funde des Vertriebs, nicht über Scraping. Projektphasen und Einordnung laut VMT-Vorbereitung zum Workshop (AI Tender Radar, 01.10.2026). LinkedIn: Offizielle Schnittstellen decken nur eigene bzw. freigegebene Seiten ab; automatisierte Datensammlung ist laut Nutzungsbedingungen (Abschnitt 8.2) untersagt.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Beispiel-Treffer aus öffentlichen Quellen: Staatliches Bauamt Bayreuth, Pressemitteilung 57/2026 vom 19.08.2026 (https://www.stbabt.bayern.de/service/medien/pressemitteilungen/2026/57/index.html); bergmännische Länge laut Eiffage-Projektseite (https://eiffage-infra.de/aktuelles/detail/kauerndorf-die-heimliche-hauptstadt-des-tunnelbaus-1401/). Der Kontakt wird im Anreicherungsschritt ergänzt.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LinkedIn kommt auf zwei Wegen in den Radar: automatisch über einen Datenanbieter (z. B. Octolens ab 159 $/Monat, Coresignal) und manuell über die Teilen-Funktion des Vertriebs. Scraping ist wegen der LinkedIn-Nutzungsbedingungen keine produktive Grundlage. Signale: primär Vergabe an Baufirma/ARGE, indirekt neue ARGEn und Wechsel von Bau-/Projektleitern. Der Pilot mit einem Datenanbieter startet nur mit Zustimmung von VMT.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Marktzahlen: eigene Schätzung auf Basis öffentlicher Quellen, vor externer Verwendung an den Originalen prüfen. Vergaben p. a. = Projekte im Bau (ca. 47–80) ÷ Ø 2,5–4 Jahre Bauzeit. VMT-Einschätzung allein für DACH: 20–30 p. a., inkl. Losen und kleinerer Sanierungen.
DE: STUVA, Tunnelbau in Deutschland – Statistik 2024/2025 (40 Projekte / ca. 83 km im Bau, 156 Projekte / 659 km in Planung): https://www.tunnel-online.info/en/artikel/tunnelling-in-germany-statistics-20242025-analysis-and-outlook-4356136.html ; Statistik 2022/23: https://www.stuva.de/fileadmin/user_upload/downloads/stat/2024-02-07_Tunnelbau_in_Deutschland_2022-2023.pdf
AT: u. a. Brennerbasistunnel-Lose, ASFINAG-Sanierungen S6 Semmering (2025–29), Landeck (2025–30), Karawanken, Tauern/Katschberg: https://www.tunnel-online.info/en/artikel/overhaul-of-the-semmering-tunnel-chain-for-270-million-euros-4288827.html
CH: u. a. 2. Gotthardröhre (ca. 500 m Sprengvortrieb), Gubrist, Belchen, SBB Hauenstein: https://www.astra.admin.ch/fr/percement-du-2d-tube-au-gothard-depuis-le-sud-la-methode-conventionnelle-preferee-au-tunnelier-sur-un-troncon-de-500-metres
FR: Lyon–Turin (Sprengvortriebslose), CETU-Observatorium: https://www.cetu.developpement-durable.gouv.fr/IMG/pdf/observatoire_lettre_info_v6.pdf
UK: HS2 SCL-Arbeiten (Northolt, Chilterns, Euston): https://tunnellingjournal.com/hs2s-northolt-tunnel-cross-passages-complete/
CAC-Zielgröße laut kaufmännischer Leitung VMT (Workshop 06.10.2026): ca. 1 % des Ø Deal-Volumens von 200–250 T€. Payback = Kosten ÷ (zusätzliche Projekte p. a. × 2.500 €) × 12. Kostenszenarien illustrativ; 20–30 T€ als Größenordnung aus dem Workshop.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Advisory-board/vmt-ki-vertrieb-ct/assets/wave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SH&amp;Partner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85800"/>
            <a:ext cx="1737360" cy="323698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777240" y="2103120"/>
            <a:ext cx="69494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105000"/>
              </a:lnSpc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lnSpc>
                <a:spcPct val="105000"/>
              </a:lnSpc>
              <a:buNone/>
            </a:pPr>
            <a:endParaRPr lang="en-US" sz="32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777240" y="3657600"/>
            <a:ext cx="69494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chemeClr val="accent5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6" name="Text 0"/>
          <p:cNvSpPr>
            <a:spLocks noGrp="1"/>
          </p:cNvSpPr>
          <p:nvPr>
            <p:ph type="body" idx="104" hasCustomPrompt="1"/>
          </p:nvPr>
        </p:nvSpPr>
        <p:spPr>
          <a:xfrm>
            <a:off x="777240" y="6181344"/>
            <a:ext cx="548640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950" dirty="0">
                <a:solidFill>
                  <a:schemeClr val="accent4"/>
                </a:solidFill>
              </a:defRPr>
            </a:lvl1pPr>
          </a:lstStyle>
          <a:p>
            <a:pPr marL="0" indent="0">
              <a:buNone/>
            </a:pPr>
            <a:endParaRPr lang="en-US" sz="9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Advisory-board/vmt-ki-vertrieb-ct/assets/wave_light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0"/>
            <a:ext cx="4602175" cy="256032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02920"/>
            <a:ext cx="96926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200" dirty="0"/>
          </a:p>
        </p:txBody>
      </p:sp>
      <p:pic>
        <p:nvPicPr>
          <p:cNvPr id="4" name="Image 1" descr="SH&amp;Partner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36792"/>
            <a:ext cx="960120" cy="179222"/>
          </a:xfrm>
          <a:prstGeom prst="rect">
            <a:avLst/>
          </a:prstGeom>
        </p:spPr>
      </p:pic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1691640" y="6327648"/>
            <a:ext cx="7315200" cy="20116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800" dirty="0">
                <a:solidFill>
                  <a:schemeClr val="accent4"/>
                </a:solidFill>
              </a:defRPr>
            </a:lvl1pPr>
          </a:lstStyle>
          <a:p>
            <a:pPr marL="0" indent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27648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27648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VMT" descr="VMT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649224"/>
            <a:ext cx="1783080" cy="395935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2" hasCustomPrompt="1"/>
          </p:nvPr>
        </p:nvSpPr>
        <p:spPr>
          <a:xfrm>
            <a:off x="777240" y="210312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chemeClr val="bg1"/>
                </a:solidFill>
              </a:rPr>
              <a:t>KI-gestützter Vertrieb im Conventional Tunneling</a:t>
            </a:r>
            <a:endParaRPr lang="en-US" sz="3200" dirty="0"/>
          </a:p>
        </p:txBody>
      </p:sp>
      <p:sp>
        <p:nvSpPr>
          <p:cNvPr id="4" name="Text 0"/>
          <p:cNvSpPr>
            <a:spLocks noGrp="1"/>
          </p:cNvSpPr>
          <p:nvPr>
            <p:ph type="body" idx="103" hasCustomPrompt="1"/>
          </p:nvPr>
        </p:nvSpPr>
        <p:spPr>
          <a:xfrm>
            <a:off x="777240" y="36576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accent5"/>
                </a:solidFill>
              </a:rPr>
              <a:t>AI Tender Radar: Zielbild, Lösung und Wirtschaftlichkeit</a:t>
            </a:r>
            <a:endParaRPr lang="en-US" sz="1600" dirty="0"/>
          </a:p>
        </p:txBody>
      </p:sp>
      <p:sp>
        <p:nvSpPr>
          <p:cNvPr id="5" name="Text 0"/>
          <p:cNvSpPr>
            <a:spLocks noGrp="1"/>
          </p:cNvSpPr>
          <p:nvPr>
            <p:ph type="body" idx="104" hasCustomPrompt="1"/>
          </p:nvPr>
        </p:nvSpPr>
        <p:spPr>
          <a:xfrm>
            <a:off x="777240" y="618134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950" dirty="0">
                <a:solidFill>
                  <a:schemeClr val="accent4"/>
                </a:solidFill>
              </a:rPr>
              <a:t>21.10.2026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0292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1"/>
                </a:solidFill>
              </a:rPr>
              <a:t>Das entscheidende Signal ist der Zuschlag,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chemeClr val="tx1"/>
                </a:solidFill>
              </a:rPr>
              <a:t>doch er erreicht den Vertrieb heute zu spät</a:t>
            </a:r>
            <a:endParaRPr lang="en-US" sz="2200" dirty="0"/>
          </a:p>
        </p:txBody>
      </p:sp>
      <p:sp>
        <p:nvSpPr>
          <p:cNvPr id="3" name="Text 0"/>
          <p:cNvSpPr>
            <a:spLocks noGrp="1"/>
          </p:cNvSpPr>
          <p:nvPr>
            <p:ph type="body" idx="103" hasCustomPrompt="1"/>
          </p:nvPr>
        </p:nvSpPr>
        <p:spPr>
          <a:xfrm>
            <a:off x="1691640" y="632764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chemeClr val="accent4"/>
                </a:solidFill>
              </a:rPr>
              <a:t>AI Tender Radar  ·  Ausgangslage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Projektphasen aus Sicht des VMT-Vertriebs</a:t>
            </a:r>
            <a:endParaRPr lang="en-US" sz="1000" dirty="0"/>
          </a:p>
        </p:txBody>
      </p:sp>
      <p:sp>
        <p:nvSpPr>
          <p:cNvPr id="5" name="Hervorhebung Vergabe"/>
          <p:cNvSpPr/>
          <p:nvPr/>
        </p:nvSpPr>
        <p:spPr>
          <a:xfrm>
            <a:off x="7214616" y="2057400"/>
            <a:ext cx="2221992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Phasenlinie"/>
          <p:cNvSpPr/>
          <p:nvPr/>
        </p:nvSpPr>
        <p:spPr>
          <a:xfrm>
            <a:off x="548640" y="2423160"/>
            <a:ext cx="1110996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Phase Planung"/>
          <p:cNvSpPr/>
          <p:nvPr/>
        </p:nvSpPr>
        <p:spPr>
          <a:xfrm>
            <a:off x="685800" y="2359152"/>
            <a:ext cx="128016" cy="12801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 txBox="1"/>
          <p:nvPr/>
        </p:nvSpPr>
        <p:spPr>
          <a:xfrm>
            <a:off x="685800" y="2651760"/>
            <a:ext cx="1947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</a:rPr>
              <a:t>Planung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063240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chemeClr val="accent3"/>
                </a:solidFill>
              </a:rPr>
              <a:t>Für den Vertrieb noch zu früh</a:t>
            </a:r>
            <a:endParaRPr lang="en-US" sz="950" dirty="0"/>
          </a:p>
        </p:txBody>
      </p:sp>
      <p:sp>
        <p:nvSpPr>
          <p:cNvPr id="10" name="Phase Genehmigung"/>
          <p:cNvSpPr/>
          <p:nvPr/>
        </p:nvSpPr>
        <p:spPr>
          <a:xfrm>
            <a:off x="2907792" y="2359152"/>
            <a:ext cx="128016" cy="12801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 txBox="1"/>
          <p:nvPr/>
        </p:nvSpPr>
        <p:spPr>
          <a:xfrm>
            <a:off x="2907792" y="2651760"/>
            <a:ext cx="1947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</a:rPr>
              <a:t>Genehmigung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907792" y="3063240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chemeClr val="accent3"/>
                </a:solidFill>
              </a:rPr>
              <a:t>Planer beeinflussbar, aber aufwendig</a:t>
            </a:r>
            <a:endParaRPr lang="en-US" sz="950" dirty="0"/>
          </a:p>
        </p:txBody>
      </p:sp>
      <p:sp>
        <p:nvSpPr>
          <p:cNvPr id="13" name="Phase Ausschreibung"/>
          <p:cNvSpPr/>
          <p:nvPr/>
        </p:nvSpPr>
        <p:spPr>
          <a:xfrm>
            <a:off x="5129784" y="2359152"/>
            <a:ext cx="128016" cy="12801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 txBox="1"/>
          <p:nvPr/>
        </p:nvSpPr>
        <p:spPr>
          <a:xfrm>
            <a:off x="5129784" y="2651760"/>
            <a:ext cx="1947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</a:rPr>
              <a:t>Ausschreibung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129784" y="3063240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chemeClr val="accent3"/>
                </a:solidFill>
              </a:rPr>
              <a:t>Bietende Baufirmen noch unbekannt</a:t>
            </a:r>
            <a:endParaRPr lang="en-US" sz="950" dirty="0"/>
          </a:p>
        </p:txBody>
      </p:sp>
      <p:sp>
        <p:nvSpPr>
          <p:cNvPr id="16" name="Phase Vergabe an Baufirma oder ARGE"/>
          <p:cNvSpPr/>
          <p:nvPr/>
        </p:nvSpPr>
        <p:spPr>
          <a:xfrm>
            <a:off x="7351776" y="233172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 txBox="1"/>
          <p:nvPr/>
        </p:nvSpPr>
        <p:spPr>
          <a:xfrm>
            <a:off x="7351776" y="2651760"/>
            <a:ext cx="1947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Vergabe an Baufirma oder ARGE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351776" y="3063240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chemeClr val="accent3"/>
                </a:solidFill>
              </a:rPr>
              <a:t>Wichtigste Information, idealerweise mit Kontakt</a:t>
            </a:r>
            <a:endParaRPr lang="en-US" sz="950" dirty="0"/>
          </a:p>
        </p:txBody>
      </p:sp>
      <p:sp>
        <p:nvSpPr>
          <p:cNvPr id="19" name="Phase Baubeginn"/>
          <p:cNvSpPr/>
          <p:nvPr/>
        </p:nvSpPr>
        <p:spPr>
          <a:xfrm>
            <a:off x="9573768" y="2359152"/>
            <a:ext cx="128016" cy="12801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 txBox="1"/>
          <p:nvPr/>
        </p:nvSpPr>
        <p:spPr>
          <a:xfrm>
            <a:off x="9573768" y="2651760"/>
            <a:ext cx="1947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</a:rPr>
              <a:t>Baubeginn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573768" y="3063240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chemeClr val="accent3"/>
                </a:solidFill>
              </a:rPr>
              <a:t>Bis hierhin bleibt Zeit für den Vertrieb</a:t>
            </a:r>
            <a:endParaRPr lang="en-US" sz="950" dirty="0"/>
          </a:p>
        </p:txBody>
      </p:sp>
      <p:sp>
        <p:nvSpPr>
          <p:cNvPr id="22" name="Linie CT im Fokus"/>
          <p:cNvSpPr/>
          <p:nvPr/>
        </p:nvSpPr>
        <p:spPr>
          <a:xfrm>
            <a:off x="548640" y="4206240"/>
            <a:ext cx="35204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 txBox="1"/>
          <p:nvPr/>
        </p:nvSpPr>
        <p:spPr>
          <a:xfrm>
            <a:off x="548640" y="433425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CT im Fokus, aber ohne Prozess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626864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3"/>
                </a:solidFill>
              </a:rPr>
              <a:t>CT ist kaum automatisiert und bietet Potenzial, hat aber weder Prozess noch CRM. Projekte werden zu spät, zufällig oder gar nicht entdeckt.</a:t>
            </a:r>
            <a:endParaRPr lang="en-US" sz="1050" dirty="0"/>
          </a:p>
        </p:txBody>
      </p:sp>
      <p:sp>
        <p:nvSpPr>
          <p:cNvPr id="25" name="Linie Signale sind verstreut"/>
          <p:cNvSpPr/>
          <p:nvPr/>
        </p:nvSpPr>
        <p:spPr>
          <a:xfrm>
            <a:off x="4343400" y="4206240"/>
            <a:ext cx="35204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 txBox="1"/>
          <p:nvPr/>
        </p:nvSpPr>
        <p:spPr>
          <a:xfrm>
            <a:off x="4343400" y="433425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Signale sind verstreut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343400" y="4626864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3"/>
                </a:solidFill>
              </a:rPr>
              <a:t>Zuschläge erscheinen in LinkedIn-Beiträgen, Pressemitteilungen, Fachpresse und Vergabeportalen, mehrsprachig und uneinheitlich.</a:t>
            </a:r>
            <a:endParaRPr lang="en-US" sz="1050" dirty="0"/>
          </a:p>
        </p:txBody>
      </p:sp>
      <p:sp>
        <p:nvSpPr>
          <p:cNvPr id="28" name="Linie Relevanz und Kontakt fehlen"/>
          <p:cNvSpPr/>
          <p:nvPr/>
        </p:nvSpPr>
        <p:spPr>
          <a:xfrm>
            <a:off x="8138160" y="4206240"/>
            <a:ext cx="35204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 txBox="1"/>
          <p:nvPr/>
        </p:nvSpPr>
        <p:spPr>
          <a:xfrm>
            <a:off x="8138160" y="433425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Relevanz und Kontakt fehlen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138160" y="4626864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3"/>
                </a:solidFill>
              </a:rPr>
              <a:t>Relevant sind nur Teilschnitt- oder Sprengvortrieb ab 200 m. Die Projekt- oder Bauleitung steht selten in der Meldung.</a:t>
            </a:r>
            <a:endParaRPr lang="en-US" sz="105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27648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90" name="Ansatz Band"/>
          <p:cNvSpPr txBox="1"/>
          <p:nvPr/>
        </p:nvSpPr>
        <p:spPr>
          <a:xfrm>
            <a:off x="548640" y="5532120"/>
            <a:ext cx="11109960" cy="50292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228600" tIns="0" rIns="228600" bIns="0" rtlCol="0" anchor="ctr"/>
          <a:lstStyle/>
          <a:p>
            <a:pPr marL="0" indent="0">
              <a:buNone/>
            </a:pPr>
            <a:r>
              <a:rPr lang="de-DE" sz="1100" b="1" dirty="0">
                <a:solidFill>
                  <a:schemeClr val="accent1"/>
                </a:solidFill>
              </a:rPr>
              <a:t xml:space="preserve">Unser Ansatz:  </a:t>
            </a:r>
            <a:r>
              <a:rPr lang="de-DE" sz="1100" b="1" dirty="0">
                <a:solidFill>
                  <a:schemeClr val="tx1"/>
                </a:solidFill>
              </a:rPr>
              <a:t xml:space="preserve">KI übernimmt die Marktbeobachtung </a:t>
            </a:r>
            <a:r>
              <a:rPr lang="de-DE" sz="1100" dirty="0">
                <a:solidFill>
                  <a:schemeClr val="accent3"/>
                </a:solidFill>
              </a:rPr>
              <a:t>– Vergaben erkennen, nach CT-Kriterien bewerten und mit Ansprechpartner an den Vertrieb übergeben.</a:t>
            </a:r>
            <a:endParaRPr lang="de-DE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0292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1"/>
                </a:solidFill>
              </a:rPr>
              <a:t>Zielbild: Jede relevante Vergabe erreicht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chemeClr val="tx1"/>
                </a:solidFill>
              </a:rPr>
              <a:t>den Vertrieb mit Ansprechpartner</a:t>
            </a:r>
            <a:endParaRPr lang="en-US" sz="2200" dirty="0"/>
          </a:p>
        </p:txBody>
      </p:sp>
      <p:sp>
        <p:nvSpPr>
          <p:cNvPr id="3" name="Text 0"/>
          <p:cNvSpPr>
            <a:spLocks noGrp="1"/>
          </p:cNvSpPr>
          <p:nvPr>
            <p:ph type="body" idx="103" hasCustomPrompt="1"/>
          </p:nvPr>
        </p:nvSpPr>
        <p:spPr>
          <a:xfrm>
            <a:off x="1691640" y="632764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chemeClr val="accent4"/>
                </a:solidFill>
              </a:rPr>
              <a:t>AI Tender Radar  ·  Zielbild</a:t>
            </a:r>
            <a:endParaRPr lang="en-US" sz="800" dirty="0"/>
          </a:p>
        </p:txBody>
      </p:sp>
      <p:sp>
        <p:nvSpPr>
          <p:cNvPr id="4" name="Digest Rahmen"/>
          <p:cNvSpPr/>
          <p:nvPr/>
        </p:nvSpPr>
        <p:spPr>
          <a:xfrm>
            <a:off x="548640" y="1645920"/>
            <a:ext cx="6766560" cy="4160520"/>
          </a:xfrm>
          <a:prstGeom prst="rect">
            <a:avLst/>
          </a:prstGeom>
          <a:solidFill>
            <a:schemeClr val="bg1"/>
          </a:solidFill>
          <a:ln w="12700">
            <a:solidFill>
              <a:srgbClr val="D9DDE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Digest Kopf"/>
          <p:cNvSpPr/>
          <p:nvPr/>
        </p:nvSpPr>
        <p:spPr>
          <a:xfrm>
            <a:off x="548640" y="1645920"/>
            <a:ext cx="6766560" cy="411480"/>
          </a:xfrm>
          <a:prstGeom prst="rect">
            <a:avLst/>
          </a:prstGeom>
          <a:solidFill>
            <a:schemeClr val="bg2"/>
          </a:solidFill>
          <a:ln w="12700">
            <a:solidFill>
              <a:srgbClr val="D9DDE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 txBox="1"/>
          <p:nvPr/>
        </p:nvSpPr>
        <p:spPr>
          <a:xfrm>
            <a:off x="777240" y="1645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tx1"/>
                </a:solidFill>
              </a:rPr>
              <a:t>AI Tender Radar</a:t>
            </a:r>
            <a:r>
              <a:rPr lang="en-US" sz="1000" dirty="0">
                <a:solidFill>
                  <a:schemeClr val="accent3"/>
                </a:solidFill>
              </a:rPr>
              <a:t>   Tagesdigest vom 21.10.2026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303520" y="1645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chemeClr val="accent3"/>
                </a:solidFill>
              </a:rPr>
              <a:t>3 neue Treffer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2402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Tunnel Kauerndorf, B 289 Oberfranken</a:t>
            </a:r>
            <a:endParaRPr lang="en-US" sz="1400" dirty="0"/>
          </a:p>
        </p:txBody>
      </p:sp>
      <p:sp>
        <p:nvSpPr>
          <p:cNvPr id="9" name="Score"/>
          <p:cNvSpPr/>
          <p:nvPr/>
        </p:nvSpPr>
        <p:spPr>
          <a:xfrm>
            <a:off x="6263640" y="2258568"/>
            <a:ext cx="822960" cy="256032"/>
          </a:xfrm>
          <a:prstGeom prst="roundRect">
            <a:avLst>
              <a:gd name="adj" fmla="val 178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 txBox="1"/>
          <p:nvPr/>
        </p:nvSpPr>
        <p:spPr>
          <a:xfrm>
            <a:off x="6263640" y="22585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chemeClr val="bg1"/>
                </a:solidFill>
              </a:rPr>
              <a:t>Score 10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54203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3"/>
                </a:solidFill>
              </a:rPr>
              <a:t>Vergabe erfolgt  ·  Deutschland  ·  Quelle: Pressemitteilung StBA Bayreuth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29718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accent4"/>
                </a:solidFill>
              </a:rPr>
              <a:t>Gewinner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15468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ARGE Feldhaus Bergbau / Eiffage Infra-Süd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977640" y="29718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accent4"/>
                </a:solidFill>
              </a:rPr>
              <a:t>Bauherr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3977640" y="315468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Staatliches Bauamt Bayreuth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353872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accent4"/>
                </a:solidFill>
              </a:rPr>
              <a:t>Technik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72160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ca. 750 m, davon 626 m bergmännisch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977640" y="353872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accent4"/>
                </a:solidFill>
              </a:rPr>
              <a:t>Timing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3977640" y="372160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Zuschlag 19.08.2026, Tunnelanschlag Q1 2027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410565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accent4"/>
                </a:solidFill>
              </a:rPr>
              <a:t>Ansprechpartner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28853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Projektleitung der ARGE (Anreicherung)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977640" y="410565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accent4"/>
                </a:solidFill>
              </a:rPr>
              <a:t>Ansatzpunkt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3977640" y="428853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Vermessung und Profilkontrolle vor dem Anschlag</a:t>
            </a:r>
            <a:endParaRPr lang="en-US" sz="1000" dirty="0"/>
          </a:p>
        </p:txBody>
      </p:sp>
      <p:sp>
        <p:nvSpPr>
          <p:cNvPr id="24" name="Digest Trenner"/>
          <p:cNvSpPr/>
          <p:nvPr/>
        </p:nvSpPr>
        <p:spPr>
          <a:xfrm>
            <a:off x="777240" y="4754880"/>
            <a:ext cx="630936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Weiterer Treffer 1"/>
          <p:cNvSpPr/>
          <p:nvPr/>
        </p:nvSpPr>
        <p:spPr>
          <a:xfrm>
            <a:off x="777240" y="4956048"/>
            <a:ext cx="3108960" cy="11887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Weiterer Treffer Text 1"/>
          <p:cNvSpPr/>
          <p:nvPr/>
        </p:nvSpPr>
        <p:spPr>
          <a:xfrm>
            <a:off x="777240" y="5129784"/>
            <a:ext cx="4754880" cy="7315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Weiterer Treffer 2"/>
          <p:cNvSpPr/>
          <p:nvPr/>
        </p:nvSpPr>
        <p:spPr>
          <a:xfrm>
            <a:off x="777240" y="5321808"/>
            <a:ext cx="2377440" cy="11887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Weiterer Treffer Text 2"/>
          <p:cNvSpPr/>
          <p:nvPr/>
        </p:nvSpPr>
        <p:spPr>
          <a:xfrm>
            <a:off x="777240" y="5495544"/>
            <a:ext cx="3657600" cy="7315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Zwischenüberschrift Inhalt jedes Treffers"/>
          <p:cNvSpPr txBox="1"/>
          <p:nvPr/>
        </p:nvSpPr>
        <p:spPr>
          <a:xfrm>
            <a:off x="7772400" y="16459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Inhalt jedes Treffers</a:t>
            </a:r>
            <a:endParaRPr lang="en-US" sz="1100" dirty="0"/>
          </a:p>
        </p:txBody>
      </p:sp>
      <p:sp>
        <p:nvSpPr>
          <p:cNvPr id="30" name="Linie Inhalt 1"/>
          <p:cNvSpPr/>
          <p:nvPr/>
        </p:nvSpPr>
        <p:spPr>
          <a:xfrm>
            <a:off x="7772400" y="2011680"/>
            <a:ext cx="388620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 txBox="1"/>
          <p:nvPr/>
        </p:nvSpPr>
        <p:spPr>
          <a:xfrm>
            <a:off x="7772400" y="208483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Projekt und Bauherr</a:t>
            </a:r>
            <a:endParaRPr lang="en-US" sz="1050" dirty="0"/>
          </a:p>
        </p:txBody>
      </p:sp>
      <p:sp>
        <p:nvSpPr>
          <p:cNvPr id="32" name="Linie Inhalt 2"/>
          <p:cNvSpPr/>
          <p:nvPr/>
        </p:nvSpPr>
        <p:spPr>
          <a:xfrm>
            <a:off x="7772400" y="2395728"/>
            <a:ext cx="388620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31"/>
          <p:cNvSpPr txBox="1"/>
          <p:nvPr/>
        </p:nvSpPr>
        <p:spPr>
          <a:xfrm>
            <a:off x="7772400" y="24688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Gewinner bzw. ARGE</a:t>
            </a:r>
            <a:endParaRPr lang="en-US" sz="1050" dirty="0"/>
          </a:p>
        </p:txBody>
      </p:sp>
      <p:sp>
        <p:nvSpPr>
          <p:cNvPr id="34" name="Linie Inhalt 3"/>
          <p:cNvSpPr/>
          <p:nvPr/>
        </p:nvSpPr>
        <p:spPr>
          <a:xfrm>
            <a:off x="7772400" y="2779776"/>
            <a:ext cx="388620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Text 33"/>
          <p:cNvSpPr txBox="1"/>
          <p:nvPr/>
        </p:nvSpPr>
        <p:spPr>
          <a:xfrm>
            <a:off x="7772400" y="285292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Technik: Länge, Durchmesser, Vortriebsart</a:t>
            </a:r>
            <a:endParaRPr lang="en-US" sz="1050" dirty="0"/>
          </a:p>
        </p:txBody>
      </p:sp>
      <p:sp>
        <p:nvSpPr>
          <p:cNvPr id="36" name="Linie Inhalt 4"/>
          <p:cNvSpPr/>
          <p:nvPr/>
        </p:nvSpPr>
        <p:spPr>
          <a:xfrm>
            <a:off x="7772400" y="3163824"/>
            <a:ext cx="388620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Text 35"/>
          <p:cNvSpPr txBox="1"/>
          <p:nvPr/>
        </p:nvSpPr>
        <p:spPr>
          <a:xfrm>
            <a:off x="7772400" y="323697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Ansprechpartner der Projekt- oder Bauleitung</a:t>
            </a:r>
            <a:endParaRPr lang="en-US" sz="1050" dirty="0"/>
          </a:p>
        </p:txBody>
      </p:sp>
      <p:sp>
        <p:nvSpPr>
          <p:cNvPr id="38" name="Linie Inhalt 5"/>
          <p:cNvSpPr/>
          <p:nvPr/>
        </p:nvSpPr>
        <p:spPr>
          <a:xfrm>
            <a:off x="7772400" y="3547872"/>
            <a:ext cx="388620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9" name="Text 37"/>
          <p:cNvSpPr txBox="1"/>
          <p:nvPr/>
        </p:nvSpPr>
        <p:spPr>
          <a:xfrm>
            <a:off x="7772400" y="362102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Quelle und Score</a:t>
            </a:r>
            <a:endParaRPr lang="en-US" sz="1050" dirty="0"/>
          </a:p>
        </p:txBody>
      </p:sp>
      <p:sp>
        <p:nvSpPr>
          <p:cNvPr id="40" name="Zwischenüberschrift Weg in den Vertrieb"/>
          <p:cNvSpPr txBox="1"/>
          <p:nvPr/>
        </p:nvSpPr>
        <p:spPr>
          <a:xfrm>
            <a:off x="7772400" y="41605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Weg in den Vertrieb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7772400" y="4462272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3"/>
                </a:solidFill>
              </a:rPr>
              <a:t>Täglich per E-Mail oder Excel an den CT Product Champion, der an die regionalen Vertriebler verteilt. Keine automatisierte Kontaktaufnahme.</a:t>
            </a:r>
            <a:endParaRPr lang="en-US" sz="105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27648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0292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1"/>
                </a:solidFill>
              </a:rPr>
              <a:t>Lösungsansatz: drei Quellen, eine KI-Pipeline, ein täglicher Digest</a:t>
            </a:r>
            <a:endParaRPr lang="en-US" sz="2200" dirty="0"/>
          </a:p>
        </p:txBody>
      </p:sp>
      <p:sp>
        <p:nvSpPr>
          <p:cNvPr id="3" name="Text 0"/>
          <p:cNvSpPr>
            <a:spLocks noGrp="1"/>
          </p:cNvSpPr>
          <p:nvPr>
            <p:ph type="body" idx="103" hasCustomPrompt="1"/>
          </p:nvPr>
        </p:nvSpPr>
        <p:spPr>
          <a:xfrm>
            <a:off x="1691640" y="632764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chemeClr val="accent4"/>
                </a:solidFill>
              </a:rPr>
              <a:t>AI Tender Radar  ·  Lösungsansatz</a:t>
            </a:r>
            <a:endParaRPr lang="en-US" sz="800" dirty="0"/>
          </a:p>
        </p:txBody>
      </p:sp>
      <p:sp>
        <p:nvSpPr>
          <p:cNvPr id="4" name="Zwischenüberschrift Quellen"/>
          <p:cNvSpPr txBox="1"/>
          <p:nvPr/>
        </p:nvSpPr>
        <p:spPr>
          <a:xfrm>
            <a:off x="548640" y="16002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Quellen</a:t>
            </a:r>
            <a:endParaRPr lang="en-US" sz="1100" dirty="0"/>
          </a:p>
        </p:txBody>
      </p:sp>
      <p:sp>
        <p:nvSpPr>
          <p:cNvPr id="5" name="Linie Quelle 1"/>
          <p:cNvSpPr/>
          <p:nvPr/>
        </p:nvSpPr>
        <p:spPr>
          <a:xfrm>
            <a:off x="548640" y="1920240"/>
            <a:ext cx="320040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 txBox="1"/>
          <p:nvPr/>
        </p:nvSpPr>
        <p:spPr>
          <a:xfrm>
            <a:off x="548640" y="199339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</a:rPr>
              <a:t>Deep Research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chemeClr val="accent3"/>
                </a:solidFill>
              </a:rPr>
              <a:t>Newsrooms, Fachpresse, Vergabeportale</a:t>
            </a:r>
            <a:endParaRPr lang="en-US" sz="1100" dirty="0"/>
          </a:p>
        </p:txBody>
      </p:sp>
      <p:sp>
        <p:nvSpPr>
          <p:cNvPr id="7" name="Pfeil Quelle 1"/>
          <p:cNvSpPr/>
          <p:nvPr/>
        </p:nvSpPr>
        <p:spPr>
          <a:xfrm>
            <a:off x="3794760" y="2212848"/>
            <a:ext cx="411480" cy="64008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8" name="Linie Quelle 2"/>
          <p:cNvSpPr/>
          <p:nvPr/>
        </p:nvSpPr>
        <p:spPr>
          <a:xfrm>
            <a:off x="548640" y="2542032"/>
            <a:ext cx="320040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 txBox="1"/>
          <p:nvPr/>
        </p:nvSpPr>
        <p:spPr>
          <a:xfrm>
            <a:off x="548640" y="2615184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</a:rPr>
              <a:t>LinkedIn-Datenanbieter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chemeClr val="accent3"/>
                </a:solidFill>
              </a:rPr>
              <a:t>Keyword-Suche in öffentlichen Beiträgen</a:t>
            </a:r>
            <a:endParaRPr lang="en-US" sz="1100" dirty="0"/>
          </a:p>
        </p:txBody>
      </p:sp>
      <p:sp>
        <p:nvSpPr>
          <p:cNvPr id="10" name="Pfeil Quelle 2"/>
          <p:cNvSpPr/>
          <p:nvPr/>
        </p:nvSpPr>
        <p:spPr>
          <a:xfrm>
            <a:off x="3794760" y="2834640"/>
            <a:ext cx="411480" cy="18288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1" name="Linie Quelle 3"/>
          <p:cNvSpPr/>
          <p:nvPr/>
        </p:nvSpPr>
        <p:spPr>
          <a:xfrm>
            <a:off x="548640" y="3163824"/>
            <a:ext cx="320040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 txBox="1"/>
          <p:nvPr/>
        </p:nvSpPr>
        <p:spPr>
          <a:xfrm>
            <a:off x="548640" y="3236976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</a:rPr>
              <a:t>Funde des Vertriebs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chemeClr val="accent3"/>
                </a:solidFill>
              </a:rPr>
              <a:t>Weiterleitung per Teilen-Funktion</a:t>
            </a:r>
            <a:endParaRPr lang="en-US" sz="1100" dirty="0"/>
          </a:p>
        </p:txBody>
      </p:sp>
      <p:sp>
        <p:nvSpPr>
          <p:cNvPr id="13" name="Pfeil Quelle 3"/>
          <p:cNvSpPr/>
          <p:nvPr/>
        </p:nvSpPr>
        <p:spPr>
          <a:xfrm flipV="1">
            <a:off x="3794760" y="2852928"/>
            <a:ext cx="411480" cy="603504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4" name="Pipeline Fläche"/>
          <p:cNvSpPr/>
          <p:nvPr/>
        </p:nvSpPr>
        <p:spPr>
          <a:xfrm>
            <a:off x="4251960" y="1600200"/>
            <a:ext cx="3931920" cy="25146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 txBox="1"/>
          <p:nvPr/>
        </p:nvSpPr>
        <p:spPr>
          <a:xfrm>
            <a:off x="4526280" y="17556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KI-Pipeline</a:t>
            </a:r>
            <a:endParaRPr lang="en-US" sz="1200" dirty="0"/>
          </a:p>
        </p:txBody>
      </p:sp>
      <p:sp>
        <p:nvSpPr>
          <p:cNvPr id="16" name="Linie Schritt 1"/>
          <p:cNvSpPr/>
          <p:nvPr/>
        </p:nvSpPr>
        <p:spPr>
          <a:xfrm>
            <a:off x="4526280" y="2130552"/>
            <a:ext cx="338328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 txBox="1"/>
          <p:nvPr/>
        </p:nvSpPr>
        <p:spPr>
          <a:xfrm>
            <a:off x="4526280" y="21762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bg1"/>
                </a:solidFill>
              </a:rPr>
              <a:t>Erkennen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989320" y="21762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accent5"/>
                </a:solidFill>
              </a:rPr>
              <a:t>Vergabe-Signale finden</a:t>
            </a:r>
            <a:endParaRPr lang="en-US" sz="950" dirty="0"/>
          </a:p>
        </p:txBody>
      </p:sp>
      <p:sp>
        <p:nvSpPr>
          <p:cNvPr id="19" name="Linie Schritt 2"/>
          <p:cNvSpPr/>
          <p:nvPr/>
        </p:nvSpPr>
        <p:spPr>
          <a:xfrm>
            <a:off x="4526280" y="2496312"/>
            <a:ext cx="338328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 txBox="1"/>
          <p:nvPr/>
        </p:nvSpPr>
        <p:spPr>
          <a:xfrm>
            <a:off x="4526280" y="25420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bg1"/>
                </a:solidFill>
              </a:rPr>
              <a:t>Zusammenführen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989320" y="25420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accent5"/>
                </a:solidFill>
              </a:rPr>
              <a:t>Duplikate bündeln</a:t>
            </a:r>
            <a:endParaRPr lang="en-US" sz="950" dirty="0"/>
          </a:p>
        </p:txBody>
      </p:sp>
      <p:sp>
        <p:nvSpPr>
          <p:cNvPr id="22" name="Linie Schritt 3"/>
          <p:cNvSpPr/>
          <p:nvPr/>
        </p:nvSpPr>
        <p:spPr>
          <a:xfrm>
            <a:off x="4526280" y="2862072"/>
            <a:ext cx="338328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 txBox="1"/>
          <p:nvPr/>
        </p:nvSpPr>
        <p:spPr>
          <a:xfrm>
            <a:off x="4526280" y="29077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bg1"/>
                </a:solidFill>
              </a:rPr>
              <a:t>Filtern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989320" y="29077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accent5"/>
                </a:solidFill>
              </a:rPr>
              <a:t>CT-Kriterien anwenden</a:t>
            </a:r>
            <a:endParaRPr lang="en-US" sz="950" dirty="0"/>
          </a:p>
        </p:txBody>
      </p:sp>
      <p:sp>
        <p:nvSpPr>
          <p:cNvPr id="25" name="Linie Schritt 4"/>
          <p:cNvSpPr/>
          <p:nvPr/>
        </p:nvSpPr>
        <p:spPr>
          <a:xfrm>
            <a:off x="4526280" y="3227832"/>
            <a:ext cx="338328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 txBox="1"/>
          <p:nvPr/>
        </p:nvSpPr>
        <p:spPr>
          <a:xfrm>
            <a:off x="4526280" y="32735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bg1"/>
                </a:solidFill>
              </a:rPr>
              <a:t>Anreichern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5989320" y="32735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accent5"/>
                </a:solidFill>
              </a:rPr>
              <a:t>Technik, ARGE, Kontakte</a:t>
            </a:r>
            <a:endParaRPr lang="en-US" sz="950" dirty="0"/>
          </a:p>
        </p:txBody>
      </p:sp>
      <p:sp>
        <p:nvSpPr>
          <p:cNvPr id="28" name="Linie Schritt 5"/>
          <p:cNvSpPr/>
          <p:nvPr/>
        </p:nvSpPr>
        <p:spPr>
          <a:xfrm>
            <a:off x="4526280" y="3593592"/>
            <a:ext cx="338328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 txBox="1"/>
          <p:nvPr/>
        </p:nvSpPr>
        <p:spPr>
          <a:xfrm>
            <a:off x="4526280" y="36393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bg1"/>
                </a:solidFill>
              </a:rPr>
              <a:t>Bewerten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5989320" y="36393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accent5"/>
                </a:solidFill>
              </a:rPr>
              <a:t>Score je Treffer</a:t>
            </a:r>
            <a:endParaRPr lang="en-US" sz="950" dirty="0"/>
          </a:p>
        </p:txBody>
      </p:sp>
      <p:sp>
        <p:nvSpPr>
          <p:cNvPr id="31" name="Pfeil Digest"/>
          <p:cNvSpPr/>
          <p:nvPr/>
        </p:nvSpPr>
        <p:spPr>
          <a:xfrm>
            <a:off x="8229600" y="2240280"/>
            <a:ext cx="411480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32" name="Zwischenüberschrift Ausgabe"/>
          <p:cNvSpPr txBox="1"/>
          <p:nvPr/>
        </p:nvSpPr>
        <p:spPr>
          <a:xfrm>
            <a:off x="8732520" y="16002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Ausgabe</a:t>
            </a:r>
            <a:endParaRPr lang="en-US" sz="1100" dirty="0"/>
          </a:p>
        </p:txBody>
      </p:sp>
      <p:sp>
        <p:nvSpPr>
          <p:cNvPr id="33" name="Linie Ausgabe"/>
          <p:cNvSpPr/>
          <p:nvPr/>
        </p:nvSpPr>
        <p:spPr>
          <a:xfrm>
            <a:off x="8732520" y="1920240"/>
            <a:ext cx="292608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Text 32"/>
          <p:cNvSpPr txBox="1"/>
          <p:nvPr/>
        </p:nvSpPr>
        <p:spPr>
          <a:xfrm>
            <a:off x="8732520" y="1993392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</a:rPr>
              <a:t>Täglicher Digest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chemeClr val="accent3"/>
                </a:solidFill>
              </a:rPr>
              <a:t>An den CT Product Champion. Sein Feedback je Treffer schärft Filter und Score.</a:t>
            </a:r>
            <a:endParaRPr lang="en-US" sz="1100" dirty="0"/>
          </a:p>
        </p:txBody>
      </p:sp>
      <p:sp>
        <p:nvSpPr>
          <p:cNvPr id="35" name="Linie Relevanzfilter"/>
          <p:cNvSpPr/>
          <p:nvPr/>
        </p:nvSpPr>
        <p:spPr>
          <a:xfrm>
            <a:off x="548640" y="4480560"/>
            <a:ext cx="35204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Text 34"/>
          <p:cNvSpPr txBox="1"/>
          <p:nvPr/>
        </p:nvSpPr>
        <p:spPr>
          <a:xfrm>
            <a:off x="548640" y="460857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Relevanzfilter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4901184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3"/>
                </a:solidFill>
              </a:rPr>
              <a:t>Neubau oder Sanierung, Teilschnitt oder Drill &amp; Blast, Länge über 200 m, Durchmesser über ca. 2–3 m. Anfangs weit gefasst, dann geschärft.</a:t>
            </a:r>
            <a:endParaRPr lang="en-US" sz="1050" dirty="0"/>
          </a:p>
        </p:txBody>
      </p:sp>
      <p:sp>
        <p:nvSpPr>
          <p:cNvPr id="38" name="Linie Pilot"/>
          <p:cNvSpPr/>
          <p:nvPr/>
        </p:nvSpPr>
        <p:spPr>
          <a:xfrm>
            <a:off x="4343400" y="4480560"/>
            <a:ext cx="35204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9" name="Text 37"/>
          <p:cNvSpPr txBox="1"/>
          <p:nvPr/>
        </p:nvSpPr>
        <p:spPr>
          <a:xfrm>
            <a:off x="4343400" y="460857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Pilot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4343400" y="4901184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3"/>
                </a:solidFill>
              </a:rPr>
              <a:t>Start mit Deep Research und einem Datenanbieter. Nach 2–4 Wochen Abgleich mit bekannten Projekten, danach Ausbau um Kontakte und Regionen.</a:t>
            </a:r>
            <a:endParaRPr lang="en-US" sz="1050" dirty="0"/>
          </a:p>
        </p:txBody>
      </p:sp>
      <p:sp>
        <p:nvSpPr>
          <p:cNvPr id="41" name="Linie Offene Entscheidungen"/>
          <p:cNvSpPr/>
          <p:nvPr/>
        </p:nvSpPr>
        <p:spPr>
          <a:xfrm>
            <a:off x="8138160" y="4480560"/>
            <a:ext cx="35204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2" name="Text 40"/>
          <p:cNvSpPr txBox="1"/>
          <p:nvPr/>
        </p:nvSpPr>
        <p:spPr>
          <a:xfrm>
            <a:off x="8138160" y="460857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Offene Entscheidungen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8138160" y="4901184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3"/>
                </a:solidFill>
              </a:rPr>
              <a:t>Betrieb als Service oder intern bei VMT, eigenes Sprachmodell oder Anbindung per API, Freigabe der Datenherkunft durch die VMT-IT.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5852160"/>
            <a:ext cx="11109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chemeClr val="accent4"/>
                </a:solidFill>
              </a:rPr>
              <a:t>Scope Proof of Concept: Conventional Tunneling in DACH bzw. Mitteleuropa inkl. Frankreich und UK. Erst Informationsqualität, dann Oberfläche und CRM.</a:t>
            </a:r>
            <a:endParaRPr lang="en-US" sz="90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27648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0292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1"/>
                </a:solidFill>
              </a:rPr>
              <a:t>Der Radar trägt sich ab 8 bis 12 zusätzlich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chemeClr val="tx1"/>
                </a:solidFill>
              </a:rPr>
              <a:t>identifizierten Projekten pro Jahr</a:t>
            </a:r>
            <a:endParaRPr lang="en-US" sz="2200" dirty="0"/>
          </a:p>
        </p:txBody>
      </p:sp>
      <p:sp>
        <p:nvSpPr>
          <p:cNvPr id="3" name="Text 0"/>
          <p:cNvSpPr>
            <a:spLocks noGrp="1"/>
          </p:cNvSpPr>
          <p:nvPr>
            <p:ph type="body" idx="103" hasCustomPrompt="1"/>
          </p:nvPr>
        </p:nvSpPr>
        <p:spPr>
          <a:xfrm>
            <a:off x="1691640" y="632764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chemeClr val="accent4"/>
                </a:solidFill>
              </a:rPr>
              <a:t>AI Tender Radar  ·  Commercial</a:t>
            </a:r>
            <a:endParaRPr lang="en-US" sz="800" dirty="0"/>
          </a:p>
        </p:txBody>
      </p:sp>
      <p:sp>
        <p:nvSpPr>
          <p:cNvPr id="4" name="Zwischenüberschrift Zielgröße: Akquisitionskosten je zusätzlichem Projekt"/>
          <p:cNvSpPr txBox="1"/>
          <p:nvPr/>
        </p:nvSpPr>
        <p:spPr>
          <a:xfrm>
            <a:off x="548640" y="16002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Zielgröße: Akquisitionskosten je zusätzlichem Projekt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250 T€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871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accent3"/>
                </a:solidFill>
              </a:rPr>
              <a:t>Ø Projektvolumen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224028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chemeClr val="accent4"/>
                </a:solidFill>
              </a:rPr>
              <a:t>×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2788920" y="19202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1 %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2788920" y="24871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accent3"/>
                </a:solidFill>
              </a:rPr>
              <a:t>CAC-Satz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379476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chemeClr val="accent4"/>
                </a:solidFill>
              </a:rPr>
              <a:t>=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343400" y="1920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</a:rPr>
              <a:t>2.500 €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24871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accent3"/>
                </a:solidFill>
              </a:rPr>
              <a:t>max. CAC je Projekt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88036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3"/>
                </a:solidFill>
              </a:rPr>
              <a:t>Gemessen wird an zusätzlich identifizierten relevanten Projekten, da der Abschluss beim VMT-Vertrieb liegt. Bewertung nach 6–12 Monaten.</a:t>
            </a:r>
            <a:endParaRPr lang="en-US" sz="1050" dirty="0"/>
          </a:p>
        </p:txBody>
      </p:sp>
      <p:sp>
        <p:nvSpPr>
          <p:cNvPr id="14" name="Linie Markt"/>
          <p:cNvSpPr/>
          <p:nvPr/>
        </p:nvSpPr>
        <p:spPr>
          <a:xfrm>
            <a:off x="548640" y="3611880"/>
            <a:ext cx="566928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Zwischenüberschrift Markt: neue relevante CT-Vergaben pro Jahr"/>
          <p:cNvSpPr txBox="1"/>
          <p:nvPr/>
        </p:nvSpPr>
        <p:spPr>
          <a:xfrm>
            <a:off x="548640" y="374904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Markt: neue relevante CT-Vergaben pro Jahr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0690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tx1"/>
                </a:solidFill>
              </a:rPr>
              <a:t>17–32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2697480" y="411480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3"/>
                </a:solidFill>
              </a:rPr>
              <a:t>in Zentraleuropa (DACH, Frankreich, UK), eigene Schätzung. VMT schätzt allein für DACH 20–30.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8920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accent3"/>
                </a:solidFill>
              </a:rPr>
              <a:t>Deutschland 6–11 · Österreich 3–5 · Schweiz 3–6 · Frankreich 3–6 · UK 2–4</a:t>
            </a:r>
            <a:endParaRPr lang="en-US" sz="950" dirty="0"/>
          </a:p>
        </p:txBody>
      </p:sp>
      <p:sp>
        <p:nvSpPr>
          <p:cNvPr id="19" name="Zwischenüberschrift Payback in Monaten"/>
          <p:cNvSpPr txBox="1"/>
          <p:nvPr/>
        </p:nvSpPr>
        <p:spPr>
          <a:xfrm>
            <a:off x="6949440" y="160020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Payback in Monaten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1920240"/>
          <a:ext cx="470916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Zusätzliche Projekte p. a.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Kosten 20 T€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Kosten 30 T€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 Mon.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 Mon.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9,6 Mon.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 Mon.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6,4 Mon.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9,6 Mon.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4,8 Mon.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7,2 Mon.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Text 18"/>
          <p:cNvSpPr txBox="1"/>
          <p:nvPr/>
        </p:nvSpPr>
        <p:spPr>
          <a:xfrm>
            <a:off x="6949440" y="434340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chemeClr val="tx1"/>
                </a:solidFill>
              </a:rPr>
              <a:t>Break-even bei 8 Projekten (20 T€) bzw. 12 Projekten (30 T€). </a:t>
            </a:r>
            <a:r>
              <a:rPr lang="en-US" sz="1000" dirty="0">
                <a:solidFill>
                  <a:schemeClr val="accent3"/>
                </a:solidFill>
              </a:rPr>
              <a:t>Payback = Monate, bis zusätzliche Projekte × 2.500 € die Kosten decken. Kostenszenarien illustrativ.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27648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 Partner">
  <a:themeElements>
    <a:clrScheme name="SH Partner">
      <a:dk1>
        <a:srgbClr val="141B2E"/>
      </a:dk1>
      <a:lt1>
        <a:srgbClr val="FFFFFF"/>
      </a:lt1>
      <a:dk2>
        <a:srgbClr val="4A5A78"/>
      </a:dk2>
      <a:lt2>
        <a:srgbClr val="F2F3F5"/>
      </a:lt2>
      <a:accent1>
        <a:srgbClr val="1F6F7A"/>
      </a:accent1>
      <a:accent2>
        <a:srgbClr val="9C6F3F"/>
      </a:accent2>
      <a:accent3>
        <a:srgbClr val="5C6679"/>
      </a:accent3>
      <a:accent4>
        <a:srgbClr val="959DAC"/>
      </a:accent4>
      <a:accent5>
        <a:srgbClr val="D9DDE4"/>
      </a:accent5>
      <a:accent6>
        <a:srgbClr val="FBC000"/>
      </a:accent6>
      <a:hlink>
        <a:srgbClr val="1F6F7A"/>
      </a:hlink>
      <a:folHlink>
        <a:srgbClr val="4A5A78"/>
      </a:folHlink>
    </a:clrScheme>
    <a:fontScheme name="SH Partne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1279</Words>
  <Application>Microsoft Office PowerPoint</Application>
  <PresentationFormat>Breitbild</PresentationFormat>
  <Paragraphs>148</Paragraphs>
  <Slides>6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8" baseType="lpstr">
      <vt:lpstr>Arial</vt:lpstr>
      <vt:lpstr>SH Partner</vt:lpstr>
      <vt:lpstr>KI-gestützter Vertrieb im Conventional Tunneling</vt:lpstr>
      <vt:lpstr>CT rückt in den Fokus, doch relevante Projekte erreichen den Vertrieb zu spät</vt:lpstr>
      <vt:lpstr>Das entscheidende Signal ist der Zuschlag, idealerweise mit Ansprechpartner</vt:lpstr>
      <vt:lpstr>Zielbild: Jede relevante Vergabe erreicht den Vertrieb mit Ansprechpartner</vt:lpstr>
      <vt:lpstr>Lösungsansatz: drei Quellen, eine KI-Pipeline, ein täglicher Digest</vt:lpstr>
      <vt:lpstr>Der Radar trägt sich ab 8 bis 12 zusätzlich identifizierten Projekten pro Jahr</vt:lpstr>
    </vt:vector>
  </TitlesOfParts>
  <Company>SH&amp;Partner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KI-gestützter Vertrieb im Conventional Tunneling</dc:title>
  <dc:subject>PptxGenJS Presentation</dc:subject>
  <dc:creator>SH&amp;Partner</dc:creator>
  <cp:lastModifiedBy>Elias Hauck</cp:lastModifiedBy>
  <cp:revision>3</cp:revision>
  <dcterms:created xsi:type="dcterms:W3CDTF">2026-10-19T07:49:18Z</dcterms:created>
  <dcterms:modified xsi:type="dcterms:W3CDTF">2026-10-20T20:50:03Z</dcterms:modified>
</cp:coreProperties>
</file>